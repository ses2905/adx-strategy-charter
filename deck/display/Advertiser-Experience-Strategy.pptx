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early: this is the Advertiser Experience strategy across Walmart Ads, not a Display strategy. Display shows up later as a proof point. Our job is to make the whole journey easier, from planning to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come from recurring advertiser evidence, not internal product opinion. Name the sources. The rest of the deck keeps coming back to these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different scopes on one slide: the left group is Display setup behavior, the right is the relationship survey across Walmart Ads. Don’t blend them. Say the causation line out loud before anyone else does.
Footnote 1: Pendo behavioral analytics, Onsite Display ad group setup. Date range and denominators to confirm before presenting.
Footnote 2: Pendo Feedback, 1,825 records, February 2025–August 2026; 1,350 scored relationship responses.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operating philosophy behind the roadmap. Step three is the one we used to skip: we went from signal straight to solution. Every initiative later in the deck should trace back through this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Validate the Sales concern without blaming anyone: not the advertiser, not the workflow, not the serving system. The left column is their list, in their words. The right is what we’ve found so far — useful, not conclusive.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buckets: what the shopper sees, what the advertiser builds, and what the system does with it. Only the middle one is primarily an experience problem, and we say so. The discipline is not picking a favorite before the evidence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back out of the Display example. Measurement sits under all three buckets — that is why it’s a band, not a fourth column. And it is one of the foundational cross-channel investments.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deck returns decisively from Display to the broader strategy. The top row is the same six-step journey from the opening slide. Read it top to bottom: the jobs are the same, so the capabilities should be too. Channels adapt only where the media genuinely differs.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concrete example of starting upstream, before campaign performance becomes the symptom. Seller Center is the example; the principle applies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feedback and observed adoption changed our approach. We are not scaling the existing recommendation model — we’re adding the rigor that decides whether a recommendation should appear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approaches earn scale through evidence. Walk the six evaluation questions — the last one matters: we are looking for unintended behavior, not only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Sponsored and Display workflow modernization are one strategy, not two isolated redesigns. The differences on the left came from product history and org boundaries, not from advertiser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shared foundation that does two jobs at once: it simplifies the workflow, and it improves our ability to diagnose performance. Point at the right-hand box — it connects straight back to the three contributors.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Unified Measurement + Reporting is decision support, not another reporting destination. The bottom row is the adaptive part: show each advertiser what they actually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connects directly to the diagnosis framework: experiments are how step three gets real evidence instead of opinion. Over time, that builds the evidence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columns, not the rows. The bottom row counts initiatives, not impact. Fragmented is the thinnest column at three — that is the pain point to watch, and it is why the shared capabilities matter. Say the caveat: dots are intent, not impact, so two rows with five dots do not mean those two solve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operating philosophy and the accountability model, not a feature list. Five steps, matching the title. Read the closing line, then move to the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proposals, not decisions already taken. Align is about the approach; Staff is about who does the diagnosis; Measure is about how we will know. If only one lands today, make it Align.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60"/>
        </a:solidFill>
      </p:bgPr>
    </p:bg>
    <p:spTree>
      <p:nvGrpSpPr>
        <p:cNvPr id="1" name=""/>
        <p:cNvGrpSpPr/>
        <p:nvPr/>
      </p:nvGrpSpPr>
      <p:grpSpPr>
        <a:xfrm>
          <a:off x="0" y="0"/>
          <a:ext cx="0" cy="0"/>
          <a:chOff x="0" y="0"/>
          <a:chExt cx="0" cy="0"/>
        </a:xfrm>
      </p:grpSpPr>
      <p:sp>
        <p:nvSpPr>
          <p:cNvPr id="2" name="Shape 0"/>
          <p:cNvSpPr/>
          <p:nvPr/>
        </p:nvSpPr>
        <p:spPr>
          <a:xfrm>
            <a:off x="508000" y="939800"/>
            <a:ext cx="1625600" cy="127000"/>
          </a:xfrm>
          <a:prstGeom prst="roundRect">
            <a:avLst>
              <a:gd name="adj" fmla="val 360000"/>
            </a:avLst>
          </a:prstGeom>
          <a:solidFill>
            <a:srgbClr val="D7EEF9"/>
          </a:solidFill>
          <a:ln/>
        </p:spPr>
      </p:sp>
      <p:sp>
        <p:nvSpPr>
          <p:cNvPr id="3" name="Shape 1"/>
          <p:cNvSpPr/>
          <p:nvPr/>
        </p:nvSpPr>
        <p:spPr>
          <a:xfrm>
            <a:off x="508000" y="4305498"/>
            <a:ext cx="1481634" cy="0"/>
          </a:xfrm>
          <a:prstGeom prst="line">
            <a:avLst/>
          </a:prstGeom>
          <a:noFill/>
          <a:ln w="6350">
            <a:solidFill>
              <a:srgbClr val="4DBDF5"/>
            </a:solidFill>
            <a:prstDash val="solid"/>
          </a:ln>
        </p:spPr>
      </p:sp>
      <p:sp>
        <p:nvSpPr>
          <p:cNvPr id="4" name="Shape 2"/>
          <p:cNvSpPr/>
          <p:nvPr/>
        </p:nvSpPr>
        <p:spPr>
          <a:xfrm>
            <a:off x="2142034" y="4305498"/>
            <a:ext cx="1481634" cy="0"/>
          </a:xfrm>
          <a:prstGeom prst="line">
            <a:avLst/>
          </a:prstGeom>
          <a:noFill/>
          <a:ln w="6350">
            <a:solidFill>
              <a:srgbClr val="4DBDF5"/>
            </a:solidFill>
            <a:prstDash val="solid"/>
          </a:ln>
        </p:spPr>
      </p:sp>
      <p:sp>
        <p:nvSpPr>
          <p:cNvPr id="5" name="Shape 3"/>
          <p:cNvSpPr/>
          <p:nvPr/>
        </p:nvSpPr>
        <p:spPr>
          <a:xfrm>
            <a:off x="3776067" y="4305498"/>
            <a:ext cx="1481634" cy="0"/>
          </a:xfrm>
          <a:prstGeom prst="line">
            <a:avLst/>
          </a:prstGeom>
          <a:noFill/>
          <a:ln w="6350">
            <a:solidFill>
              <a:srgbClr val="4DBDF5"/>
            </a:solidFill>
            <a:prstDash val="solid"/>
          </a:ln>
        </p:spPr>
      </p:sp>
      <p:sp>
        <p:nvSpPr>
          <p:cNvPr id="6" name="Shape 4"/>
          <p:cNvSpPr/>
          <p:nvPr/>
        </p:nvSpPr>
        <p:spPr>
          <a:xfrm>
            <a:off x="5410101" y="4305498"/>
            <a:ext cx="1481733" cy="0"/>
          </a:xfrm>
          <a:prstGeom prst="line">
            <a:avLst/>
          </a:prstGeom>
          <a:noFill/>
          <a:ln w="6350">
            <a:solidFill>
              <a:srgbClr val="4DBDF5"/>
            </a:solidFill>
            <a:prstDash val="solid"/>
          </a:ln>
        </p:spPr>
      </p:sp>
      <p:sp>
        <p:nvSpPr>
          <p:cNvPr id="7" name="Shape 5"/>
          <p:cNvSpPr/>
          <p:nvPr/>
        </p:nvSpPr>
        <p:spPr>
          <a:xfrm>
            <a:off x="7044234" y="4305498"/>
            <a:ext cx="1481634" cy="0"/>
          </a:xfrm>
          <a:prstGeom prst="line">
            <a:avLst/>
          </a:prstGeom>
          <a:noFill/>
          <a:ln w="6350">
            <a:solidFill>
              <a:srgbClr val="4DBDF5"/>
            </a:solidFill>
            <a:prstDash val="solid"/>
          </a:ln>
        </p:spPr>
      </p:sp>
      <p:sp>
        <p:nvSpPr>
          <p:cNvPr id="8" name="Shape 6"/>
          <p:cNvSpPr/>
          <p:nvPr/>
        </p:nvSpPr>
        <p:spPr>
          <a:xfrm>
            <a:off x="8678267" y="4305498"/>
            <a:ext cx="1481634" cy="0"/>
          </a:xfrm>
          <a:prstGeom prst="line">
            <a:avLst/>
          </a:prstGeom>
          <a:noFill/>
          <a:ln w="6350">
            <a:solidFill>
              <a:srgbClr val="4DBDF5"/>
            </a:solidFill>
            <a:prstDash val="solid"/>
          </a:ln>
        </p:spPr>
      </p:sp>
      <p:sp>
        <p:nvSpPr>
          <p:cNvPr id="9" name="Text 7"/>
          <p:cNvSpPr txBox="1"/>
          <p:nvPr/>
        </p:nvSpPr>
        <p:spPr>
          <a:xfrm>
            <a:off x="501650" y="971550"/>
            <a:ext cx="163830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ADVERTISER EXPERIENCE STRATEGY</a:t>
            </a:r>
            <a:endParaRPr lang="en-US" sz="500" dirty="0"/>
          </a:p>
        </p:txBody>
      </p:sp>
      <p:sp>
        <p:nvSpPr>
          <p:cNvPr id="10" name="Text 8"/>
          <p:cNvSpPr txBox="1"/>
          <p:nvPr/>
        </p:nvSpPr>
        <p:spPr>
          <a:xfrm>
            <a:off x="508000" y="1212850"/>
            <a:ext cx="9326880" cy="1152128"/>
          </a:xfrm>
          <a:prstGeom prst="rect">
            <a:avLst/>
          </a:prstGeom>
          <a:noFill/>
          <a:ln/>
        </p:spPr>
        <p:txBody>
          <a:bodyPr wrap="square" lIns="0" tIns="0" rIns="0" bIns="0" rtlCol="0" anchor="t"/>
          <a:lstStyle/>
          <a:p>
            <a:pPr algn="l" indent="0" marL="0">
              <a:lnSpc>
                <a:spcPts val="4536"/>
              </a:lnSpc>
              <a:buNone/>
            </a:pPr>
            <a:r>
              <a:rPr lang="en-US" sz="3600" spc="-108" kern="0" dirty="0">
                <a:solidFill>
                  <a:srgbClr val="FFFFFF"/>
                </a:solidFill>
                <a:latin typeface="Everyday Sans Headline Light" pitchFamily="34" charset="0"/>
                <a:ea typeface="Everyday Sans Headline Light" pitchFamily="34" charset="-122"/>
                <a:cs typeface="Everyday Sans Headline Light" pitchFamily="34" charset="-120"/>
              </a:rPr>
              <a:t>Making Walmart Ads easier to buy,</a:t>
            </a:r>
            <a:endParaRPr lang="en-US" sz="3600" dirty="0"/>
          </a:p>
          <a:p>
            <a:pPr algn="l" indent="0" marL="0">
              <a:lnSpc>
                <a:spcPts val="4536"/>
              </a:lnSpc>
              <a:buNone/>
            </a:pPr>
            <a:r>
              <a:rPr lang="en-US" sz="3600" spc="-108" kern="0" dirty="0">
                <a:solidFill>
                  <a:srgbClr val="FFFFFF"/>
                </a:solidFill>
                <a:latin typeface="Everyday Sans Headline Light" pitchFamily="34" charset="0"/>
                <a:ea typeface="Everyday Sans Headline Light" pitchFamily="34" charset="-122"/>
                <a:cs typeface="Everyday Sans Headline Light" pitchFamily="34" charset="-120"/>
              </a:rPr>
              <a:t>understand &amp; </a:t>
            </a:r>
            <a:pPr algn="l" indent="0" marL="0">
              <a:lnSpc>
                <a:spcPts val="4536"/>
              </a:lnSpc>
              <a:buNone/>
            </a:pPr>
            <a:r>
              <a:rPr lang="en-US" sz="3600" i="1" spc="-108" kern="0" dirty="0">
                <a:solidFill>
                  <a:srgbClr val="4DBDF5"/>
                </a:solidFill>
                <a:latin typeface="Everyday Sans Light" pitchFamily="34" charset="0"/>
                <a:ea typeface="Everyday Sans Light" pitchFamily="34" charset="-122"/>
                <a:cs typeface="Everyday Sans Light" pitchFamily="34" charset="-120"/>
              </a:rPr>
              <a:t>improve</a:t>
            </a:r>
            <a:pPr algn="l" indent="0" marL="0">
              <a:lnSpc>
                <a:spcPts val="4536"/>
              </a:lnSpc>
              <a:buNone/>
            </a:pPr>
            <a:r>
              <a:rPr lang="en-US" sz="3600" spc="-108" kern="0" dirty="0">
                <a:solidFill>
                  <a:srgbClr val="FFFFFF"/>
                </a:solidFill>
                <a:latin typeface="Everyday Sans Headline Light" pitchFamily="34" charset="0"/>
                <a:ea typeface="Everyday Sans Headline Light" pitchFamily="34" charset="-122"/>
                <a:cs typeface="Everyday Sans Headline Light" pitchFamily="34" charset="-120"/>
              </a:rPr>
              <a:t>.</a:t>
            </a:r>
            <a:endParaRPr lang="en-US" sz="3600" dirty="0"/>
          </a:p>
        </p:txBody>
      </p:sp>
      <p:sp>
        <p:nvSpPr>
          <p:cNvPr id="11" name="Text 9"/>
          <p:cNvSpPr txBox="1"/>
          <p:nvPr/>
        </p:nvSpPr>
        <p:spPr>
          <a:xfrm>
            <a:off x="508000" y="2466578"/>
            <a:ext cx="6720840" cy="460375"/>
          </a:xfrm>
          <a:prstGeom prst="rect">
            <a:avLst/>
          </a:prstGeom>
          <a:noFill/>
          <a:ln/>
        </p:spPr>
        <p:txBody>
          <a:bodyPr wrap="square" lIns="0" tIns="0" rIns="0" bIns="0" rtlCol="0" anchor="t"/>
          <a:lstStyle/>
          <a:p>
            <a:pPr algn="l" indent="0" marL="0">
              <a:lnSpc>
                <a:spcPts val="1813"/>
              </a:lnSpc>
              <a:buNone/>
            </a:pPr>
            <a:r>
              <a:rPr lang="en-US" sz="1250" i="1" dirty="0">
                <a:solidFill>
                  <a:srgbClr val="FFFFFF"/>
                </a:solidFill>
                <a:latin typeface="Everyday Sans UI" pitchFamily="34" charset="0"/>
                <a:ea typeface="Everyday Sans UI" pitchFamily="34" charset="-122"/>
                <a:cs typeface="Everyday Sans UI" pitchFamily="34" charset="-120"/>
              </a:rPr>
              <a:t>We’re connecting advertiser evidence, product experience and performance signals to</a:t>
            </a:r>
            <a:endParaRPr lang="en-US" sz="1250" dirty="0"/>
          </a:p>
          <a:p>
            <a:pPr algn="l" indent="0" marL="0">
              <a:lnSpc>
                <a:spcPts val="1813"/>
              </a:lnSpc>
              <a:buNone/>
            </a:pPr>
            <a:r>
              <a:rPr lang="en-US" sz="1250" i="1" dirty="0">
                <a:solidFill>
                  <a:srgbClr val="FFFFFF"/>
                </a:solidFill>
                <a:latin typeface="Everyday Sans UI" pitchFamily="34" charset="0"/>
                <a:ea typeface="Everyday Sans UI" pitchFamily="34" charset="-122"/>
                <a:cs typeface="Everyday Sans UI" pitchFamily="34" charset="-120"/>
              </a:rPr>
              <a:t>systematically remove friction across the advertising journey.</a:t>
            </a:r>
            <a:endParaRPr lang="en-US" sz="1250" dirty="0"/>
          </a:p>
        </p:txBody>
      </p:sp>
      <p:sp>
        <p:nvSpPr>
          <p:cNvPr id="12" name="Text 10"/>
          <p:cNvSpPr txBox="1"/>
          <p:nvPr/>
        </p:nvSpPr>
        <p:spPr>
          <a:xfrm>
            <a:off x="508000" y="3180953"/>
            <a:ext cx="10424160" cy="321310"/>
          </a:xfrm>
          <a:prstGeom prst="rect">
            <a:avLst/>
          </a:prstGeom>
          <a:noFill/>
          <a:ln/>
        </p:spPr>
        <p:txBody>
          <a:bodyPr wrap="square" lIns="0" tIns="0" rIns="0" bIns="0" rtlCol="0" anchor="t"/>
          <a:lstStyle/>
          <a:p>
            <a:pPr algn="l" indent="0" marL="0">
              <a:lnSpc>
                <a:spcPts val="2530"/>
              </a:lnSpc>
              <a:buNone/>
            </a:pPr>
            <a:r>
              <a:rPr lang="en-US" sz="2200" spc="-66" kern="0" dirty="0">
                <a:solidFill>
                  <a:srgbClr val="FFFFFF"/>
                </a:solidFill>
                <a:latin typeface="Everyday Sans Headline Light" pitchFamily="34" charset="0"/>
                <a:ea typeface="Everyday Sans Headline Light" pitchFamily="34" charset="-122"/>
                <a:cs typeface="Everyday Sans Headline Light" pitchFamily="34" charset="-120"/>
              </a:rPr>
              <a:t>Less complexity. More clarity. Better decisions.</a:t>
            </a:r>
            <a:endParaRPr lang="en-US" sz="2200" dirty="0"/>
          </a:p>
        </p:txBody>
      </p:sp>
      <p:sp>
        <p:nvSpPr>
          <p:cNvPr id="13" name="Text 11"/>
          <p:cNvSpPr txBox="1"/>
          <p:nvPr/>
        </p:nvSpPr>
        <p:spPr>
          <a:xfrm>
            <a:off x="508000" y="3680023"/>
            <a:ext cx="6720840" cy="368300"/>
          </a:xfrm>
          <a:prstGeom prst="rect">
            <a:avLst/>
          </a:prstGeom>
          <a:noFill/>
          <a:ln/>
        </p:spPr>
        <p:txBody>
          <a:bodyPr wrap="square" lIns="0" tIns="0" rIns="0" bIns="0" rtlCol="0" anchor="t"/>
          <a:lstStyle/>
          <a:p>
            <a:pPr algn="l" indent="0" marL="0">
              <a:lnSpc>
                <a:spcPts val="1450"/>
              </a:lnSpc>
              <a:buNone/>
            </a:pPr>
            <a:r>
              <a:rPr lang="en-US" sz="1000" dirty="0">
                <a:solidFill>
                  <a:srgbClr val="FFFFFF"/>
                </a:solidFill>
                <a:latin typeface="Everyday Sans UI" pitchFamily="34" charset="0"/>
                <a:ea typeface="Everyday Sans UI" pitchFamily="34" charset="-122"/>
                <a:cs typeface="Everyday Sans UI" pitchFamily="34" charset="-120"/>
              </a:rPr>
              <a:t>Advertisers should not need to understand our organizational structure, platform architecture or channel history to</a:t>
            </a:r>
            <a:endParaRPr lang="en-US" sz="1000" dirty="0"/>
          </a:p>
          <a:p>
            <a:pPr algn="l" indent="0" marL="0">
              <a:lnSpc>
                <a:spcPts val="1450"/>
              </a:lnSpc>
              <a:buNone/>
            </a:pPr>
            <a:r>
              <a:rPr lang="en-US" sz="1000" dirty="0">
                <a:solidFill>
                  <a:srgbClr val="FFFFFF"/>
                </a:solidFill>
                <a:latin typeface="Everyday Sans UI" pitchFamily="34" charset="0"/>
                <a:ea typeface="Everyday Sans UI" pitchFamily="34" charset="-122"/>
                <a:cs typeface="Everyday Sans UI" pitchFamily="34" charset="-120"/>
              </a:rPr>
              <a:t>successfully advertise with Walmart.</a:t>
            </a:r>
            <a:endParaRPr lang="en-US" sz="1000" dirty="0"/>
          </a:p>
        </p:txBody>
      </p:sp>
      <p:sp>
        <p:nvSpPr>
          <p:cNvPr id="14" name="Text 12"/>
          <p:cNvSpPr txBox="1"/>
          <p:nvPr/>
        </p:nvSpPr>
        <p:spPr>
          <a:xfrm>
            <a:off x="508000" y="4397573"/>
            <a:ext cx="1634034" cy="95250"/>
          </a:xfrm>
          <a:prstGeom prst="rect">
            <a:avLst/>
          </a:prstGeom>
          <a:noFill/>
          <a:ln/>
        </p:spPr>
        <p:txBody>
          <a:bodyPr wrap="square" lIns="0" tIns="0" rIns="0" bIns="0" rtlCol="0" anchor="t"/>
          <a:lstStyle/>
          <a:p>
            <a:pPr algn="l" indent="0" marL="0">
              <a:lnSpc>
                <a:spcPts val="720"/>
              </a:lnSpc>
              <a:buNone/>
            </a:pPr>
            <a:r>
              <a:rPr lang="en-US" sz="600" spc="60" kern="0" dirty="0">
                <a:solidFill>
                  <a:srgbClr val="4DBDF5"/>
                </a:solidFill>
                <a:latin typeface="Everyday Sans UI Medium" pitchFamily="34" charset="0"/>
                <a:ea typeface="Everyday Sans UI Medium" pitchFamily="34" charset="-122"/>
                <a:cs typeface="Everyday Sans UI Medium" pitchFamily="34" charset="-120"/>
              </a:rPr>
              <a:t>01</a:t>
            </a:r>
            <a:endParaRPr lang="en-US" sz="600" dirty="0"/>
          </a:p>
        </p:txBody>
      </p:sp>
      <p:sp>
        <p:nvSpPr>
          <p:cNvPr id="15" name="Text 13"/>
          <p:cNvSpPr txBox="1"/>
          <p:nvPr/>
        </p:nvSpPr>
        <p:spPr>
          <a:xfrm>
            <a:off x="508000" y="4543623"/>
            <a:ext cx="1634034" cy="234696"/>
          </a:xfrm>
          <a:prstGeom prst="rect">
            <a:avLst/>
          </a:prstGeom>
          <a:noFill/>
          <a:ln/>
        </p:spPr>
        <p:txBody>
          <a:bodyPr wrap="square" lIns="0" tIns="0" rIns="0" bIns="0" rtlCol="0" anchor="t"/>
          <a:lstStyle/>
          <a:p>
            <a:pPr algn="l" indent="0" marL="0">
              <a:lnSpc>
                <a:spcPts val="1848"/>
              </a:lnSpc>
              <a:buNone/>
            </a:pPr>
            <a:r>
              <a:rPr lang="en-US" sz="1400" spc="-28" kern="0" dirty="0">
                <a:solidFill>
                  <a:srgbClr val="FFFFFF"/>
                </a:solidFill>
                <a:latin typeface="Everyday Sans Headline Light" pitchFamily="34" charset="0"/>
                <a:ea typeface="Everyday Sans Headline Light" pitchFamily="34" charset="-122"/>
                <a:cs typeface="Everyday Sans Headline Light" pitchFamily="34" charset="-120"/>
              </a:rPr>
              <a:t>Plan</a:t>
            </a:r>
            <a:endParaRPr lang="en-US" sz="1400" dirty="0"/>
          </a:p>
        </p:txBody>
      </p:sp>
      <p:sp>
        <p:nvSpPr>
          <p:cNvPr id="16" name="Text 14"/>
          <p:cNvSpPr txBox="1"/>
          <p:nvPr/>
        </p:nvSpPr>
        <p:spPr>
          <a:xfrm>
            <a:off x="2142034" y="4397573"/>
            <a:ext cx="1634034" cy="95250"/>
          </a:xfrm>
          <a:prstGeom prst="rect">
            <a:avLst/>
          </a:prstGeom>
          <a:noFill/>
          <a:ln/>
        </p:spPr>
        <p:txBody>
          <a:bodyPr wrap="square" lIns="0" tIns="0" rIns="0" bIns="0" rtlCol="0" anchor="t"/>
          <a:lstStyle/>
          <a:p>
            <a:pPr algn="l" indent="0" marL="0">
              <a:lnSpc>
                <a:spcPts val="720"/>
              </a:lnSpc>
              <a:buNone/>
            </a:pPr>
            <a:r>
              <a:rPr lang="en-US" sz="600" spc="60" kern="0" dirty="0">
                <a:solidFill>
                  <a:srgbClr val="4DBDF5"/>
                </a:solidFill>
                <a:latin typeface="Everyday Sans UI Medium" pitchFamily="34" charset="0"/>
                <a:ea typeface="Everyday Sans UI Medium" pitchFamily="34" charset="-122"/>
                <a:cs typeface="Everyday Sans UI Medium" pitchFamily="34" charset="-120"/>
              </a:rPr>
              <a:t>02</a:t>
            </a:r>
            <a:endParaRPr lang="en-US" sz="600" dirty="0"/>
          </a:p>
        </p:txBody>
      </p:sp>
      <p:sp>
        <p:nvSpPr>
          <p:cNvPr id="17" name="Text 15"/>
          <p:cNvSpPr txBox="1"/>
          <p:nvPr/>
        </p:nvSpPr>
        <p:spPr>
          <a:xfrm>
            <a:off x="2142034" y="4543623"/>
            <a:ext cx="1634034" cy="234696"/>
          </a:xfrm>
          <a:prstGeom prst="rect">
            <a:avLst/>
          </a:prstGeom>
          <a:noFill/>
          <a:ln/>
        </p:spPr>
        <p:txBody>
          <a:bodyPr wrap="square" lIns="0" tIns="0" rIns="0" bIns="0" rtlCol="0" anchor="t"/>
          <a:lstStyle/>
          <a:p>
            <a:pPr algn="l" indent="0" marL="0">
              <a:lnSpc>
                <a:spcPts val="1848"/>
              </a:lnSpc>
              <a:buNone/>
            </a:pPr>
            <a:r>
              <a:rPr lang="en-US" sz="1400" spc="-28" kern="0" dirty="0">
                <a:solidFill>
                  <a:srgbClr val="FFFFFF"/>
                </a:solidFill>
                <a:latin typeface="Everyday Sans Headline Light" pitchFamily="34" charset="0"/>
                <a:ea typeface="Everyday Sans Headline Light" pitchFamily="34" charset="-122"/>
                <a:cs typeface="Everyday Sans Headline Light" pitchFamily="34" charset="-120"/>
              </a:rPr>
              <a:t>Build</a:t>
            </a:r>
            <a:endParaRPr lang="en-US" sz="1400" dirty="0"/>
          </a:p>
        </p:txBody>
      </p:sp>
      <p:sp>
        <p:nvSpPr>
          <p:cNvPr id="18" name="Text 16"/>
          <p:cNvSpPr txBox="1"/>
          <p:nvPr/>
        </p:nvSpPr>
        <p:spPr>
          <a:xfrm>
            <a:off x="3776067" y="4397573"/>
            <a:ext cx="1634034" cy="95250"/>
          </a:xfrm>
          <a:prstGeom prst="rect">
            <a:avLst/>
          </a:prstGeom>
          <a:noFill/>
          <a:ln/>
        </p:spPr>
        <p:txBody>
          <a:bodyPr wrap="square" lIns="0" tIns="0" rIns="0" bIns="0" rtlCol="0" anchor="t"/>
          <a:lstStyle/>
          <a:p>
            <a:pPr algn="l" indent="0" marL="0">
              <a:lnSpc>
                <a:spcPts val="720"/>
              </a:lnSpc>
              <a:buNone/>
            </a:pPr>
            <a:r>
              <a:rPr lang="en-US" sz="600" spc="60" kern="0" dirty="0">
                <a:solidFill>
                  <a:srgbClr val="4DBDF5"/>
                </a:solidFill>
                <a:latin typeface="Everyday Sans UI Medium" pitchFamily="34" charset="0"/>
                <a:ea typeface="Everyday Sans UI Medium" pitchFamily="34" charset="-122"/>
                <a:cs typeface="Everyday Sans UI Medium" pitchFamily="34" charset="-120"/>
              </a:rPr>
              <a:t>03</a:t>
            </a:r>
            <a:endParaRPr lang="en-US" sz="600" dirty="0"/>
          </a:p>
        </p:txBody>
      </p:sp>
      <p:sp>
        <p:nvSpPr>
          <p:cNvPr id="19" name="Text 17"/>
          <p:cNvSpPr txBox="1"/>
          <p:nvPr/>
        </p:nvSpPr>
        <p:spPr>
          <a:xfrm>
            <a:off x="3776067" y="4543623"/>
            <a:ext cx="1634034" cy="234696"/>
          </a:xfrm>
          <a:prstGeom prst="rect">
            <a:avLst/>
          </a:prstGeom>
          <a:noFill/>
          <a:ln/>
        </p:spPr>
        <p:txBody>
          <a:bodyPr wrap="square" lIns="0" tIns="0" rIns="0" bIns="0" rtlCol="0" anchor="t"/>
          <a:lstStyle/>
          <a:p>
            <a:pPr algn="l" indent="0" marL="0">
              <a:lnSpc>
                <a:spcPts val="1848"/>
              </a:lnSpc>
              <a:buNone/>
            </a:pPr>
            <a:r>
              <a:rPr lang="en-US" sz="1400" spc="-28" kern="0" dirty="0">
                <a:solidFill>
                  <a:srgbClr val="FFFFFF"/>
                </a:solidFill>
                <a:latin typeface="Everyday Sans Headline Light" pitchFamily="34" charset="0"/>
                <a:ea typeface="Everyday Sans Headline Light" pitchFamily="34" charset="-122"/>
                <a:cs typeface="Everyday Sans Headline Light" pitchFamily="34" charset="-120"/>
              </a:rPr>
              <a:t>Launch</a:t>
            </a:r>
            <a:endParaRPr lang="en-US" sz="1400" dirty="0"/>
          </a:p>
        </p:txBody>
      </p:sp>
      <p:sp>
        <p:nvSpPr>
          <p:cNvPr id="20" name="Text 18"/>
          <p:cNvSpPr txBox="1"/>
          <p:nvPr/>
        </p:nvSpPr>
        <p:spPr>
          <a:xfrm>
            <a:off x="5410101" y="4397573"/>
            <a:ext cx="1634133" cy="95250"/>
          </a:xfrm>
          <a:prstGeom prst="rect">
            <a:avLst/>
          </a:prstGeom>
          <a:noFill/>
          <a:ln/>
        </p:spPr>
        <p:txBody>
          <a:bodyPr wrap="square" lIns="0" tIns="0" rIns="0" bIns="0" rtlCol="0" anchor="t"/>
          <a:lstStyle/>
          <a:p>
            <a:pPr algn="l" indent="0" marL="0">
              <a:lnSpc>
                <a:spcPts val="720"/>
              </a:lnSpc>
              <a:buNone/>
            </a:pPr>
            <a:r>
              <a:rPr lang="en-US" sz="600" spc="60" kern="0" dirty="0">
                <a:solidFill>
                  <a:srgbClr val="4DBDF5"/>
                </a:solidFill>
                <a:latin typeface="Everyday Sans UI Medium" pitchFamily="34" charset="0"/>
                <a:ea typeface="Everyday Sans UI Medium" pitchFamily="34" charset="-122"/>
                <a:cs typeface="Everyday Sans UI Medium" pitchFamily="34" charset="-120"/>
              </a:rPr>
              <a:t>04</a:t>
            </a:r>
            <a:endParaRPr lang="en-US" sz="600" dirty="0"/>
          </a:p>
        </p:txBody>
      </p:sp>
      <p:sp>
        <p:nvSpPr>
          <p:cNvPr id="21" name="Text 19"/>
          <p:cNvSpPr txBox="1"/>
          <p:nvPr/>
        </p:nvSpPr>
        <p:spPr>
          <a:xfrm>
            <a:off x="5410101" y="4543623"/>
            <a:ext cx="1634133" cy="234696"/>
          </a:xfrm>
          <a:prstGeom prst="rect">
            <a:avLst/>
          </a:prstGeom>
          <a:noFill/>
          <a:ln/>
        </p:spPr>
        <p:txBody>
          <a:bodyPr wrap="square" lIns="0" tIns="0" rIns="0" bIns="0" rtlCol="0" anchor="t"/>
          <a:lstStyle/>
          <a:p>
            <a:pPr algn="l" indent="0" marL="0">
              <a:lnSpc>
                <a:spcPts val="1848"/>
              </a:lnSpc>
              <a:buNone/>
            </a:pPr>
            <a:r>
              <a:rPr lang="en-US" sz="1400" spc="-28" kern="0" dirty="0">
                <a:solidFill>
                  <a:srgbClr val="FFFFFF"/>
                </a:solidFill>
                <a:latin typeface="Everyday Sans Headline Light" pitchFamily="34" charset="0"/>
                <a:ea typeface="Everyday Sans Headline Light" pitchFamily="34" charset="-122"/>
                <a:cs typeface="Everyday Sans Headline Light" pitchFamily="34" charset="-120"/>
              </a:rPr>
              <a:t>Understand</a:t>
            </a:r>
            <a:endParaRPr lang="en-US" sz="1400" dirty="0"/>
          </a:p>
        </p:txBody>
      </p:sp>
      <p:sp>
        <p:nvSpPr>
          <p:cNvPr id="22" name="Text 20"/>
          <p:cNvSpPr txBox="1"/>
          <p:nvPr/>
        </p:nvSpPr>
        <p:spPr>
          <a:xfrm>
            <a:off x="7044234" y="4397573"/>
            <a:ext cx="1634034" cy="95250"/>
          </a:xfrm>
          <a:prstGeom prst="rect">
            <a:avLst/>
          </a:prstGeom>
          <a:noFill/>
          <a:ln/>
        </p:spPr>
        <p:txBody>
          <a:bodyPr wrap="square" lIns="0" tIns="0" rIns="0" bIns="0" rtlCol="0" anchor="t"/>
          <a:lstStyle/>
          <a:p>
            <a:pPr algn="l" indent="0" marL="0">
              <a:lnSpc>
                <a:spcPts val="720"/>
              </a:lnSpc>
              <a:buNone/>
            </a:pPr>
            <a:r>
              <a:rPr lang="en-US" sz="600" spc="60" kern="0" dirty="0">
                <a:solidFill>
                  <a:srgbClr val="4DBDF5"/>
                </a:solidFill>
                <a:latin typeface="Everyday Sans UI Medium" pitchFamily="34" charset="0"/>
                <a:ea typeface="Everyday Sans UI Medium" pitchFamily="34" charset="-122"/>
                <a:cs typeface="Everyday Sans UI Medium" pitchFamily="34" charset="-120"/>
              </a:rPr>
              <a:t>05</a:t>
            </a:r>
            <a:endParaRPr lang="en-US" sz="600" dirty="0"/>
          </a:p>
        </p:txBody>
      </p:sp>
      <p:sp>
        <p:nvSpPr>
          <p:cNvPr id="23" name="Text 21"/>
          <p:cNvSpPr txBox="1"/>
          <p:nvPr/>
        </p:nvSpPr>
        <p:spPr>
          <a:xfrm>
            <a:off x="7044234" y="4543623"/>
            <a:ext cx="1634034" cy="234696"/>
          </a:xfrm>
          <a:prstGeom prst="rect">
            <a:avLst/>
          </a:prstGeom>
          <a:noFill/>
          <a:ln/>
        </p:spPr>
        <p:txBody>
          <a:bodyPr wrap="square" lIns="0" tIns="0" rIns="0" bIns="0" rtlCol="0" anchor="t"/>
          <a:lstStyle/>
          <a:p>
            <a:pPr algn="l" indent="0" marL="0">
              <a:lnSpc>
                <a:spcPts val="1848"/>
              </a:lnSpc>
              <a:buNone/>
            </a:pPr>
            <a:r>
              <a:rPr lang="en-US" sz="1400" spc="-28" kern="0" dirty="0">
                <a:solidFill>
                  <a:srgbClr val="FFFFFF"/>
                </a:solidFill>
                <a:latin typeface="Everyday Sans Headline Light" pitchFamily="34" charset="0"/>
                <a:ea typeface="Everyday Sans Headline Light" pitchFamily="34" charset="-122"/>
                <a:cs typeface="Everyday Sans Headline Light" pitchFamily="34" charset="-120"/>
              </a:rPr>
              <a:t>Optimize</a:t>
            </a:r>
            <a:endParaRPr lang="en-US" sz="1400" dirty="0"/>
          </a:p>
        </p:txBody>
      </p:sp>
      <p:sp>
        <p:nvSpPr>
          <p:cNvPr id="24" name="Text 22"/>
          <p:cNvSpPr txBox="1"/>
          <p:nvPr/>
        </p:nvSpPr>
        <p:spPr>
          <a:xfrm>
            <a:off x="8678267" y="4397573"/>
            <a:ext cx="1634034" cy="95250"/>
          </a:xfrm>
          <a:prstGeom prst="rect">
            <a:avLst/>
          </a:prstGeom>
          <a:noFill/>
          <a:ln/>
        </p:spPr>
        <p:txBody>
          <a:bodyPr wrap="square" lIns="0" tIns="0" rIns="0" bIns="0" rtlCol="0" anchor="t"/>
          <a:lstStyle/>
          <a:p>
            <a:pPr algn="l" indent="0" marL="0">
              <a:lnSpc>
                <a:spcPts val="720"/>
              </a:lnSpc>
              <a:buNone/>
            </a:pPr>
            <a:r>
              <a:rPr lang="en-US" sz="600" spc="60" kern="0" dirty="0">
                <a:solidFill>
                  <a:srgbClr val="4DBDF5"/>
                </a:solidFill>
                <a:latin typeface="Everyday Sans UI Medium" pitchFamily="34" charset="0"/>
                <a:ea typeface="Everyday Sans UI Medium" pitchFamily="34" charset="-122"/>
                <a:cs typeface="Everyday Sans UI Medium" pitchFamily="34" charset="-120"/>
              </a:rPr>
              <a:t>06</a:t>
            </a:r>
            <a:endParaRPr lang="en-US" sz="600" dirty="0"/>
          </a:p>
        </p:txBody>
      </p:sp>
      <p:sp>
        <p:nvSpPr>
          <p:cNvPr id="25" name="Text 23"/>
          <p:cNvSpPr txBox="1"/>
          <p:nvPr/>
        </p:nvSpPr>
        <p:spPr>
          <a:xfrm>
            <a:off x="8678267" y="4543623"/>
            <a:ext cx="1634034" cy="234696"/>
          </a:xfrm>
          <a:prstGeom prst="rect">
            <a:avLst/>
          </a:prstGeom>
          <a:noFill/>
          <a:ln/>
        </p:spPr>
        <p:txBody>
          <a:bodyPr wrap="square" lIns="0" tIns="0" rIns="0" bIns="0" rtlCol="0" anchor="t"/>
          <a:lstStyle/>
          <a:p>
            <a:pPr algn="l" indent="0" marL="0">
              <a:lnSpc>
                <a:spcPts val="1848"/>
              </a:lnSpc>
              <a:buNone/>
            </a:pPr>
            <a:r>
              <a:rPr lang="en-US" sz="1400" spc="-28" kern="0" dirty="0">
                <a:solidFill>
                  <a:srgbClr val="FFFFFF"/>
                </a:solidFill>
                <a:latin typeface="Everyday Sans Headline Light" pitchFamily="34" charset="0"/>
                <a:ea typeface="Everyday Sans Headline Light" pitchFamily="34" charset="-122"/>
                <a:cs typeface="Everyday Sans Headline Light" pitchFamily="34" charset="-120"/>
              </a:rPr>
              <a:t>Grow</a:t>
            </a:r>
            <a:endParaRPr lang="en-US" sz="1400" dirty="0"/>
          </a:p>
        </p:txBody>
      </p:sp>
      <p:pic>
        <p:nvPicPr>
          <p:cNvPr id="26"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27" name="Text 24"/>
          <p:cNvSpPr txBox="1"/>
          <p:nvPr/>
        </p:nvSpPr>
        <p:spPr>
          <a:xfrm>
            <a:off x="711200" y="6362700"/>
            <a:ext cx="1439366" cy="127000"/>
          </a:xfrm>
          <a:prstGeom prst="rect">
            <a:avLst/>
          </a:prstGeom>
          <a:noFill/>
          <a:ln/>
        </p:spPr>
        <p:txBody>
          <a:bodyPr wrap="square" lIns="0" tIns="0" rIns="0" bIns="0" rtlCol="0" anchor="ctr"/>
          <a:lstStyle/>
          <a:p>
            <a:pPr indent="0" marL="0">
              <a:buNone/>
            </a:pPr>
            <a:r>
              <a:rPr lang="en-US" sz="550" dirty="0">
                <a:solidFill>
                  <a:srgbClr val="FFFFFF"/>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28" name="Text 25"/>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D0D5DE"/>
                </a:solidFill>
                <a:latin typeface="Everyday Sans Mono" pitchFamily="34" charset="0"/>
                <a:ea typeface="Everyday Sans Mono" pitchFamily="34" charset="-122"/>
                <a:cs typeface="Everyday Sans Mono" pitchFamily="34" charset="-120"/>
              </a:rPr>
              <a:t>01 / 18</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031280" cy="127000"/>
          </a:xfrm>
          <a:prstGeom prst="roundRect">
            <a:avLst>
              <a:gd name="adj" fmla="val 360000"/>
            </a:avLst>
          </a:prstGeom>
          <a:solidFill>
            <a:srgbClr val="D7EEF9"/>
          </a:solidFill>
          <a:ln/>
        </p:spPr>
      </p:sp>
      <p:sp>
        <p:nvSpPr>
          <p:cNvPr id="3" name="Shape 1"/>
          <p:cNvSpPr/>
          <p:nvPr/>
        </p:nvSpPr>
        <p:spPr>
          <a:xfrm>
            <a:off x="508000" y="3345160"/>
            <a:ext cx="2072580" cy="0"/>
          </a:xfrm>
          <a:prstGeom prst="line">
            <a:avLst/>
          </a:prstGeom>
          <a:noFill/>
          <a:ln w="6350">
            <a:solidFill>
              <a:srgbClr val="0053E2"/>
            </a:solidFill>
            <a:prstDash val="solid"/>
          </a:ln>
        </p:spPr>
      </p:sp>
      <p:sp>
        <p:nvSpPr>
          <p:cNvPr id="4" name="Shape 2"/>
          <p:cNvSpPr/>
          <p:nvPr/>
        </p:nvSpPr>
        <p:spPr>
          <a:xfrm>
            <a:off x="2783780" y="3345160"/>
            <a:ext cx="2072680" cy="0"/>
          </a:xfrm>
          <a:prstGeom prst="line">
            <a:avLst/>
          </a:prstGeom>
          <a:noFill/>
          <a:ln w="6350">
            <a:solidFill>
              <a:srgbClr val="0053E2"/>
            </a:solidFill>
            <a:prstDash val="solid"/>
          </a:ln>
        </p:spPr>
      </p:sp>
      <p:sp>
        <p:nvSpPr>
          <p:cNvPr id="5" name="Shape 3"/>
          <p:cNvSpPr/>
          <p:nvPr/>
        </p:nvSpPr>
        <p:spPr>
          <a:xfrm>
            <a:off x="5059660" y="3345160"/>
            <a:ext cx="2072580" cy="0"/>
          </a:xfrm>
          <a:prstGeom prst="line">
            <a:avLst/>
          </a:prstGeom>
          <a:noFill/>
          <a:ln w="6350">
            <a:solidFill>
              <a:srgbClr val="0053E2"/>
            </a:solidFill>
            <a:prstDash val="solid"/>
          </a:ln>
        </p:spPr>
      </p:sp>
      <p:sp>
        <p:nvSpPr>
          <p:cNvPr id="6" name="Shape 4"/>
          <p:cNvSpPr/>
          <p:nvPr/>
        </p:nvSpPr>
        <p:spPr>
          <a:xfrm>
            <a:off x="7335441" y="3345160"/>
            <a:ext cx="2072680" cy="0"/>
          </a:xfrm>
          <a:prstGeom prst="line">
            <a:avLst/>
          </a:prstGeom>
          <a:noFill/>
          <a:ln w="6350">
            <a:solidFill>
              <a:srgbClr val="0053E2"/>
            </a:solidFill>
            <a:prstDash val="solid"/>
          </a:ln>
        </p:spPr>
      </p:sp>
      <p:sp>
        <p:nvSpPr>
          <p:cNvPr id="7" name="Shape 5"/>
          <p:cNvSpPr/>
          <p:nvPr/>
        </p:nvSpPr>
        <p:spPr>
          <a:xfrm>
            <a:off x="9611320" y="3345160"/>
            <a:ext cx="2072580" cy="0"/>
          </a:xfrm>
          <a:prstGeom prst="line">
            <a:avLst/>
          </a:prstGeom>
          <a:noFill/>
          <a:ln w="6350">
            <a:solidFill>
              <a:srgbClr val="0053E2"/>
            </a:solidFill>
            <a:prstDash val="solid"/>
          </a:ln>
        </p:spPr>
      </p:sp>
      <p:sp>
        <p:nvSpPr>
          <p:cNvPr id="8" name="Shape 6"/>
          <p:cNvSpPr/>
          <p:nvPr/>
        </p:nvSpPr>
        <p:spPr>
          <a:xfrm>
            <a:off x="1487488" y="4361755"/>
            <a:ext cx="307677" cy="203200"/>
          </a:xfrm>
          <a:prstGeom prst="rect">
            <a:avLst/>
          </a:prstGeom>
          <a:ln w="6350">
            <a:solidFill>
              <a:srgbClr val="E4E8EF"/>
            </a:solidFill>
            <a:prstDash val="solid"/>
          </a:ln>
        </p:spPr>
      </p:sp>
      <p:sp>
        <p:nvSpPr>
          <p:cNvPr id="9" name="Shape 7"/>
          <p:cNvSpPr/>
          <p:nvPr/>
        </p:nvSpPr>
        <p:spPr>
          <a:xfrm>
            <a:off x="1858665" y="4361755"/>
            <a:ext cx="830163" cy="203200"/>
          </a:xfrm>
          <a:prstGeom prst="rect">
            <a:avLst/>
          </a:prstGeom>
          <a:ln w="6350">
            <a:solidFill>
              <a:srgbClr val="E4E8EF"/>
            </a:solidFill>
            <a:prstDash val="solid"/>
          </a:ln>
        </p:spPr>
      </p:sp>
      <p:sp>
        <p:nvSpPr>
          <p:cNvPr id="10" name="Shape 8"/>
          <p:cNvSpPr/>
          <p:nvPr/>
        </p:nvSpPr>
        <p:spPr>
          <a:xfrm>
            <a:off x="2752328" y="4361755"/>
            <a:ext cx="307677" cy="203200"/>
          </a:xfrm>
          <a:prstGeom prst="rect">
            <a:avLst/>
          </a:prstGeom>
          <a:ln w="6350">
            <a:solidFill>
              <a:srgbClr val="E4E8EF"/>
            </a:solidFill>
            <a:prstDash val="solid"/>
          </a:ln>
        </p:spPr>
      </p:sp>
      <p:sp>
        <p:nvSpPr>
          <p:cNvPr id="11" name="Shape 9"/>
          <p:cNvSpPr/>
          <p:nvPr/>
        </p:nvSpPr>
        <p:spPr>
          <a:xfrm>
            <a:off x="3123505" y="4361755"/>
            <a:ext cx="497681" cy="203200"/>
          </a:xfrm>
          <a:prstGeom prst="rect">
            <a:avLst/>
          </a:prstGeom>
          <a:ln w="6350">
            <a:solidFill>
              <a:srgbClr val="E4E8EF"/>
            </a:solidFill>
            <a:prstDash val="solid"/>
          </a:ln>
        </p:spPr>
      </p:sp>
      <p:sp>
        <p:nvSpPr>
          <p:cNvPr id="12" name="Shape 10"/>
          <p:cNvSpPr/>
          <p:nvPr/>
        </p:nvSpPr>
        <p:spPr>
          <a:xfrm>
            <a:off x="3684687" y="4361755"/>
            <a:ext cx="402630" cy="203200"/>
          </a:xfrm>
          <a:prstGeom prst="rect">
            <a:avLst/>
          </a:prstGeom>
          <a:ln w="6350">
            <a:solidFill>
              <a:srgbClr val="E4E8EF"/>
            </a:solidFill>
            <a:prstDash val="solid"/>
          </a:ln>
        </p:spPr>
      </p:sp>
      <p:sp>
        <p:nvSpPr>
          <p:cNvPr id="13" name="Shape 11"/>
          <p:cNvSpPr/>
          <p:nvPr/>
        </p:nvSpPr>
        <p:spPr>
          <a:xfrm>
            <a:off x="4150816" y="4361755"/>
            <a:ext cx="972641" cy="203200"/>
          </a:xfrm>
          <a:prstGeom prst="rect">
            <a:avLst/>
          </a:prstGeom>
          <a:ln w="6350">
            <a:solidFill>
              <a:srgbClr val="E4E8EF"/>
            </a:solidFill>
            <a:prstDash val="solid"/>
          </a:ln>
        </p:spPr>
      </p:sp>
      <p:sp>
        <p:nvSpPr>
          <p:cNvPr id="14" name="Text 12"/>
          <p:cNvSpPr txBox="1"/>
          <p:nvPr/>
        </p:nvSpPr>
        <p:spPr>
          <a:xfrm>
            <a:off x="501650" y="971550"/>
            <a:ext cx="104398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WHAT WE’RE HEARING</a:t>
            </a:r>
            <a:endParaRPr lang="en-US" sz="500" dirty="0"/>
          </a:p>
        </p:txBody>
      </p:sp>
      <p:sp>
        <p:nvSpPr>
          <p:cNvPr id="15" name="Text 13"/>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Advertisers are telling us the experience is </a:t>
            </a:r>
            <a:pPr algn="l" indent="0" marL="0">
              <a:lnSpc>
                <a:spcPts val="3024"/>
              </a:lnSpc>
              <a:buNone/>
            </a:pPr>
            <a:r>
              <a:rPr lang="en-US" sz="2400" i="1" spc="-72" kern="0" dirty="0">
                <a:solidFill>
                  <a:srgbClr val="0053E2"/>
                </a:solidFill>
                <a:latin typeface="Everyday Sans Light" pitchFamily="34" charset="0"/>
                <a:ea typeface="Everyday Sans Light" pitchFamily="34" charset="-122"/>
                <a:cs typeface="Everyday Sans Light" pitchFamily="34" charset="-120"/>
              </a:rPr>
              <a:t>harder</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 than it should be.</a:t>
            </a:r>
            <a:endParaRPr lang="en-US" sz="2400" dirty="0"/>
          </a:p>
        </p:txBody>
      </p:sp>
      <p:sp>
        <p:nvSpPr>
          <p:cNvPr id="16" name="Text 14"/>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Across research, behavioral data, feedback and support interactions, the same experience problems continue to surface.</a:t>
            </a:r>
            <a:endParaRPr lang="en-US" sz="900" dirty="0"/>
          </a:p>
        </p:txBody>
      </p:sp>
      <p:sp>
        <p:nvSpPr>
          <p:cNvPr id="17" name="Text 15"/>
          <p:cNvSpPr txBox="1"/>
          <p:nvPr/>
        </p:nvSpPr>
        <p:spPr>
          <a:xfrm>
            <a:off x="508000" y="3475335"/>
            <a:ext cx="2238387" cy="266700"/>
          </a:xfrm>
          <a:prstGeom prst="rect">
            <a:avLst/>
          </a:prstGeom>
          <a:noFill/>
          <a:ln/>
        </p:spPr>
        <p:txBody>
          <a:bodyPr wrap="square" lIns="0" tIns="0" rIns="0" bIns="0" rtlCol="0" anchor="t"/>
          <a:lstStyle/>
          <a:p>
            <a:pPr algn="l" indent="0" marL="0">
              <a:lnSpc>
                <a:spcPts val="2100"/>
              </a:lnSpc>
              <a:buNone/>
            </a:pPr>
            <a:r>
              <a:rPr lang="en-US" sz="2000" spc="-70" kern="0" dirty="0">
                <a:solidFill>
                  <a:srgbClr val="0053E2"/>
                </a:solidFill>
                <a:latin typeface="Everyday Sans Headline Light" pitchFamily="34" charset="0"/>
                <a:ea typeface="Everyday Sans Headline Light" pitchFamily="34" charset="-122"/>
                <a:cs typeface="Everyday Sans Headline Light" pitchFamily="34" charset="-120"/>
              </a:rPr>
              <a:t>Complex</a:t>
            </a:r>
            <a:endParaRPr lang="en-US" sz="2000" dirty="0"/>
          </a:p>
        </p:txBody>
      </p:sp>
      <p:sp>
        <p:nvSpPr>
          <p:cNvPr id="18" name="Text 16"/>
          <p:cNvSpPr txBox="1"/>
          <p:nvPr/>
        </p:nvSpPr>
        <p:spPr>
          <a:xfrm>
            <a:off x="508000" y="3830935"/>
            <a:ext cx="2238387" cy="302220"/>
          </a:xfrm>
          <a:prstGeom prst="rect">
            <a:avLst/>
          </a:prstGeom>
          <a:noFill/>
          <a:ln/>
        </p:spPr>
        <p:txBody>
          <a:bodyPr wrap="square" lIns="0" tIns="0" rIns="0" bIns="0" rtlCol="0" anchor="t"/>
          <a:lstStyle/>
          <a:p>
            <a:pPr algn="l" indent="0" marL="0">
              <a:lnSpc>
                <a:spcPts val="1190"/>
              </a:lnSpc>
              <a:buNone/>
            </a:pPr>
            <a:r>
              <a:rPr lang="en-US" sz="850" dirty="0">
                <a:solidFill>
                  <a:srgbClr val="3D4A63"/>
                </a:solidFill>
                <a:latin typeface="Everyday Sans UI" pitchFamily="34" charset="0"/>
                <a:ea typeface="Everyday Sans UI" pitchFamily="34" charset="-122"/>
                <a:cs typeface="Everyday Sans UI" pitchFamily="34" charset="-120"/>
              </a:rPr>
              <a:t>Too many decisions and concepts require</a:t>
            </a:r>
            <a:endParaRPr lang="en-US" sz="850" dirty="0"/>
          </a:p>
          <a:p>
            <a:pPr algn="l" indent="0" marL="0">
              <a:lnSpc>
                <a:spcPts val="1190"/>
              </a:lnSpc>
              <a:buNone/>
            </a:pPr>
            <a:r>
              <a:rPr lang="en-US" sz="850" dirty="0">
                <a:solidFill>
                  <a:srgbClr val="3D4A63"/>
                </a:solidFill>
                <a:latin typeface="Everyday Sans UI" pitchFamily="34" charset="0"/>
                <a:ea typeface="Everyday Sans UI" pitchFamily="34" charset="-122"/>
                <a:cs typeface="Everyday Sans UI" pitchFamily="34" charset="-120"/>
              </a:rPr>
              <a:t>expertise to navigate.</a:t>
            </a:r>
            <a:endParaRPr lang="en-US" sz="850" dirty="0"/>
          </a:p>
        </p:txBody>
      </p:sp>
      <p:sp>
        <p:nvSpPr>
          <p:cNvPr id="19" name="Text 17"/>
          <p:cNvSpPr txBox="1"/>
          <p:nvPr/>
        </p:nvSpPr>
        <p:spPr>
          <a:xfrm>
            <a:off x="2783780" y="3475335"/>
            <a:ext cx="2238494" cy="266700"/>
          </a:xfrm>
          <a:prstGeom prst="rect">
            <a:avLst/>
          </a:prstGeom>
          <a:noFill/>
          <a:ln/>
        </p:spPr>
        <p:txBody>
          <a:bodyPr wrap="square" lIns="0" tIns="0" rIns="0" bIns="0" rtlCol="0" anchor="t"/>
          <a:lstStyle/>
          <a:p>
            <a:pPr algn="l" indent="0" marL="0">
              <a:lnSpc>
                <a:spcPts val="2100"/>
              </a:lnSpc>
              <a:buNone/>
            </a:pPr>
            <a:r>
              <a:rPr lang="en-US" sz="2000" spc="-70" kern="0" dirty="0">
                <a:solidFill>
                  <a:srgbClr val="0053E2"/>
                </a:solidFill>
                <a:latin typeface="Everyday Sans Headline Light" pitchFamily="34" charset="0"/>
                <a:ea typeface="Everyday Sans Headline Light" pitchFamily="34" charset="-122"/>
                <a:cs typeface="Everyday Sans Headline Light" pitchFamily="34" charset="-120"/>
              </a:rPr>
              <a:t>Fragmented</a:t>
            </a:r>
            <a:endParaRPr lang="en-US" sz="2000" dirty="0"/>
          </a:p>
        </p:txBody>
      </p:sp>
      <p:sp>
        <p:nvSpPr>
          <p:cNvPr id="20" name="Text 18"/>
          <p:cNvSpPr txBox="1"/>
          <p:nvPr/>
        </p:nvSpPr>
        <p:spPr>
          <a:xfrm>
            <a:off x="2783780" y="3830935"/>
            <a:ext cx="2238494" cy="302220"/>
          </a:xfrm>
          <a:prstGeom prst="rect">
            <a:avLst/>
          </a:prstGeom>
          <a:noFill/>
          <a:ln/>
        </p:spPr>
        <p:txBody>
          <a:bodyPr wrap="square" lIns="0" tIns="0" rIns="0" bIns="0" rtlCol="0" anchor="t"/>
          <a:lstStyle/>
          <a:p>
            <a:pPr algn="l" indent="0" marL="0">
              <a:lnSpc>
                <a:spcPts val="1190"/>
              </a:lnSpc>
              <a:buNone/>
            </a:pPr>
            <a:r>
              <a:rPr lang="en-US" sz="850" dirty="0">
                <a:solidFill>
                  <a:srgbClr val="3D4A63"/>
                </a:solidFill>
                <a:latin typeface="Everyday Sans UI" pitchFamily="34" charset="0"/>
                <a:ea typeface="Everyday Sans UI" pitchFamily="34" charset="-122"/>
                <a:cs typeface="Everyday Sans UI" pitchFamily="34" charset="-120"/>
              </a:rPr>
              <a:t>Advertiser jobs are distributed across</a:t>
            </a:r>
            <a:endParaRPr lang="en-US" sz="850" dirty="0"/>
          </a:p>
          <a:p>
            <a:pPr algn="l" indent="0" marL="0">
              <a:lnSpc>
                <a:spcPts val="1190"/>
              </a:lnSpc>
              <a:buNone/>
            </a:pPr>
            <a:r>
              <a:rPr lang="en-US" sz="850" dirty="0">
                <a:solidFill>
                  <a:srgbClr val="3D4A63"/>
                </a:solidFill>
                <a:latin typeface="Everyday Sans UI" pitchFamily="34" charset="0"/>
                <a:ea typeface="Everyday Sans UI" pitchFamily="34" charset="-122"/>
                <a:cs typeface="Everyday Sans UI" pitchFamily="34" charset="-120"/>
              </a:rPr>
              <a:t>workflows, products and destinations.</a:t>
            </a:r>
            <a:endParaRPr lang="en-US" sz="850" dirty="0"/>
          </a:p>
        </p:txBody>
      </p:sp>
      <p:sp>
        <p:nvSpPr>
          <p:cNvPr id="21" name="Text 19"/>
          <p:cNvSpPr txBox="1"/>
          <p:nvPr/>
        </p:nvSpPr>
        <p:spPr>
          <a:xfrm>
            <a:off x="5059660" y="3475335"/>
            <a:ext cx="2238387" cy="266700"/>
          </a:xfrm>
          <a:prstGeom prst="rect">
            <a:avLst/>
          </a:prstGeom>
          <a:noFill/>
          <a:ln/>
        </p:spPr>
        <p:txBody>
          <a:bodyPr wrap="square" lIns="0" tIns="0" rIns="0" bIns="0" rtlCol="0" anchor="t"/>
          <a:lstStyle/>
          <a:p>
            <a:pPr algn="l" indent="0" marL="0">
              <a:lnSpc>
                <a:spcPts val="2100"/>
              </a:lnSpc>
              <a:buNone/>
            </a:pPr>
            <a:r>
              <a:rPr lang="en-US" sz="2000" spc="-70" kern="0" dirty="0">
                <a:solidFill>
                  <a:srgbClr val="0053E2"/>
                </a:solidFill>
                <a:latin typeface="Everyday Sans Headline Light" pitchFamily="34" charset="0"/>
                <a:ea typeface="Everyday Sans Headline Light" pitchFamily="34" charset="-122"/>
                <a:cs typeface="Everyday Sans Headline Light" pitchFamily="34" charset="-120"/>
              </a:rPr>
              <a:t>Inconsistent</a:t>
            </a:r>
            <a:endParaRPr lang="en-US" sz="2000" dirty="0"/>
          </a:p>
        </p:txBody>
      </p:sp>
      <p:sp>
        <p:nvSpPr>
          <p:cNvPr id="22" name="Text 20"/>
          <p:cNvSpPr txBox="1"/>
          <p:nvPr/>
        </p:nvSpPr>
        <p:spPr>
          <a:xfrm>
            <a:off x="5059660" y="3830935"/>
            <a:ext cx="2238387" cy="302220"/>
          </a:xfrm>
          <a:prstGeom prst="rect">
            <a:avLst/>
          </a:prstGeom>
          <a:noFill/>
          <a:ln/>
        </p:spPr>
        <p:txBody>
          <a:bodyPr wrap="square" lIns="0" tIns="0" rIns="0" bIns="0" rtlCol="0" anchor="t"/>
          <a:lstStyle/>
          <a:p>
            <a:pPr algn="l" indent="0" marL="0">
              <a:lnSpc>
                <a:spcPts val="1190"/>
              </a:lnSpc>
              <a:buNone/>
            </a:pPr>
            <a:r>
              <a:rPr lang="en-US" sz="850" dirty="0">
                <a:solidFill>
                  <a:srgbClr val="3D4A63"/>
                </a:solidFill>
                <a:latin typeface="Everyday Sans UI" pitchFamily="34" charset="0"/>
                <a:ea typeface="Everyday Sans UI" pitchFamily="34" charset="-122"/>
                <a:cs typeface="Everyday Sans UI" pitchFamily="34" charset="-120"/>
              </a:rPr>
              <a:t>Similar tasks work differently depending on</a:t>
            </a:r>
            <a:endParaRPr lang="en-US" sz="850" dirty="0"/>
          </a:p>
          <a:p>
            <a:pPr algn="l" indent="0" marL="0">
              <a:lnSpc>
                <a:spcPts val="1190"/>
              </a:lnSpc>
              <a:buNone/>
            </a:pPr>
            <a:r>
              <a:rPr lang="en-US" sz="850" dirty="0">
                <a:solidFill>
                  <a:srgbClr val="3D4A63"/>
                </a:solidFill>
                <a:latin typeface="Everyday Sans UI" pitchFamily="34" charset="0"/>
                <a:ea typeface="Everyday Sans UI" pitchFamily="34" charset="-122"/>
                <a:cs typeface="Everyday Sans UI" pitchFamily="34" charset="-120"/>
              </a:rPr>
              <a:t>where advertisers are.</a:t>
            </a:r>
            <a:endParaRPr lang="en-US" sz="850" dirty="0"/>
          </a:p>
        </p:txBody>
      </p:sp>
      <p:sp>
        <p:nvSpPr>
          <p:cNvPr id="23" name="Text 21"/>
          <p:cNvSpPr txBox="1"/>
          <p:nvPr/>
        </p:nvSpPr>
        <p:spPr>
          <a:xfrm>
            <a:off x="7335441" y="3475335"/>
            <a:ext cx="2238494" cy="266700"/>
          </a:xfrm>
          <a:prstGeom prst="rect">
            <a:avLst/>
          </a:prstGeom>
          <a:noFill/>
          <a:ln/>
        </p:spPr>
        <p:txBody>
          <a:bodyPr wrap="square" lIns="0" tIns="0" rIns="0" bIns="0" rtlCol="0" anchor="t"/>
          <a:lstStyle/>
          <a:p>
            <a:pPr algn="l" indent="0" marL="0">
              <a:lnSpc>
                <a:spcPts val="2100"/>
              </a:lnSpc>
              <a:buNone/>
            </a:pPr>
            <a:r>
              <a:rPr lang="en-US" sz="2000" spc="-70" kern="0" dirty="0">
                <a:solidFill>
                  <a:srgbClr val="0053E2"/>
                </a:solidFill>
                <a:latin typeface="Everyday Sans Headline Light" pitchFamily="34" charset="0"/>
                <a:ea typeface="Everyday Sans Headline Light" pitchFamily="34" charset="-122"/>
                <a:cs typeface="Everyday Sans Headline Light" pitchFamily="34" charset="-120"/>
              </a:rPr>
              <a:t>Unclear</a:t>
            </a:r>
            <a:endParaRPr lang="en-US" sz="2000" dirty="0"/>
          </a:p>
        </p:txBody>
      </p:sp>
      <p:sp>
        <p:nvSpPr>
          <p:cNvPr id="24" name="Text 22"/>
          <p:cNvSpPr txBox="1"/>
          <p:nvPr/>
        </p:nvSpPr>
        <p:spPr>
          <a:xfrm>
            <a:off x="7335441" y="3830935"/>
            <a:ext cx="2238494" cy="302220"/>
          </a:xfrm>
          <a:prstGeom prst="rect">
            <a:avLst/>
          </a:prstGeom>
          <a:noFill/>
          <a:ln/>
        </p:spPr>
        <p:txBody>
          <a:bodyPr wrap="square" lIns="0" tIns="0" rIns="0" bIns="0" rtlCol="0" anchor="t"/>
          <a:lstStyle/>
          <a:p>
            <a:pPr algn="l" indent="0" marL="0">
              <a:lnSpc>
                <a:spcPts val="1190"/>
              </a:lnSpc>
              <a:buNone/>
            </a:pPr>
            <a:r>
              <a:rPr lang="en-US" sz="850" dirty="0">
                <a:solidFill>
                  <a:srgbClr val="3D4A63"/>
                </a:solidFill>
                <a:latin typeface="Everyday Sans UI" pitchFamily="34" charset="0"/>
                <a:ea typeface="Everyday Sans UI" pitchFamily="34" charset="-122"/>
                <a:cs typeface="Everyday Sans UI" pitchFamily="34" charset="-120"/>
              </a:rPr>
              <a:t>Advertisers struggle to understand what</a:t>
            </a:r>
            <a:endParaRPr lang="en-US" sz="850" dirty="0"/>
          </a:p>
          <a:p>
            <a:pPr algn="l" indent="0" marL="0">
              <a:lnSpc>
                <a:spcPts val="1190"/>
              </a:lnSpc>
              <a:buNone/>
            </a:pPr>
            <a:r>
              <a:rPr lang="en-US" sz="850" dirty="0">
                <a:solidFill>
                  <a:srgbClr val="3D4A63"/>
                </a:solidFill>
                <a:latin typeface="Everyday Sans UI" pitchFamily="34" charset="0"/>
                <a:ea typeface="Everyday Sans UI" pitchFamily="34" charset="-122"/>
                <a:cs typeface="Everyday Sans UI" pitchFamily="34" charset="-120"/>
              </a:rPr>
              <a:t>happened, why and what to do next.</a:t>
            </a:r>
            <a:endParaRPr lang="en-US" sz="850" dirty="0"/>
          </a:p>
        </p:txBody>
      </p:sp>
      <p:sp>
        <p:nvSpPr>
          <p:cNvPr id="25" name="Text 23"/>
          <p:cNvSpPr txBox="1"/>
          <p:nvPr/>
        </p:nvSpPr>
        <p:spPr>
          <a:xfrm>
            <a:off x="9611320" y="3475335"/>
            <a:ext cx="2238387" cy="266700"/>
          </a:xfrm>
          <a:prstGeom prst="rect">
            <a:avLst/>
          </a:prstGeom>
          <a:noFill/>
          <a:ln/>
        </p:spPr>
        <p:txBody>
          <a:bodyPr wrap="square" lIns="0" tIns="0" rIns="0" bIns="0" rtlCol="0" anchor="t"/>
          <a:lstStyle/>
          <a:p>
            <a:pPr algn="l" indent="0" marL="0">
              <a:lnSpc>
                <a:spcPts val="2100"/>
              </a:lnSpc>
              <a:buNone/>
            </a:pPr>
            <a:r>
              <a:rPr lang="en-US" sz="2000" spc="-70" kern="0" dirty="0">
                <a:solidFill>
                  <a:srgbClr val="0053E2"/>
                </a:solidFill>
                <a:latin typeface="Everyday Sans Headline Light" pitchFamily="34" charset="0"/>
                <a:ea typeface="Everyday Sans Headline Light" pitchFamily="34" charset="-122"/>
                <a:cs typeface="Everyday Sans Headline Light" pitchFamily="34" charset="-120"/>
              </a:rPr>
              <a:t>Time-consuming</a:t>
            </a:r>
            <a:endParaRPr lang="en-US" sz="2000" dirty="0"/>
          </a:p>
        </p:txBody>
      </p:sp>
      <p:sp>
        <p:nvSpPr>
          <p:cNvPr id="26" name="Text 24"/>
          <p:cNvSpPr txBox="1"/>
          <p:nvPr/>
        </p:nvSpPr>
        <p:spPr>
          <a:xfrm>
            <a:off x="9611320" y="3830935"/>
            <a:ext cx="2238387" cy="302220"/>
          </a:xfrm>
          <a:prstGeom prst="rect">
            <a:avLst/>
          </a:prstGeom>
          <a:noFill/>
          <a:ln/>
        </p:spPr>
        <p:txBody>
          <a:bodyPr wrap="square" lIns="0" tIns="0" rIns="0" bIns="0" rtlCol="0" anchor="t"/>
          <a:lstStyle/>
          <a:p>
            <a:pPr algn="l" indent="0" marL="0">
              <a:lnSpc>
                <a:spcPts val="1190"/>
              </a:lnSpc>
              <a:buNone/>
            </a:pPr>
            <a:r>
              <a:rPr lang="en-US" sz="850" dirty="0">
                <a:solidFill>
                  <a:srgbClr val="3D4A63"/>
                </a:solidFill>
                <a:latin typeface="Everyday Sans UI" pitchFamily="34" charset="0"/>
                <a:ea typeface="Everyday Sans UI" pitchFamily="34" charset="-122"/>
                <a:cs typeface="Everyday Sans UI" pitchFamily="34" charset="-120"/>
              </a:rPr>
              <a:t>Routine jobs require too many steps, clicks</a:t>
            </a:r>
            <a:endParaRPr lang="en-US" sz="850" dirty="0"/>
          </a:p>
          <a:p>
            <a:pPr algn="l" indent="0" marL="0">
              <a:lnSpc>
                <a:spcPts val="1190"/>
              </a:lnSpc>
              <a:buNone/>
            </a:pPr>
            <a:r>
              <a:rPr lang="en-US" sz="850" dirty="0">
                <a:solidFill>
                  <a:srgbClr val="3D4A63"/>
                </a:solidFill>
                <a:latin typeface="Everyday Sans UI" pitchFamily="34" charset="0"/>
                <a:ea typeface="Everyday Sans UI" pitchFamily="34" charset="-122"/>
                <a:cs typeface="Everyday Sans UI" pitchFamily="34" charset="-120"/>
              </a:rPr>
              <a:t>and workarounds.</a:t>
            </a:r>
            <a:endParaRPr lang="en-US" sz="850" dirty="0"/>
          </a:p>
        </p:txBody>
      </p:sp>
      <p:sp>
        <p:nvSpPr>
          <p:cNvPr id="27" name="Text 25"/>
          <p:cNvSpPr txBox="1"/>
          <p:nvPr/>
        </p:nvSpPr>
        <p:spPr>
          <a:xfrm>
            <a:off x="508000" y="4418905"/>
            <a:ext cx="979488"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EVIDENCE SOURCES</a:t>
            </a:r>
            <a:endParaRPr lang="en-US" sz="550" dirty="0"/>
          </a:p>
        </p:txBody>
      </p:sp>
      <p:sp>
        <p:nvSpPr>
          <p:cNvPr id="28" name="Text 26"/>
          <p:cNvSpPr txBox="1"/>
          <p:nvPr/>
        </p:nvSpPr>
        <p:spPr>
          <a:xfrm>
            <a:off x="1570038" y="4418905"/>
            <a:ext cx="294977"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UXR</a:t>
            </a:r>
            <a:endParaRPr lang="en-US" sz="550" dirty="0"/>
          </a:p>
        </p:txBody>
      </p:sp>
      <p:sp>
        <p:nvSpPr>
          <p:cNvPr id="29" name="Text 27"/>
          <p:cNvSpPr txBox="1"/>
          <p:nvPr/>
        </p:nvSpPr>
        <p:spPr>
          <a:xfrm>
            <a:off x="1941215" y="4418905"/>
            <a:ext cx="817463"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PENDO BEHAVIOR</a:t>
            </a:r>
            <a:endParaRPr lang="en-US" sz="550" dirty="0"/>
          </a:p>
        </p:txBody>
      </p:sp>
      <p:sp>
        <p:nvSpPr>
          <p:cNvPr id="30" name="Text 28"/>
          <p:cNvSpPr txBox="1"/>
          <p:nvPr/>
        </p:nvSpPr>
        <p:spPr>
          <a:xfrm>
            <a:off x="2834878" y="4418905"/>
            <a:ext cx="294977"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VOC</a:t>
            </a:r>
            <a:endParaRPr lang="en-US" sz="550" dirty="0"/>
          </a:p>
        </p:txBody>
      </p:sp>
      <p:sp>
        <p:nvSpPr>
          <p:cNvPr id="31" name="Text 29"/>
          <p:cNvSpPr txBox="1"/>
          <p:nvPr/>
        </p:nvSpPr>
        <p:spPr>
          <a:xfrm>
            <a:off x="3206055" y="4418905"/>
            <a:ext cx="484981"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SUPPORT</a:t>
            </a:r>
            <a:endParaRPr lang="en-US" sz="550" dirty="0"/>
          </a:p>
        </p:txBody>
      </p:sp>
      <p:sp>
        <p:nvSpPr>
          <p:cNvPr id="32" name="Text 30"/>
          <p:cNvSpPr txBox="1"/>
          <p:nvPr/>
        </p:nvSpPr>
        <p:spPr>
          <a:xfrm>
            <a:off x="3767237" y="4418905"/>
            <a:ext cx="389930"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SALES</a:t>
            </a:r>
            <a:endParaRPr lang="en-US" sz="550" dirty="0"/>
          </a:p>
        </p:txBody>
      </p:sp>
      <p:sp>
        <p:nvSpPr>
          <p:cNvPr id="33" name="Text 31"/>
          <p:cNvSpPr txBox="1"/>
          <p:nvPr/>
        </p:nvSpPr>
        <p:spPr>
          <a:xfrm>
            <a:off x="4233366" y="4418905"/>
            <a:ext cx="959941"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PRODUCT ANALYTICS</a:t>
            </a:r>
            <a:endParaRPr lang="en-US" sz="550" dirty="0"/>
          </a:p>
        </p:txBody>
      </p:sp>
      <p:pic>
        <p:nvPicPr>
          <p:cNvPr id="34"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35" name="Text 32"/>
          <p:cNvSpPr txBox="1"/>
          <p:nvPr/>
        </p:nvSpPr>
        <p:spPr>
          <a:xfrm>
            <a:off x="711200"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36" name="Text 33"/>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02 / 18</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625600" cy="127000"/>
          </a:xfrm>
          <a:prstGeom prst="roundRect">
            <a:avLst>
              <a:gd name="adj" fmla="val 360000"/>
            </a:avLst>
          </a:prstGeom>
          <a:solidFill>
            <a:srgbClr val="D7EEF9"/>
          </a:solidFill>
          <a:ln/>
        </p:spPr>
      </p:sp>
      <p:sp>
        <p:nvSpPr>
          <p:cNvPr id="3" name="Shape 1"/>
          <p:cNvSpPr/>
          <p:nvPr/>
        </p:nvSpPr>
        <p:spPr>
          <a:xfrm>
            <a:off x="508000" y="3240484"/>
            <a:ext cx="1642467" cy="0"/>
          </a:xfrm>
          <a:prstGeom prst="line">
            <a:avLst/>
          </a:prstGeom>
          <a:noFill/>
          <a:ln w="6350">
            <a:solidFill>
              <a:srgbClr val="0053E2"/>
            </a:solidFill>
            <a:prstDash val="solid"/>
          </a:ln>
        </p:spPr>
      </p:sp>
      <p:sp>
        <p:nvSpPr>
          <p:cNvPr id="4" name="Shape 2"/>
          <p:cNvSpPr/>
          <p:nvPr/>
        </p:nvSpPr>
        <p:spPr>
          <a:xfrm>
            <a:off x="2353667" y="3240484"/>
            <a:ext cx="1642566" cy="0"/>
          </a:xfrm>
          <a:prstGeom prst="line">
            <a:avLst/>
          </a:prstGeom>
          <a:noFill/>
          <a:ln w="6350">
            <a:solidFill>
              <a:srgbClr val="0053E2"/>
            </a:solidFill>
            <a:prstDash val="solid"/>
          </a:ln>
        </p:spPr>
      </p:sp>
      <p:sp>
        <p:nvSpPr>
          <p:cNvPr id="5" name="Shape 3"/>
          <p:cNvSpPr/>
          <p:nvPr/>
        </p:nvSpPr>
        <p:spPr>
          <a:xfrm>
            <a:off x="4199434" y="3240484"/>
            <a:ext cx="1642467" cy="0"/>
          </a:xfrm>
          <a:prstGeom prst="line">
            <a:avLst/>
          </a:prstGeom>
          <a:noFill/>
          <a:ln w="6350">
            <a:solidFill>
              <a:srgbClr val="0053E2"/>
            </a:solidFill>
            <a:prstDash val="solid"/>
          </a:ln>
        </p:spPr>
      </p:sp>
      <p:sp>
        <p:nvSpPr>
          <p:cNvPr id="6" name="Shape 4"/>
          <p:cNvSpPr/>
          <p:nvPr/>
        </p:nvSpPr>
        <p:spPr>
          <a:xfrm>
            <a:off x="6045101" y="3240484"/>
            <a:ext cx="1642566" cy="0"/>
          </a:xfrm>
          <a:prstGeom prst="line">
            <a:avLst/>
          </a:prstGeom>
          <a:noFill/>
          <a:ln w="6350">
            <a:solidFill>
              <a:srgbClr val="0053E2"/>
            </a:solidFill>
            <a:prstDash val="solid"/>
          </a:ln>
        </p:spPr>
      </p:sp>
      <p:sp>
        <p:nvSpPr>
          <p:cNvPr id="7" name="Shape 5"/>
          <p:cNvSpPr/>
          <p:nvPr/>
        </p:nvSpPr>
        <p:spPr>
          <a:xfrm>
            <a:off x="8094067" y="3240484"/>
            <a:ext cx="1693267" cy="0"/>
          </a:xfrm>
          <a:prstGeom prst="line">
            <a:avLst/>
          </a:prstGeom>
          <a:noFill/>
          <a:ln w="6350">
            <a:solidFill>
              <a:srgbClr val="0053E2"/>
            </a:solidFill>
            <a:prstDash val="solid"/>
          </a:ln>
        </p:spPr>
      </p:sp>
      <p:sp>
        <p:nvSpPr>
          <p:cNvPr id="8" name="Shape 6"/>
          <p:cNvSpPr/>
          <p:nvPr/>
        </p:nvSpPr>
        <p:spPr>
          <a:xfrm>
            <a:off x="9990534" y="3240484"/>
            <a:ext cx="1693366" cy="0"/>
          </a:xfrm>
          <a:prstGeom prst="line">
            <a:avLst/>
          </a:prstGeom>
          <a:noFill/>
          <a:ln w="6350">
            <a:solidFill>
              <a:srgbClr val="0053E2"/>
            </a:solidFill>
            <a:prstDash val="solid"/>
          </a:ln>
        </p:spPr>
      </p:sp>
      <p:sp>
        <p:nvSpPr>
          <p:cNvPr id="9" name="Shape 7"/>
          <p:cNvSpPr/>
          <p:nvPr/>
        </p:nvSpPr>
        <p:spPr>
          <a:xfrm>
            <a:off x="508000" y="4455220"/>
            <a:ext cx="11176000" cy="0"/>
          </a:xfrm>
          <a:prstGeom prst="line">
            <a:avLst/>
          </a:prstGeom>
          <a:noFill/>
          <a:ln w="6350">
            <a:solidFill>
              <a:srgbClr val="0053E2"/>
            </a:solidFill>
            <a:prstDash val="solid"/>
          </a:ln>
        </p:spPr>
      </p:sp>
      <p:sp>
        <p:nvSpPr>
          <p:cNvPr id="10" name="Text 8"/>
          <p:cNvSpPr txBox="1"/>
          <p:nvPr/>
        </p:nvSpPr>
        <p:spPr>
          <a:xfrm>
            <a:off x="501650" y="971550"/>
            <a:ext cx="163830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BEHAVIOR CONFIRMS THE RESEARCH</a:t>
            </a:r>
            <a:endParaRPr lang="en-US" sz="500" dirty="0"/>
          </a:p>
        </p:txBody>
      </p:sp>
      <p:sp>
        <p:nvSpPr>
          <p:cNvPr id="11" name="Text 9"/>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Advertiser friction isn’t just something they’re telling us. We can </a:t>
            </a:r>
            <a:pPr algn="l" indent="0" marL="0">
              <a:lnSpc>
                <a:spcPts val="3024"/>
              </a:lnSpc>
              <a:buNone/>
            </a:pPr>
            <a:r>
              <a:rPr lang="en-US" sz="2400" i="1" spc="-72" kern="0" dirty="0">
                <a:solidFill>
                  <a:srgbClr val="0053E2"/>
                </a:solidFill>
                <a:latin typeface="Everyday Sans Light" pitchFamily="34" charset="0"/>
                <a:ea typeface="Everyday Sans Light" pitchFamily="34" charset="-122"/>
                <a:cs typeface="Everyday Sans Light" pitchFamily="34" charset="-120"/>
              </a:rPr>
              <a:t>see</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 it.</a:t>
            </a:r>
            <a:endParaRPr lang="en-US" sz="2400" dirty="0"/>
          </a:p>
        </p:txBody>
      </p:sp>
      <p:sp>
        <p:nvSpPr>
          <p:cNvPr id="12" name="Text 10"/>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Behavioral signals reinforce what advertisers are telling us through research and feedback.</a:t>
            </a:r>
            <a:endParaRPr lang="en-US" sz="900" dirty="0"/>
          </a:p>
        </p:txBody>
      </p:sp>
      <p:sp>
        <p:nvSpPr>
          <p:cNvPr id="13" name="Text 11"/>
          <p:cNvSpPr txBox="1"/>
          <p:nvPr/>
        </p:nvSpPr>
        <p:spPr>
          <a:xfrm>
            <a:off x="508000" y="3048992"/>
            <a:ext cx="7754041" cy="99417"/>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BEHAVIOR · ONSITE DISPLAY AD GROUP SETUP</a:t>
            </a:r>
            <a:pPr algn="l" indent="0" marL="0">
              <a:lnSpc>
                <a:spcPts val="660"/>
              </a:lnSpc>
              <a:buNone/>
            </a:pPr>
            <a:r>
              <a:rPr lang="en-US" sz="500" baseline="30000" spc="10" kern="0" dirty="0">
                <a:solidFill>
                  <a:srgbClr val="0053E2"/>
                </a:solidFill>
                <a:latin typeface="Everyday Sans Mono" pitchFamily="34" charset="0"/>
                <a:ea typeface="Everyday Sans Mono" pitchFamily="34" charset="-122"/>
                <a:cs typeface="Everyday Sans Mono" pitchFamily="34" charset="-120"/>
              </a:rPr>
              <a:t>1</a:t>
            </a:r>
            <a:endParaRPr lang="en-US" sz="550" dirty="0"/>
          </a:p>
        </p:txBody>
      </p:sp>
      <p:sp>
        <p:nvSpPr>
          <p:cNvPr id="14" name="Text 12"/>
          <p:cNvSpPr txBox="1"/>
          <p:nvPr/>
        </p:nvSpPr>
        <p:spPr>
          <a:xfrm>
            <a:off x="508000" y="3345259"/>
            <a:ext cx="1794867" cy="386080"/>
          </a:xfrm>
          <a:prstGeom prst="rect">
            <a:avLst/>
          </a:prstGeom>
          <a:noFill/>
          <a:ln/>
        </p:spPr>
        <p:txBody>
          <a:bodyPr wrap="square" lIns="0" tIns="0" rIns="0" bIns="0" rtlCol="0" anchor="t"/>
          <a:lstStyle/>
          <a:p>
            <a:pPr algn="l" indent="0" marL="0">
              <a:lnSpc>
                <a:spcPts val="3040"/>
              </a:lnSpc>
              <a:buNone/>
            </a:pPr>
            <a:r>
              <a:rPr lang="en-US" sz="3200" spc="-128" kern="0" dirty="0">
                <a:solidFill>
                  <a:srgbClr val="0053E2"/>
                </a:solidFill>
                <a:latin typeface="Everyday Sans Headline Light" pitchFamily="34" charset="0"/>
                <a:ea typeface="Everyday Sans Headline Light" pitchFamily="34" charset="-122"/>
                <a:cs typeface="Everyday Sans Headline Light" pitchFamily="34" charset="-120"/>
              </a:rPr>
              <a:t>46.2%</a:t>
            </a:r>
            <a:endParaRPr lang="en-US" sz="3200" dirty="0"/>
          </a:p>
        </p:txBody>
      </p:sp>
      <p:sp>
        <p:nvSpPr>
          <p:cNvPr id="15" name="Text 13"/>
          <p:cNvSpPr txBox="1"/>
          <p:nvPr/>
        </p:nvSpPr>
        <p:spPr>
          <a:xfrm>
            <a:off x="508000" y="3807520"/>
            <a:ext cx="1794867" cy="133350"/>
          </a:xfrm>
          <a:prstGeom prst="rect">
            <a:avLst/>
          </a:prstGeom>
          <a:noFill/>
          <a:ln/>
        </p:spPr>
        <p:txBody>
          <a:bodyPr wrap="square" lIns="0" tIns="0" rIns="0" bIns="0" rtlCol="0" anchor="t"/>
          <a:lstStyle/>
          <a:p>
            <a:pPr algn="l" indent="0" marL="0">
              <a:lnSpc>
                <a:spcPts val="1020"/>
              </a:lnSpc>
              <a:buNone/>
            </a:pPr>
            <a:r>
              <a:rPr lang="en-US" sz="850" dirty="0">
                <a:solidFill>
                  <a:srgbClr val="001E60"/>
                </a:solidFill>
                <a:latin typeface="Everyday Sans UI Medium" pitchFamily="34" charset="0"/>
                <a:ea typeface="Everyday Sans UI Medium" pitchFamily="34" charset="-122"/>
                <a:cs typeface="Everyday Sans UI Medium" pitchFamily="34" charset="-120"/>
              </a:rPr>
              <a:t>Drop-off</a:t>
            </a:r>
            <a:endParaRPr lang="en-US" sz="850" dirty="0"/>
          </a:p>
        </p:txBody>
      </p:sp>
      <p:sp>
        <p:nvSpPr>
          <p:cNvPr id="16" name="Text 14"/>
          <p:cNvSpPr txBox="1"/>
          <p:nvPr/>
        </p:nvSpPr>
        <p:spPr>
          <a:xfrm>
            <a:off x="508000" y="3966270"/>
            <a:ext cx="1794867" cy="128588"/>
          </a:xfrm>
          <a:prstGeom prst="rect">
            <a:avLst/>
          </a:prstGeom>
          <a:noFill/>
          <a:ln/>
        </p:spPr>
        <p:txBody>
          <a:bodyPr wrap="square" lIns="0" tIns="0" rIns="0" bIns="0" rtlCol="0" anchor="t"/>
          <a:lstStyle/>
          <a:p>
            <a:pPr algn="l" indent="0" marL="0">
              <a:lnSpc>
                <a:spcPts val="1013"/>
              </a:lnSpc>
              <a:buNone/>
            </a:pPr>
            <a:r>
              <a:rPr lang="en-US" sz="750" dirty="0">
                <a:solidFill>
                  <a:srgbClr val="3D4A63"/>
                </a:solidFill>
                <a:latin typeface="Everyday Sans UI" pitchFamily="34" charset="0"/>
                <a:ea typeface="Everyday Sans UI" pitchFamily="34" charset="-122"/>
                <a:cs typeface="Everyday Sans UI" pitchFamily="34" charset="-120"/>
              </a:rPr>
              <a:t>From Ad Group Create / Edit to Set Up.</a:t>
            </a:r>
            <a:endParaRPr lang="en-US" sz="750" dirty="0"/>
          </a:p>
        </p:txBody>
      </p:sp>
      <p:sp>
        <p:nvSpPr>
          <p:cNvPr id="17" name="Text 15"/>
          <p:cNvSpPr txBox="1"/>
          <p:nvPr/>
        </p:nvSpPr>
        <p:spPr>
          <a:xfrm>
            <a:off x="2353667" y="3345259"/>
            <a:ext cx="1794966" cy="386080"/>
          </a:xfrm>
          <a:prstGeom prst="rect">
            <a:avLst/>
          </a:prstGeom>
          <a:noFill/>
          <a:ln/>
        </p:spPr>
        <p:txBody>
          <a:bodyPr wrap="square" lIns="0" tIns="0" rIns="0" bIns="0" rtlCol="0" anchor="t"/>
          <a:lstStyle/>
          <a:p>
            <a:pPr algn="l" indent="0" marL="0">
              <a:lnSpc>
                <a:spcPts val="3040"/>
              </a:lnSpc>
              <a:buNone/>
            </a:pPr>
            <a:r>
              <a:rPr lang="en-US" sz="3200" spc="-128" kern="0" dirty="0">
                <a:solidFill>
                  <a:srgbClr val="0053E2"/>
                </a:solidFill>
                <a:latin typeface="Everyday Sans Headline Light" pitchFamily="34" charset="0"/>
                <a:ea typeface="Everyday Sans Headline Light" pitchFamily="34" charset="-122"/>
                <a:cs typeface="Everyday Sans Headline Light" pitchFamily="34" charset="-120"/>
              </a:rPr>
              <a:t>135K+</a:t>
            </a:r>
            <a:endParaRPr lang="en-US" sz="3200" dirty="0"/>
          </a:p>
        </p:txBody>
      </p:sp>
      <p:sp>
        <p:nvSpPr>
          <p:cNvPr id="18" name="Text 16"/>
          <p:cNvSpPr txBox="1"/>
          <p:nvPr/>
        </p:nvSpPr>
        <p:spPr>
          <a:xfrm>
            <a:off x="2353667" y="3807520"/>
            <a:ext cx="1794966" cy="133350"/>
          </a:xfrm>
          <a:prstGeom prst="rect">
            <a:avLst/>
          </a:prstGeom>
          <a:noFill/>
          <a:ln/>
        </p:spPr>
        <p:txBody>
          <a:bodyPr wrap="square" lIns="0" tIns="0" rIns="0" bIns="0" rtlCol="0" anchor="t"/>
          <a:lstStyle/>
          <a:p>
            <a:pPr algn="l" indent="0" marL="0">
              <a:lnSpc>
                <a:spcPts val="1020"/>
              </a:lnSpc>
              <a:buNone/>
            </a:pPr>
            <a:r>
              <a:rPr lang="en-US" sz="850" dirty="0">
                <a:solidFill>
                  <a:srgbClr val="001E60"/>
                </a:solidFill>
                <a:latin typeface="Everyday Sans UI Medium" pitchFamily="34" charset="0"/>
                <a:ea typeface="Everyday Sans UI Medium" pitchFamily="34" charset="-122"/>
                <a:cs typeface="Everyday Sans UI Medium" pitchFamily="34" charset="-120"/>
              </a:rPr>
              <a:t>Dead clicks</a:t>
            </a:r>
            <a:endParaRPr lang="en-US" sz="850" dirty="0"/>
          </a:p>
        </p:txBody>
      </p:sp>
      <p:sp>
        <p:nvSpPr>
          <p:cNvPr id="19" name="Text 17"/>
          <p:cNvSpPr txBox="1"/>
          <p:nvPr/>
        </p:nvSpPr>
        <p:spPr>
          <a:xfrm>
            <a:off x="2353667" y="3966270"/>
            <a:ext cx="1794966" cy="128588"/>
          </a:xfrm>
          <a:prstGeom prst="rect">
            <a:avLst/>
          </a:prstGeom>
          <a:noFill/>
          <a:ln/>
        </p:spPr>
        <p:txBody>
          <a:bodyPr wrap="square" lIns="0" tIns="0" rIns="0" bIns="0" rtlCol="0" anchor="t"/>
          <a:lstStyle/>
          <a:p>
            <a:pPr algn="l" indent="0" marL="0">
              <a:lnSpc>
                <a:spcPts val="1013"/>
              </a:lnSpc>
              <a:buNone/>
            </a:pPr>
            <a:r>
              <a:rPr lang="en-US" sz="750" dirty="0">
                <a:solidFill>
                  <a:srgbClr val="3D4A63"/>
                </a:solidFill>
                <a:latin typeface="Everyday Sans UI" pitchFamily="34" charset="0"/>
                <a:ea typeface="Everyday Sans UI" pitchFamily="34" charset="-122"/>
                <a:cs typeface="Everyday Sans UI" pitchFamily="34" charset="-120"/>
              </a:rPr>
              <a:t>Clicks that do nothing.</a:t>
            </a:r>
            <a:endParaRPr lang="en-US" sz="750" dirty="0"/>
          </a:p>
        </p:txBody>
      </p:sp>
      <p:sp>
        <p:nvSpPr>
          <p:cNvPr id="20" name="Text 18"/>
          <p:cNvSpPr txBox="1"/>
          <p:nvPr/>
        </p:nvSpPr>
        <p:spPr>
          <a:xfrm>
            <a:off x="4199434" y="3345259"/>
            <a:ext cx="1794867" cy="386080"/>
          </a:xfrm>
          <a:prstGeom prst="rect">
            <a:avLst/>
          </a:prstGeom>
          <a:noFill/>
          <a:ln/>
        </p:spPr>
        <p:txBody>
          <a:bodyPr wrap="square" lIns="0" tIns="0" rIns="0" bIns="0" rtlCol="0" anchor="t"/>
          <a:lstStyle/>
          <a:p>
            <a:pPr algn="l" indent="0" marL="0">
              <a:lnSpc>
                <a:spcPts val="3040"/>
              </a:lnSpc>
              <a:buNone/>
            </a:pPr>
            <a:r>
              <a:rPr lang="en-US" sz="3200" spc="-128" kern="0" dirty="0">
                <a:solidFill>
                  <a:srgbClr val="0053E2"/>
                </a:solidFill>
                <a:latin typeface="Everyday Sans Headline Light" pitchFamily="34" charset="0"/>
                <a:ea typeface="Everyday Sans Headline Light" pitchFamily="34" charset="-122"/>
                <a:cs typeface="Everyday Sans Headline Light" pitchFamily="34" charset="-120"/>
              </a:rPr>
              <a:t>28K+</a:t>
            </a:r>
            <a:endParaRPr lang="en-US" sz="3200" dirty="0"/>
          </a:p>
        </p:txBody>
      </p:sp>
      <p:sp>
        <p:nvSpPr>
          <p:cNvPr id="21" name="Text 19"/>
          <p:cNvSpPr txBox="1"/>
          <p:nvPr/>
        </p:nvSpPr>
        <p:spPr>
          <a:xfrm>
            <a:off x="4199434" y="3807520"/>
            <a:ext cx="1794867" cy="133350"/>
          </a:xfrm>
          <a:prstGeom prst="rect">
            <a:avLst/>
          </a:prstGeom>
          <a:noFill/>
          <a:ln/>
        </p:spPr>
        <p:txBody>
          <a:bodyPr wrap="square" lIns="0" tIns="0" rIns="0" bIns="0" rtlCol="0" anchor="t"/>
          <a:lstStyle/>
          <a:p>
            <a:pPr algn="l" indent="0" marL="0">
              <a:lnSpc>
                <a:spcPts val="1020"/>
              </a:lnSpc>
              <a:buNone/>
            </a:pPr>
            <a:r>
              <a:rPr lang="en-US" sz="850" dirty="0">
                <a:solidFill>
                  <a:srgbClr val="001E60"/>
                </a:solidFill>
                <a:latin typeface="Everyday Sans UI Medium" pitchFamily="34" charset="0"/>
                <a:ea typeface="Everyday Sans UI Medium" pitchFamily="34" charset="-122"/>
                <a:cs typeface="Everyday Sans UI Medium" pitchFamily="34" charset="-120"/>
              </a:rPr>
              <a:t>U-turns</a:t>
            </a:r>
            <a:endParaRPr lang="en-US" sz="850" dirty="0"/>
          </a:p>
        </p:txBody>
      </p:sp>
      <p:sp>
        <p:nvSpPr>
          <p:cNvPr id="22" name="Text 20"/>
          <p:cNvSpPr txBox="1"/>
          <p:nvPr/>
        </p:nvSpPr>
        <p:spPr>
          <a:xfrm>
            <a:off x="4199434" y="3966270"/>
            <a:ext cx="1794867" cy="128588"/>
          </a:xfrm>
          <a:prstGeom prst="rect">
            <a:avLst/>
          </a:prstGeom>
          <a:noFill/>
          <a:ln/>
        </p:spPr>
        <p:txBody>
          <a:bodyPr wrap="square" lIns="0" tIns="0" rIns="0" bIns="0" rtlCol="0" anchor="t"/>
          <a:lstStyle/>
          <a:p>
            <a:pPr algn="l" indent="0" marL="0">
              <a:lnSpc>
                <a:spcPts val="1013"/>
              </a:lnSpc>
              <a:buNone/>
            </a:pPr>
            <a:r>
              <a:rPr lang="en-US" sz="750" dirty="0">
                <a:solidFill>
                  <a:srgbClr val="3D4A63"/>
                </a:solidFill>
                <a:latin typeface="Everyday Sans UI" pitchFamily="34" charset="0"/>
                <a:ea typeface="Everyday Sans UI" pitchFamily="34" charset="-122"/>
                <a:cs typeface="Everyday Sans UI" pitchFamily="34" charset="-120"/>
              </a:rPr>
              <a:t>Leaving a page and coming straight back.</a:t>
            </a:r>
            <a:endParaRPr lang="en-US" sz="750" dirty="0"/>
          </a:p>
        </p:txBody>
      </p:sp>
      <p:sp>
        <p:nvSpPr>
          <p:cNvPr id="23" name="Text 21"/>
          <p:cNvSpPr txBox="1"/>
          <p:nvPr/>
        </p:nvSpPr>
        <p:spPr>
          <a:xfrm>
            <a:off x="6045101" y="3345259"/>
            <a:ext cx="1794966" cy="386080"/>
          </a:xfrm>
          <a:prstGeom prst="rect">
            <a:avLst/>
          </a:prstGeom>
          <a:noFill/>
          <a:ln/>
        </p:spPr>
        <p:txBody>
          <a:bodyPr wrap="square" lIns="0" tIns="0" rIns="0" bIns="0" rtlCol="0" anchor="t"/>
          <a:lstStyle/>
          <a:p>
            <a:pPr algn="l" indent="0" marL="0">
              <a:lnSpc>
                <a:spcPts val="3040"/>
              </a:lnSpc>
              <a:buNone/>
            </a:pPr>
            <a:r>
              <a:rPr lang="en-US" sz="3200" spc="-128" kern="0" dirty="0">
                <a:solidFill>
                  <a:srgbClr val="0053E2"/>
                </a:solidFill>
                <a:latin typeface="Everyday Sans Headline Light" pitchFamily="34" charset="0"/>
                <a:ea typeface="Everyday Sans Headline Light" pitchFamily="34" charset="-122"/>
                <a:cs typeface="Everyday Sans Headline Light" pitchFamily="34" charset="-120"/>
              </a:rPr>
              <a:t>13.7K+</a:t>
            </a:r>
            <a:endParaRPr lang="en-US" sz="3200" dirty="0"/>
          </a:p>
        </p:txBody>
      </p:sp>
      <p:sp>
        <p:nvSpPr>
          <p:cNvPr id="24" name="Text 22"/>
          <p:cNvSpPr txBox="1"/>
          <p:nvPr/>
        </p:nvSpPr>
        <p:spPr>
          <a:xfrm>
            <a:off x="6045101" y="3807520"/>
            <a:ext cx="1794966" cy="133350"/>
          </a:xfrm>
          <a:prstGeom prst="rect">
            <a:avLst/>
          </a:prstGeom>
          <a:noFill/>
          <a:ln/>
        </p:spPr>
        <p:txBody>
          <a:bodyPr wrap="square" lIns="0" tIns="0" rIns="0" bIns="0" rtlCol="0" anchor="t"/>
          <a:lstStyle/>
          <a:p>
            <a:pPr algn="l" indent="0" marL="0">
              <a:lnSpc>
                <a:spcPts val="1020"/>
              </a:lnSpc>
              <a:buNone/>
            </a:pPr>
            <a:r>
              <a:rPr lang="en-US" sz="850" dirty="0">
                <a:solidFill>
                  <a:srgbClr val="001E60"/>
                </a:solidFill>
                <a:latin typeface="Everyday Sans UI Medium" pitchFamily="34" charset="0"/>
                <a:ea typeface="Everyday Sans UI Medium" pitchFamily="34" charset="-122"/>
                <a:cs typeface="Everyday Sans UI Medium" pitchFamily="34" charset="-120"/>
              </a:rPr>
              <a:t>Rage clicks</a:t>
            </a:r>
            <a:endParaRPr lang="en-US" sz="850" dirty="0"/>
          </a:p>
        </p:txBody>
      </p:sp>
      <p:sp>
        <p:nvSpPr>
          <p:cNvPr id="25" name="Text 23"/>
          <p:cNvSpPr txBox="1"/>
          <p:nvPr/>
        </p:nvSpPr>
        <p:spPr>
          <a:xfrm>
            <a:off x="6045101" y="3966270"/>
            <a:ext cx="1794966" cy="128588"/>
          </a:xfrm>
          <a:prstGeom prst="rect">
            <a:avLst/>
          </a:prstGeom>
          <a:noFill/>
          <a:ln/>
        </p:spPr>
        <p:txBody>
          <a:bodyPr wrap="square" lIns="0" tIns="0" rIns="0" bIns="0" rtlCol="0" anchor="t"/>
          <a:lstStyle/>
          <a:p>
            <a:pPr algn="l" indent="0" marL="0">
              <a:lnSpc>
                <a:spcPts val="1013"/>
              </a:lnSpc>
              <a:buNone/>
            </a:pPr>
            <a:r>
              <a:rPr lang="en-US" sz="750" dirty="0">
                <a:solidFill>
                  <a:srgbClr val="3D4A63"/>
                </a:solidFill>
                <a:latin typeface="Everyday Sans UI" pitchFamily="34" charset="0"/>
                <a:ea typeface="Everyday Sans UI" pitchFamily="34" charset="-122"/>
                <a:cs typeface="Everyday Sans UI" pitchFamily="34" charset="-120"/>
              </a:rPr>
              <a:t>Repeated clicks out of frustration.</a:t>
            </a:r>
            <a:endParaRPr lang="en-US" sz="750" dirty="0"/>
          </a:p>
        </p:txBody>
      </p:sp>
      <p:sp>
        <p:nvSpPr>
          <p:cNvPr id="26" name="Text 24"/>
          <p:cNvSpPr txBox="1"/>
          <p:nvPr/>
        </p:nvSpPr>
        <p:spPr>
          <a:xfrm>
            <a:off x="8094067" y="3048992"/>
            <a:ext cx="3877020" cy="99417"/>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PERCEPTION · RELATIONSHIP SURVEY</a:t>
            </a:r>
            <a:pPr algn="l" indent="0" marL="0">
              <a:lnSpc>
                <a:spcPts val="660"/>
              </a:lnSpc>
              <a:buNone/>
            </a:pPr>
            <a:r>
              <a:rPr lang="en-US" sz="500" baseline="30000" spc="10" kern="0" dirty="0">
                <a:solidFill>
                  <a:srgbClr val="0053E2"/>
                </a:solidFill>
                <a:latin typeface="Everyday Sans Mono" pitchFamily="34" charset="0"/>
                <a:ea typeface="Everyday Sans Mono" pitchFamily="34" charset="-122"/>
                <a:cs typeface="Everyday Sans Mono" pitchFamily="34" charset="-120"/>
              </a:rPr>
              <a:t>2</a:t>
            </a:r>
            <a:endParaRPr lang="en-US" sz="550" dirty="0"/>
          </a:p>
        </p:txBody>
      </p:sp>
      <p:sp>
        <p:nvSpPr>
          <p:cNvPr id="27" name="Text 25"/>
          <p:cNvSpPr txBox="1"/>
          <p:nvPr/>
        </p:nvSpPr>
        <p:spPr>
          <a:xfrm>
            <a:off x="8094067" y="3345259"/>
            <a:ext cx="1845667" cy="386080"/>
          </a:xfrm>
          <a:prstGeom prst="rect">
            <a:avLst/>
          </a:prstGeom>
          <a:noFill/>
          <a:ln/>
        </p:spPr>
        <p:txBody>
          <a:bodyPr wrap="square" lIns="0" tIns="0" rIns="0" bIns="0" rtlCol="0" anchor="t"/>
          <a:lstStyle/>
          <a:p>
            <a:pPr algn="l" indent="0" marL="0">
              <a:lnSpc>
                <a:spcPts val="3040"/>
              </a:lnSpc>
              <a:buNone/>
            </a:pPr>
            <a:r>
              <a:rPr lang="en-US" sz="3200" spc="-128" kern="0" dirty="0">
                <a:solidFill>
                  <a:srgbClr val="0053E2"/>
                </a:solidFill>
                <a:latin typeface="Everyday Sans Headline Light" pitchFamily="34" charset="0"/>
                <a:ea typeface="Everyday Sans Headline Light" pitchFamily="34" charset="-122"/>
                <a:cs typeface="Everyday Sans Headline Light" pitchFamily="34" charset="-120"/>
              </a:rPr>
              <a:t>~60%</a:t>
            </a:r>
            <a:endParaRPr lang="en-US" sz="3200" dirty="0"/>
          </a:p>
        </p:txBody>
      </p:sp>
      <p:sp>
        <p:nvSpPr>
          <p:cNvPr id="28" name="Text 26"/>
          <p:cNvSpPr txBox="1"/>
          <p:nvPr/>
        </p:nvSpPr>
        <p:spPr>
          <a:xfrm>
            <a:off x="8094067" y="3807520"/>
            <a:ext cx="1845667" cy="133350"/>
          </a:xfrm>
          <a:prstGeom prst="rect">
            <a:avLst/>
          </a:prstGeom>
          <a:noFill/>
          <a:ln/>
        </p:spPr>
        <p:txBody>
          <a:bodyPr wrap="square" lIns="0" tIns="0" rIns="0" bIns="0" rtlCol="0" anchor="t"/>
          <a:lstStyle/>
          <a:p>
            <a:pPr algn="l" indent="0" marL="0">
              <a:lnSpc>
                <a:spcPts val="1020"/>
              </a:lnSpc>
              <a:buNone/>
            </a:pPr>
            <a:r>
              <a:rPr lang="en-US" sz="850" dirty="0">
                <a:solidFill>
                  <a:srgbClr val="001E60"/>
                </a:solidFill>
                <a:latin typeface="Everyday Sans UI Medium" pitchFamily="34" charset="0"/>
                <a:ea typeface="Everyday Sans UI Medium" pitchFamily="34" charset="-122"/>
                <a:cs typeface="Everyday Sans UI Medium" pitchFamily="34" charset="-120"/>
              </a:rPr>
              <a:t>Detractors</a:t>
            </a:r>
            <a:endParaRPr lang="en-US" sz="850" dirty="0"/>
          </a:p>
        </p:txBody>
      </p:sp>
      <p:sp>
        <p:nvSpPr>
          <p:cNvPr id="29" name="Text 27"/>
          <p:cNvSpPr txBox="1"/>
          <p:nvPr/>
        </p:nvSpPr>
        <p:spPr>
          <a:xfrm>
            <a:off x="8094067" y="3966270"/>
            <a:ext cx="1845667" cy="128588"/>
          </a:xfrm>
          <a:prstGeom prst="rect">
            <a:avLst/>
          </a:prstGeom>
          <a:noFill/>
          <a:ln/>
        </p:spPr>
        <p:txBody>
          <a:bodyPr wrap="square" lIns="0" tIns="0" rIns="0" bIns="0" rtlCol="0" anchor="t"/>
          <a:lstStyle/>
          <a:p>
            <a:pPr algn="l" indent="0" marL="0">
              <a:lnSpc>
                <a:spcPts val="1013"/>
              </a:lnSpc>
              <a:buNone/>
            </a:pPr>
            <a:r>
              <a:rPr lang="en-US" sz="750" dirty="0">
                <a:solidFill>
                  <a:srgbClr val="3D4A63"/>
                </a:solidFill>
                <a:latin typeface="Everyday Sans UI" pitchFamily="34" charset="0"/>
                <a:ea typeface="Everyday Sans UI" pitchFamily="34" charset="-122"/>
                <a:cs typeface="Everyday Sans UI" pitchFamily="34" charset="-120"/>
              </a:rPr>
              <a:t>Across 1,350 scored relationship responses.</a:t>
            </a:r>
            <a:endParaRPr lang="en-US" sz="750" dirty="0"/>
          </a:p>
        </p:txBody>
      </p:sp>
      <p:sp>
        <p:nvSpPr>
          <p:cNvPr id="30" name="Text 28"/>
          <p:cNvSpPr txBox="1"/>
          <p:nvPr/>
        </p:nvSpPr>
        <p:spPr>
          <a:xfrm>
            <a:off x="9990534" y="3345259"/>
            <a:ext cx="1845766" cy="386080"/>
          </a:xfrm>
          <a:prstGeom prst="rect">
            <a:avLst/>
          </a:prstGeom>
          <a:noFill/>
          <a:ln/>
        </p:spPr>
        <p:txBody>
          <a:bodyPr wrap="square" lIns="0" tIns="0" rIns="0" bIns="0" rtlCol="0" anchor="t"/>
          <a:lstStyle/>
          <a:p>
            <a:pPr algn="l" indent="0" marL="0">
              <a:lnSpc>
                <a:spcPts val="3040"/>
              </a:lnSpc>
              <a:buNone/>
            </a:pPr>
            <a:r>
              <a:rPr lang="en-US" sz="3200" spc="-128" kern="0" dirty="0">
                <a:solidFill>
                  <a:srgbClr val="0053E2"/>
                </a:solidFill>
                <a:latin typeface="Everyday Sans Headline Light" pitchFamily="34" charset="0"/>
                <a:ea typeface="Everyday Sans Headline Light" pitchFamily="34" charset="-122"/>
                <a:cs typeface="Everyday Sans Headline Light" pitchFamily="34" charset="-120"/>
              </a:rPr>
              <a:t>0.888</a:t>
            </a:r>
            <a:endParaRPr lang="en-US" sz="3200" dirty="0"/>
          </a:p>
        </p:txBody>
      </p:sp>
      <p:sp>
        <p:nvSpPr>
          <p:cNvPr id="31" name="Text 29"/>
          <p:cNvSpPr txBox="1"/>
          <p:nvPr/>
        </p:nvSpPr>
        <p:spPr>
          <a:xfrm>
            <a:off x="9990534" y="3807520"/>
            <a:ext cx="1845766" cy="133350"/>
          </a:xfrm>
          <a:prstGeom prst="rect">
            <a:avLst/>
          </a:prstGeom>
          <a:noFill/>
          <a:ln/>
        </p:spPr>
        <p:txBody>
          <a:bodyPr wrap="square" lIns="0" tIns="0" rIns="0" bIns="0" rtlCol="0" anchor="t"/>
          <a:lstStyle/>
          <a:p>
            <a:pPr algn="l" indent="0" marL="0">
              <a:lnSpc>
                <a:spcPts val="1020"/>
              </a:lnSpc>
              <a:buNone/>
            </a:pPr>
            <a:r>
              <a:rPr lang="en-US" sz="850" dirty="0">
                <a:solidFill>
                  <a:srgbClr val="001E60"/>
                </a:solidFill>
                <a:latin typeface="Everyday Sans UI Medium" pitchFamily="34" charset="0"/>
                <a:ea typeface="Everyday Sans UI Medium" pitchFamily="34" charset="-122"/>
                <a:cs typeface="Everyday Sans UI Medium" pitchFamily="34" charset="-120"/>
              </a:rPr>
              <a:t>Correlation</a:t>
            </a:r>
            <a:endParaRPr lang="en-US" sz="850" dirty="0"/>
          </a:p>
        </p:txBody>
      </p:sp>
      <p:sp>
        <p:nvSpPr>
          <p:cNvPr id="32" name="Text 30"/>
          <p:cNvSpPr txBox="1"/>
          <p:nvPr/>
        </p:nvSpPr>
        <p:spPr>
          <a:xfrm>
            <a:off x="9990534" y="3966270"/>
            <a:ext cx="1845766" cy="257175"/>
          </a:xfrm>
          <a:prstGeom prst="rect">
            <a:avLst/>
          </a:prstGeom>
          <a:noFill/>
          <a:ln/>
        </p:spPr>
        <p:txBody>
          <a:bodyPr wrap="square" lIns="0" tIns="0" rIns="0" bIns="0" rtlCol="0" anchor="t"/>
          <a:lstStyle/>
          <a:p>
            <a:pPr algn="l" indent="0" marL="0">
              <a:lnSpc>
                <a:spcPts val="1013"/>
              </a:lnSpc>
              <a:buNone/>
            </a:pPr>
            <a:r>
              <a:rPr lang="en-US" sz="750" dirty="0">
                <a:solidFill>
                  <a:srgbClr val="3D4A63"/>
                </a:solidFill>
                <a:latin typeface="Everyday Sans UI" pitchFamily="34" charset="0"/>
                <a:ea typeface="Everyday Sans UI" pitchFamily="34" charset="-122"/>
                <a:cs typeface="Everyday Sans UI" pitchFamily="34" charset="-120"/>
              </a:rPr>
              <a:t>Between paired experience and perceived</a:t>
            </a:r>
            <a:endParaRPr lang="en-US" sz="750" dirty="0"/>
          </a:p>
          <a:p>
            <a:pPr algn="l" indent="0" marL="0">
              <a:lnSpc>
                <a:spcPts val="1013"/>
              </a:lnSpc>
              <a:buNone/>
            </a:pPr>
            <a:r>
              <a:rPr lang="en-US" sz="750" dirty="0">
                <a:solidFill>
                  <a:srgbClr val="3D4A63"/>
                </a:solidFill>
                <a:latin typeface="Everyday Sans UI" pitchFamily="34" charset="0"/>
                <a:ea typeface="Everyday Sans UI" pitchFamily="34" charset="-122"/>
                <a:cs typeface="Everyday Sans UI" pitchFamily="34" charset="-120"/>
              </a:rPr>
              <a:t>effectiveness ratings.</a:t>
            </a:r>
            <a:endParaRPr lang="en-US" sz="750" dirty="0"/>
          </a:p>
        </p:txBody>
      </p:sp>
      <p:sp>
        <p:nvSpPr>
          <p:cNvPr id="33" name="Text 31"/>
          <p:cNvSpPr txBox="1"/>
          <p:nvPr/>
        </p:nvSpPr>
        <p:spPr>
          <a:xfrm>
            <a:off x="508000" y="4674295"/>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READ IT CAREFULLY</a:t>
            </a:r>
            <a:endParaRPr lang="en-US" sz="550" dirty="0"/>
          </a:p>
        </p:txBody>
      </p:sp>
      <p:sp>
        <p:nvSpPr>
          <p:cNvPr id="34" name="Text 32"/>
          <p:cNvSpPr txBox="1"/>
          <p:nvPr/>
        </p:nvSpPr>
        <p:spPr>
          <a:xfrm>
            <a:off x="2108200" y="4559995"/>
            <a:ext cx="10341864" cy="44450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Correlation does not establish causation. It does tell us that advertisers experiencing more friction also tend to perceive</a:t>
            </a:r>
            <a:endParaRPr lang="en-US" sz="1400" dirty="0"/>
          </a:p>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Walmart Ads as less effective.</a:t>
            </a:r>
            <a:endParaRPr lang="en-US" sz="1400" dirty="0"/>
          </a:p>
        </p:txBody>
      </p:sp>
      <p:pic>
        <p:nvPicPr>
          <p:cNvPr id="35"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36" name="Text 33"/>
          <p:cNvSpPr txBox="1"/>
          <p:nvPr/>
        </p:nvSpPr>
        <p:spPr>
          <a:xfrm>
            <a:off x="711200"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37" name="Text 34"/>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03 / 18</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229420" cy="127000"/>
          </a:xfrm>
          <a:prstGeom prst="roundRect">
            <a:avLst>
              <a:gd name="adj" fmla="val 360000"/>
            </a:avLst>
          </a:prstGeom>
          <a:solidFill>
            <a:srgbClr val="D7EEF9"/>
          </a:solidFill>
          <a:ln/>
        </p:spPr>
      </p:sp>
      <p:sp>
        <p:nvSpPr>
          <p:cNvPr id="3" name="Shape 1"/>
          <p:cNvSpPr/>
          <p:nvPr/>
        </p:nvSpPr>
        <p:spPr>
          <a:xfrm>
            <a:off x="508000" y="3257649"/>
            <a:ext cx="11176000" cy="6350"/>
          </a:xfrm>
          <a:prstGeom prst="rect">
            <a:avLst/>
          </a:prstGeom>
          <a:solidFill>
            <a:srgbClr val="0053E2"/>
          </a:solidFill>
          <a:ln/>
        </p:spPr>
      </p:sp>
      <p:sp>
        <p:nvSpPr>
          <p:cNvPr id="4" name="Shape 2"/>
          <p:cNvSpPr/>
          <p:nvPr/>
        </p:nvSpPr>
        <p:spPr>
          <a:xfrm>
            <a:off x="508000" y="3219549"/>
            <a:ext cx="82550" cy="82550"/>
          </a:xfrm>
          <a:prstGeom prst="ellipse">
            <a:avLst/>
          </a:prstGeom>
          <a:solidFill>
            <a:srgbClr val="F5F6F8"/>
          </a:solidFill>
          <a:ln w="6350">
            <a:solidFill>
              <a:srgbClr val="0053E2"/>
            </a:solidFill>
            <a:prstDash val="solid"/>
          </a:ln>
        </p:spPr>
      </p:sp>
      <p:sp>
        <p:nvSpPr>
          <p:cNvPr id="5" name="Shape 3"/>
          <p:cNvSpPr/>
          <p:nvPr/>
        </p:nvSpPr>
        <p:spPr>
          <a:xfrm>
            <a:off x="2783780" y="3219549"/>
            <a:ext cx="82550" cy="82550"/>
          </a:xfrm>
          <a:prstGeom prst="ellipse">
            <a:avLst/>
          </a:prstGeom>
          <a:solidFill>
            <a:srgbClr val="F5F6F8"/>
          </a:solidFill>
          <a:ln w="6350">
            <a:solidFill>
              <a:srgbClr val="0053E2"/>
            </a:solidFill>
            <a:prstDash val="solid"/>
          </a:ln>
        </p:spPr>
      </p:sp>
      <p:sp>
        <p:nvSpPr>
          <p:cNvPr id="6" name="Shape 4"/>
          <p:cNvSpPr/>
          <p:nvPr/>
        </p:nvSpPr>
        <p:spPr>
          <a:xfrm>
            <a:off x="5059660" y="3219549"/>
            <a:ext cx="82550" cy="82550"/>
          </a:xfrm>
          <a:prstGeom prst="ellipse">
            <a:avLst/>
          </a:prstGeom>
          <a:solidFill>
            <a:srgbClr val="F5F6F8"/>
          </a:solidFill>
          <a:ln w="6350">
            <a:solidFill>
              <a:srgbClr val="0053E2"/>
            </a:solidFill>
            <a:prstDash val="solid"/>
          </a:ln>
        </p:spPr>
      </p:sp>
      <p:sp>
        <p:nvSpPr>
          <p:cNvPr id="7" name="Shape 5"/>
          <p:cNvSpPr/>
          <p:nvPr/>
        </p:nvSpPr>
        <p:spPr>
          <a:xfrm>
            <a:off x="7335441" y="3219549"/>
            <a:ext cx="82550" cy="82550"/>
          </a:xfrm>
          <a:prstGeom prst="ellipse">
            <a:avLst/>
          </a:prstGeom>
          <a:solidFill>
            <a:srgbClr val="F5F6F8"/>
          </a:solidFill>
          <a:ln w="6350">
            <a:solidFill>
              <a:srgbClr val="0053E2"/>
            </a:solidFill>
            <a:prstDash val="solid"/>
          </a:ln>
        </p:spPr>
      </p:sp>
      <p:sp>
        <p:nvSpPr>
          <p:cNvPr id="8" name="Shape 6"/>
          <p:cNvSpPr/>
          <p:nvPr/>
        </p:nvSpPr>
        <p:spPr>
          <a:xfrm>
            <a:off x="9611320" y="3219549"/>
            <a:ext cx="82550" cy="82550"/>
          </a:xfrm>
          <a:prstGeom prst="ellipse">
            <a:avLst/>
          </a:prstGeom>
          <a:solidFill>
            <a:srgbClr val="F5F6F8"/>
          </a:solidFill>
          <a:ln w="6350">
            <a:solidFill>
              <a:srgbClr val="0053E2"/>
            </a:solidFill>
            <a:prstDash val="solid"/>
          </a:ln>
        </p:spPr>
      </p:sp>
      <p:sp>
        <p:nvSpPr>
          <p:cNvPr id="9" name="Shape 7"/>
          <p:cNvSpPr/>
          <p:nvPr/>
        </p:nvSpPr>
        <p:spPr>
          <a:xfrm>
            <a:off x="508000" y="4459585"/>
            <a:ext cx="11176000" cy="0"/>
          </a:xfrm>
          <a:prstGeom prst="line">
            <a:avLst/>
          </a:prstGeom>
          <a:noFill/>
          <a:ln w="6350">
            <a:solidFill>
              <a:srgbClr val="0053E2"/>
            </a:solidFill>
            <a:prstDash val="solid"/>
          </a:ln>
        </p:spPr>
      </p:sp>
      <p:sp>
        <p:nvSpPr>
          <p:cNvPr id="10" name="Text 8"/>
          <p:cNvSpPr txBox="1"/>
          <p:nvPr/>
        </p:nvSpPr>
        <p:spPr>
          <a:xfrm>
            <a:off x="501650" y="971550"/>
            <a:ext cx="124212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FROM SIGNALS TO ACTION</a:t>
            </a:r>
            <a:endParaRPr lang="en-US" sz="500" dirty="0"/>
          </a:p>
        </p:txBody>
      </p:sp>
      <p:sp>
        <p:nvSpPr>
          <p:cNvPr id="11" name="Text 9"/>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We’re changing how experience problems get </a:t>
            </a:r>
            <a:pPr algn="l" indent="0" marL="0">
              <a:lnSpc>
                <a:spcPts val="3024"/>
              </a:lnSpc>
              <a:buNone/>
            </a:pPr>
            <a:r>
              <a:rPr lang="en-US" sz="2400" i="1" spc="-72" kern="0" dirty="0">
                <a:solidFill>
                  <a:srgbClr val="0053E2"/>
                </a:solidFill>
                <a:latin typeface="Everyday Sans Light" pitchFamily="34" charset="0"/>
                <a:ea typeface="Everyday Sans Light" pitchFamily="34" charset="-122"/>
                <a:cs typeface="Everyday Sans Light" pitchFamily="34" charset="-120"/>
              </a:rPr>
              <a:t>diagnosed</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12" name="Text 10"/>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Feedback tells us where to look. It should not predetermine the solution.</a:t>
            </a:r>
            <a:endParaRPr lang="en-US" sz="900" dirty="0"/>
          </a:p>
        </p:txBody>
      </p:sp>
      <p:sp>
        <p:nvSpPr>
          <p:cNvPr id="13" name="Text 11"/>
          <p:cNvSpPr txBox="1"/>
          <p:nvPr/>
        </p:nvSpPr>
        <p:spPr>
          <a:xfrm>
            <a:off x="508000" y="3397349"/>
            <a:ext cx="2238387"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01 · SIGNALS</a:t>
            </a:r>
            <a:endParaRPr lang="en-US" sz="550" dirty="0"/>
          </a:p>
        </p:txBody>
      </p:sp>
      <p:sp>
        <p:nvSpPr>
          <p:cNvPr id="14" name="Text 12"/>
          <p:cNvSpPr txBox="1"/>
          <p:nvPr/>
        </p:nvSpPr>
        <p:spPr>
          <a:xfrm>
            <a:off x="508000" y="3549749"/>
            <a:ext cx="2238387" cy="639961"/>
          </a:xfrm>
          <a:prstGeom prst="rect">
            <a:avLst/>
          </a:prstGeom>
          <a:noFill/>
          <a:ln/>
        </p:spPr>
        <p:txBody>
          <a:bodyPr wrap="square" lIns="0" tIns="0" rIns="0" bIns="0" rtlCol="0" anchor="t"/>
          <a:lstStyle/>
          <a:p>
            <a:pPr algn="l" indent="0" marL="0">
              <a:lnSpc>
                <a:spcPts val="168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UXR, Pendo, VOC,</a:t>
            </a:r>
            <a:endParaRPr lang="en-US" sz="1400" dirty="0"/>
          </a:p>
          <a:p>
            <a:pPr algn="l" indent="0" marL="0">
              <a:lnSpc>
                <a:spcPts val="168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Support, Sales,</a:t>
            </a:r>
            <a:endParaRPr lang="en-US" sz="1400" dirty="0"/>
          </a:p>
          <a:p>
            <a:pPr algn="l" indent="0" marL="0">
              <a:lnSpc>
                <a:spcPts val="168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Performance</a:t>
            </a:r>
            <a:endParaRPr lang="en-US" sz="1400" dirty="0"/>
          </a:p>
        </p:txBody>
      </p:sp>
      <p:sp>
        <p:nvSpPr>
          <p:cNvPr id="15" name="Text 13"/>
          <p:cNvSpPr txBox="1"/>
          <p:nvPr/>
        </p:nvSpPr>
        <p:spPr>
          <a:xfrm>
            <a:off x="2783780" y="3397349"/>
            <a:ext cx="2238494"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02 · EXPERIENCE PROBLEMS</a:t>
            </a:r>
            <a:endParaRPr lang="en-US" sz="550" dirty="0"/>
          </a:p>
        </p:txBody>
      </p:sp>
      <p:sp>
        <p:nvSpPr>
          <p:cNvPr id="16" name="Text 14"/>
          <p:cNvSpPr txBox="1"/>
          <p:nvPr/>
        </p:nvSpPr>
        <p:spPr>
          <a:xfrm>
            <a:off x="2783780" y="3549749"/>
            <a:ext cx="2238494" cy="426641"/>
          </a:xfrm>
          <a:prstGeom prst="rect">
            <a:avLst/>
          </a:prstGeom>
          <a:noFill/>
          <a:ln/>
        </p:spPr>
        <p:txBody>
          <a:bodyPr wrap="square" lIns="0" tIns="0" rIns="0" bIns="0" rtlCol="0" anchor="t"/>
          <a:lstStyle/>
          <a:p>
            <a:pPr algn="l" indent="0" marL="0">
              <a:lnSpc>
                <a:spcPts val="168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What job is failing? Where?</a:t>
            </a:r>
            <a:endParaRPr lang="en-US" sz="1400" dirty="0"/>
          </a:p>
          <a:p>
            <a:pPr algn="l" indent="0" marL="0">
              <a:lnSpc>
                <a:spcPts val="168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For whom?</a:t>
            </a:r>
            <a:endParaRPr lang="en-US" sz="1400" dirty="0"/>
          </a:p>
        </p:txBody>
      </p:sp>
      <p:sp>
        <p:nvSpPr>
          <p:cNvPr id="17" name="Text 15"/>
          <p:cNvSpPr txBox="1"/>
          <p:nvPr/>
        </p:nvSpPr>
        <p:spPr>
          <a:xfrm>
            <a:off x="5059660" y="3397349"/>
            <a:ext cx="2238387"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03 · ROOT-CAUSE DIAGNOSIS</a:t>
            </a:r>
            <a:endParaRPr lang="en-US" sz="550" dirty="0"/>
          </a:p>
        </p:txBody>
      </p:sp>
      <p:sp>
        <p:nvSpPr>
          <p:cNvPr id="18" name="Text 16"/>
          <p:cNvSpPr txBox="1"/>
          <p:nvPr/>
        </p:nvSpPr>
        <p:spPr>
          <a:xfrm>
            <a:off x="5059660" y="3549749"/>
            <a:ext cx="2238387" cy="426641"/>
          </a:xfrm>
          <a:prstGeom prst="rect">
            <a:avLst/>
          </a:prstGeom>
          <a:noFill/>
          <a:ln/>
        </p:spPr>
        <p:txBody>
          <a:bodyPr wrap="square" lIns="0" tIns="0" rIns="0" bIns="0" rtlCol="0" anchor="t"/>
          <a:lstStyle/>
          <a:p>
            <a:pPr algn="l" indent="0" marL="0">
              <a:lnSpc>
                <a:spcPts val="168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Experience? Capability?</a:t>
            </a:r>
            <a:endParaRPr lang="en-US" sz="1400" dirty="0"/>
          </a:p>
          <a:p>
            <a:pPr algn="l" indent="0" marL="0">
              <a:lnSpc>
                <a:spcPts val="168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Performance system?</a:t>
            </a:r>
            <a:endParaRPr lang="en-US" sz="1400" dirty="0"/>
          </a:p>
        </p:txBody>
      </p:sp>
      <p:sp>
        <p:nvSpPr>
          <p:cNvPr id="19" name="Text 17"/>
          <p:cNvSpPr txBox="1"/>
          <p:nvPr/>
        </p:nvSpPr>
        <p:spPr>
          <a:xfrm>
            <a:off x="7335441" y="3397349"/>
            <a:ext cx="2238494"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04 · INTERVENTION</a:t>
            </a:r>
            <a:endParaRPr lang="en-US" sz="550" dirty="0"/>
          </a:p>
        </p:txBody>
      </p:sp>
      <p:sp>
        <p:nvSpPr>
          <p:cNvPr id="20" name="Text 18"/>
          <p:cNvSpPr txBox="1"/>
          <p:nvPr/>
        </p:nvSpPr>
        <p:spPr>
          <a:xfrm>
            <a:off x="7335441" y="3549749"/>
            <a:ext cx="2238494" cy="426641"/>
          </a:xfrm>
          <a:prstGeom prst="rect">
            <a:avLst/>
          </a:prstGeom>
          <a:noFill/>
          <a:ln/>
        </p:spPr>
        <p:txBody>
          <a:bodyPr wrap="square" lIns="0" tIns="0" rIns="0" bIns="0" rtlCol="0" anchor="t"/>
          <a:lstStyle/>
          <a:p>
            <a:pPr algn="l" indent="0" marL="0">
              <a:lnSpc>
                <a:spcPts val="168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Simplify, redesign, build or</a:t>
            </a:r>
            <a:endParaRPr lang="en-US" sz="1400" dirty="0"/>
          </a:p>
          <a:p>
            <a:pPr algn="l" indent="0" marL="0">
              <a:lnSpc>
                <a:spcPts val="168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test</a:t>
            </a:r>
            <a:endParaRPr lang="en-US" sz="1400" dirty="0"/>
          </a:p>
        </p:txBody>
      </p:sp>
      <p:sp>
        <p:nvSpPr>
          <p:cNvPr id="21" name="Text 19"/>
          <p:cNvSpPr txBox="1"/>
          <p:nvPr/>
        </p:nvSpPr>
        <p:spPr>
          <a:xfrm>
            <a:off x="9611320" y="3397349"/>
            <a:ext cx="2238387"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05 · OUTCOME</a:t>
            </a:r>
            <a:endParaRPr lang="en-US" sz="550" dirty="0"/>
          </a:p>
        </p:txBody>
      </p:sp>
      <p:sp>
        <p:nvSpPr>
          <p:cNvPr id="22" name="Text 20"/>
          <p:cNvSpPr txBox="1"/>
          <p:nvPr/>
        </p:nvSpPr>
        <p:spPr>
          <a:xfrm>
            <a:off x="9611320" y="3549749"/>
            <a:ext cx="2238387" cy="639961"/>
          </a:xfrm>
          <a:prstGeom prst="rect">
            <a:avLst/>
          </a:prstGeom>
          <a:noFill/>
          <a:ln/>
        </p:spPr>
        <p:txBody>
          <a:bodyPr wrap="square" lIns="0" tIns="0" rIns="0" bIns="0" rtlCol="0" anchor="t"/>
          <a:lstStyle/>
          <a:p>
            <a:pPr algn="l" indent="0" marL="0">
              <a:lnSpc>
                <a:spcPts val="168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Did behavior,</a:t>
            </a:r>
            <a:endParaRPr lang="en-US" sz="1400" dirty="0"/>
          </a:p>
          <a:p>
            <a:pPr algn="l" indent="0" marL="0">
              <a:lnSpc>
                <a:spcPts val="168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performance or</a:t>
            </a:r>
            <a:endParaRPr lang="en-US" sz="1400" dirty="0"/>
          </a:p>
          <a:p>
            <a:pPr algn="l" indent="0" marL="0">
              <a:lnSpc>
                <a:spcPts val="168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perception improve?</a:t>
            </a:r>
            <a:endParaRPr lang="en-US" sz="1400" dirty="0"/>
          </a:p>
        </p:txBody>
      </p:sp>
      <p:sp>
        <p:nvSpPr>
          <p:cNvPr id="23" name="Text 21"/>
          <p:cNvSpPr txBox="1"/>
          <p:nvPr/>
        </p:nvSpPr>
        <p:spPr>
          <a:xfrm>
            <a:off x="508000" y="4678660"/>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THE SHIFT</a:t>
            </a:r>
            <a:endParaRPr lang="en-US" sz="550" dirty="0"/>
          </a:p>
        </p:txBody>
      </p:sp>
      <p:sp>
        <p:nvSpPr>
          <p:cNvPr id="24" name="Text 22"/>
          <p:cNvSpPr txBox="1"/>
          <p:nvPr/>
        </p:nvSpPr>
        <p:spPr>
          <a:xfrm>
            <a:off x="2108200" y="4564360"/>
            <a:ext cx="10341864" cy="22225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We’re moving from reacting to individual symptoms toward understanding the systems creating them.</a:t>
            </a:r>
            <a:endParaRPr lang="en-US" sz="1400" dirty="0"/>
          </a:p>
        </p:txBody>
      </p:sp>
      <p:pic>
        <p:nvPicPr>
          <p:cNvPr id="25"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26" name="Text 23"/>
          <p:cNvSpPr txBox="1"/>
          <p:nvPr/>
        </p:nvSpPr>
        <p:spPr>
          <a:xfrm>
            <a:off x="711200"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27" name="Text 24"/>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04 / 18</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328440" cy="127000"/>
          </a:xfrm>
          <a:prstGeom prst="roundRect">
            <a:avLst>
              <a:gd name="adj" fmla="val 360000"/>
            </a:avLst>
          </a:prstGeom>
          <a:solidFill>
            <a:srgbClr val="D7EEF9"/>
          </a:solidFill>
          <a:ln/>
        </p:spPr>
      </p:sp>
      <p:sp>
        <p:nvSpPr>
          <p:cNvPr id="3" name="Shape 1"/>
          <p:cNvSpPr/>
          <p:nvPr/>
        </p:nvSpPr>
        <p:spPr>
          <a:xfrm>
            <a:off x="508000" y="2813645"/>
            <a:ext cx="5384800" cy="0"/>
          </a:xfrm>
          <a:prstGeom prst="line">
            <a:avLst/>
          </a:prstGeom>
          <a:noFill/>
          <a:ln w="6350">
            <a:solidFill>
              <a:srgbClr val="0053E2"/>
            </a:solidFill>
            <a:prstDash val="solid"/>
          </a:ln>
        </p:spPr>
      </p:sp>
      <p:sp>
        <p:nvSpPr>
          <p:cNvPr id="4" name="Shape 2"/>
          <p:cNvSpPr/>
          <p:nvPr/>
        </p:nvSpPr>
        <p:spPr>
          <a:xfrm>
            <a:off x="508000" y="3325713"/>
            <a:ext cx="5384800" cy="0"/>
          </a:xfrm>
          <a:prstGeom prst="line">
            <a:avLst/>
          </a:prstGeom>
          <a:noFill/>
          <a:ln w="6350">
            <a:solidFill>
              <a:srgbClr val="E4E8EF"/>
            </a:solidFill>
            <a:prstDash val="solid"/>
          </a:ln>
        </p:spPr>
      </p:sp>
      <p:sp>
        <p:nvSpPr>
          <p:cNvPr id="5" name="Shape 3"/>
          <p:cNvSpPr/>
          <p:nvPr/>
        </p:nvSpPr>
        <p:spPr>
          <a:xfrm>
            <a:off x="508000" y="3621881"/>
            <a:ext cx="5384800" cy="0"/>
          </a:xfrm>
          <a:prstGeom prst="line">
            <a:avLst/>
          </a:prstGeom>
          <a:noFill/>
          <a:ln w="6350">
            <a:solidFill>
              <a:srgbClr val="E4E8EF"/>
            </a:solidFill>
            <a:prstDash val="solid"/>
          </a:ln>
        </p:spPr>
      </p:sp>
      <p:sp>
        <p:nvSpPr>
          <p:cNvPr id="6" name="Shape 4"/>
          <p:cNvSpPr/>
          <p:nvPr/>
        </p:nvSpPr>
        <p:spPr>
          <a:xfrm>
            <a:off x="508000" y="3918049"/>
            <a:ext cx="5384800" cy="0"/>
          </a:xfrm>
          <a:prstGeom prst="line">
            <a:avLst/>
          </a:prstGeom>
          <a:noFill/>
          <a:ln w="6350">
            <a:solidFill>
              <a:srgbClr val="E4E8EF"/>
            </a:solidFill>
            <a:prstDash val="solid"/>
          </a:ln>
        </p:spPr>
      </p:sp>
      <p:sp>
        <p:nvSpPr>
          <p:cNvPr id="7" name="Shape 5"/>
          <p:cNvSpPr/>
          <p:nvPr/>
        </p:nvSpPr>
        <p:spPr>
          <a:xfrm>
            <a:off x="508000" y="4214217"/>
            <a:ext cx="5384800" cy="0"/>
          </a:xfrm>
          <a:prstGeom prst="line">
            <a:avLst/>
          </a:prstGeom>
          <a:noFill/>
          <a:ln w="6350">
            <a:solidFill>
              <a:srgbClr val="E4E8EF"/>
            </a:solidFill>
            <a:prstDash val="solid"/>
          </a:ln>
        </p:spPr>
      </p:sp>
      <p:sp>
        <p:nvSpPr>
          <p:cNvPr id="8" name="Shape 6"/>
          <p:cNvSpPr/>
          <p:nvPr/>
        </p:nvSpPr>
        <p:spPr>
          <a:xfrm>
            <a:off x="508000" y="4510385"/>
            <a:ext cx="5384800" cy="0"/>
          </a:xfrm>
          <a:prstGeom prst="line">
            <a:avLst/>
          </a:prstGeom>
          <a:noFill/>
          <a:ln w="6350">
            <a:solidFill>
              <a:srgbClr val="E4E8EF"/>
            </a:solidFill>
            <a:prstDash val="solid"/>
          </a:ln>
        </p:spPr>
      </p:sp>
      <p:sp>
        <p:nvSpPr>
          <p:cNvPr id="9" name="Shape 7"/>
          <p:cNvSpPr/>
          <p:nvPr/>
        </p:nvSpPr>
        <p:spPr>
          <a:xfrm>
            <a:off x="6299200" y="2813645"/>
            <a:ext cx="5384800" cy="0"/>
          </a:xfrm>
          <a:prstGeom prst="line">
            <a:avLst/>
          </a:prstGeom>
          <a:noFill/>
          <a:ln w="6350">
            <a:solidFill>
              <a:srgbClr val="0053E2"/>
            </a:solidFill>
            <a:prstDash val="solid"/>
          </a:ln>
        </p:spPr>
      </p:sp>
      <p:sp>
        <p:nvSpPr>
          <p:cNvPr id="10" name="Shape 8"/>
          <p:cNvSpPr/>
          <p:nvPr/>
        </p:nvSpPr>
        <p:spPr>
          <a:xfrm>
            <a:off x="6299200" y="3096220"/>
            <a:ext cx="501948" cy="215900"/>
          </a:xfrm>
          <a:prstGeom prst="rect">
            <a:avLst/>
          </a:prstGeom>
          <a:ln w="6350">
            <a:solidFill>
              <a:srgbClr val="E4E8EF"/>
            </a:solidFill>
            <a:prstDash val="solid"/>
          </a:ln>
        </p:spPr>
      </p:sp>
      <p:sp>
        <p:nvSpPr>
          <p:cNvPr id="11" name="Shape 9"/>
          <p:cNvSpPr/>
          <p:nvPr/>
        </p:nvSpPr>
        <p:spPr>
          <a:xfrm>
            <a:off x="6864648" y="3096220"/>
            <a:ext cx="894854" cy="215900"/>
          </a:xfrm>
          <a:prstGeom prst="rect">
            <a:avLst/>
          </a:prstGeom>
          <a:ln w="6350">
            <a:solidFill>
              <a:srgbClr val="E4E8EF"/>
            </a:solidFill>
            <a:prstDash val="solid"/>
          </a:ln>
        </p:spPr>
      </p:sp>
      <p:sp>
        <p:nvSpPr>
          <p:cNvPr id="12" name="Shape 10"/>
          <p:cNvSpPr/>
          <p:nvPr/>
        </p:nvSpPr>
        <p:spPr>
          <a:xfrm>
            <a:off x="7823002" y="3096220"/>
            <a:ext cx="670322" cy="215900"/>
          </a:xfrm>
          <a:prstGeom prst="rect">
            <a:avLst/>
          </a:prstGeom>
          <a:ln w="6350">
            <a:solidFill>
              <a:srgbClr val="E4E8EF"/>
            </a:solidFill>
            <a:prstDash val="solid"/>
          </a:ln>
        </p:spPr>
      </p:sp>
      <p:sp>
        <p:nvSpPr>
          <p:cNvPr id="13" name="Shape 11"/>
          <p:cNvSpPr/>
          <p:nvPr/>
        </p:nvSpPr>
        <p:spPr>
          <a:xfrm>
            <a:off x="8556823" y="3096220"/>
            <a:ext cx="1119386" cy="215900"/>
          </a:xfrm>
          <a:prstGeom prst="rect">
            <a:avLst/>
          </a:prstGeom>
          <a:ln w="6350">
            <a:solidFill>
              <a:srgbClr val="E4E8EF"/>
            </a:solidFill>
            <a:prstDash val="solid"/>
          </a:ln>
        </p:spPr>
      </p:sp>
      <p:sp>
        <p:nvSpPr>
          <p:cNvPr id="14" name="Shape 12"/>
          <p:cNvSpPr/>
          <p:nvPr/>
        </p:nvSpPr>
        <p:spPr>
          <a:xfrm>
            <a:off x="9739709" y="3096220"/>
            <a:ext cx="951012" cy="215900"/>
          </a:xfrm>
          <a:prstGeom prst="rect">
            <a:avLst/>
          </a:prstGeom>
          <a:ln w="6350">
            <a:solidFill>
              <a:srgbClr val="E4E8EF"/>
            </a:solidFill>
            <a:prstDash val="solid"/>
          </a:ln>
        </p:spPr>
      </p:sp>
      <p:sp>
        <p:nvSpPr>
          <p:cNvPr id="15" name="Shape 13"/>
          <p:cNvSpPr/>
          <p:nvPr/>
        </p:nvSpPr>
        <p:spPr>
          <a:xfrm>
            <a:off x="6299200" y="3375620"/>
            <a:ext cx="1400076" cy="215900"/>
          </a:xfrm>
          <a:prstGeom prst="rect">
            <a:avLst/>
          </a:prstGeom>
          <a:ln w="6350">
            <a:solidFill>
              <a:srgbClr val="E4E8EF"/>
            </a:solidFill>
            <a:prstDash val="solid"/>
          </a:ln>
        </p:spPr>
      </p:sp>
      <p:sp>
        <p:nvSpPr>
          <p:cNvPr id="16" name="Shape 14"/>
          <p:cNvSpPr/>
          <p:nvPr/>
        </p:nvSpPr>
        <p:spPr>
          <a:xfrm>
            <a:off x="7762776" y="3375620"/>
            <a:ext cx="2466677" cy="215900"/>
          </a:xfrm>
          <a:prstGeom prst="rect">
            <a:avLst/>
          </a:prstGeom>
          <a:ln w="6350">
            <a:solidFill>
              <a:srgbClr val="E4E8EF"/>
            </a:solidFill>
            <a:prstDash val="solid"/>
          </a:ln>
        </p:spPr>
      </p:sp>
      <p:sp>
        <p:nvSpPr>
          <p:cNvPr id="17" name="Shape 15"/>
          <p:cNvSpPr/>
          <p:nvPr/>
        </p:nvSpPr>
        <p:spPr>
          <a:xfrm>
            <a:off x="508000" y="5035153"/>
            <a:ext cx="11176000" cy="0"/>
          </a:xfrm>
          <a:prstGeom prst="line">
            <a:avLst/>
          </a:prstGeom>
          <a:noFill/>
          <a:ln w="6350">
            <a:solidFill>
              <a:srgbClr val="0053E2"/>
            </a:solidFill>
            <a:prstDash val="solid"/>
          </a:ln>
        </p:spPr>
      </p:sp>
      <p:sp>
        <p:nvSpPr>
          <p:cNvPr id="18" name="Text 16"/>
          <p:cNvSpPr txBox="1"/>
          <p:nvPr/>
        </p:nvSpPr>
        <p:spPr>
          <a:xfrm>
            <a:off x="501650" y="971550"/>
            <a:ext cx="134114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DISPLAY AS A PROOF POINT</a:t>
            </a:r>
            <a:endParaRPr lang="en-US" sz="500" dirty="0"/>
          </a:p>
        </p:txBody>
      </p:sp>
      <p:sp>
        <p:nvSpPr>
          <p:cNvPr id="19" name="Text 17"/>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Display shows why this approach </a:t>
            </a:r>
            <a:pPr algn="l" indent="0" marL="0">
              <a:lnSpc>
                <a:spcPts val="3024"/>
              </a:lnSpc>
              <a:buNone/>
            </a:pPr>
            <a:r>
              <a:rPr lang="en-US" sz="2400" i="1" spc="-72" kern="0" dirty="0">
                <a:solidFill>
                  <a:srgbClr val="0053E2"/>
                </a:solidFill>
                <a:latin typeface="Everyday Sans Light" pitchFamily="34" charset="0"/>
                <a:ea typeface="Everyday Sans Light" pitchFamily="34" charset="-122"/>
                <a:cs typeface="Everyday Sans Light" pitchFamily="34" charset="-120"/>
              </a:rPr>
              <a:t>matters</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20" name="Text 18"/>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Sales has raised meaningful concerns about Display performance. The available evidence suggests the concern is real, but does not yet point to a single root cause.</a:t>
            </a:r>
            <a:endParaRPr lang="en-US" sz="900" dirty="0"/>
          </a:p>
        </p:txBody>
      </p:sp>
      <p:sp>
        <p:nvSpPr>
          <p:cNvPr id="21" name="Text 19"/>
          <p:cNvSpPr txBox="1"/>
          <p:nvPr/>
        </p:nvSpPr>
        <p:spPr>
          <a:xfrm>
            <a:off x="508000" y="2918420"/>
            <a:ext cx="5815584"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WHAT SALES NEEDS PRODUCT TO HELP ANSWER</a:t>
            </a:r>
            <a:endParaRPr lang="en-US" sz="550" dirty="0"/>
          </a:p>
        </p:txBody>
      </p:sp>
      <p:sp>
        <p:nvSpPr>
          <p:cNvPr id="22" name="Text 20"/>
          <p:cNvSpPr txBox="1"/>
          <p:nvPr/>
        </p:nvSpPr>
        <p:spPr>
          <a:xfrm>
            <a:off x="508000" y="3096220"/>
            <a:ext cx="5815584" cy="162877"/>
          </a:xfrm>
          <a:prstGeom prst="rect">
            <a:avLst/>
          </a:prstGeom>
          <a:noFill/>
          <a:ln/>
        </p:spPr>
        <p:txBody>
          <a:bodyPr wrap="square" lIns="0" tIns="0" rIns="0" bIns="0" rtlCol="0" anchor="t"/>
          <a:lstStyle/>
          <a:p>
            <a:pPr algn="l" indent="0" marL="0">
              <a:lnSpc>
                <a:spcPts val="1283"/>
              </a:lnSpc>
              <a:buNone/>
            </a:pPr>
            <a:r>
              <a:rPr lang="en-US" sz="950" dirty="0">
                <a:solidFill>
                  <a:srgbClr val="001E60"/>
                </a:solidFill>
                <a:latin typeface="Everyday Sans UI" pitchFamily="34" charset="0"/>
                <a:ea typeface="Everyday Sans UI" pitchFamily="34" charset="-122"/>
                <a:cs typeface="Everyday Sans UI" pitchFamily="34" charset="-120"/>
              </a:rPr>
              <a:t>Who should use Display and for which objectives?</a:t>
            </a:r>
            <a:endParaRPr lang="en-US" sz="950" dirty="0"/>
          </a:p>
        </p:txBody>
      </p:sp>
      <p:sp>
        <p:nvSpPr>
          <p:cNvPr id="23" name="Text 21"/>
          <p:cNvSpPr txBox="1"/>
          <p:nvPr/>
        </p:nvSpPr>
        <p:spPr>
          <a:xfrm>
            <a:off x="508000" y="3392388"/>
            <a:ext cx="5815584" cy="162877"/>
          </a:xfrm>
          <a:prstGeom prst="rect">
            <a:avLst/>
          </a:prstGeom>
          <a:noFill/>
          <a:ln/>
        </p:spPr>
        <p:txBody>
          <a:bodyPr wrap="square" lIns="0" tIns="0" rIns="0" bIns="0" rtlCol="0" anchor="t"/>
          <a:lstStyle/>
          <a:p>
            <a:pPr algn="l" indent="0" marL="0">
              <a:lnSpc>
                <a:spcPts val="1283"/>
              </a:lnSpc>
              <a:buNone/>
            </a:pPr>
            <a:r>
              <a:rPr lang="en-US" sz="950" dirty="0">
                <a:solidFill>
                  <a:srgbClr val="001E60"/>
                </a:solidFill>
                <a:latin typeface="Everyday Sans UI" pitchFamily="34" charset="0"/>
                <a:ea typeface="Everyday Sans UI" pitchFamily="34" charset="-122"/>
                <a:cs typeface="Everyday Sans UI" pitchFamily="34" charset="-120"/>
              </a:rPr>
              <a:t>What does a viable campaign setup look like?</a:t>
            </a:r>
            <a:endParaRPr lang="en-US" sz="950" dirty="0"/>
          </a:p>
        </p:txBody>
      </p:sp>
      <p:sp>
        <p:nvSpPr>
          <p:cNvPr id="24" name="Text 22"/>
          <p:cNvSpPr txBox="1"/>
          <p:nvPr/>
        </p:nvSpPr>
        <p:spPr>
          <a:xfrm>
            <a:off x="508000" y="3688556"/>
            <a:ext cx="5815584" cy="162877"/>
          </a:xfrm>
          <a:prstGeom prst="rect">
            <a:avLst/>
          </a:prstGeom>
          <a:noFill/>
          <a:ln/>
        </p:spPr>
        <p:txBody>
          <a:bodyPr wrap="square" lIns="0" tIns="0" rIns="0" bIns="0" rtlCol="0" anchor="t"/>
          <a:lstStyle/>
          <a:p>
            <a:pPr algn="l" indent="0" marL="0">
              <a:lnSpc>
                <a:spcPts val="1283"/>
              </a:lnSpc>
              <a:buNone/>
            </a:pPr>
            <a:r>
              <a:rPr lang="en-US" sz="950" dirty="0">
                <a:solidFill>
                  <a:srgbClr val="001E60"/>
                </a:solidFill>
                <a:latin typeface="Everyday Sans UI" pitchFamily="34" charset="0"/>
                <a:ea typeface="Everyday Sans UI" pitchFamily="34" charset="-122"/>
                <a:cs typeface="Everyday Sans UI" pitchFamily="34" charset="-120"/>
              </a:rPr>
              <a:t>What investment, audience scale and configuration are required?</a:t>
            </a:r>
            <a:endParaRPr lang="en-US" sz="950" dirty="0"/>
          </a:p>
        </p:txBody>
      </p:sp>
      <p:sp>
        <p:nvSpPr>
          <p:cNvPr id="25" name="Text 23"/>
          <p:cNvSpPr txBox="1"/>
          <p:nvPr/>
        </p:nvSpPr>
        <p:spPr>
          <a:xfrm>
            <a:off x="508000" y="3984724"/>
            <a:ext cx="5815584" cy="162877"/>
          </a:xfrm>
          <a:prstGeom prst="rect">
            <a:avLst/>
          </a:prstGeom>
          <a:noFill/>
          <a:ln/>
        </p:spPr>
        <p:txBody>
          <a:bodyPr wrap="square" lIns="0" tIns="0" rIns="0" bIns="0" rtlCol="0" anchor="t"/>
          <a:lstStyle/>
          <a:p>
            <a:pPr algn="l" indent="0" marL="0">
              <a:lnSpc>
                <a:spcPts val="1283"/>
              </a:lnSpc>
              <a:buNone/>
            </a:pPr>
            <a:r>
              <a:rPr lang="en-US" sz="950" dirty="0">
                <a:solidFill>
                  <a:srgbClr val="001E60"/>
                </a:solidFill>
                <a:latin typeface="Everyday Sans UI" pitchFamily="34" charset="0"/>
                <a:ea typeface="Everyday Sans UI" pitchFamily="34" charset="-122"/>
                <a:cs typeface="Everyday Sans UI" pitchFamily="34" charset="-120"/>
              </a:rPr>
              <a:t>When performance is weak, what is actually driving it?</a:t>
            </a:r>
            <a:endParaRPr lang="en-US" sz="950" dirty="0"/>
          </a:p>
        </p:txBody>
      </p:sp>
      <p:sp>
        <p:nvSpPr>
          <p:cNvPr id="26" name="Text 24"/>
          <p:cNvSpPr txBox="1"/>
          <p:nvPr/>
        </p:nvSpPr>
        <p:spPr>
          <a:xfrm>
            <a:off x="508000" y="4280892"/>
            <a:ext cx="5815584" cy="162877"/>
          </a:xfrm>
          <a:prstGeom prst="rect">
            <a:avLst/>
          </a:prstGeom>
          <a:noFill/>
          <a:ln/>
        </p:spPr>
        <p:txBody>
          <a:bodyPr wrap="square" lIns="0" tIns="0" rIns="0" bIns="0" rtlCol="0" anchor="t"/>
          <a:lstStyle/>
          <a:p>
            <a:pPr algn="l" indent="0" marL="0">
              <a:lnSpc>
                <a:spcPts val="1283"/>
              </a:lnSpc>
              <a:buNone/>
            </a:pPr>
            <a:r>
              <a:rPr lang="en-US" sz="950" dirty="0">
                <a:solidFill>
                  <a:srgbClr val="001E60"/>
                </a:solidFill>
                <a:latin typeface="Everyday Sans UI" pitchFamily="34" charset="0"/>
                <a:ea typeface="Everyday Sans UI" pitchFamily="34" charset="-122"/>
                <a:cs typeface="Everyday Sans UI" pitchFamily="34" charset="-120"/>
              </a:rPr>
              <a:t>What can Sales or advertisers change?</a:t>
            </a:r>
            <a:endParaRPr lang="en-US" sz="950" dirty="0"/>
          </a:p>
        </p:txBody>
      </p:sp>
      <p:sp>
        <p:nvSpPr>
          <p:cNvPr id="27" name="Text 25"/>
          <p:cNvSpPr txBox="1"/>
          <p:nvPr/>
        </p:nvSpPr>
        <p:spPr>
          <a:xfrm>
            <a:off x="508000" y="4577060"/>
            <a:ext cx="5815584" cy="162877"/>
          </a:xfrm>
          <a:prstGeom prst="rect">
            <a:avLst/>
          </a:prstGeom>
          <a:noFill/>
          <a:ln/>
        </p:spPr>
        <p:txBody>
          <a:bodyPr wrap="square" lIns="0" tIns="0" rIns="0" bIns="0" rtlCol="0" anchor="t"/>
          <a:lstStyle/>
          <a:p>
            <a:pPr algn="l" indent="0" marL="0">
              <a:lnSpc>
                <a:spcPts val="1283"/>
              </a:lnSpc>
              <a:buNone/>
            </a:pPr>
            <a:r>
              <a:rPr lang="en-US" sz="950" dirty="0">
                <a:solidFill>
                  <a:srgbClr val="001E60"/>
                </a:solidFill>
                <a:latin typeface="Everyday Sans UI" pitchFamily="34" charset="0"/>
                <a:ea typeface="Everyday Sans UI" pitchFamily="34" charset="-122"/>
                <a:cs typeface="Everyday Sans UI" pitchFamily="34" charset="-120"/>
              </a:rPr>
              <a:t>What requires Product or platform intervention?</a:t>
            </a:r>
            <a:endParaRPr lang="en-US" sz="950" dirty="0"/>
          </a:p>
        </p:txBody>
      </p:sp>
      <p:sp>
        <p:nvSpPr>
          <p:cNvPr id="28" name="Text 26"/>
          <p:cNvSpPr txBox="1"/>
          <p:nvPr/>
        </p:nvSpPr>
        <p:spPr>
          <a:xfrm>
            <a:off x="6299200" y="2918420"/>
            <a:ext cx="5815584"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WHAT INVESTIGATION HAS SURFACED SO FAR</a:t>
            </a:r>
            <a:endParaRPr lang="en-US" sz="550" dirty="0"/>
          </a:p>
        </p:txBody>
      </p:sp>
      <p:sp>
        <p:nvSpPr>
          <p:cNvPr id="29" name="Text 27"/>
          <p:cNvSpPr txBox="1"/>
          <p:nvPr/>
        </p:nvSpPr>
        <p:spPr>
          <a:xfrm>
            <a:off x="6381750" y="3153370"/>
            <a:ext cx="489248" cy="101600"/>
          </a:xfrm>
          <a:prstGeom prst="rect">
            <a:avLst/>
          </a:prstGeom>
          <a:noFill/>
          <a:ln/>
        </p:spPr>
        <p:txBody>
          <a:bodyPr wrap="square" lIns="0" tIns="0" rIns="0" bIns="0" rtlCol="0" anchor="t"/>
          <a:lstStyle/>
          <a:p>
            <a:pPr algn="l" indent="0" marL="0">
              <a:lnSpc>
                <a:spcPts val="780"/>
              </a:lnSpc>
              <a:buNone/>
            </a:pPr>
            <a:r>
              <a:rPr lang="en-US" sz="650" spc="52" kern="0" dirty="0">
                <a:solidFill>
                  <a:srgbClr val="001E60"/>
                </a:solidFill>
                <a:latin typeface="Everyday Sans Mono" pitchFamily="34" charset="0"/>
                <a:ea typeface="Everyday Sans Mono" pitchFamily="34" charset="-122"/>
                <a:cs typeface="Everyday Sans Mono" pitchFamily="34" charset="-120"/>
              </a:rPr>
              <a:t>BUDGET</a:t>
            </a:r>
            <a:endParaRPr lang="en-US" sz="650" dirty="0"/>
          </a:p>
        </p:txBody>
      </p:sp>
      <p:sp>
        <p:nvSpPr>
          <p:cNvPr id="30" name="Text 28"/>
          <p:cNvSpPr txBox="1"/>
          <p:nvPr/>
        </p:nvSpPr>
        <p:spPr>
          <a:xfrm>
            <a:off x="6947198" y="3153370"/>
            <a:ext cx="882154" cy="101600"/>
          </a:xfrm>
          <a:prstGeom prst="rect">
            <a:avLst/>
          </a:prstGeom>
          <a:noFill/>
          <a:ln/>
        </p:spPr>
        <p:txBody>
          <a:bodyPr wrap="square" lIns="0" tIns="0" rIns="0" bIns="0" rtlCol="0" anchor="t"/>
          <a:lstStyle/>
          <a:p>
            <a:pPr algn="l" indent="0" marL="0">
              <a:lnSpc>
                <a:spcPts val="780"/>
              </a:lnSpc>
              <a:buNone/>
            </a:pPr>
            <a:r>
              <a:rPr lang="en-US" sz="650" spc="52" kern="0" dirty="0">
                <a:solidFill>
                  <a:srgbClr val="001E60"/>
                </a:solidFill>
                <a:latin typeface="Everyday Sans Mono" pitchFamily="34" charset="0"/>
                <a:ea typeface="Everyday Sans Mono" pitchFamily="34" charset="-122"/>
                <a:cs typeface="Everyday Sans Mono" pitchFamily="34" charset="-120"/>
              </a:rPr>
              <a:t>AUDIENCE SIZE</a:t>
            </a:r>
            <a:endParaRPr lang="en-US" sz="650" dirty="0"/>
          </a:p>
        </p:txBody>
      </p:sp>
      <p:sp>
        <p:nvSpPr>
          <p:cNvPr id="31" name="Text 29"/>
          <p:cNvSpPr txBox="1"/>
          <p:nvPr/>
        </p:nvSpPr>
        <p:spPr>
          <a:xfrm>
            <a:off x="7905552" y="3153370"/>
            <a:ext cx="657622" cy="101600"/>
          </a:xfrm>
          <a:prstGeom prst="rect">
            <a:avLst/>
          </a:prstGeom>
          <a:noFill/>
          <a:ln/>
        </p:spPr>
        <p:txBody>
          <a:bodyPr wrap="square" lIns="0" tIns="0" rIns="0" bIns="0" rtlCol="0" anchor="t"/>
          <a:lstStyle/>
          <a:p>
            <a:pPr algn="l" indent="0" marL="0">
              <a:lnSpc>
                <a:spcPts val="780"/>
              </a:lnSpc>
              <a:buNone/>
            </a:pPr>
            <a:r>
              <a:rPr lang="en-US" sz="650" spc="52" kern="0" dirty="0">
                <a:solidFill>
                  <a:srgbClr val="001E60"/>
                </a:solidFill>
                <a:latin typeface="Everyday Sans Mono" pitchFamily="34" charset="0"/>
                <a:ea typeface="Everyday Sans Mono" pitchFamily="34" charset="-122"/>
                <a:cs typeface="Everyday Sans Mono" pitchFamily="34" charset="-120"/>
              </a:rPr>
              <a:t>FREQUENCY</a:t>
            </a:r>
            <a:endParaRPr lang="en-US" sz="650" dirty="0"/>
          </a:p>
        </p:txBody>
      </p:sp>
      <p:sp>
        <p:nvSpPr>
          <p:cNvPr id="32" name="Text 30"/>
          <p:cNvSpPr txBox="1"/>
          <p:nvPr/>
        </p:nvSpPr>
        <p:spPr>
          <a:xfrm>
            <a:off x="8639373" y="3153370"/>
            <a:ext cx="1106686" cy="101600"/>
          </a:xfrm>
          <a:prstGeom prst="rect">
            <a:avLst/>
          </a:prstGeom>
          <a:noFill/>
          <a:ln/>
        </p:spPr>
        <p:txBody>
          <a:bodyPr wrap="square" lIns="0" tIns="0" rIns="0" bIns="0" rtlCol="0" anchor="t"/>
          <a:lstStyle/>
          <a:p>
            <a:pPr algn="l" indent="0" marL="0">
              <a:lnSpc>
                <a:spcPts val="780"/>
              </a:lnSpc>
              <a:buNone/>
            </a:pPr>
            <a:r>
              <a:rPr lang="en-US" sz="650" spc="52" kern="0" dirty="0">
                <a:solidFill>
                  <a:srgbClr val="001E60"/>
                </a:solidFill>
                <a:latin typeface="Everyday Sans Mono" pitchFamily="34" charset="0"/>
                <a:ea typeface="Everyday Sans Mono" pitchFamily="34" charset="-122"/>
                <a:cs typeface="Everyday Sans Mono" pitchFamily="34" charset="-120"/>
              </a:rPr>
              <a:t>CONVERSION VOLUME</a:t>
            </a:r>
            <a:endParaRPr lang="en-US" sz="650" dirty="0"/>
          </a:p>
        </p:txBody>
      </p:sp>
      <p:sp>
        <p:nvSpPr>
          <p:cNvPr id="33" name="Text 31"/>
          <p:cNvSpPr txBox="1"/>
          <p:nvPr/>
        </p:nvSpPr>
        <p:spPr>
          <a:xfrm>
            <a:off x="9822259" y="3153370"/>
            <a:ext cx="938312" cy="101600"/>
          </a:xfrm>
          <a:prstGeom prst="rect">
            <a:avLst/>
          </a:prstGeom>
          <a:noFill/>
          <a:ln/>
        </p:spPr>
        <p:txBody>
          <a:bodyPr wrap="square" lIns="0" tIns="0" rIns="0" bIns="0" rtlCol="0" anchor="t"/>
          <a:lstStyle/>
          <a:p>
            <a:pPr algn="l" indent="0" marL="0">
              <a:lnSpc>
                <a:spcPts val="780"/>
              </a:lnSpc>
              <a:buNone/>
            </a:pPr>
            <a:r>
              <a:rPr lang="en-US" sz="650" spc="52" kern="0" dirty="0">
                <a:solidFill>
                  <a:srgbClr val="001E60"/>
                </a:solidFill>
                <a:latin typeface="Everyday Sans Mono" pitchFamily="34" charset="0"/>
                <a:ea typeface="Everyday Sans Mono" pitchFamily="34" charset="-122"/>
                <a:cs typeface="Everyday Sans Mono" pitchFamily="34" charset="-120"/>
              </a:rPr>
              <a:t>ITEM-SET SETUP</a:t>
            </a:r>
            <a:endParaRPr lang="en-US" sz="650" dirty="0"/>
          </a:p>
        </p:txBody>
      </p:sp>
      <p:sp>
        <p:nvSpPr>
          <p:cNvPr id="34" name="Text 32"/>
          <p:cNvSpPr txBox="1"/>
          <p:nvPr/>
        </p:nvSpPr>
        <p:spPr>
          <a:xfrm>
            <a:off x="6381750" y="3432770"/>
            <a:ext cx="1387376" cy="101600"/>
          </a:xfrm>
          <a:prstGeom prst="rect">
            <a:avLst/>
          </a:prstGeom>
          <a:noFill/>
          <a:ln/>
        </p:spPr>
        <p:txBody>
          <a:bodyPr wrap="square" lIns="0" tIns="0" rIns="0" bIns="0" rtlCol="0" anchor="t"/>
          <a:lstStyle/>
          <a:p>
            <a:pPr algn="l" indent="0" marL="0">
              <a:lnSpc>
                <a:spcPts val="780"/>
              </a:lnSpc>
              <a:buNone/>
            </a:pPr>
            <a:r>
              <a:rPr lang="en-US" sz="650" spc="52" kern="0" dirty="0">
                <a:solidFill>
                  <a:srgbClr val="001E60"/>
                </a:solidFill>
                <a:latin typeface="Everyday Sans Mono" pitchFamily="34" charset="0"/>
                <a:ea typeface="Everyday Sans Mono" pitchFamily="34" charset="-122"/>
                <a:cs typeface="Everyday Sans Mono" pitchFamily="34" charset="-120"/>
              </a:rPr>
              <a:t>CAMPAIGN CONFIGURATION</a:t>
            </a:r>
            <a:endParaRPr lang="en-US" sz="650" dirty="0"/>
          </a:p>
        </p:txBody>
      </p:sp>
      <p:sp>
        <p:nvSpPr>
          <p:cNvPr id="35" name="Text 33"/>
          <p:cNvSpPr txBox="1"/>
          <p:nvPr/>
        </p:nvSpPr>
        <p:spPr>
          <a:xfrm>
            <a:off x="7845326" y="3432770"/>
            <a:ext cx="2485704" cy="101600"/>
          </a:xfrm>
          <a:prstGeom prst="rect">
            <a:avLst/>
          </a:prstGeom>
          <a:noFill/>
          <a:ln/>
        </p:spPr>
        <p:txBody>
          <a:bodyPr wrap="square" lIns="0" tIns="0" rIns="0" bIns="0" rtlCol="0" anchor="t"/>
          <a:lstStyle/>
          <a:p>
            <a:pPr algn="l" indent="0" marL="0">
              <a:lnSpc>
                <a:spcPts val="780"/>
              </a:lnSpc>
              <a:buNone/>
            </a:pPr>
            <a:r>
              <a:rPr lang="en-US" sz="650" spc="52" kern="0" dirty="0">
                <a:solidFill>
                  <a:srgbClr val="001E60"/>
                </a:solidFill>
                <a:latin typeface="Everyday Sans Mono" pitchFamily="34" charset="0"/>
                <a:ea typeface="Everyday Sans Mono" pitchFamily="34" charset="-122"/>
                <a:cs typeface="Everyday Sans Mono" pitchFamily="34" charset="-120"/>
              </a:rPr>
              <a:t>MANUAL SALES + MEDIA INSIGHTS MITIGATIONS</a:t>
            </a:r>
            <a:endParaRPr lang="en-US" sz="650" dirty="0"/>
          </a:p>
        </p:txBody>
      </p:sp>
      <p:sp>
        <p:nvSpPr>
          <p:cNvPr id="36" name="Text 34"/>
          <p:cNvSpPr txBox="1"/>
          <p:nvPr/>
        </p:nvSpPr>
        <p:spPr>
          <a:xfrm>
            <a:off x="6299200" y="3680420"/>
            <a:ext cx="5815584" cy="133350"/>
          </a:xfrm>
          <a:prstGeom prst="rect">
            <a:avLst/>
          </a:prstGeom>
          <a:noFill/>
          <a:ln/>
        </p:spPr>
        <p:txBody>
          <a:bodyPr wrap="square" lIns="0" tIns="0" rIns="0" bIns="0" rtlCol="0" anchor="t"/>
          <a:lstStyle/>
          <a:p>
            <a:pPr algn="l" indent="0" marL="0">
              <a:lnSpc>
                <a:spcPts val="1050"/>
              </a:lnSpc>
              <a:buNone/>
            </a:pPr>
            <a:r>
              <a:rPr lang="en-US" sz="750" i="1" dirty="0">
                <a:solidFill>
                  <a:srgbClr val="3D4A63"/>
                </a:solidFill>
                <a:latin typeface="Everyday Sans UI" pitchFamily="34" charset="0"/>
                <a:ea typeface="Everyday Sans UI" pitchFamily="34" charset="-122"/>
                <a:cs typeface="Everyday Sans UI" pitchFamily="34" charset="-120"/>
              </a:rPr>
              <a:t>These signals are useful, but they are not yet sufficient to declare a single root cause.</a:t>
            </a:r>
            <a:endParaRPr lang="en-US" sz="750" dirty="0"/>
          </a:p>
        </p:txBody>
      </p:sp>
      <p:sp>
        <p:nvSpPr>
          <p:cNvPr id="37" name="Text 35"/>
          <p:cNvSpPr txBox="1"/>
          <p:nvPr/>
        </p:nvSpPr>
        <p:spPr>
          <a:xfrm>
            <a:off x="508000" y="5254228"/>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WHERE WE ARE</a:t>
            </a:r>
            <a:endParaRPr lang="en-US" sz="550" dirty="0"/>
          </a:p>
        </p:txBody>
      </p:sp>
      <p:sp>
        <p:nvSpPr>
          <p:cNvPr id="38" name="Text 36"/>
          <p:cNvSpPr txBox="1"/>
          <p:nvPr/>
        </p:nvSpPr>
        <p:spPr>
          <a:xfrm>
            <a:off x="2108200" y="5139928"/>
            <a:ext cx="10341864" cy="22225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Today, we cannot answer all of those questions with enough confidence or transparency.</a:t>
            </a:r>
            <a:endParaRPr lang="en-US" sz="1400" dirty="0"/>
          </a:p>
        </p:txBody>
      </p:sp>
      <p:pic>
        <p:nvPicPr>
          <p:cNvPr id="39"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40" name="Text 37"/>
          <p:cNvSpPr txBox="1"/>
          <p:nvPr/>
        </p:nvSpPr>
        <p:spPr>
          <a:xfrm>
            <a:off x="711200"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41" name="Text 38"/>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05 / 18</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031280" cy="127000"/>
          </a:xfrm>
          <a:prstGeom prst="roundRect">
            <a:avLst>
              <a:gd name="adj" fmla="val 360000"/>
            </a:avLst>
          </a:prstGeom>
          <a:solidFill>
            <a:srgbClr val="D7EEF9"/>
          </a:solidFill>
          <a:ln/>
        </p:spPr>
      </p:sp>
      <p:sp>
        <p:nvSpPr>
          <p:cNvPr id="3" name="Shape 1"/>
          <p:cNvSpPr/>
          <p:nvPr/>
        </p:nvSpPr>
        <p:spPr>
          <a:xfrm>
            <a:off x="508000" y="2853432"/>
            <a:ext cx="3589834" cy="0"/>
          </a:xfrm>
          <a:prstGeom prst="line">
            <a:avLst/>
          </a:prstGeom>
          <a:noFill/>
          <a:ln w="6350">
            <a:solidFill>
              <a:srgbClr val="0053E2"/>
            </a:solidFill>
            <a:prstDash val="solid"/>
          </a:ln>
        </p:spPr>
      </p:sp>
      <p:sp>
        <p:nvSpPr>
          <p:cNvPr id="4" name="Shape 2"/>
          <p:cNvSpPr/>
          <p:nvPr/>
        </p:nvSpPr>
        <p:spPr>
          <a:xfrm>
            <a:off x="508000" y="3883323"/>
            <a:ext cx="3589834" cy="0"/>
          </a:xfrm>
          <a:prstGeom prst="line">
            <a:avLst/>
          </a:prstGeom>
          <a:noFill/>
          <a:ln w="6350">
            <a:solidFill>
              <a:srgbClr val="E4E8EF"/>
            </a:solidFill>
            <a:prstDash val="solid"/>
          </a:ln>
        </p:spPr>
      </p:sp>
      <p:sp>
        <p:nvSpPr>
          <p:cNvPr id="5" name="Shape 3"/>
          <p:cNvSpPr/>
          <p:nvPr/>
        </p:nvSpPr>
        <p:spPr>
          <a:xfrm>
            <a:off x="4301034" y="2853432"/>
            <a:ext cx="3589834" cy="0"/>
          </a:xfrm>
          <a:prstGeom prst="line">
            <a:avLst/>
          </a:prstGeom>
          <a:noFill/>
          <a:ln w="6350">
            <a:solidFill>
              <a:srgbClr val="0053E2"/>
            </a:solidFill>
            <a:prstDash val="solid"/>
          </a:ln>
        </p:spPr>
      </p:sp>
      <p:sp>
        <p:nvSpPr>
          <p:cNvPr id="6" name="Shape 4"/>
          <p:cNvSpPr/>
          <p:nvPr/>
        </p:nvSpPr>
        <p:spPr>
          <a:xfrm>
            <a:off x="4301034" y="3883323"/>
            <a:ext cx="3589834" cy="0"/>
          </a:xfrm>
          <a:prstGeom prst="line">
            <a:avLst/>
          </a:prstGeom>
          <a:noFill/>
          <a:ln w="6350">
            <a:solidFill>
              <a:srgbClr val="E4E8EF"/>
            </a:solidFill>
            <a:prstDash val="solid"/>
          </a:ln>
        </p:spPr>
      </p:sp>
      <p:sp>
        <p:nvSpPr>
          <p:cNvPr id="7" name="Shape 5"/>
          <p:cNvSpPr/>
          <p:nvPr/>
        </p:nvSpPr>
        <p:spPr>
          <a:xfrm>
            <a:off x="8094067" y="2853432"/>
            <a:ext cx="3589834" cy="0"/>
          </a:xfrm>
          <a:prstGeom prst="line">
            <a:avLst/>
          </a:prstGeom>
          <a:noFill/>
          <a:ln w="6350">
            <a:solidFill>
              <a:srgbClr val="0053E2"/>
            </a:solidFill>
            <a:prstDash val="solid"/>
          </a:ln>
        </p:spPr>
      </p:sp>
      <p:sp>
        <p:nvSpPr>
          <p:cNvPr id="8" name="Shape 6"/>
          <p:cNvSpPr/>
          <p:nvPr/>
        </p:nvSpPr>
        <p:spPr>
          <a:xfrm>
            <a:off x="8094067" y="4064893"/>
            <a:ext cx="3589834" cy="0"/>
          </a:xfrm>
          <a:prstGeom prst="line">
            <a:avLst/>
          </a:prstGeom>
          <a:noFill/>
          <a:ln w="6350">
            <a:solidFill>
              <a:srgbClr val="E4E8EF"/>
            </a:solidFill>
            <a:prstDash val="solid"/>
          </a:ln>
        </p:spPr>
      </p:sp>
      <p:sp>
        <p:nvSpPr>
          <p:cNvPr id="9" name="Shape 7"/>
          <p:cNvSpPr/>
          <p:nvPr/>
        </p:nvSpPr>
        <p:spPr>
          <a:xfrm>
            <a:off x="508000" y="4975423"/>
            <a:ext cx="11176000" cy="0"/>
          </a:xfrm>
          <a:prstGeom prst="line">
            <a:avLst/>
          </a:prstGeom>
          <a:noFill/>
          <a:ln w="6350">
            <a:solidFill>
              <a:srgbClr val="0053E2"/>
            </a:solidFill>
            <a:prstDash val="solid"/>
          </a:ln>
        </p:spPr>
      </p:sp>
      <p:sp>
        <p:nvSpPr>
          <p:cNvPr id="10" name="Text 8"/>
          <p:cNvSpPr txBox="1"/>
          <p:nvPr/>
        </p:nvSpPr>
        <p:spPr>
          <a:xfrm>
            <a:off x="501650" y="971550"/>
            <a:ext cx="104398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DIAGNOSING DISPLAY</a:t>
            </a:r>
            <a:endParaRPr lang="en-US" sz="500" dirty="0"/>
          </a:p>
        </p:txBody>
      </p:sp>
      <p:sp>
        <p:nvSpPr>
          <p:cNvPr id="11" name="Text 9"/>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We’re testing three potential contributors to Display </a:t>
            </a:r>
            <a:pPr algn="l" indent="0" marL="0">
              <a:lnSpc>
                <a:spcPts val="3024"/>
              </a:lnSpc>
              <a:buNone/>
            </a:pPr>
            <a:r>
              <a:rPr lang="en-US" sz="2400" i="1" spc="-72" kern="0" dirty="0">
                <a:solidFill>
                  <a:srgbClr val="0053E2"/>
                </a:solidFill>
                <a:latin typeface="Everyday Sans Light" pitchFamily="34" charset="0"/>
                <a:ea typeface="Everyday Sans Light" pitchFamily="34" charset="-122"/>
                <a:cs typeface="Everyday Sans Light" pitchFamily="34" charset="-120"/>
              </a:rPr>
              <a:t>performance</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12" name="Text 10"/>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Display performance is an outcome of an interconnected system. We need to isolate the variables before prescribing the solution.</a:t>
            </a:r>
            <a:endParaRPr lang="en-US" sz="900" dirty="0"/>
          </a:p>
        </p:txBody>
      </p:sp>
      <p:sp>
        <p:nvSpPr>
          <p:cNvPr id="13" name="Text 11"/>
          <p:cNvSpPr txBox="1"/>
          <p:nvPr/>
        </p:nvSpPr>
        <p:spPr>
          <a:xfrm>
            <a:off x="508000" y="2958207"/>
            <a:ext cx="387702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01</a:t>
            </a:r>
            <a:endParaRPr lang="en-US" sz="550" dirty="0"/>
          </a:p>
        </p:txBody>
      </p:sp>
      <p:sp>
        <p:nvSpPr>
          <p:cNvPr id="14" name="Text 12"/>
          <p:cNvSpPr txBox="1"/>
          <p:nvPr/>
        </p:nvSpPr>
        <p:spPr>
          <a:xfrm>
            <a:off x="508000" y="3085207"/>
            <a:ext cx="3877020" cy="241300"/>
          </a:xfrm>
          <a:prstGeom prst="rect">
            <a:avLst/>
          </a:prstGeom>
          <a:noFill/>
          <a:ln/>
        </p:spPr>
        <p:txBody>
          <a:bodyPr wrap="square" lIns="0" tIns="0" rIns="0" bIns="0" rtlCol="0" anchor="t"/>
          <a:lstStyle/>
          <a:p>
            <a:pPr algn="l" indent="0" marL="0">
              <a:lnSpc>
                <a:spcPts val="1800"/>
              </a:lnSpc>
              <a:buNone/>
            </a:pPr>
            <a:r>
              <a:rPr lang="en-US" sz="1500" spc="-45" kern="0" dirty="0">
                <a:solidFill>
                  <a:srgbClr val="001E60"/>
                </a:solidFill>
                <a:latin typeface="Everyday Sans Headline Light" pitchFamily="34" charset="0"/>
                <a:ea typeface="Everyday Sans Headline Light" pitchFamily="34" charset="-122"/>
                <a:cs typeface="Everyday Sans Headline Light" pitchFamily="34" charset="-120"/>
              </a:rPr>
              <a:t>Ad experience &amp; media quality</a:t>
            </a:r>
            <a:endParaRPr lang="en-US" sz="1500" dirty="0"/>
          </a:p>
        </p:txBody>
      </p:sp>
      <p:sp>
        <p:nvSpPr>
          <p:cNvPr id="15" name="Text 13"/>
          <p:cNvSpPr txBox="1"/>
          <p:nvPr/>
        </p:nvSpPr>
        <p:spPr>
          <a:xfrm>
            <a:off x="508000" y="3402707"/>
            <a:ext cx="3877020" cy="363141"/>
          </a:xfrm>
          <a:prstGeom prst="rect">
            <a:avLst/>
          </a:prstGeom>
          <a:noFill/>
          <a:ln/>
        </p:spPr>
        <p:txBody>
          <a:bodyPr wrap="square" lIns="0" tIns="0" rIns="0" bIns="0" rtlCol="0" anchor="t"/>
          <a:lstStyle/>
          <a:p>
            <a:pPr algn="l" indent="0" marL="0">
              <a:lnSpc>
                <a:spcPts val="1430"/>
              </a:lnSpc>
              <a:buNone/>
            </a:pPr>
            <a:r>
              <a:rPr lang="en-US" sz="1100" spc="-22" kern="0" dirty="0">
                <a:solidFill>
                  <a:srgbClr val="0053E2"/>
                </a:solidFill>
                <a:latin typeface="Everyday Sans Headline Light" pitchFamily="34" charset="0"/>
                <a:ea typeface="Everyday Sans Headline Light" pitchFamily="34" charset="-122"/>
                <a:cs typeface="Everyday Sans Headline Light" pitchFamily="34" charset="-120"/>
              </a:rPr>
              <a:t>Are we creating ad experiences shoppers actually see</a:t>
            </a:r>
            <a:endParaRPr lang="en-US" sz="1100" dirty="0"/>
          </a:p>
          <a:p>
            <a:pPr algn="l" indent="0" marL="0">
              <a:lnSpc>
                <a:spcPts val="1430"/>
              </a:lnSpc>
              <a:buNone/>
            </a:pPr>
            <a:r>
              <a:rPr lang="en-US" sz="1100" spc="-22" kern="0" dirty="0">
                <a:solidFill>
                  <a:srgbClr val="0053E2"/>
                </a:solidFill>
                <a:latin typeface="Everyday Sans Headline Light" pitchFamily="34" charset="0"/>
                <a:ea typeface="Everyday Sans Headline Light" pitchFamily="34" charset="-122"/>
                <a:cs typeface="Everyday Sans Headline Light" pitchFamily="34" charset="-120"/>
              </a:rPr>
              <a:t>and engage with?</a:t>
            </a:r>
            <a:endParaRPr lang="en-US" sz="1100" dirty="0"/>
          </a:p>
        </p:txBody>
      </p:sp>
      <p:sp>
        <p:nvSpPr>
          <p:cNvPr id="16" name="Text 14"/>
          <p:cNvSpPr txBox="1"/>
          <p:nvPr/>
        </p:nvSpPr>
        <p:spPr>
          <a:xfrm>
            <a:off x="508000" y="3962698"/>
            <a:ext cx="387702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3D4A63"/>
                </a:solidFill>
                <a:latin typeface="Everyday Sans Mono" pitchFamily="34" charset="0"/>
                <a:ea typeface="Everyday Sans Mono" pitchFamily="34" charset="-122"/>
                <a:cs typeface="Everyday Sans Mono" pitchFamily="34" charset="-120"/>
              </a:rPr>
              <a:t>INVESTIGATE</a:t>
            </a:r>
            <a:endParaRPr lang="en-US" sz="550" dirty="0"/>
          </a:p>
        </p:txBody>
      </p:sp>
      <p:sp>
        <p:nvSpPr>
          <p:cNvPr id="17" name="Text 15"/>
          <p:cNvSpPr txBox="1"/>
          <p:nvPr/>
        </p:nvSpPr>
        <p:spPr>
          <a:xfrm>
            <a:off x="508000" y="4089698"/>
            <a:ext cx="3877020" cy="472380"/>
          </a:xfrm>
          <a:prstGeom prst="rect">
            <a:avLst/>
          </a:prstGeom>
          <a:noFill/>
          <a:ln/>
        </p:spPr>
        <p:txBody>
          <a:bodyPr wrap="square" lIns="0" tIns="0" rIns="0" bIns="0" rtlCol="0" anchor="t"/>
          <a:lstStyle/>
          <a:p>
            <a:pPr algn="l" indent="0" marL="0">
              <a:lnSpc>
                <a:spcPts val="1240"/>
              </a:lnSpc>
              <a:buNone/>
            </a:pPr>
            <a:r>
              <a:rPr lang="en-US" sz="800" dirty="0">
                <a:solidFill>
                  <a:srgbClr val="3D4A63"/>
                </a:solidFill>
                <a:latin typeface="Everyday Sans UI" pitchFamily="34" charset="0"/>
                <a:ea typeface="Everyday Sans UI" pitchFamily="34" charset="-122"/>
                <a:cs typeface="Everyday Sans UI" pitchFamily="34" charset="-120"/>
              </a:rPr>
              <a:t>Placement and inventory quality · Viewability · Ad relevance · Creative experience ·</a:t>
            </a:r>
            <a:endParaRPr lang="en-US" sz="800" dirty="0"/>
          </a:p>
          <a:p>
            <a:pPr algn="l" indent="0" marL="0">
              <a:lnSpc>
                <a:spcPts val="1240"/>
              </a:lnSpc>
              <a:buNone/>
            </a:pPr>
            <a:r>
              <a:rPr lang="en-US" sz="800" dirty="0">
                <a:solidFill>
                  <a:srgbClr val="3D4A63"/>
                </a:solidFill>
                <a:latin typeface="Everyday Sans UI" pitchFamily="34" charset="0"/>
                <a:ea typeface="Everyday Sans UI" pitchFamily="34" charset="-122"/>
                <a:cs typeface="Everyday Sans UI" pitchFamily="34" charset="-120"/>
              </a:rPr>
              <a:t>Frequency · Where ads appear across Walmart · Differences in performance by</a:t>
            </a:r>
            <a:endParaRPr lang="en-US" sz="800" dirty="0"/>
          </a:p>
          <a:p>
            <a:pPr algn="l" indent="0" marL="0">
              <a:lnSpc>
                <a:spcPts val="1240"/>
              </a:lnSpc>
              <a:buNone/>
            </a:pPr>
            <a:r>
              <a:rPr lang="en-US" sz="800" dirty="0">
                <a:solidFill>
                  <a:srgbClr val="3D4A63"/>
                </a:solidFill>
                <a:latin typeface="Everyday Sans UI" pitchFamily="34" charset="0"/>
                <a:ea typeface="Everyday Sans UI" pitchFamily="34" charset="-122"/>
                <a:cs typeface="Everyday Sans UI" pitchFamily="34" charset="-120"/>
              </a:rPr>
              <a:t>placement or environment</a:t>
            </a:r>
            <a:endParaRPr lang="en-US" sz="800" dirty="0"/>
          </a:p>
        </p:txBody>
      </p:sp>
      <p:sp>
        <p:nvSpPr>
          <p:cNvPr id="18" name="Text 16"/>
          <p:cNvSpPr txBox="1"/>
          <p:nvPr/>
        </p:nvSpPr>
        <p:spPr>
          <a:xfrm>
            <a:off x="4301034" y="2958207"/>
            <a:ext cx="387702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02</a:t>
            </a:r>
            <a:endParaRPr lang="en-US" sz="550" dirty="0"/>
          </a:p>
        </p:txBody>
      </p:sp>
      <p:sp>
        <p:nvSpPr>
          <p:cNvPr id="19" name="Text 17"/>
          <p:cNvSpPr txBox="1"/>
          <p:nvPr/>
        </p:nvSpPr>
        <p:spPr>
          <a:xfrm>
            <a:off x="4301034" y="3085207"/>
            <a:ext cx="3877020" cy="241300"/>
          </a:xfrm>
          <a:prstGeom prst="rect">
            <a:avLst/>
          </a:prstGeom>
          <a:noFill/>
          <a:ln/>
        </p:spPr>
        <p:txBody>
          <a:bodyPr wrap="square" lIns="0" tIns="0" rIns="0" bIns="0" rtlCol="0" anchor="t"/>
          <a:lstStyle/>
          <a:p>
            <a:pPr algn="l" indent="0" marL="0">
              <a:lnSpc>
                <a:spcPts val="1800"/>
              </a:lnSpc>
              <a:buNone/>
            </a:pPr>
            <a:r>
              <a:rPr lang="en-US" sz="1500" spc="-45" kern="0" dirty="0">
                <a:solidFill>
                  <a:srgbClr val="001E60"/>
                </a:solidFill>
                <a:latin typeface="Everyday Sans Headline Light" pitchFamily="34" charset="0"/>
                <a:ea typeface="Everyday Sans Headline Light" pitchFamily="34" charset="-122"/>
                <a:cs typeface="Everyday Sans Headline Light" pitchFamily="34" charset="-120"/>
              </a:rPr>
              <a:t>Advertiser setup &amp; workflow</a:t>
            </a:r>
            <a:endParaRPr lang="en-US" sz="1500" dirty="0"/>
          </a:p>
        </p:txBody>
      </p:sp>
      <p:sp>
        <p:nvSpPr>
          <p:cNvPr id="20" name="Text 18"/>
          <p:cNvSpPr txBox="1"/>
          <p:nvPr/>
        </p:nvSpPr>
        <p:spPr>
          <a:xfrm>
            <a:off x="4301034" y="3402707"/>
            <a:ext cx="3877020" cy="363141"/>
          </a:xfrm>
          <a:prstGeom prst="rect">
            <a:avLst/>
          </a:prstGeom>
          <a:noFill/>
          <a:ln/>
        </p:spPr>
        <p:txBody>
          <a:bodyPr wrap="square" lIns="0" tIns="0" rIns="0" bIns="0" rtlCol="0" anchor="t"/>
          <a:lstStyle/>
          <a:p>
            <a:pPr algn="l" indent="0" marL="0">
              <a:lnSpc>
                <a:spcPts val="1430"/>
              </a:lnSpc>
              <a:buNone/>
            </a:pPr>
            <a:r>
              <a:rPr lang="en-US" sz="1100" spc="-22" kern="0" dirty="0">
                <a:solidFill>
                  <a:srgbClr val="0053E2"/>
                </a:solidFill>
                <a:latin typeface="Everyday Sans Headline Light" pitchFamily="34" charset="0"/>
                <a:ea typeface="Everyday Sans Headline Light" pitchFamily="34" charset="-122"/>
                <a:cs typeface="Everyday Sans Headline Light" pitchFamily="34" charset="-120"/>
              </a:rPr>
              <a:t>Are we making it too difficult to build a campaign</a:t>
            </a:r>
            <a:endParaRPr lang="en-US" sz="1100" dirty="0"/>
          </a:p>
          <a:p>
            <a:pPr algn="l" indent="0" marL="0">
              <a:lnSpc>
                <a:spcPts val="1430"/>
              </a:lnSpc>
              <a:buNone/>
            </a:pPr>
            <a:r>
              <a:rPr lang="en-US" sz="1100" spc="-22" kern="0" dirty="0">
                <a:solidFill>
                  <a:srgbClr val="0053E2"/>
                </a:solidFill>
                <a:latin typeface="Everyday Sans Headline Light" pitchFamily="34" charset="0"/>
                <a:ea typeface="Everyday Sans Headline Light" pitchFamily="34" charset="-122"/>
                <a:cs typeface="Everyday Sans Headline Light" pitchFamily="34" charset="-120"/>
              </a:rPr>
              <a:t>positioned to succeed?</a:t>
            </a:r>
            <a:endParaRPr lang="en-US" sz="1100" dirty="0"/>
          </a:p>
        </p:txBody>
      </p:sp>
      <p:sp>
        <p:nvSpPr>
          <p:cNvPr id="21" name="Text 19"/>
          <p:cNvSpPr txBox="1"/>
          <p:nvPr/>
        </p:nvSpPr>
        <p:spPr>
          <a:xfrm>
            <a:off x="4301034" y="3962698"/>
            <a:ext cx="387702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3D4A63"/>
                </a:solidFill>
                <a:latin typeface="Everyday Sans Mono" pitchFamily="34" charset="0"/>
                <a:ea typeface="Everyday Sans Mono" pitchFamily="34" charset="-122"/>
                <a:cs typeface="Everyday Sans Mono" pitchFamily="34" charset="-120"/>
              </a:rPr>
              <a:t>INVESTIGATE</a:t>
            </a:r>
            <a:endParaRPr lang="en-US" sz="550" dirty="0"/>
          </a:p>
        </p:txBody>
      </p:sp>
      <p:sp>
        <p:nvSpPr>
          <p:cNvPr id="22" name="Text 20"/>
          <p:cNvSpPr txBox="1"/>
          <p:nvPr/>
        </p:nvSpPr>
        <p:spPr>
          <a:xfrm>
            <a:off x="4301034" y="4089698"/>
            <a:ext cx="3877020" cy="472380"/>
          </a:xfrm>
          <a:prstGeom prst="rect">
            <a:avLst/>
          </a:prstGeom>
          <a:noFill/>
          <a:ln/>
        </p:spPr>
        <p:txBody>
          <a:bodyPr wrap="square" lIns="0" tIns="0" rIns="0" bIns="0" rtlCol="0" anchor="t"/>
          <a:lstStyle/>
          <a:p>
            <a:pPr algn="l" indent="0" marL="0">
              <a:lnSpc>
                <a:spcPts val="1240"/>
              </a:lnSpc>
              <a:buNone/>
            </a:pPr>
            <a:r>
              <a:rPr lang="en-US" sz="800" dirty="0">
                <a:solidFill>
                  <a:srgbClr val="3D4A63"/>
                </a:solidFill>
                <a:latin typeface="Everyday Sans UI" pitchFamily="34" charset="0"/>
                <a:ea typeface="Everyday Sans UI" pitchFamily="34" charset="-122"/>
                <a:cs typeface="Everyday Sans UI" pitchFamily="34" charset="-120"/>
              </a:rPr>
              <a:t>Audience selection · Targeting decisions · Budget configuration · Goals and objectives</a:t>
            </a:r>
            <a:endParaRPr lang="en-US" sz="800" dirty="0"/>
          </a:p>
          <a:p>
            <a:pPr algn="l" indent="0" marL="0">
              <a:lnSpc>
                <a:spcPts val="1240"/>
              </a:lnSpc>
              <a:buNone/>
            </a:pPr>
            <a:r>
              <a:rPr lang="en-US" sz="800" dirty="0">
                <a:solidFill>
                  <a:srgbClr val="3D4A63"/>
                </a:solidFill>
                <a:latin typeface="Everyday Sans UI" pitchFamily="34" charset="0"/>
                <a:ea typeface="Everyday Sans UI" pitchFamily="34" charset="-122"/>
                <a:cs typeface="Everyday Sans UI" pitchFamily="34" charset="-120"/>
              </a:rPr>
              <a:t>· Item selection · Creative setup · Workflow comprehension · Recommendations</a:t>
            </a:r>
            <a:endParaRPr lang="en-US" sz="800" dirty="0"/>
          </a:p>
          <a:p>
            <a:pPr algn="l" indent="0" marL="0">
              <a:lnSpc>
                <a:spcPts val="1240"/>
              </a:lnSpc>
              <a:buNone/>
            </a:pPr>
            <a:r>
              <a:rPr lang="en-US" sz="800" dirty="0">
                <a:solidFill>
                  <a:srgbClr val="3D4A63"/>
                </a:solidFill>
                <a:latin typeface="Everyday Sans UI" pitchFamily="34" charset="0"/>
                <a:ea typeface="Everyday Sans UI" pitchFamily="34" charset="-122"/>
                <a:cs typeface="Everyday Sans UI" pitchFamily="34" charset="-120"/>
              </a:rPr>
              <a:t>and guidance</a:t>
            </a:r>
            <a:endParaRPr lang="en-US" sz="800" dirty="0"/>
          </a:p>
        </p:txBody>
      </p:sp>
      <p:sp>
        <p:nvSpPr>
          <p:cNvPr id="23" name="Text 21"/>
          <p:cNvSpPr txBox="1"/>
          <p:nvPr/>
        </p:nvSpPr>
        <p:spPr>
          <a:xfrm>
            <a:off x="8094067" y="2958207"/>
            <a:ext cx="387702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03</a:t>
            </a:r>
            <a:endParaRPr lang="en-US" sz="550" dirty="0"/>
          </a:p>
        </p:txBody>
      </p:sp>
      <p:sp>
        <p:nvSpPr>
          <p:cNvPr id="24" name="Text 22"/>
          <p:cNvSpPr txBox="1"/>
          <p:nvPr/>
        </p:nvSpPr>
        <p:spPr>
          <a:xfrm>
            <a:off x="8094067" y="3085207"/>
            <a:ext cx="3877020" cy="241300"/>
          </a:xfrm>
          <a:prstGeom prst="rect">
            <a:avLst/>
          </a:prstGeom>
          <a:noFill/>
          <a:ln/>
        </p:spPr>
        <p:txBody>
          <a:bodyPr wrap="square" lIns="0" tIns="0" rIns="0" bIns="0" rtlCol="0" anchor="t"/>
          <a:lstStyle/>
          <a:p>
            <a:pPr algn="l" indent="0" marL="0">
              <a:lnSpc>
                <a:spcPts val="1800"/>
              </a:lnSpc>
              <a:buNone/>
            </a:pPr>
            <a:r>
              <a:rPr lang="en-US" sz="1500" spc="-45" kern="0" dirty="0">
                <a:solidFill>
                  <a:srgbClr val="001E60"/>
                </a:solidFill>
                <a:latin typeface="Everyday Sans Headline Light" pitchFamily="34" charset="0"/>
                <a:ea typeface="Everyday Sans Headline Light" pitchFamily="34" charset="-122"/>
                <a:cs typeface="Everyday Sans Headline Light" pitchFamily="34" charset="-120"/>
              </a:rPr>
              <a:t>Delivery, decisioning &amp; optimization</a:t>
            </a:r>
            <a:endParaRPr lang="en-US" sz="1500" dirty="0"/>
          </a:p>
        </p:txBody>
      </p:sp>
      <p:sp>
        <p:nvSpPr>
          <p:cNvPr id="25" name="Text 23"/>
          <p:cNvSpPr txBox="1"/>
          <p:nvPr/>
        </p:nvSpPr>
        <p:spPr>
          <a:xfrm>
            <a:off x="8094067" y="3402707"/>
            <a:ext cx="3877020" cy="544711"/>
          </a:xfrm>
          <a:prstGeom prst="rect">
            <a:avLst/>
          </a:prstGeom>
          <a:noFill/>
          <a:ln/>
        </p:spPr>
        <p:txBody>
          <a:bodyPr wrap="square" lIns="0" tIns="0" rIns="0" bIns="0" rtlCol="0" anchor="t"/>
          <a:lstStyle/>
          <a:p>
            <a:pPr algn="l" indent="0" marL="0">
              <a:lnSpc>
                <a:spcPts val="1430"/>
              </a:lnSpc>
              <a:buNone/>
            </a:pPr>
            <a:r>
              <a:rPr lang="en-US" sz="1100" spc="-22" kern="0" dirty="0">
                <a:solidFill>
                  <a:srgbClr val="0053E2"/>
                </a:solidFill>
                <a:latin typeface="Everyday Sans Headline Light" pitchFamily="34" charset="0"/>
                <a:ea typeface="Everyday Sans Headline Light" pitchFamily="34" charset="-122"/>
                <a:cs typeface="Everyday Sans Headline Light" pitchFamily="34" charset="-120"/>
              </a:rPr>
              <a:t>Given a well-configured campaign and viable ad</a:t>
            </a:r>
            <a:endParaRPr lang="en-US" sz="1100" dirty="0"/>
          </a:p>
          <a:p>
            <a:pPr algn="l" indent="0" marL="0">
              <a:lnSpc>
                <a:spcPts val="1430"/>
              </a:lnSpc>
              <a:buNone/>
            </a:pPr>
            <a:r>
              <a:rPr lang="en-US" sz="1100" spc="-22" kern="0" dirty="0">
                <a:solidFill>
                  <a:srgbClr val="0053E2"/>
                </a:solidFill>
                <a:latin typeface="Everyday Sans Headline Light" pitchFamily="34" charset="0"/>
                <a:ea typeface="Everyday Sans Headline Light" pitchFamily="34" charset="-122"/>
                <a:cs typeface="Everyday Sans Headline Light" pitchFamily="34" charset="-120"/>
              </a:rPr>
              <a:t>opportunity, is the system efficiently finding and serving</a:t>
            </a:r>
            <a:endParaRPr lang="en-US" sz="1100" dirty="0"/>
          </a:p>
          <a:p>
            <a:pPr algn="l" indent="0" marL="0">
              <a:lnSpc>
                <a:spcPts val="1430"/>
              </a:lnSpc>
              <a:buNone/>
            </a:pPr>
            <a:r>
              <a:rPr lang="en-US" sz="1100" spc="-22" kern="0" dirty="0">
                <a:solidFill>
                  <a:srgbClr val="0053E2"/>
                </a:solidFill>
                <a:latin typeface="Everyday Sans Headline Light" pitchFamily="34" charset="0"/>
                <a:ea typeface="Everyday Sans Headline Light" pitchFamily="34" charset="-122"/>
                <a:cs typeface="Everyday Sans Headline Light" pitchFamily="34" charset="-120"/>
              </a:rPr>
              <a:t>the right impression?</a:t>
            </a:r>
            <a:endParaRPr lang="en-US" sz="1100" dirty="0"/>
          </a:p>
        </p:txBody>
      </p:sp>
      <p:sp>
        <p:nvSpPr>
          <p:cNvPr id="26" name="Text 24"/>
          <p:cNvSpPr txBox="1"/>
          <p:nvPr/>
        </p:nvSpPr>
        <p:spPr>
          <a:xfrm>
            <a:off x="8094067" y="4144268"/>
            <a:ext cx="387702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3D4A63"/>
                </a:solidFill>
                <a:latin typeface="Everyday Sans Mono" pitchFamily="34" charset="0"/>
                <a:ea typeface="Everyday Sans Mono" pitchFamily="34" charset="-122"/>
                <a:cs typeface="Everyday Sans Mono" pitchFamily="34" charset="-120"/>
              </a:rPr>
              <a:t>INVESTIGATE</a:t>
            </a:r>
            <a:endParaRPr lang="en-US" sz="550" dirty="0"/>
          </a:p>
        </p:txBody>
      </p:sp>
      <p:sp>
        <p:nvSpPr>
          <p:cNvPr id="27" name="Text 25"/>
          <p:cNvSpPr txBox="1"/>
          <p:nvPr/>
        </p:nvSpPr>
        <p:spPr>
          <a:xfrm>
            <a:off x="8094067" y="4271268"/>
            <a:ext cx="3877020" cy="472380"/>
          </a:xfrm>
          <a:prstGeom prst="rect">
            <a:avLst/>
          </a:prstGeom>
          <a:noFill/>
          <a:ln/>
        </p:spPr>
        <p:txBody>
          <a:bodyPr wrap="square" lIns="0" tIns="0" rIns="0" bIns="0" rtlCol="0" anchor="t"/>
          <a:lstStyle/>
          <a:p>
            <a:pPr algn="l" indent="0" marL="0">
              <a:lnSpc>
                <a:spcPts val="1240"/>
              </a:lnSpc>
              <a:buNone/>
            </a:pPr>
            <a:r>
              <a:rPr lang="en-US" sz="800" dirty="0">
                <a:solidFill>
                  <a:srgbClr val="3D4A63"/>
                </a:solidFill>
                <a:latin typeface="Everyday Sans UI" pitchFamily="34" charset="0"/>
                <a:ea typeface="Everyday Sans UI" pitchFamily="34" charset="-122"/>
                <a:cs typeface="Everyday Sans UI" pitchFamily="34" charset="-120"/>
              </a:rPr>
              <a:t>Eligible inventory · Auction and serving logic · Audience match and available reach ·</a:t>
            </a:r>
            <a:endParaRPr lang="en-US" sz="800" dirty="0"/>
          </a:p>
          <a:p>
            <a:pPr algn="l" indent="0" marL="0">
              <a:lnSpc>
                <a:spcPts val="1240"/>
              </a:lnSpc>
              <a:buNone/>
            </a:pPr>
            <a:r>
              <a:rPr lang="en-US" sz="800" dirty="0">
                <a:solidFill>
                  <a:srgbClr val="3D4A63"/>
                </a:solidFill>
                <a:latin typeface="Everyday Sans UI" pitchFamily="34" charset="0"/>
                <a:ea typeface="Everyday Sans UI" pitchFamily="34" charset="-122"/>
                <a:cs typeface="Everyday Sans UI" pitchFamily="34" charset="-120"/>
              </a:rPr>
              <a:t>Budget pacing · Bid and optimization logic · Creative eligibility · Frequency constraints ·</a:t>
            </a:r>
            <a:endParaRPr lang="en-US" sz="800" dirty="0"/>
          </a:p>
          <a:p>
            <a:pPr algn="l" indent="0" marL="0">
              <a:lnSpc>
                <a:spcPts val="1240"/>
              </a:lnSpc>
              <a:buNone/>
            </a:pPr>
            <a:r>
              <a:rPr lang="en-US" sz="800" dirty="0">
                <a:solidFill>
                  <a:srgbClr val="3D4A63"/>
                </a:solidFill>
                <a:latin typeface="Everyday Sans UI" pitchFamily="34" charset="0"/>
                <a:ea typeface="Everyday Sans UI" pitchFamily="34" charset="-122"/>
                <a:cs typeface="Everyday Sans UI" pitchFamily="34" charset="-120"/>
              </a:rPr>
              <a:t>Delivery opportunities · Optimization toward the selected objective</a:t>
            </a:r>
            <a:endParaRPr lang="en-US" sz="800" dirty="0"/>
          </a:p>
        </p:txBody>
      </p:sp>
      <p:sp>
        <p:nvSpPr>
          <p:cNvPr id="28" name="Text 26"/>
          <p:cNvSpPr txBox="1"/>
          <p:nvPr/>
        </p:nvSpPr>
        <p:spPr>
          <a:xfrm>
            <a:off x="508000" y="5194498"/>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OUR JOB</a:t>
            </a:r>
            <a:endParaRPr lang="en-US" sz="550" dirty="0"/>
          </a:p>
        </p:txBody>
      </p:sp>
      <p:sp>
        <p:nvSpPr>
          <p:cNvPr id="29" name="Text 27"/>
          <p:cNvSpPr txBox="1"/>
          <p:nvPr/>
        </p:nvSpPr>
        <p:spPr>
          <a:xfrm>
            <a:off x="2108200" y="5080198"/>
            <a:ext cx="10341864" cy="22225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The answer may be one. It may be all three. Our job is to isolate the variables rather than assume the cause.</a:t>
            </a:r>
            <a:endParaRPr lang="en-US" sz="1400" dirty="0"/>
          </a:p>
        </p:txBody>
      </p:sp>
      <p:pic>
        <p:nvPicPr>
          <p:cNvPr id="30"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31" name="Text 28"/>
          <p:cNvSpPr txBox="1"/>
          <p:nvPr/>
        </p:nvSpPr>
        <p:spPr>
          <a:xfrm>
            <a:off x="711200"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32" name="Text 29"/>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06 / 18</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922859" cy="127000"/>
          </a:xfrm>
          <a:prstGeom prst="roundRect">
            <a:avLst>
              <a:gd name="adj" fmla="val 360000"/>
            </a:avLst>
          </a:prstGeom>
          <a:solidFill>
            <a:srgbClr val="D7EEF9"/>
          </a:solidFill>
          <a:ln/>
        </p:spPr>
      </p:sp>
      <p:sp>
        <p:nvSpPr>
          <p:cNvPr id="3" name="Shape 1"/>
          <p:cNvSpPr/>
          <p:nvPr/>
        </p:nvSpPr>
        <p:spPr>
          <a:xfrm>
            <a:off x="508000" y="2890738"/>
            <a:ext cx="11176000" cy="0"/>
          </a:xfrm>
          <a:prstGeom prst="line">
            <a:avLst/>
          </a:prstGeom>
          <a:noFill/>
          <a:ln w="6350">
            <a:solidFill>
              <a:srgbClr val="E4E8EF"/>
            </a:solidFill>
            <a:prstDash val="solid"/>
          </a:ln>
        </p:spPr>
      </p:sp>
      <p:sp>
        <p:nvSpPr>
          <p:cNvPr id="4" name="Shape 2"/>
          <p:cNvSpPr/>
          <p:nvPr/>
        </p:nvSpPr>
        <p:spPr>
          <a:xfrm>
            <a:off x="508000" y="3380284"/>
            <a:ext cx="3556000" cy="0"/>
          </a:xfrm>
          <a:prstGeom prst="line">
            <a:avLst/>
          </a:prstGeom>
          <a:noFill/>
          <a:ln w="6350">
            <a:solidFill>
              <a:srgbClr val="E4E8EF"/>
            </a:solidFill>
            <a:prstDash val="solid"/>
          </a:ln>
        </p:spPr>
      </p:sp>
      <p:sp>
        <p:nvSpPr>
          <p:cNvPr id="5" name="Shape 3"/>
          <p:cNvSpPr/>
          <p:nvPr/>
        </p:nvSpPr>
        <p:spPr>
          <a:xfrm>
            <a:off x="4318000" y="3380284"/>
            <a:ext cx="3556000" cy="0"/>
          </a:xfrm>
          <a:prstGeom prst="line">
            <a:avLst/>
          </a:prstGeom>
          <a:noFill/>
          <a:ln w="6350">
            <a:solidFill>
              <a:srgbClr val="E4E8EF"/>
            </a:solidFill>
            <a:prstDash val="solid"/>
          </a:ln>
        </p:spPr>
      </p:sp>
      <p:sp>
        <p:nvSpPr>
          <p:cNvPr id="6" name="Shape 4"/>
          <p:cNvSpPr/>
          <p:nvPr/>
        </p:nvSpPr>
        <p:spPr>
          <a:xfrm>
            <a:off x="8128000" y="3380284"/>
            <a:ext cx="3556000" cy="0"/>
          </a:xfrm>
          <a:prstGeom prst="line">
            <a:avLst/>
          </a:prstGeom>
          <a:noFill/>
          <a:ln w="6350">
            <a:solidFill>
              <a:srgbClr val="E4E8EF"/>
            </a:solidFill>
            <a:prstDash val="solid"/>
          </a:ln>
        </p:spPr>
      </p:sp>
      <p:sp>
        <p:nvSpPr>
          <p:cNvPr id="7" name="Shape 5"/>
          <p:cNvSpPr/>
          <p:nvPr/>
        </p:nvSpPr>
        <p:spPr>
          <a:xfrm>
            <a:off x="508000" y="3935909"/>
            <a:ext cx="11176000" cy="751780"/>
          </a:xfrm>
          <a:prstGeom prst="rect">
            <a:avLst/>
          </a:prstGeom>
          <a:solidFill>
            <a:srgbClr val="0053E2">
              <a:alpha val="5000"/>
            </a:srgbClr>
          </a:solidFill>
          <a:ln/>
        </p:spPr>
      </p:sp>
      <p:sp>
        <p:nvSpPr>
          <p:cNvPr id="8" name="Shape 6"/>
          <p:cNvSpPr/>
          <p:nvPr/>
        </p:nvSpPr>
        <p:spPr>
          <a:xfrm>
            <a:off x="508000" y="3942259"/>
            <a:ext cx="11176000" cy="0"/>
          </a:xfrm>
          <a:prstGeom prst="line">
            <a:avLst/>
          </a:prstGeom>
          <a:noFill/>
          <a:ln w="12700">
            <a:solidFill>
              <a:srgbClr val="0053E2"/>
            </a:solidFill>
            <a:prstDash val="solid"/>
          </a:ln>
        </p:spPr>
      </p:sp>
      <p:sp>
        <p:nvSpPr>
          <p:cNvPr id="9" name="Shape 7"/>
          <p:cNvSpPr/>
          <p:nvPr/>
        </p:nvSpPr>
        <p:spPr>
          <a:xfrm>
            <a:off x="508000" y="4919464"/>
            <a:ext cx="11176000" cy="0"/>
          </a:xfrm>
          <a:prstGeom prst="line">
            <a:avLst/>
          </a:prstGeom>
          <a:noFill/>
          <a:ln w="6350">
            <a:solidFill>
              <a:srgbClr val="0053E2"/>
            </a:solidFill>
            <a:prstDash val="solid"/>
          </a:ln>
        </p:spPr>
      </p:sp>
      <p:sp>
        <p:nvSpPr>
          <p:cNvPr id="10" name="Text 8"/>
          <p:cNvSpPr txBox="1"/>
          <p:nvPr/>
        </p:nvSpPr>
        <p:spPr>
          <a:xfrm>
            <a:off x="501650" y="971550"/>
            <a:ext cx="1935559"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MEASUREMENT IS THE CONNECTIVE TISSUE</a:t>
            </a:r>
            <a:endParaRPr lang="en-US" sz="500" dirty="0"/>
          </a:p>
        </p:txBody>
      </p:sp>
      <p:sp>
        <p:nvSpPr>
          <p:cNvPr id="11" name="Text 9"/>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We can’t improve what advertisers or product teams can’t </a:t>
            </a:r>
            <a:pPr algn="l" indent="0" marL="0">
              <a:lnSpc>
                <a:spcPts val="3024"/>
              </a:lnSpc>
              <a:buNone/>
            </a:pPr>
            <a:r>
              <a:rPr lang="en-US" sz="2400" i="1" spc="-72" kern="0" dirty="0">
                <a:solidFill>
                  <a:srgbClr val="0053E2"/>
                </a:solidFill>
                <a:latin typeface="Everyday Sans Light" pitchFamily="34" charset="0"/>
                <a:ea typeface="Everyday Sans Light" pitchFamily="34" charset="-122"/>
                <a:cs typeface="Everyday Sans Light" pitchFamily="34" charset="-120"/>
              </a:rPr>
              <a:t>diagnose</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12" name="Text 10"/>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Measurement connects ad experience, campaign setup and delivery signals so advertisers and internal teams can understand what is driving an outcome.</a:t>
            </a:r>
            <a:endParaRPr lang="en-US" sz="900" dirty="0"/>
          </a:p>
        </p:txBody>
      </p:sp>
      <p:sp>
        <p:nvSpPr>
          <p:cNvPr id="13" name="Text 11"/>
          <p:cNvSpPr txBox="1"/>
          <p:nvPr/>
        </p:nvSpPr>
        <p:spPr>
          <a:xfrm>
            <a:off x="508000" y="3033613"/>
            <a:ext cx="1549400" cy="101283"/>
          </a:xfrm>
          <a:prstGeom prst="rect">
            <a:avLst/>
          </a:prstGeom>
          <a:noFill/>
          <a:ln/>
        </p:spPr>
        <p:txBody>
          <a:bodyPr wrap="square" lIns="0" tIns="0" rIns="0" bIns="0" rtlCol="0" anchor="t"/>
          <a:lstStyle/>
          <a:p>
            <a:pPr algn="l" indent="0" marL="0">
              <a:lnSpc>
                <a:spcPts val="798"/>
              </a:lnSpc>
              <a:buNone/>
            </a:pPr>
            <a:r>
              <a:rPr lang="en-US" sz="550" spc="77" kern="0" dirty="0">
                <a:solidFill>
                  <a:srgbClr val="3D4A63"/>
                </a:solidFill>
                <a:latin typeface="Everyday Sans Mono" pitchFamily="34" charset="0"/>
                <a:ea typeface="Everyday Sans Mono" pitchFamily="34" charset="-122"/>
                <a:cs typeface="Everyday Sans Mono" pitchFamily="34" charset="-120"/>
              </a:rPr>
              <a:t>TODAY</a:t>
            </a:r>
            <a:endParaRPr lang="en-US" sz="550" dirty="0"/>
          </a:p>
        </p:txBody>
      </p:sp>
      <p:sp>
        <p:nvSpPr>
          <p:cNvPr id="14" name="Text 12"/>
          <p:cNvSpPr txBox="1"/>
          <p:nvPr/>
        </p:nvSpPr>
        <p:spPr>
          <a:xfrm>
            <a:off x="2108200" y="2982813"/>
            <a:ext cx="10341864"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Reporting is fragmented across experiences, metrics are not always presented consistently and finding the right answer often requires knowing where Walmart put it.</a:t>
            </a:r>
            <a:endParaRPr lang="en-US" sz="900" dirty="0"/>
          </a:p>
        </p:txBody>
      </p:sp>
      <p:sp>
        <p:nvSpPr>
          <p:cNvPr id="15" name="Text 13"/>
          <p:cNvSpPr txBox="1"/>
          <p:nvPr/>
        </p:nvSpPr>
        <p:spPr>
          <a:xfrm>
            <a:off x="508000" y="3472359"/>
            <a:ext cx="384048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3D4A63"/>
                </a:solidFill>
                <a:latin typeface="Everyday Sans Mono" pitchFamily="34" charset="0"/>
                <a:ea typeface="Everyday Sans Mono" pitchFamily="34" charset="-122"/>
                <a:cs typeface="Everyday Sans Mono" pitchFamily="34" charset="-120"/>
              </a:rPr>
              <a:t>01</a:t>
            </a:r>
            <a:endParaRPr lang="en-US" sz="550" dirty="0"/>
          </a:p>
        </p:txBody>
      </p:sp>
      <p:sp>
        <p:nvSpPr>
          <p:cNvPr id="16" name="Text 14"/>
          <p:cNvSpPr txBox="1"/>
          <p:nvPr/>
        </p:nvSpPr>
        <p:spPr>
          <a:xfrm>
            <a:off x="508000" y="3599359"/>
            <a:ext cx="3840480" cy="209550"/>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Ad experience &amp; media quality</a:t>
            </a:r>
            <a:endParaRPr lang="en-US" sz="1300" dirty="0"/>
          </a:p>
        </p:txBody>
      </p:sp>
      <p:sp>
        <p:nvSpPr>
          <p:cNvPr id="17" name="Text 15"/>
          <p:cNvSpPr txBox="1"/>
          <p:nvPr/>
        </p:nvSpPr>
        <p:spPr>
          <a:xfrm>
            <a:off x="4318000" y="3472359"/>
            <a:ext cx="384048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3D4A63"/>
                </a:solidFill>
                <a:latin typeface="Everyday Sans Mono" pitchFamily="34" charset="0"/>
                <a:ea typeface="Everyday Sans Mono" pitchFamily="34" charset="-122"/>
                <a:cs typeface="Everyday Sans Mono" pitchFamily="34" charset="-120"/>
              </a:rPr>
              <a:t>02</a:t>
            </a:r>
            <a:endParaRPr lang="en-US" sz="550" dirty="0"/>
          </a:p>
        </p:txBody>
      </p:sp>
      <p:sp>
        <p:nvSpPr>
          <p:cNvPr id="18" name="Text 16"/>
          <p:cNvSpPr txBox="1"/>
          <p:nvPr/>
        </p:nvSpPr>
        <p:spPr>
          <a:xfrm>
            <a:off x="4318000" y="3599359"/>
            <a:ext cx="3840480" cy="209550"/>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Advertiser setup &amp; workflow</a:t>
            </a:r>
            <a:endParaRPr lang="en-US" sz="1300" dirty="0"/>
          </a:p>
        </p:txBody>
      </p:sp>
      <p:sp>
        <p:nvSpPr>
          <p:cNvPr id="19" name="Text 17"/>
          <p:cNvSpPr txBox="1"/>
          <p:nvPr/>
        </p:nvSpPr>
        <p:spPr>
          <a:xfrm>
            <a:off x="8128000" y="3472359"/>
            <a:ext cx="384048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3D4A63"/>
                </a:solidFill>
                <a:latin typeface="Everyday Sans Mono" pitchFamily="34" charset="0"/>
                <a:ea typeface="Everyday Sans Mono" pitchFamily="34" charset="-122"/>
                <a:cs typeface="Everyday Sans Mono" pitchFamily="34" charset="-120"/>
              </a:rPr>
              <a:t>03</a:t>
            </a:r>
            <a:endParaRPr lang="en-US" sz="550" dirty="0"/>
          </a:p>
        </p:txBody>
      </p:sp>
      <p:sp>
        <p:nvSpPr>
          <p:cNvPr id="20" name="Text 18"/>
          <p:cNvSpPr txBox="1"/>
          <p:nvPr/>
        </p:nvSpPr>
        <p:spPr>
          <a:xfrm>
            <a:off x="8128000" y="3599359"/>
            <a:ext cx="3840480" cy="209550"/>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Delivery, decisioning &amp; optimization</a:t>
            </a:r>
            <a:endParaRPr lang="en-US" sz="1300" dirty="0"/>
          </a:p>
        </p:txBody>
      </p:sp>
      <p:sp>
        <p:nvSpPr>
          <p:cNvPr id="21" name="Text 19"/>
          <p:cNvSpPr txBox="1"/>
          <p:nvPr/>
        </p:nvSpPr>
        <p:spPr>
          <a:xfrm>
            <a:off x="660400" y="4075609"/>
            <a:ext cx="11740896" cy="190500"/>
          </a:xfrm>
          <a:prstGeom prst="rect">
            <a:avLst/>
          </a:prstGeom>
          <a:noFill/>
          <a:ln/>
        </p:spPr>
        <p:txBody>
          <a:bodyPr wrap="square" lIns="0" tIns="0" rIns="0" bIns="0" rtlCol="0" anchor="t"/>
          <a:lstStyle/>
          <a:p>
            <a:pPr algn="l" indent="0" marL="0">
              <a:lnSpc>
                <a:spcPts val="1440"/>
              </a:lnSpc>
              <a:buNone/>
            </a:pPr>
            <a:r>
              <a:rPr lang="en-US" sz="1200" spc="-36" kern="0" dirty="0">
                <a:solidFill>
                  <a:srgbClr val="0053E2"/>
                </a:solidFill>
                <a:latin typeface="Everyday Sans Headline Light" pitchFamily="34" charset="0"/>
                <a:ea typeface="Everyday Sans Headline Light" pitchFamily="34" charset="-122"/>
                <a:cs typeface="Everyday Sans Headline Light" pitchFamily="34" charset="-120"/>
              </a:rPr>
              <a:t>Measurement + diagnostics connects all three</a:t>
            </a:r>
            <a:endParaRPr lang="en-US" sz="1200" dirty="0"/>
          </a:p>
        </p:txBody>
      </p:sp>
      <p:sp>
        <p:nvSpPr>
          <p:cNvPr id="22" name="Text 20"/>
          <p:cNvSpPr txBox="1"/>
          <p:nvPr/>
        </p:nvSpPr>
        <p:spPr>
          <a:xfrm>
            <a:off x="660400" y="4329609"/>
            <a:ext cx="1431528" cy="231140"/>
          </a:xfrm>
          <a:prstGeom prst="rect">
            <a:avLst/>
          </a:prstGeom>
          <a:noFill/>
          <a:ln/>
        </p:spPr>
        <p:txBody>
          <a:bodyPr wrap="square" lIns="0" tIns="0" rIns="0" bIns="0" rtlCol="0" anchor="t"/>
          <a:lstStyle/>
          <a:p>
            <a:pPr algn="l" indent="0" marL="0">
              <a:lnSpc>
                <a:spcPts val="1820"/>
              </a:lnSpc>
              <a:buNone/>
            </a:pPr>
            <a:r>
              <a:rPr lang="en-US" sz="1300" spc="-26" kern="0" dirty="0">
                <a:solidFill>
                  <a:srgbClr val="001E60"/>
                </a:solidFill>
                <a:latin typeface="Everyday Sans Headline Light" pitchFamily="34" charset="0"/>
                <a:ea typeface="Everyday Sans Headline Light" pitchFamily="34" charset="-122"/>
                <a:cs typeface="Everyday Sans Headline Light" pitchFamily="34" charset="-120"/>
              </a:rPr>
              <a:t>What happened?</a:t>
            </a:r>
            <a:endParaRPr lang="en-US" sz="1300" dirty="0"/>
          </a:p>
        </p:txBody>
      </p:sp>
      <p:sp>
        <p:nvSpPr>
          <p:cNvPr id="23" name="Text 21"/>
          <p:cNvSpPr txBox="1"/>
          <p:nvPr/>
        </p:nvSpPr>
        <p:spPr>
          <a:xfrm>
            <a:off x="2066528" y="4367709"/>
            <a:ext cx="242987" cy="177800"/>
          </a:xfrm>
          <a:prstGeom prst="rect">
            <a:avLst/>
          </a:prstGeom>
          <a:noFill/>
          <a:ln/>
        </p:spPr>
        <p:txBody>
          <a:bodyPr wrap="square" lIns="0" tIns="0" rIns="0" bIns="0" rtlCol="0" anchor="t"/>
          <a:lstStyle/>
          <a:p>
            <a:pPr algn="l" indent="0" marL="0">
              <a:lnSpc>
                <a:spcPts val="1400"/>
              </a:lnSpc>
              <a:buNone/>
            </a:pPr>
            <a:r>
              <a:rPr lang="en-US" sz="1000" dirty="0">
                <a:solidFill>
                  <a:srgbClr val="0053E2"/>
                </a:solidFill>
                <a:latin typeface="Everyday Sans UI" pitchFamily="34" charset="0"/>
                <a:ea typeface="Everyday Sans UI" pitchFamily="34" charset="-122"/>
                <a:cs typeface="Everyday Sans UI" pitchFamily="34" charset="-120"/>
              </a:rPr>
              <a:t>→</a:t>
            </a:r>
            <a:endParaRPr lang="en-US" sz="1000" dirty="0"/>
          </a:p>
        </p:txBody>
      </p:sp>
      <p:sp>
        <p:nvSpPr>
          <p:cNvPr id="24" name="Text 22"/>
          <p:cNvSpPr txBox="1"/>
          <p:nvPr/>
        </p:nvSpPr>
        <p:spPr>
          <a:xfrm>
            <a:off x="2284115" y="4329609"/>
            <a:ext cx="554137" cy="231140"/>
          </a:xfrm>
          <a:prstGeom prst="rect">
            <a:avLst/>
          </a:prstGeom>
          <a:noFill/>
          <a:ln/>
        </p:spPr>
        <p:txBody>
          <a:bodyPr wrap="square" lIns="0" tIns="0" rIns="0" bIns="0" rtlCol="0" anchor="t"/>
          <a:lstStyle/>
          <a:p>
            <a:pPr algn="l" indent="0" marL="0">
              <a:lnSpc>
                <a:spcPts val="1820"/>
              </a:lnSpc>
              <a:buNone/>
            </a:pPr>
            <a:r>
              <a:rPr lang="en-US" sz="1300" spc="-26" kern="0" dirty="0">
                <a:solidFill>
                  <a:srgbClr val="001E60"/>
                </a:solidFill>
                <a:latin typeface="Everyday Sans Headline Light" pitchFamily="34" charset="0"/>
                <a:ea typeface="Everyday Sans Headline Light" pitchFamily="34" charset="-122"/>
                <a:cs typeface="Everyday Sans Headline Light" pitchFamily="34" charset="-120"/>
              </a:rPr>
              <a:t>Why?</a:t>
            </a:r>
            <a:endParaRPr lang="en-US" sz="1300" dirty="0"/>
          </a:p>
        </p:txBody>
      </p:sp>
      <p:sp>
        <p:nvSpPr>
          <p:cNvPr id="25" name="Text 23"/>
          <p:cNvSpPr txBox="1"/>
          <p:nvPr/>
        </p:nvSpPr>
        <p:spPr>
          <a:xfrm>
            <a:off x="2812852" y="4367709"/>
            <a:ext cx="242987" cy="177800"/>
          </a:xfrm>
          <a:prstGeom prst="rect">
            <a:avLst/>
          </a:prstGeom>
          <a:noFill/>
          <a:ln/>
        </p:spPr>
        <p:txBody>
          <a:bodyPr wrap="square" lIns="0" tIns="0" rIns="0" bIns="0" rtlCol="0" anchor="t"/>
          <a:lstStyle/>
          <a:p>
            <a:pPr algn="l" indent="0" marL="0">
              <a:lnSpc>
                <a:spcPts val="1400"/>
              </a:lnSpc>
              <a:buNone/>
            </a:pPr>
            <a:r>
              <a:rPr lang="en-US" sz="1000" dirty="0">
                <a:solidFill>
                  <a:srgbClr val="0053E2"/>
                </a:solidFill>
                <a:latin typeface="Everyday Sans UI" pitchFamily="34" charset="0"/>
                <a:ea typeface="Everyday Sans UI" pitchFamily="34" charset="-122"/>
                <a:cs typeface="Everyday Sans UI" pitchFamily="34" charset="-120"/>
              </a:rPr>
              <a:t>→</a:t>
            </a:r>
            <a:endParaRPr lang="en-US" sz="1000" dirty="0"/>
          </a:p>
        </p:txBody>
      </p:sp>
      <p:sp>
        <p:nvSpPr>
          <p:cNvPr id="26" name="Text 24"/>
          <p:cNvSpPr txBox="1"/>
          <p:nvPr/>
        </p:nvSpPr>
        <p:spPr>
          <a:xfrm>
            <a:off x="3030438" y="4329609"/>
            <a:ext cx="1210568" cy="231140"/>
          </a:xfrm>
          <a:prstGeom prst="rect">
            <a:avLst/>
          </a:prstGeom>
          <a:noFill/>
          <a:ln/>
        </p:spPr>
        <p:txBody>
          <a:bodyPr wrap="square" lIns="0" tIns="0" rIns="0" bIns="0" rtlCol="0" anchor="t"/>
          <a:lstStyle/>
          <a:p>
            <a:pPr algn="l" indent="0" marL="0">
              <a:lnSpc>
                <a:spcPts val="1820"/>
              </a:lnSpc>
              <a:buNone/>
            </a:pPr>
            <a:r>
              <a:rPr lang="en-US" sz="1300" spc="-26" kern="0" dirty="0">
                <a:solidFill>
                  <a:srgbClr val="001E60"/>
                </a:solidFill>
                <a:latin typeface="Everyday Sans Headline Light" pitchFamily="34" charset="0"/>
                <a:ea typeface="Everyday Sans Headline Light" pitchFamily="34" charset="-122"/>
                <a:cs typeface="Everyday Sans Headline Light" pitchFamily="34" charset="-120"/>
              </a:rPr>
              <a:t>What can I do?</a:t>
            </a:r>
            <a:endParaRPr lang="en-US" sz="1300" dirty="0"/>
          </a:p>
        </p:txBody>
      </p:sp>
      <p:sp>
        <p:nvSpPr>
          <p:cNvPr id="27" name="Text 25"/>
          <p:cNvSpPr txBox="1"/>
          <p:nvPr/>
        </p:nvSpPr>
        <p:spPr>
          <a:xfrm>
            <a:off x="4215606" y="4367709"/>
            <a:ext cx="242987" cy="177800"/>
          </a:xfrm>
          <a:prstGeom prst="rect">
            <a:avLst/>
          </a:prstGeom>
          <a:noFill/>
          <a:ln/>
        </p:spPr>
        <p:txBody>
          <a:bodyPr wrap="square" lIns="0" tIns="0" rIns="0" bIns="0" rtlCol="0" anchor="t"/>
          <a:lstStyle/>
          <a:p>
            <a:pPr algn="l" indent="0" marL="0">
              <a:lnSpc>
                <a:spcPts val="1400"/>
              </a:lnSpc>
              <a:buNone/>
            </a:pPr>
            <a:r>
              <a:rPr lang="en-US" sz="1000" dirty="0">
                <a:solidFill>
                  <a:srgbClr val="0053E2"/>
                </a:solidFill>
                <a:latin typeface="Everyday Sans UI" pitchFamily="34" charset="0"/>
                <a:ea typeface="Everyday Sans UI" pitchFamily="34" charset="-122"/>
                <a:cs typeface="Everyday Sans UI" pitchFamily="34" charset="-120"/>
              </a:rPr>
              <a:t>→</a:t>
            </a:r>
            <a:endParaRPr lang="en-US" sz="1000" dirty="0"/>
          </a:p>
        </p:txBody>
      </p:sp>
      <p:sp>
        <p:nvSpPr>
          <p:cNvPr id="28" name="Text 26"/>
          <p:cNvSpPr txBox="1"/>
          <p:nvPr/>
        </p:nvSpPr>
        <p:spPr>
          <a:xfrm>
            <a:off x="4433193" y="4329609"/>
            <a:ext cx="993477" cy="231140"/>
          </a:xfrm>
          <a:prstGeom prst="rect">
            <a:avLst/>
          </a:prstGeom>
          <a:noFill/>
          <a:ln/>
        </p:spPr>
        <p:txBody>
          <a:bodyPr wrap="square" lIns="0" tIns="0" rIns="0" bIns="0" rtlCol="0" anchor="t"/>
          <a:lstStyle/>
          <a:p>
            <a:pPr algn="l" indent="0" marL="0">
              <a:lnSpc>
                <a:spcPts val="1820"/>
              </a:lnSpc>
              <a:buNone/>
            </a:pPr>
            <a:r>
              <a:rPr lang="en-US" sz="1300" spc="-26" kern="0" dirty="0">
                <a:solidFill>
                  <a:srgbClr val="001E60"/>
                </a:solidFill>
                <a:latin typeface="Everyday Sans Headline Light" pitchFamily="34" charset="0"/>
                <a:ea typeface="Everyday Sans Headline Light" pitchFamily="34" charset="-122"/>
                <a:cs typeface="Everyday Sans Headline Light" pitchFamily="34" charset="-120"/>
              </a:rPr>
              <a:t>Did it work?</a:t>
            </a:r>
            <a:endParaRPr lang="en-US" sz="1300" dirty="0"/>
          </a:p>
        </p:txBody>
      </p:sp>
      <p:sp>
        <p:nvSpPr>
          <p:cNvPr id="29" name="Text 27"/>
          <p:cNvSpPr txBox="1"/>
          <p:nvPr/>
        </p:nvSpPr>
        <p:spPr>
          <a:xfrm>
            <a:off x="508000" y="5138539"/>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FRAMING</a:t>
            </a:r>
            <a:endParaRPr lang="en-US" sz="550" dirty="0"/>
          </a:p>
        </p:txBody>
      </p:sp>
      <p:sp>
        <p:nvSpPr>
          <p:cNvPr id="30" name="Text 28"/>
          <p:cNvSpPr txBox="1"/>
          <p:nvPr/>
        </p:nvSpPr>
        <p:spPr>
          <a:xfrm>
            <a:off x="2108200" y="5024239"/>
            <a:ext cx="10341864" cy="22225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Measurement is not a fourth root-cause bucket. It is the diagnostic layer that helps us understand the other three.</a:t>
            </a:r>
            <a:endParaRPr lang="en-US" sz="1400" dirty="0"/>
          </a:p>
        </p:txBody>
      </p:sp>
      <p:pic>
        <p:nvPicPr>
          <p:cNvPr id="31"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32" name="Text 29"/>
          <p:cNvSpPr txBox="1"/>
          <p:nvPr/>
        </p:nvSpPr>
        <p:spPr>
          <a:xfrm>
            <a:off x="711200"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33" name="Text 30"/>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07 / 18</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377950" cy="127000"/>
          </a:xfrm>
          <a:prstGeom prst="roundRect">
            <a:avLst>
              <a:gd name="adj" fmla="val 360000"/>
            </a:avLst>
          </a:prstGeom>
          <a:solidFill>
            <a:srgbClr val="D7EEF9"/>
          </a:solidFill>
          <a:ln/>
        </p:spPr>
      </p:sp>
      <p:sp>
        <p:nvSpPr>
          <p:cNvPr id="3" name="Shape 1"/>
          <p:cNvSpPr/>
          <p:nvPr/>
        </p:nvSpPr>
        <p:spPr>
          <a:xfrm>
            <a:off x="2108200" y="3024088"/>
            <a:ext cx="1553666" cy="0"/>
          </a:xfrm>
          <a:prstGeom prst="line">
            <a:avLst/>
          </a:prstGeom>
          <a:noFill/>
          <a:ln w="6350">
            <a:solidFill>
              <a:srgbClr val="0053E2"/>
            </a:solidFill>
            <a:prstDash val="solid"/>
          </a:ln>
        </p:spPr>
      </p:sp>
      <p:sp>
        <p:nvSpPr>
          <p:cNvPr id="4" name="Shape 2"/>
          <p:cNvSpPr/>
          <p:nvPr/>
        </p:nvSpPr>
        <p:spPr>
          <a:xfrm>
            <a:off x="3712666" y="3024088"/>
            <a:ext cx="1553666" cy="0"/>
          </a:xfrm>
          <a:prstGeom prst="line">
            <a:avLst/>
          </a:prstGeom>
          <a:noFill/>
          <a:ln w="6350">
            <a:solidFill>
              <a:srgbClr val="0053E2"/>
            </a:solidFill>
            <a:prstDash val="solid"/>
          </a:ln>
        </p:spPr>
      </p:sp>
      <p:sp>
        <p:nvSpPr>
          <p:cNvPr id="5" name="Shape 3"/>
          <p:cNvSpPr/>
          <p:nvPr/>
        </p:nvSpPr>
        <p:spPr>
          <a:xfrm>
            <a:off x="5317133" y="3024088"/>
            <a:ext cx="1553666" cy="0"/>
          </a:xfrm>
          <a:prstGeom prst="line">
            <a:avLst/>
          </a:prstGeom>
          <a:noFill/>
          <a:ln w="6350">
            <a:solidFill>
              <a:srgbClr val="0053E2"/>
            </a:solidFill>
            <a:prstDash val="solid"/>
          </a:ln>
        </p:spPr>
      </p:sp>
      <p:sp>
        <p:nvSpPr>
          <p:cNvPr id="6" name="Shape 4"/>
          <p:cNvSpPr/>
          <p:nvPr/>
        </p:nvSpPr>
        <p:spPr>
          <a:xfrm>
            <a:off x="6921599" y="3024088"/>
            <a:ext cx="1553666" cy="0"/>
          </a:xfrm>
          <a:prstGeom prst="line">
            <a:avLst/>
          </a:prstGeom>
          <a:noFill/>
          <a:ln w="6350">
            <a:solidFill>
              <a:srgbClr val="0053E2"/>
            </a:solidFill>
            <a:prstDash val="solid"/>
          </a:ln>
        </p:spPr>
      </p:sp>
      <p:sp>
        <p:nvSpPr>
          <p:cNvPr id="7" name="Shape 5"/>
          <p:cNvSpPr/>
          <p:nvPr/>
        </p:nvSpPr>
        <p:spPr>
          <a:xfrm>
            <a:off x="8526066" y="3024088"/>
            <a:ext cx="1553666" cy="0"/>
          </a:xfrm>
          <a:prstGeom prst="line">
            <a:avLst/>
          </a:prstGeom>
          <a:noFill/>
          <a:ln w="6350">
            <a:solidFill>
              <a:srgbClr val="0053E2"/>
            </a:solidFill>
            <a:prstDash val="solid"/>
          </a:ln>
        </p:spPr>
      </p:sp>
      <p:sp>
        <p:nvSpPr>
          <p:cNvPr id="8" name="Shape 6"/>
          <p:cNvSpPr/>
          <p:nvPr/>
        </p:nvSpPr>
        <p:spPr>
          <a:xfrm>
            <a:off x="10130532" y="3024088"/>
            <a:ext cx="1553666" cy="0"/>
          </a:xfrm>
          <a:prstGeom prst="line">
            <a:avLst/>
          </a:prstGeom>
          <a:noFill/>
          <a:ln w="6350">
            <a:solidFill>
              <a:srgbClr val="0053E2"/>
            </a:solidFill>
            <a:prstDash val="solid"/>
          </a:ln>
        </p:spPr>
      </p:sp>
      <p:sp>
        <p:nvSpPr>
          <p:cNvPr id="9" name="Shape 7"/>
          <p:cNvSpPr/>
          <p:nvPr/>
        </p:nvSpPr>
        <p:spPr>
          <a:xfrm>
            <a:off x="2108200" y="3440013"/>
            <a:ext cx="9575800" cy="482600"/>
          </a:xfrm>
          <a:prstGeom prst="rect">
            <a:avLst/>
          </a:prstGeom>
          <a:solidFill>
            <a:srgbClr val="0053E2">
              <a:alpha val="5000"/>
            </a:srgbClr>
          </a:solidFill>
          <a:ln/>
        </p:spPr>
      </p:sp>
      <p:sp>
        <p:nvSpPr>
          <p:cNvPr id="10" name="Shape 8"/>
          <p:cNvSpPr/>
          <p:nvPr/>
        </p:nvSpPr>
        <p:spPr>
          <a:xfrm>
            <a:off x="2108200" y="3446363"/>
            <a:ext cx="9575800" cy="0"/>
          </a:xfrm>
          <a:prstGeom prst="line">
            <a:avLst/>
          </a:prstGeom>
          <a:noFill/>
          <a:ln w="12700">
            <a:solidFill>
              <a:srgbClr val="0053E2"/>
            </a:solidFill>
            <a:prstDash val="solid"/>
          </a:ln>
        </p:spPr>
      </p:sp>
      <p:sp>
        <p:nvSpPr>
          <p:cNvPr id="11" name="Shape 9"/>
          <p:cNvSpPr/>
          <p:nvPr/>
        </p:nvSpPr>
        <p:spPr>
          <a:xfrm>
            <a:off x="2222500" y="3567013"/>
            <a:ext cx="1173758" cy="241300"/>
          </a:xfrm>
          <a:prstGeom prst="rect">
            <a:avLst/>
          </a:prstGeom>
          <a:solidFill>
            <a:srgbClr val="FFFFFF"/>
          </a:solidFill>
          <a:ln w="6350">
            <a:solidFill>
              <a:srgbClr val="0053E2">
                <a:alpha val="35000"/>
              </a:srgbClr>
            </a:solidFill>
            <a:prstDash val="solid"/>
          </a:ln>
        </p:spPr>
      </p:sp>
      <p:sp>
        <p:nvSpPr>
          <p:cNvPr id="12" name="Shape 10"/>
          <p:cNvSpPr/>
          <p:nvPr/>
        </p:nvSpPr>
        <p:spPr>
          <a:xfrm>
            <a:off x="3447058" y="3567013"/>
            <a:ext cx="881459" cy="241300"/>
          </a:xfrm>
          <a:prstGeom prst="rect">
            <a:avLst/>
          </a:prstGeom>
          <a:solidFill>
            <a:srgbClr val="FFFFFF"/>
          </a:solidFill>
          <a:ln w="6350">
            <a:solidFill>
              <a:srgbClr val="0053E2">
                <a:alpha val="35000"/>
              </a:srgbClr>
            </a:solidFill>
            <a:prstDash val="solid"/>
          </a:ln>
        </p:spPr>
      </p:sp>
      <p:sp>
        <p:nvSpPr>
          <p:cNvPr id="13" name="Shape 11"/>
          <p:cNvSpPr/>
          <p:nvPr/>
        </p:nvSpPr>
        <p:spPr>
          <a:xfrm>
            <a:off x="4379317" y="3567013"/>
            <a:ext cx="1245394" cy="241300"/>
          </a:xfrm>
          <a:prstGeom prst="rect">
            <a:avLst/>
          </a:prstGeom>
          <a:solidFill>
            <a:srgbClr val="FFFFFF"/>
          </a:solidFill>
          <a:ln w="6350">
            <a:solidFill>
              <a:srgbClr val="0053E2">
                <a:alpha val="35000"/>
              </a:srgbClr>
            </a:solidFill>
            <a:prstDash val="solid"/>
          </a:ln>
        </p:spPr>
      </p:sp>
      <p:sp>
        <p:nvSpPr>
          <p:cNvPr id="14" name="Shape 12"/>
          <p:cNvSpPr/>
          <p:nvPr/>
        </p:nvSpPr>
        <p:spPr>
          <a:xfrm>
            <a:off x="5675511" y="3567013"/>
            <a:ext cx="869950" cy="241300"/>
          </a:xfrm>
          <a:prstGeom prst="rect">
            <a:avLst/>
          </a:prstGeom>
          <a:solidFill>
            <a:srgbClr val="FFFFFF"/>
          </a:solidFill>
          <a:ln w="6350">
            <a:solidFill>
              <a:srgbClr val="0053E2">
                <a:alpha val="35000"/>
              </a:srgbClr>
            </a:solidFill>
            <a:prstDash val="solid"/>
          </a:ln>
        </p:spPr>
      </p:sp>
      <p:sp>
        <p:nvSpPr>
          <p:cNvPr id="15" name="Shape 13"/>
          <p:cNvSpPr/>
          <p:nvPr/>
        </p:nvSpPr>
        <p:spPr>
          <a:xfrm>
            <a:off x="6596261" y="3567013"/>
            <a:ext cx="958949" cy="241300"/>
          </a:xfrm>
          <a:prstGeom prst="rect">
            <a:avLst/>
          </a:prstGeom>
          <a:solidFill>
            <a:srgbClr val="FFFFFF"/>
          </a:solidFill>
          <a:ln w="6350">
            <a:solidFill>
              <a:srgbClr val="0053E2">
                <a:alpha val="35000"/>
              </a:srgbClr>
            </a:solidFill>
            <a:prstDash val="solid"/>
          </a:ln>
        </p:spPr>
      </p:sp>
      <p:sp>
        <p:nvSpPr>
          <p:cNvPr id="16" name="Shape 14"/>
          <p:cNvSpPr/>
          <p:nvPr/>
        </p:nvSpPr>
        <p:spPr>
          <a:xfrm>
            <a:off x="7606010" y="3567013"/>
            <a:ext cx="874316" cy="241300"/>
          </a:xfrm>
          <a:prstGeom prst="rect">
            <a:avLst/>
          </a:prstGeom>
          <a:solidFill>
            <a:srgbClr val="FFFFFF"/>
          </a:solidFill>
          <a:ln w="6350">
            <a:solidFill>
              <a:srgbClr val="0053E2">
                <a:alpha val="35000"/>
              </a:srgbClr>
            </a:solidFill>
            <a:prstDash val="solid"/>
          </a:ln>
        </p:spPr>
      </p:sp>
      <p:sp>
        <p:nvSpPr>
          <p:cNvPr id="17" name="Shape 15"/>
          <p:cNvSpPr/>
          <p:nvPr/>
        </p:nvSpPr>
        <p:spPr>
          <a:xfrm>
            <a:off x="8531126" y="3567013"/>
            <a:ext cx="665659" cy="241300"/>
          </a:xfrm>
          <a:prstGeom prst="rect">
            <a:avLst/>
          </a:prstGeom>
          <a:solidFill>
            <a:srgbClr val="FFFFFF"/>
          </a:solidFill>
          <a:ln w="6350">
            <a:solidFill>
              <a:srgbClr val="0053E2">
                <a:alpha val="35000"/>
              </a:srgbClr>
            </a:solidFill>
            <a:prstDash val="solid"/>
          </a:ln>
        </p:spPr>
      </p:sp>
      <p:sp>
        <p:nvSpPr>
          <p:cNvPr id="18" name="Shape 16"/>
          <p:cNvSpPr/>
          <p:nvPr/>
        </p:nvSpPr>
        <p:spPr>
          <a:xfrm>
            <a:off x="9247584" y="3567013"/>
            <a:ext cx="705941" cy="241300"/>
          </a:xfrm>
          <a:prstGeom prst="rect">
            <a:avLst/>
          </a:prstGeom>
          <a:solidFill>
            <a:srgbClr val="FFFFFF"/>
          </a:solidFill>
          <a:ln w="6350">
            <a:solidFill>
              <a:srgbClr val="0053E2">
                <a:alpha val="35000"/>
              </a:srgbClr>
            </a:solidFill>
            <a:prstDash val="solid"/>
          </a:ln>
        </p:spPr>
      </p:sp>
      <p:sp>
        <p:nvSpPr>
          <p:cNvPr id="19" name="Shape 17"/>
          <p:cNvSpPr/>
          <p:nvPr/>
        </p:nvSpPr>
        <p:spPr>
          <a:xfrm>
            <a:off x="2108200" y="4052788"/>
            <a:ext cx="2355850" cy="0"/>
          </a:xfrm>
          <a:prstGeom prst="line">
            <a:avLst/>
          </a:prstGeom>
          <a:noFill/>
          <a:ln w="6350">
            <a:solidFill>
              <a:srgbClr val="E4E8EF"/>
            </a:solidFill>
            <a:prstDash val="solid"/>
          </a:ln>
        </p:spPr>
      </p:sp>
      <p:sp>
        <p:nvSpPr>
          <p:cNvPr id="20" name="Shape 18"/>
          <p:cNvSpPr/>
          <p:nvPr/>
        </p:nvSpPr>
        <p:spPr>
          <a:xfrm>
            <a:off x="4514850" y="4052788"/>
            <a:ext cx="2355850" cy="0"/>
          </a:xfrm>
          <a:prstGeom prst="line">
            <a:avLst/>
          </a:prstGeom>
          <a:noFill/>
          <a:ln w="6350">
            <a:solidFill>
              <a:srgbClr val="E4E8EF"/>
            </a:solidFill>
            <a:prstDash val="solid"/>
          </a:ln>
        </p:spPr>
      </p:sp>
      <p:sp>
        <p:nvSpPr>
          <p:cNvPr id="21" name="Shape 19"/>
          <p:cNvSpPr/>
          <p:nvPr/>
        </p:nvSpPr>
        <p:spPr>
          <a:xfrm>
            <a:off x="6921500" y="4052788"/>
            <a:ext cx="2355850" cy="0"/>
          </a:xfrm>
          <a:prstGeom prst="line">
            <a:avLst/>
          </a:prstGeom>
          <a:noFill/>
          <a:ln w="6350">
            <a:solidFill>
              <a:srgbClr val="E4E8EF"/>
            </a:solidFill>
            <a:prstDash val="solid"/>
          </a:ln>
        </p:spPr>
      </p:sp>
      <p:sp>
        <p:nvSpPr>
          <p:cNvPr id="22" name="Shape 20"/>
          <p:cNvSpPr/>
          <p:nvPr/>
        </p:nvSpPr>
        <p:spPr>
          <a:xfrm>
            <a:off x="9328150" y="4052788"/>
            <a:ext cx="2355850" cy="0"/>
          </a:xfrm>
          <a:prstGeom prst="line">
            <a:avLst/>
          </a:prstGeom>
          <a:noFill/>
          <a:ln w="6350">
            <a:solidFill>
              <a:srgbClr val="E4E8EF"/>
            </a:solidFill>
            <a:prstDash val="solid"/>
          </a:ln>
        </p:spPr>
      </p:sp>
      <p:sp>
        <p:nvSpPr>
          <p:cNvPr id="23" name="Shape 21"/>
          <p:cNvSpPr/>
          <p:nvPr/>
        </p:nvSpPr>
        <p:spPr>
          <a:xfrm>
            <a:off x="508000" y="4497288"/>
            <a:ext cx="11176000" cy="0"/>
          </a:xfrm>
          <a:prstGeom prst="line">
            <a:avLst/>
          </a:prstGeom>
          <a:noFill/>
          <a:ln w="6350">
            <a:solidFill>
              <a:srgbClr val="0053E2"/>
            </a:solidFill>
            <a:prstDash val="solid"/>
          </a:ln>
        </p:spPr>
      </p:sp>
      <p:sp>
        <p:nvSpPr>
          <p:cNvPr id="24" name="Text 22"/>
          <p:cNvSpPr txBox="1"/>
          <p:nvPr/>
        </p:nvSpPr>
        <p:spPr>
          <a:xfrm>
            <a:off x="501650" y="971550"/>
            <a:ext cx="139065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BUILD THE FOUNDATION ONCE</a:t>
            </a:r>
            <a:endParaRPr lang="en-US" sz="500" dirty="0"/>
          </a:p>
        </p:txBody>
      </p:sp>
      <p:sp>
        <p:nvSpPr>
          <p:cNvPr id="25" name="Text 23"/>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The problems aren’t channel-specific. The solutions shouldn’t be </a:t>
            </a:r>
            <a:pPr algn="l" indent="0" marL="0">
              <a:lnSpc>
                <a:spcPts val="3024"/>
              </a:lnSpc>
              <a:buNone/>
            </a:pPr>
            <a:r>
              <a:rPr lang="en-US" sz="2400" i="1" spc="-72" kern="0" dirty="0">
                <a:solidFill>
                  <a:srgbClr val="0053E2"/>
                </a:solidFill>
                <a:latin typeface="Everyday Sans Light" pitchFamily="34" charset="0"/>
                <a:ea typeface="Everyday Sans Light" pitchFamily="34" charset="-122"/>
                <a:cs typeface="Everyday Sans Light" pitchFamily="34" charset="-120"/>
              </a:rPr>
              <a:t>either</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26" name="Text 24"/>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Where advertiser jobs are shared across channels, we should create common capabilities and interaction patterns rather than repeatedly rebuilding them.</a:t>
            </a:r>
            <a:endParaRPr lang="en-US" sz="900" dirty="0"/>
          </a:p>
        </p:txBody>
      </p:sp>
      <p:sp>
        <p:nvSpPr>
          <p:cNvPr id="27" name="Text 25"/>
          <p:cNvSpPr txBox="1"/>
          <p:nvPr/>
        </p:nvSpPr>
        <p:spPr>
          <a:xfrm>
            <a:off x="508000" y="3109813"/>
            <a:ext cx="154940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ADVERTISER JOBS</a:t>
            </a:r>
            <a:endParaRPr lang="en-US" sz="550" dirty="0"/>
          </a:p>
        </p:txBody>
      </p:sp>
      <p:sp>
        <p:nvSpPr>
          <p:cNvPr id="28" name="Text 26"/>
          <p:cNvSpPr txBox="1"/>
          <p:nvPr/>
        </p:nvSpPr>
        <p:spPr>
          <a:xfrm>
            <a:off x="2108200" y="3103463"/>
            <a:ext cx="1706066" cy="209550"/>
          </a:xfrm>
          <a:prstGeom prst="rect">
            <a:avLst/>
          </a:prstGeom>
          <a:noFill/>
          <a:ln/>
        </p:spPr>
        <p:txBody>
          <a:bodyPr wrap="square" lIns="0" tIns="0" rIns="0" bIns="0" rtlCol="0" anchor="t"/>
          <a:lstStyle/>
          <a:p>
            <a:pPr algn="l" indent="0" marL="0">
              <a:lnSpc>
                <a:spcPts val="1560"/>
              </a:lnSpc>
              <a:buNone/>
            </a:pPr>
            <a:r>
              <a:rPr lang="en-US" sz="1300" spc="-26" kern="0" dirty="0">
                <a:solidFill>
                  <a:srgbClr val="001E60"/>
                </a:solidFill>
                <a:latin typeface="Everyday Sans Headline Light" pitchFamily="34" charset="0"/>
                <a:ea typeface="Everyday Sans Headline Light" pitchFamily="34" charset="-122"/>
                <a:cs typeface="Everyday Sans Headline Light" pitchFamily="34" charset="-120"/>
              </a:rPr>
              <a:t>Plan</a:t>
            </a:r>
            <a:endParaRPr lang="en-US" sz="1300" dirty="0"/>
          </a:p>
        </p:txBody>
      </p:sp>
      <p:sp>
        <p:nvSpPr>
          <p:cNvPr id="29" name="Text 27"/>
          <p:cNvSpPr txBox="1"/>
          <p:nvPr/>
        </p:nvSpPr>
        <p:spPr>
          <a:xfrm>
            <a:off x="3712666" y="3103463"/>
            <a:ext cx="1706066" cy="209550"/>
          </a:xfrm>
          <a:prstGeom prst="rect">
            <a:avLst/>
          </a:prstGeom>
          <a:noFill/>
          <a:ln/>
        </p:spPr>
        <p:txBody>
          <a:bodyPr wrap="square" lIns="0" tIns="0" rIns="0" bIns="0" rtlCol="0" anchor="t"/>
          <a:lstStyle/>
          <a:p>
            <a:pPr algn="l" indent="0" marL="0">
              <a:lnSpc>
                <a:spcPts val="1560"/>
              </a:lnSpc>
              <a:buNone/>
            </a:pPr>
            <a:r>
              <a:rPr lang="en-US" sz="1300" spc="-26" kern="0" dirty="0">
                <a:solidFill>
                  <a:srgbClr val="001E60"/>
                </a:solidFill>
                <a:latin typeface="Everyday Sans Headline Light" pitchFamily="34" charset="0"/>
                <a:ea typeface="Everyday Sans Headline Light" pitchFamily="34" charset="-122"/>
                <a:cs typeface="Everyday Sans Headline Light" pitchFamily="34" charset="-120"/>
              </a:rPr>
              <a:t>Build</a:t>
            </a:r>
            <a:endParaRPr lang="en-US" sz="1300" dirty="0"/>
          </a:p>
        </p:txBody>
      </p:sp>
      <p:sp>
        <p:nvSpPr>
          <p:cNvPr id="30" name="Text 28"/>
          <p:cNvSpPr txBox="1"/>
          <p:nvPr/>
        </p:nvSpPr>
        <p:spPr>
          <a:xfrm>
            <a:off x="5317133" y="3103463"/>
            <a:ext cx="1706066" cy="209550"/>
          </a:xfrm>
          <a:prstGeom prst="rect">
            <a:avLst/>
          </a:prstGeom>
          <a:noFill/>
          <a:ln/>
        </p:spPr>
        <p:txBody>
          <a:bodyPr wrap="square" lIns="0" tIns="0" rIns="0" bIns="0" rtlCol="0" anchor="t"/>
          <a:lstStyle/>
          <a:p>
            <a:pPr algn="l" indent="0" marL="0">
              <a:lnSpc>
                <a:spcPts val="1560"/>
              </a:lnSpc>
              <a:buNone/>
            </a:pPr>
            <a:r>
              <a:rPr lang="en-US" sz="1300" spc="-26" kern="0" dirty="0">
                <a:solidFill>
                  <a:srgbClr val="001E60"/>
                </a:solidFill>
                <a:latin typeface="Everyday Sans Headline Light" pitchFamily="34" charset="0"/>
                <a:ea typeface="Everyday Sans Headline Light" pitchFamily="34" charset="-122"/>
                <a:cs typeface="Everyday Sans Headline Light" pitchFamily="34" charset="-120"/>
              </a:rPr>
              <a:t>Launch</a:t>
            </a:r>
            <a:endParaRPr lang="en-US" sz="1300" dirty="0"/>
          </a:p>
        </p:txBody>
      </p:sp>
      <p:sp>
        <p:nvSpPr>
          <p:cNvPr id="31" name="Text 29"/>
          <p:cNvSpPr txBox="1"/>
          <p:nvPr/>
        </p:nvSpPr>
        <p:spPr>
          <a:xfrm>
            <a:off x="6921599" y="3103463"/>
            <a:ext cx="1706066" cy="209550"/>
          </a:xfrm>
          <a:prstGeom prst="rect">
            <a:avLst/>
          </a:prstGeom>
          <a:noFill/>
          <a:ln/>
        </p:spPr>
        <p:txBody>
          <a:bodyPr wrap="square" lIns="0" tIns="0" rIns="0" bIns="0" rtlCol="0" anchor="t"/>
          <a:lstStyle/>
          <a:p>
            <a:pPr algn="l" indent="0" marL="0">
              <a:lnSpc>
                <a:spcPts val="1560"/>
              </a:lnSpc>
              <a:buNone/>
            </a:pPr>
            <a:r>
              <a:rPr lang="en-US" sz="1300" spc="-26" kern="0" dirty="0">
                <a:solidFill>
                  <a:srgbClr val="001E60"/>
                </a:solidFill>
                <a:latin typeface="Everyday Sans Headline Light" pitchFamily="34" charset="0"/>
                <a:ea typeface="Everyday Sans Headline Light" pitchFamily="34" charset="-122"/>
                <a:cs typeface="Everyday Sans Headline Light" pitchFamily="34" charset="-120"/>
              </a:rPr>
              <a:t>Understand</a:t>
            </a:r>
            <a:endParaRPr lang="en-US" sz="1300" dirty="0"/>
          </a:p>
        </p:txBody>
      </p:sp>
      <p:sp>
        <p:nvSpPr>
          <p:cNvPr id="32" name="Text 30"/>
          <p:cNvSpPr txBox="1"/>
          <p:nvPr/>
        </p:nvSpPr>
        <p:spPr>
          <a:xfrm>
            <a:off x="8526066" y="3103463"/>
            <a:ext cx="1706066" cy="209550"/>
          </a:xfrm>
          <a:prstGeom prst="rect">
            <a:avLst/>
          </a:prstGeom>
          <a:noFill/>
          <a:ln/>
        </p:spPr>
        <p:txBody>
          <a:bodyPr wrap="square" lIns="0" tIns="0" rIns="0" bIns="0" rtlCol="0" anchor="t"/>
          <a:lstStyle/>
          <a:p>
            <a:pPr algn="l" indent="0" marL="0">
              <a:lnSpc>
                <a:spcPts val="1560"/>
              </a:lnSpc>
              <a:buNone/>
            </a:pPr>
            <a:r>
              <a:rPr lang="en-US" sz="1300" spc="-26" kern="0" dirty="0">
                <a:solidFill>
                  <a:srgbClr val="001E60"/>
                </a:solidFill>
                <a:latin typeface="Everyday Sans Headline Light" pitchFamily="34" charset="0"/>
                <a:ea typeface="Everyday Sans Headline Light" pitchFamily="34" charset="-122"/>
                <a:cs typeface="Everyday Sans Headline Light" pitchFamily="34" charset="-120"/>
              </a:rPr>
              <a:t>Optimize</a:t>
            </a:r>
            <a:endParaRPr lang="en-US" sz="1300" dirty="0"/>
          </a:p>
        </p:txBody>
      </p:sp>
      <p:sp>
        <p:nvSpPr>
          <p:cNvPr id="33" name="Text 31"/>
          <p:cNvSpPr txBox="1"/>
          <p:nvPr/>
        </p:nvSpPr>
        <p:spPr>
          <a:xfrm>
            <a:off x="10130532" y="3103463"/>
            <a:ext cx="1706066" cy="209550"/>
          </a:xfrm>
          <a:prstGeom prst="rect">
            <a:avLst/>
          </a:prstGeom>
          <a:noFill/>
          <a:ln/>
        </p:spPr>
        <p:txBody>
          <a:bodyPr wrap="square" lIns="0" tIns="0" rIns="0" bIns="0" rtlCol="0" anchor="t"/>
          <a:lstStyle/>
          <a:p>
            <a:pPr algn="l" indent="0" marL="0">
              <a:lnSpc>
                <a:spcPts val="1560"/>
              </a:lnSpc>
              <a:buNone/>
            </a:pPr>
            <a:r>
              <a:rPr lang="en-US" sz="1300" spc="-26" kern="0" dirty="0">
                <a:solidFill>
                  <a:srgbClr val="001E60"/>
                </a:solidFill>
                <a:latin typeface="Everyday Sans Headline Light" pitchFamily="34" charset="0"/>
                <a:ea typeface="Everyday Sans Headline Light" pitchFamily="34" charset="-122"/>
                <a:cs typeface="Everyday Sans Headline Light" pitchFamily="34" charset="-120"/>
              </a:rPr>
              <a:t>Grow</a:t>
            </a:r>
            <a:endParaRPr lang="en-US" sz="1300" dirty="0"/>
          </a:p>
        </p:txBody>
      </p:sp>
      <p:sp>
        <p:nvSpPr>
          <p:cNvPr id="34" name="Text 32"/>
          <p:cNvSpPr txBox="1"/>
          <p:nvPr/>
        </p:nvSpPr>
        <p:spPr>
          <a:xfrm>
            <a:off x="508000" y="3528913"/>
            <a:ext cx="1549400" cy="1778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SHARED EXPERIENCE</a:t>
            </a:r>
            <a:endParaRPr lang="en-US" sz="550" dirty="0"/>
          </a:p>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CAPABILITIES</a:t>
            </a:r>
            <a:endParaRPr lang="en-US" sz="550" dirty="0"/>
          </a:p>
        </p:txBody>
      </p:sp>
      <p:sp>
        <p:nvSpPr>
          <p:cNvPr id="35" name="Text 33"/>
          <p:cNvSpPr txBox="1"/>
          <p:nvPr/>
        </p:nvSpPr>
        <p:spPr>
          <a:xfrm>
            <a:off x="2305050" y="3624163"/>
            <a:ext cx="1161058"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Campaign management</a:t>
            </a:r>
            <a:endParaRPr lang="en-US" sz="800" dirty="0"/>
          </a:p>
        </p:txBody>
      </p:sp>
      <p:sp>
        <p:nvSpPr>
          <p:cNvPr id="36" name="Text 34"/>
          <p:cNvSpPr txBox="1"/>
          <p:nvPr/>
        </p:nvSpPr>
        <p:spPr>
          <a:xfrm>
            <a:off x="3529608" y="3624163"/>
            <a:ext cx="868759"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Audience Library</a:t>
            </a:r>
            <a:endParaRPr lang="en-US" sz="800" dirty="0"/>
          </a:p>
        </p:txBody>
      </p:sp>
      <p:sp>
        <p:nvSpPr>
          <p:cNvPr id="37" name="Text 35"/>
          <p:cNvSpPr txBox="1"/>
          <p:nvPr/>
        </p:nvSpPr>
        <p:spPr>
          <a:xfrm>
            <a:off x="4461867" y="3624163"/>
            <a:ext cx="1232694"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Measurement + reporting</a:t>
            </a:r>
            <a:endParaRPr lang="en-US" sz="800" dirty="0"/>
          </a:p>
        </p:txBody>
      </p:sp>
      <p:sp>
        <p:nvSpPr>
          <p:cNvPr id="38" name="Text 36"/>
          <p:cNvSpPr txBox="1"/>
          <p:nvPr/>
        </p:nvSpPr>
        <p:spPr>
          <a:xfrm>
            <a:off x="5758061" y="3624163"/>
            <a:ext cx="857250"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Creative + assets</a:t>
            </a:r>
            <a:endParaRPr lang="en-US" sz="800" dirty="0"/>
          </a:p>
        </p:txBody>
      </p:sp>
      <p:sp>
        <p:nvSpPr>
          <p:cNvPr id="39" name="Text 37"/>
          <p:cNvSpPr txBox="1"/>
          <p:nvPr/>
        </p:nvSpPr>
        <p:spPr>
          <a:xfrm>
            <a:off x="6678811" y="3624163"/>
            <a:ext cx="946249"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Recommendations</a:t>
            </a:r>
            <a:endParaRPr lang="en-US" sz="800" dirty="0"/>
          </a:p>
        </p:txBody>
      </p:sp>
      <p:sp>
        <p:nvSpPr>
          <p:cNvPr id="40" name="Text 38"/>
          <p:cNvSpPr txBox="1"/>
          <p:nvPr/>
        </p:nvSpPr>
        <p:spPr>
          <a:xfrm>
            <a:off x="7688560" y="3624163"/>
            <a:ext cx="861616"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Experimentation</a:t>
            </a:r>
            <a:endParaRPr lang="en-US" sz="800" dirty="0"/>
          </a:p>
        </p:txBody>
      </p:sp>
      <p:sp>
        <p:nvSpPr>
          <p:cNvPr id="41" name="Text 39"/>
          <p:cNvSpPr txBox="1"/>
          <p:nvPr/>
        </p:nvSpPr>
        <p:spPr>
          <a:xfrm>
            <a:off x="8613676" y="3624163"/>
            <a:ext cx="652959"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Forecasting</a:t>
            </a:r>
            <a:endParaRPr lang="en-US" sz="800" dirty="0"/>
          </a:p>
        </p:txBody>
      </p:sp>
      <p:sp>
        <p:nvSpPr>
          <p:cNvPr id="42" name="Text 40"/>
          <p:cNvSpPr txBox="1"/>
          <p:nvPr/>
        </p:nvSpPr>
        <p:spPr>
          <a:xfrm>
            <a:off x="9330134" y="3624163"/>
            <a:ext cx="693241"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Notifications</a:t>
            </a:r>
            <a:endParaRPr lang="en-US" sz="800" dirty="0"/>
          </a:p>
        </p:txBody>
      </p:sp>
      <p:sp>
        <p:nvSpPr>
          <p:cNvPr id="43" name="Text 41"/>
          <p:cNvSpPr txBox="1"/>
          <p:nvPr/>
        </p:nvSpPr>
        <p:spPr>
          <a:xfrm>
            <a:off x="508000" y="4138513"/>
            <a:ext cx="154940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ADVERTISING EXPERIENCES</a:t>
            </a:r>
            <a:endParaRPr lang="en-US" sz="550" dirty="0"/>
          </a:p>
        </p:txBody>
      </p:sp>
      <p:sp>
        <p:nvSpPr>
          <p:cNvPr id="44" name="Text 42"/>
          <p:cNvSpPr txBox="1"/>
          <p:nvPr/>
        </p:nvSpPr>
        <p:spPr>
          <a:xfrm>
            <a:off x="2108200" y="4132163"/>
            <a:ext cx="2544318" cy="133350"/>
          </a:xfrm>
          <a:prstGeom prst="rect">
            <a:avLst/>
          </a:prstGeom>
          <a:noFill/>
          <a:ln/>
        </p:spPr>
        <p:txBody>
          <a:bodyPr wrap="square" lIns="0" tIns="0" rIns="0" bIns="0" rtlCol="0" anchor="t"/>
          <a:lstStyle/>
          <a:p>
            <a:pPr algn="l" indent="0" marL="0">
              <a:lnSpc>
                <a:spcPts val="1020"/>
              </a:lnSpc>
              <a:buNone/>
            </a:pPr>
            <a:r>
              <a:rPr lang="en-US" sz="850" dirty="0">
                <a:solidFill>
                  <a:srgbClr val="001E60"/>
                </a:solidFill>
                <a:latin typeface="Everyday Sans UI Medium" pitchFamily="34" charset="0"/>
                <a:ea typeface="Everyday Sans UI Medium" pitchFamily="34" charset="-122"/>
                <a:cs typeface="Everyday Sans UI Medium" pitchFamily="34" charset="-120"/>
              </a:rPr>
              <a:t>Sponsored</a:t>
            </a:r>
            <a:endParaRPr lang="en-US" sz="850" dirty="0"/>
          </a:p>
        </p:txBody>
      </p:sp>
      <p:sp>
        <p:nvSpPr>
          <p:cNvPr id="45" name="Text 43"/>
          <p:cNvSpPr txBox="1"/>
          <p:nvPr/>
        </p:nvSpPr>
        <p:spPr>
          <a:xfrm>
            <a:off x="4514850" y="4132163"/>
            <a:ext cx="2544318" cy="133350"/>
          </a:xfrm>
          <a:prstGeom prst="rect">
            <a:avLst/>
          </a:prstGeom>
          <a:noFill/>
          <a:ln/>
        </p:spPr>
        <p:txBody>
          <a:bodyPr wrap="square" lIns="0" tIns="0" rIns="0" bIns="0" rtlCol="0" anchor="t"/>
          <a:lstStyle/>
          <a:p>
            <a:pPr algn="l" indent="0" marL="0">
              <a:lnSpc>
                <a:spcPts val="1020"/>
              </a:lnSpc>
              <a:buNone/>
            </a:pPr>
            <a:r>
              <a:rPr lang="en-US" sz="850" dirty="0">
                <a:solidFill>
                  <a:srgbClr val="001E60"/>
                </a:solidFill>
                <a:latin typeface="Everyday Sans UI Medium" pitchFamily="34" charset="0"/>
                <a:ea typeface="Everyday Sans UI Medium" pitchFamily="34" charset="-122"/>
                <a:cs typeface="Everyday Sans UI Medium" pitchFamily="34" charset="-120"/>
              </a:rPr>
              <a:t>Display</a:t>
            </a:r>
            <a:endParaRPr lang="en-US" sz="850" dirty="0"/>
          </a:p>
        </p:txBody>
      </p:sp>
      <p:sp>
        <p:nvSpPr>
          <p:cNvPr id="46" name="Text 44"/>
          <p:cNvSpPr txBox="1"/>
          <p:nvPr/>
        </p:nvSpPr>
        <p:spPr>
          <a:xfrm>
            <a:off x="6921500" y="4132163"/>
            <a:ext cx="2544318" cy="133350"/>
          </a:xfrm>
          <a:prstGeom prst="rect">
            <a:avLst/>
          </a:prstGeom>
          <a:noFill/>
          <a:ln/>
        </p:spPr>
        <p:txBody>
          <a:bodyPr wrap="square" lIns="0" tIns="0" rIns="0" bIns="0" rtlCol="0" anchor="t"/>
          <a:lstStyle/>
          <a:p>
            <a:pPr algn="l" indent="0" marL="0">
              <a:lnSpc>
                <a:spcPts val="1020"/>
              </a:lnSpc>
              <a:buNone/>
            </a:pPr>
            <a:r>
              <a:rPr lang="en-US" sz="850" dirty="0">
                <a:solidFill>
                  <a:srgbClr val="001E60"/>
                </a:solidFill>
                <a:latin typeface="Everyday Sans UI Medium" pitchFamily="34" charset="0"/>
                <a:ea typeface="Everyday Sans UI Medium" pitchFamily="34" charset="-122"/>
                <a:cs typeface="Everyday Sans UI Medium" pitchFamily="34" charset="-120"/>
              </a:rPr>
              <a:t>Offsite</a:t>
            </a:r>
            <a:endParaRPr lang="en-US" sz="850" dirty="0"/>
          </a:p>
        </p:txBody>
      </p:sp>
      <p:sp>
        <p:nvSpPr>
          <p:cNvPr id="47" name="Text 45"/>
          <p:cNvSpPr txBox="1"/>
          <p:nvPr/>
        </p:nvSpPr>
        <p:spPr>
          <a:xfrm>
            <a:off x="9328150" y="4132163"/>
            <a:ext cx="2544318" cy="133350"/>
          </a:xfrm>
          <a:prstGeom prst="rect">
            <a:avLst/>
          </a:prstGeom>
          <a:noFill/>
          <a:ln/>
        </p:spPr>
        <p:txBody>
          <a:bodyPr wrap="square" lIns="0" tIns="0" rIns="0" bIns="0" rtlCol="0" anchor="t"/>
          <a:lstStyle/>
          <a:p>
            <a:pPr algn="l" indent="0" marL="0">
              <a:lnSpc>
                <a:spcPts val="1020"/>
              </a:lnSpc>
              <a:buNone/>
            </a:pPr>
            <a:r>
              <a:rPr lang="en-US" sz="850" dirty="0">
                <a:solidFill>
                  <a:srgbClr val="001E60"/>
                </a:solidFill>
                <a:latin typeface="Everyday Sans UI Medium" pitchFamily="34" charset="0"/>
                <a:ea typeface="Everyday Sans UI Medium" pitchFamily="34" charset="-122"/>
                <a:cs typeface="Everyday Sans UI Medium" pitchFamily="34" charset="-120"/>
              </a:rPr>
              <a:t>Marketplace</a:t>
            </a:r>
            <a:endParaRPr lang="en-US" sz="850" dirty="0"/>
          </a:p>
        </p:txBody>
      </p:sp>
      <p:sp>
        <p:nvSpPr>
          <p:cNvPr id="48" name="Text 46"/>
          <p:cNvSpPr txBox="1"/>
          <p:nvPr/>
        </p:nvSpPr>
        <p:spPr>
          <a:xfrm>
            <a:off x="508000" y="4716363"/>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THE PRINCIPLE</a:t>
            </a:r>
            <a:endParaRPr lang="en-US" sz="550" dirty="0"/>
          </a:p>
        </p:txBody>
      </p:sp>
      <p:sp>
        <p:nvSpPr>
          <p:cNvPr id="49" name="Text 47"/>
          <p:cNvSpPr txBox="1"/>
          <p:nvPr/>
        </p:nvSpPr>
        <p:spPr>
          <a:xfrm>
            <a:off x="2108200" y="4602063"/>
            <a:ext cx="10341864" cy="44450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Where advertiser jobs are common, the experience should feel common. Where the media genuinely differs, the product</a:t>
            </a:r>
            <a:endParaRPr lang="en-US" sz="1400" dirty="0"/>
          </a:p>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should adapt.</a:t>
            </a:r>
            <a:endParaRPr lang="en-US" sz="1400" dirty="0"/>
          </a:p>
        </p:txBody>
      </p:sp>
      <p:pic>
        <p:nvPicPr>
          <p:cNvPr id="50"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51" name="Text 48"/>
          <p:cNvSpPr txBox="1"/>
          <p:nvPr/>
        </p:nvSpPr>
        <p:spPr>
          <a:xfrm>
            <a:off x="711200"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52" name="Text 49"/>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08 / 18</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675209" cy="127000"/>
          </a:xfrm>
          <a:prstGeom prst="roundRect">
            <a:avLst>
              <a:gd name="adj" fmla="val 360000"/>
            </a:avLst>
          </a:prstGeom>
          <a:solidFill>
            <a:srgbClr val="D7EEF9"/>
          </a:solidFill>
          <a:ln/>
        </p:spPr>
      </p:sp>
      <p:sp>
        <p:nvSpPr>
          <p:cNvPr id="3" name="Shape 1"/>
          <p:cNvSpPr/>
          <p:nvPr/>
        </p:nvSpPr>
        <p:spPr>
          <a:xfrm>
            <a:off x="508000" y="2983012"/>
            <a:ext cx="1849041" cy="0"/>
          </a:xfrm>
          <a:prstGeom prst="line">
            <a:avLst/>
          </a:prstGeom>
          <a:noFill/>
          <a:ln w="6350">
            <a:solidFill>
              <a:srgbClr val="E4E8EF"/>
            </a:solidFill>
            <a:prstDash val="solid"/>
          </a:ln>
        </p:spPr>
      </p:sp>
      <p:sp>
        <p:nvSpPr>
          <p:cNvPr id="4" name="Shape 2"/>
          <p:cNvSpPr/>
          <p:nvPr/>
        </p:nvSpPr>
        <p:spPr>
          <a:xfrm>
            <a:off x="2458641" y="2983012"/>
            <a:ext cx="1849140" cy="0"/>
          </a:xfrm>
          <a:prstGeom prst="line">
            <a:avLst/>
          </a:prstGeom>
          <a:noFill/>
          <a:ln w="6350">
            <a:solidFill>
              <a:srgbClr val="E4E8EF"/>
            </a:solidFill>
            <a:prstDash val="solid"/>
          </a:ln>
        </p:spPr>
      </p:sp>
      <p:sp>
        <p:nvSpPr>
          <p:cNvPr id="5" name="Shape 3"/>
          <p:cNvSpPr/>
          <p:nvPr/>
        </p:nvSpPr>
        <p:spPr>
          <a:xfrm>
            <a:off x="4409380" y="2983012"/>
            <a:ext cx="1849140" cy="0"/>
          </a:xfrm>
          <a:prstGeom prst="line">
            <a:avLst/>
          </a:prstGeom>
          <a:noFill/>
          <a:ln w="6350">
            <a:solidFill>
              <a:srgbClr val="E4E8EF"/>
            </a:solidFill>
            <a:prstDash val="solid"/>
          </a:ln>
        </p:spPr>
      </p:sp>
      <p:sp>
        <p:nvSpPr>
          <p:cNvPr id="6" name="Shape 4"/>
          <p:cNvSpPr/>
          <p:nvPr/>
        </p:nvSpPr>
        <p:spPr>
          <a:xfrm>
            <a:off x="6360120" y="2983012"/>
            <a:ext cx="1849140" cy="0"/>
          </a:xfrm>
          <a:prstGeom prst="line">
            <a:avLst/>
          </a:prstGeom>
          <a:noFill/>
          <a:ln w="6350">
            <a:solidFill>
              <a:srgbClr val="E4E8EF"/>
            </a:solidFill>
            <a:prstDash val="solid"/>
          </a:ln>
        </p:spPr>
      </p:sp>
      <p:sp>
        <p:nvSpPr>
          <p:cNvPr id="7" name="Shape 5"/>
          <p:cNvSpPr/>
          <p:nvPr/>
        </p:nvSpPr>
        <p:spPr>
          <a:xfrm>
            <a:off x="8310860" y="2983012"/>
            <a:ext cx="1849140" cy="0"/>
          </a:xfrm>
          <a:prstGeom prst="line">
            <a:avLst/>
          </a:prstGeom>
          <a:noFill/>
          <a:ln w="6350">
            <a:solidFill>
              <a:srgbClr val="E4E8EF"/>
            </a:solidFill>
            <a:prstDash val="solid"/>
          </a:ln>
        </p:spPr>
      </p:sp>
      <p:sp>
        <p:nvSpPr>
          <p:cNvPr id="8" name="Shape 6"/>
          <p:cNvSpPr/>
          <p:nvPr/>
        </p:nvSpPr>
        <p:spPr>
          <a:xfrm>
            <a:off x="508000" y="4106962"/>
            <a:ext cx="2167434" cy="0"/>
          </a:xfrm>
          <a:prstGeom prst="line">
            <a:avLst/>
          </a:prstGeom>
          <a:noFill/>
          <a:ln w="6350">
            <a:solidFill>
              <a:srgbClr val="0053E2"/>
            </a:solidFill>
            <a:prstDash val="solid"/>
          </a:ln>
        </p:spPr>
      </p:sp>
      <p:sp>
        <p:nvSpPr>
          <p:cNvPr id="9" name="Shape 7"/>
          <p:cNvSpPr/>
          <p:nvPr/>
        </p:nvSpPr>
        <p:spPr>
          <a:xfrm>
            <a:off x="2777034" y="4106962"/>
            <a:ext cx="2167434" cy="0"/>
          </a:xfrm>
          <a:prstGeom prst="line">
            <a:avLst/>
          </a:prstGeom>
          <a:noFill/>
          <a:ln w="6350">
            <a:solidFill>
              <a:srgbClr val="0053E2"/>
            </a:solidFill>
            <a:prstDash val="solid"/>
          </a:ln>
        </p:spPr>
      </p:sp>
      <p:sp>
        <p:nvSpPr>
          <p:cNvPr id="10" name="Shape 8"/>
          <p:cNvSpPr/>
          <p:nvPr/>
        </p:nvSpPr>
        <p:spPr>
          <a:xfrm>
            <a:off x="5046067" y="4106962"/>
            <a:ext cx="2167533" cy="0"/>
          </a:xfrm>
          <a:prstGeom prst="line">
            <a:avLst/>
          </a:prstGeom>
          <a:noFill/>
          <a:ln w="6350">
            <a:solidFill>
              <a:srgbClr val="0053E2"/>
            </a:solidFill>
            <a:prstDash val="solid"/>
          </a:ln>
        </p:spPr>
      </p:sp>
      <p:sp>
        <p:nvSpPr>
          <p:cNvPr id="11" name="Shape 9"/>
          <p:cNvSpPr/>
          <p:nvPr/>
        </p:nvSpPr>
        <p:spPr>
          <a:xfrm>
            <a:off x="2108200" y="4691162"/>
            <a:ext cx="1793180" cy="0"/>
          </a:xfrm>
          <a:prstGeom prst="line">
            <a:avLst/>
          </a:prstGeom>
          <a:noFill/>
          <a:ln w="6350">
            <a:solidFill>
              <a:srgbClr val="E4E8EF"/>
            </a:solidFill>
            <a:prstDash val="solid"/>
          </a:ln>
        </p:spPr>
      </p:sp>
      <p:sp>
        <p:nvSpPr>
          <p:cNvPr id="12" name="Shape 10"/>
          <p:cNvSpPr/>
          <p:nvPr/>
        </p:nvSpPr>
        <p:spPr>
          <a:xfrm>
            <a:off x="4053780" y="4691162"/>
            <a:ext cx="1793280" cy="0"/>
          </a:xfrm>
          <a:prstGeom prst="line">
            <a:avLst/>
          </a:prstGeom>
          <a:noFill/>
          <a:ln w="6350">
            <a:solidFill>
              <a:srgbClr val="E4E8EF"/>
            </a:solidFill>
            <a:prstDash val="solid"/>
          </a:ln>
        </p:spPr>
      </p:sp>
      <p:sp>
        <p:nvSpPr>
          <p:cNvPr id="13" name="Shape 11"/>
          <p:cNvSpPr/>
          <p:nvPr/>
        </p:nvSpPr>
        <p:spPr>
          <a:xfrm>
            <a:off x="5999460" y="4691162"/>
            <a:ext cx="1793180" cy="0"/>
          </a:xfrm>
          <a:prstGeom prst="line">
            <a:avLst/>
          </a:prstGeom>
          <a:noFill/>
          <a:ln w="6350">
            <a:solidFill>
              <a:srgbClr val="E4E8EF"/>
            </a:solidFill>
            <a:prstDash val="solid"/>
          </a:ln>
        </p:spPr>
      </p:sp>
      <p:sp>
        <p:nvSpPr>
          <p:cNvPr id="14" name="Shape 12"/>
          <p:cNvSpPr/>
          <p:nvPr/>
        </p:nvSpPr>
        <p:spPr>
          <a:xfrm>
            <a:off x="7945041" y="4691162"/>
            <a:ext cx="1793280" cy="0"/>
          </a:xfrm>
          <a:prstGeom prst="line">
            <a:avLst/>
          </a:prstGeom>
          <a:noFill/>
          <a:ln w="6350">
            <a:solidFill>
              <a:srgbClr val="E4E8EF"/>
            </a:solidFill>
            <a:prstDash val="solid"/>
          </a:ln>
        </p:spPr>
      </p:sp>
      <p:sp>
        <p:nvSpPr>
          <p:cNvPr id="15" name="Shape 13"/>
          <p:cNvSpPr/>
          <p:nvPr/>
        </p:nvSpPr>
        <p:spPr>
          <a:xfrm>
            <a:off x="9890720" y="4691162"/>
            <a:ext cx="1793180" cy="0"/>
          </a:xfrm>
          <a:prstGeom prst="line">
            <a:avLst/>
          </a:prstGeom>
          <a:noFill/>
          <a:ln w="6350">
            <a:solidFill>
              <a:srgbClr val="E4E8EF"/>
            </a:solidFill>
            <a:prstDash val="solid"/>
          </a:ln>
        </p:spPr>
      </p:sp>
      <p:sp>
        <p:nvSpPr>
          <p:cNvPr id="16" name="Shape 14"/>
          <p:cNvSpPr/>
          <p:nvPr/>
        </p:nvSpPr>
        <p:spPr>
          <a:xfrm>
            <a:off x="508000" y="5428853"/>
            <a:ext cx="11176000" cy="0"/>
          </a:xfrm>
          <a:prstGeom prst="line">
            <a:avLst/>
          </a:prstGeom>
          <a:noFill/>
          <a:ln w="6350">
            <a:solidFill>
              <a:srgbClr val="0053E2"/>
            </a:solidFill>
            <a:prstDash val="solid"/>
          </a:ln>
        </p:spPr>
      </p:sp>
      <p:sp>
        <p:nvSpPr>
          <p:cNvPr id="17" name="Text 15"/>
          <p:cNvSpPr txBox="1"/>
          <p:nvPr/>
        </p:nvSpPr>
        <p:spPr>
          <a:xfrm>
            <a:off x="501650" y="971550"/>
            <a:ext cx="1687909"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STARTING EARLIER IN THE JOURNEY</a:t>
            </a:r>
            <a:endParaRPr lang="en-US" sz="500" dirty="0"/>
          </a:p>
        </p:txBody>
      </p:sp>
      <p:sp>
        <p:nvSpPr>
          <p:cNvPr id="18" name="Text 16"/>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Better outcomes start with making better setup </a:t>
            </a:r>
            <a:pPr algn="l" indent="0" marL="0">
              <a:lnSpc>
                <a:spcPts val="3024"/>
              </a:lnSpc>
              <a:buNone/>
            </a:pPr>
            <a:r>
              <a:rPr lang="en-US" sz="2400" i="1" spc="-72" kern="0" dirty="0">
                <a:solidFill>
                  <a:srgbClr val="0053E2"/>
                </a:solidFill>
                <a:latin typeface="Everyday Sans Light" pitchFamily="34" charset="0"/>
                <a:ea typeface="Everyday Sans Light" pitchFamily="34" charset="-122"/>
                <a:cs typeface="Everyday Sans Light" pitchFamily="34" charset="-120"/>
              </a:rPr>
              <a:t>easier</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19" name="Text 17"/>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We’re reducing the expertise required to translate an advertiser’s intent into a viable campaign.</a:t>
            </a:r>
            <a:endParaRPr lang="en-US" sz="900" dirty="0"/>
          </a:p>
        </p:txBody>
      </p:sp>
      <p:sp>
        <p:nvSpPr>
          <p:cNvPr id="20" name="Text 18"/>
          <p:cNvSpPr txBox="1"/>
          <p:nvPr/>
        </p:nvSpPr>
        <p:spPr>
          <a:xfrm>
            <a:off x="508000" y="2548037"/>
            <a:ext cx="1207008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TODAY · EXAMPLE: SELLER CENTER CAMPAIGN CREATION</a:t>
            </a:r>
            <a:endParaRPr lang="en-US" sz="550" dirty="0"/>
          </a:p>
        </p:txBody>
      </p:sp>
      <p:sp>
        <p:nvSpPr>
          <p:cNvPr id="21" name="Text 19"/>
          <p:cNvSpPr txBox="1"/>
          <p:nvPr/>
        </p:nvSpPr>
        <p:spPr>
          <a:xfrm>
            <a:off x="2250878" y="3030637"/>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8B93A3"/>
                </a:solidFill>
                <a:latin typeface="Everyday Sans UI Medium" pitchFamily="34" charset="0"/>
                <a:ea typeface="Everyday Sans UI Medium" pitchFamily="34" charset="-122"/>
                <a:cs typeface="Everyday Sans UI Medium" pitchFamily="34" charset="-120"/>
              </a:rPr>
              <a:t>→</a:t>
            </a:r>
            <a:endParaRPr lang="en-US" sz="900" dirty="0"/>
          </a:p>
        </p:txBody>
      </p:sp>
      <p:sp>
        <p:nvSpPr>
          <p:cNvPr id="22" name="Text 20"/>
          <p:cNvSpPr txBox="1"/>
          <p:nvPr/>
        </p:nvSpPr>
        <p:spPr>
          <a:xfrm>
            <a:off x="508000" y="3075087"/>
            <a:ext cx="1823641" cy="146050"/>
          </a:xfrm>
          <a:prstGeom prst="rect">
            <a:avLst/>
          </a:prstGeom>
          <a:noFill/>
          <a:ln/>
        </p:spPr>
        <p:txBody>
          <a:bodyPr wrap="square" lIns="0" tIns="0" rIns="0" bIns="0" rtlCol="0" anchor="t"/>
          <a:lstStyle/>
          <a:p>
            <a:pPr algn="l" indent="0" marL="0">
              <a:lnSpc>
                <a:spcPts val="1080"/>
              </a:lnSpc>
              <a:buNone/>
            </a:pPr>
            <a:r>
              <a:rPr lang="en-US" sz="900" dirty="0">
                <a:solidFill>
                  <a:srgbClr val="3D4A63"/>
                </a:solidFill>
                <a:latin typeface="Everyday Sans UI" pitchFamily="34" charset="0"/>
                <a:ea typeface="Everyday Sans UI" pitchFamily="34" charset="-122"/>
                <a:cs typeface="Everyday Sans UI" pitchFamily="34" charset="-120"/>
              </a:rPr>
              <a:t>Seller Center</a:t>
            </a:r>
            <a:endParaRPr lang="en-US" sz="900" dirty="0"/>
          </a:p>
        </p:txBody>
      </p:sp>
      <p:sp>
        <p:nvSpPr>
          <p:cNvPr id="23" name="Text 21"/>
          <p:cNvSpPr txBox="1"/>
          <p:nvPr/>
        </p:nvSpPr>
        <p:spPr>
          <a:xfrm>
            <a:off x="4201614" y="3030637"/>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8B93A3"/>
                </a:solidFill>
                <a:latin typeface="Everyday Sans UI Medium" pitchFamily="34" charset="0"/>
                <a:ea typeface="Everyday Sans UI Medium" pitchFamily="34" charset="-122"/>
                <a:cs typeface="Everyday Sans UI Medium" pitchFamily="34" charset="-120"/>
              </a:rPr>
              <a:t>→</a:t>
            </a:r>
            <a:endParaRPr lang="en-US" sz="900" dirty="0"/>
          </a:p>
        </p:txBody>
      </p:sp>
      <p:sp>
        <p:nvSpPr>
          <p:cNvPr id="24" name="Text 22"/>
          <p:cNvSpPr txBox="1"/>
          <p:nvPr/>
        </p:nvSpPr>
        <p:spPr>
          <a:xfrm>
            <a:off x="2458641" y="3075087"/>
            <a:ext cx="1823740" cy="146050"/>
          </a:xfrm>
          <a:prstGeom prst="rect">
            <a:avLst/>
          </a:prstGeom>
          <a:noFill/>
          <a:ln/>
        </p:spPr>
        <p:txBody>
          <a:bodyPr wrap="square" lIns="0" tIns="0" rIns="0" bIns="0" rtlCol="0" anchor="t"/>
          <a:lstStyle/>
          <a:p>
            <a:pPr algn="l" indent="0" marL="0">
              <a:lnSpc>
                <a:spcPts val="1080"/>
              </a:lnSpc>
              <a:buNone/>
            </a:pPr>
            <a:r>
              <a:rPr lang="en-US" sz="900" dirty="0">
                <a:solidFill>
                  <a:srgbClr val="3D4A63"/>
                </a:solidFill>
                <a:latin typeface="Everyday Sans UI" pitchFamily="34" charset="0"/>
                <a:ea typeface="Everyday Sans UI" pitchFamily="34" charset="-122"/>
                <a:cs typeface="Everyday Sans UI" pitchFamily="34" charset="-120"/>
              </a:rPr>
              <a:t>Leave the seller’s existing context</a:t>
            </a:r>
            <a:endParaRPr lang="en-US" sz="900" dirty="0"/>
          </a:p>
        </p:txBody>
      </p:sp>
      <p:sp>
        <p:nvSpPr>
          <p:cNvPr id="25" name="Text 23"/>
          <p:cNvSpPr txBox="1"/>
          <p:nvPr/>
        </p:nvSpPr>
        <p:spPr>
          <a:xfrm>
            <a:off x="6152354" y="3030637"/>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8B93A3"/>
                </a:solidFill>
                <a:latin typeface="Everyday Sans UI Medium" pitchFamily="34" charset="0"/>
                <a:ea typeface="Everyday Sans UI Medium" pitchFamily="34" charset="-122"/>
                <a:cs typeface="Everyday Sans UI Medium" pitchFamily="34" charset="-120"/>
              </a:rPr>
              <a:t>→</a:t>
            </a:r>
            <a:endParaRPr lang="en-US" sz="900" dirty="0"/>
          </a:p>
        </p:txBody>
      </p:sp>
      <p:sp>
        <p:nvSpPr>
          <p:cNvPr id="26" name="Text 24"/>
          <p:cNvSpPr txBox="1"/>
          <p:nvPr/>
        </p:nvSpPr>
        <p:spPr>
          <a:xfrm>
            <a:off x="4409380" y="3075087"/>
            <a:ext cx="1823740" cy="146050"/>
          </a:xfrm>
          <a:prstGeom prst="rect">
            <a:avLst/>
          </a:prstGeom>
          <a:noFill/>
          <a:ln/>
        </p:spPr>
        <p:txBody>
          <a:bodyPr wrap="square" lIns="0" tIns="0" rIns="0" bIns="0" rtlCol="0" anchor="t"/>
          <a:lstStyle/>
          <a:p>
            <a:pPr algn="l" indent="0" marL="0">
              <a:lnSpc>
                <a:spcPts val="1080"/>
              </a:lnSpc>
              <a:buNone/>
            </a:pPr>
            <a:r>
              <a:rPr lang="en-US" sz="900" dirty="0">
                <a:solidFill>
                  <a:srgbClr val="3D4A63"/>
                </a:solidFill>
                <a:latin typeface="Everyday Sans UI" pitchFamily="34" charset="0"/>
                <a:ea typeface="Everyday Sans UI" pitchFamily="34" charset="-122"/>
                <a:cs typeface="Everyday Sans UI" pitchFamily="34" charset="-120"/>
              </a:rPr>
              <a:t>Enter Ad Center</a:t>
            </a:r>
            <a:endParaRPr lang="en-US" sz="900" dirty="0"/>
          </a:p>
        </p:txBody>
      </p:sp>
      <p:sp>
        <p:nvSpPr>
          <p:cNvPr id="27" name="Text 25"/>
          <p:cNvSpPr txBox="1"/>
          <p:nvPr/>
        </p:nvSpPr>
        <p:spPr>
          <a:xfrm>
            <a:off x="8103094" y="3030637"/>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8B93A3"/>
                </a:solidFill>
                <a:latin typeface="Everyday Sans UI Medium" pitchFamily="34" charset="0"/>
                <a:ea typeface="Everyday Sans UI Medium" pitchFamily="34" charset="-122"/>
                <a:cs typeface="Everyday Sans UI Medium" pitchFamily="34" charset="-120"/>
              </a:rPr>
              <a:t>→</a:t>
            </a:r>
            <a:endParaRPr lang="en-US" sz="900" dirty="0"/>
          </a:p>
        </p:txBody>
      </p:sp>
      <p:sp>
        <p:nvSpPr>
          <p:cNvPr id="28" name="Text 26"/>
          <p:cNvSpPr txBox="1"/>
          <p:nvPr/>
        </p:nvSpPr>
        <p:spPr>
          <a:xfrm>
            <a:off x="6360120" y="3075087"/>
            <a:ext cx="1823740" cy="292100"/>
          </a:xfrm>
          <a:prstGeom prst="rect">
            <a:avLst/>
          </a:prstGeom>
          <a:noFill/>
          <a:ln/>
        </p:spPr>
        <p:txBody>
          <a:bodyPr wrap="square" lIns="0" tIns="0" rIns="0" bIns="0" rtlCol="0" anchor="t"/>
          <a:lstStyle/>
          <a:p>
            <a:pPr algn="l" indent="0" marL="0">
              <a:lnSpc>
                <a:spcPts val="1080"/>
              </a:lnSpc>
              <a:buNone/>
            </a:pPr>
            <a:r>
              <a:rPr lang="en-US" sz="900" dirty="0">
                <a:solidFill>
                  <a:srgbClr val="3D4A63"/>
                </a:solidFill>
                <a:latin typeface="Everyday Sans UI" pitchFamily="34" charset="0"/>
                <a:ea typeface="Everyday Sans UI" pitchFamily="34" charset="-122"/>
                <a:cs typeface="Everyday Sans UI" pitchFamily="34" charset="-120"/>
              </a:rPr>
              <a:t>Navigate an enterprise</a:t>
            </a:r>
            <a:endParaRPr lang="en-US" sz="900" dirty="0"/>
          </a:p>
          <a:p>
            <a:pPr algn="l" indent="0" marL="0">
              <a:lnSpc>
                <a:spcPts val="1080"/>
              </a:lnSpc>
              <a:buNone/>
            </a:pPr>
            <a:r>
              <a:rPr lang="en-US" sz="900" dirty="0">
                <a:solidFill>
                  <a:srgbClr val="3D4A63"/>
                </a:solidFill>
                <a:latin typeface="Everyday Sans UI" pitchFamily="34" charset="0"/>
                <a:ea typeface="Everyday Sans UI" pitchFamily="34" charset="-122"/>
                <a:cs typeface="Everyday Sans UI" pitchFamily="34" charset="-120"/>
              </a:rPr>
              <a:t>advertising workflow</a:t>
            </a:r>
            <a:endParaRPr lang="en-US" sz="900" dirty="0"/>
          </a:p>
        </p:txBody>
      </p:sp>
      <p:sp>
        <p:nvSpPr>
          <p:cNvPr id="29" name="Text 27"/>
          <p:cNvSpPr txBox="1"/>
          <p:nvPr/>
        </p:nvSpPr>
        <p:spPr>
          <a:xfrm>
            <a:off x="8310860" y="3075087"/>
            <a:ext cx="1823740" cy="146050"/>
          </a:xfrm>
          <a:prstGeom prst="rect">
            <a:avLst/>
          </a:prstGeom>
          <a:noFill/>
          <a:ln/>
        </p:spPr>
        <p:txBody>
          <a:bodyPr wrap="square" lIns="0" tIns="0" rIns="0" bIns="0" rtlCol="0" anchor="t"/>
          <a:lstStyle/>
          <a:p>
            <a:pPr algn="l" indent="0" marL="0">
              <a:lnSpc>
                <a:spcPts val="1080"/>
              </a:lnSpc>
              <a:buNone/>
            </a:pPr>
            <a:r>
              <a:rPr lang="en-US" sz="900" dirty="0">
                <a:solidFill>
                  <a:srgbClr val="3D4A63"/>
                </a:solidFill>
                <a:latin typeface="Everyday Sans UI" pitchFamily="34" charset="0"/>
                <a:ea typeface="Everyday Sans UI" pitchFamily="34" charset="-122"/>
                <a:cs typeface="Everyday Sans UI" pitchFamily="34" charset="-120"/>
              </a:rPr>
              <a:t>Configure campaign</a:t>
            </a:r>
            <a:endParaRPr lang="en-US" sz="900" dirty="0"/>
          </a:p>
        </p:txBody>
      </p:sp>
      <p:sp>
        <p:nvSpPr>
          <p:cNvPr id="30" name="Text 28"/>
          <p:cNvSpPr txBox="1"/>
          <p:nvPr/>
        </p:nvSpPr>
        <p:spPr>
          <a:xfrm>
            <a:off x="508000" y="3671987"/>
            <a:ext cx="1207008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FUTURE DIRECTION · NATIVE CAMPAIGN CREATION</a:t>
            </a:r>
            <a:endParaRPr lang="en-US" sz="550" dirty="0"/>
          </a:p>
        </p:txBody>
      </p:sp>
      <p:sp>
        <p:nvSpPr>
          <p:cNvPr id="31" name="Text 29"/>
          <p:cNvSpPr txBox="1"/>
          <p:nvPr/>
        </p:nvSpPr>
        <p:spPr>
          <a:xfrm>
            <a:off x="2569267" y="4154587"/>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0053E2"/>
                </a:solidFill>
                <a:latin typeface="Everyday Sans UI Medium" pitchFamily="34" charset="0"/>
                <a:ea typeface="Everyday Sans UI Medium" pitchFamily="34" charset="-122"/>
                <a:cs typeface="Everyday Sans UI Medium" pitchFamily="34" charset="-120"/>
              </a:rPr>
              <a:t>→</a:t>
            </a:r>
            <a:endParaRPr lang="en-US" sz="900" dirty="0"/>
          </a:p>
        </p:txBody>
      </p:sp>
      <p:sp>
        <p:nvSpPr>
          <p:cNvPr id="32" name="Text 30"/>
          <p:cNvSpPr txBox="1"/>
          <p:nvPr/>
        </p:nvSpPr>
        <p:spPr>
          <a:xfrm>
            <a:off x="508000" y="4199037"/>
            <a:ext cx="2148804" cy="209550"/>
          </a:xfrm>
          <a:prstGeom prst="rect">
            <a:avLst/>
          </a:prstGeom>
          <a:noFill/>
          <a:ln/>
        </p:spPr>
        <p:txBody>
          <a:bodyPr wrap="square" lIns="0" tIns="0" rIns="0" bIns="0" rtlCol="0" anchor="t"/>
          <a:lstStyle/>
          <a:p>
            <a:pPr algn="l" indent="0" marL="0">
              <a:lnSpc>
                <a:spcPts val="1560"/>
              </a:lnSpc>
              <a:buNone/>
            </a:pPr>
            <a:r>
              <a:rPr lang="en-US" sz="1300" spc="-39" kern="0" dirty="0">
                <a:solidFill>
                  <a:srgbClr val="0053E2"/>
                </a:solidFill>
                <a:latin typeface="Everyday Sans Headline Light" pitchFamily="34" charset="0"/>
                <a:ea typeface="Everyday Sans Headline Light" pitchFamily="34" charset="-122"/>
                <a:cs typeface="Everyday Sans Headline Light" pitchFamily="34" charset="-120"/>
              </a:rPr>
              <a:t>Seller intent</a:t>
            </a:r>
            <a:endParaRPr lang="en-US" sz="1300" dirty="0"/>
          </a:p>
        </p:txBody>
      </p:sp>
      <p:sp>
        <p:nvSpPr>
          <p:cNvPr id="33" name="Text 31"/>
          <p:cNvSpPr txBox="1"/>
          <p:nvPr/>
        </p:nvSpPr>
        <p:spPr>
          <a:xfrm>
            <a:off x="4838301" y="4154587"/>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0053E2"/>
                </a:solidFill>
                <a:latin typeface="Everyday Sans UI Medium" pitchFamily="34" charset="0"/>
                <a:ea typeface="Everyday Sans UI Medium" pitchFamily="34" charset="-122"/>
                <a:cs typeface="Everyday Sans UI Medium" pitchFamily="34" charset="-120"/>
              </a:rPr>
              <a:t>→</a:t>
            </a:r>
            <a:endParaRPr lang="en-US" sz="900" dirty="0"/>
          </a:p>
        </p:txBody>
      </p:sp>
      <p:sp>
        <p:nvSpPr>
          <p:cNvPr id="34" name="Text 32"/>
          <p:cNvSpPr txBox="1"/>
          <p:nvPr/>
        </p:nvSpPr>
        <p:spPr>
          <a:xfrm>
            <a:off x="2777034" y="4199037"/>
            <a:ext cx="2148804" cy="209550"/>
          </a:xfrm>
          <a:prstGeom prst="rect">
            <a:avLst/>
          </a:prstGeom>
          <a:noFill/>
          <a:ln/>
        </p:spPr>
        <p:txBody>
          <a:bodyPr wrap="square" lIns="0" tIns="0" rIns="0" bIns="0" rtlCol="0" anchor="t"/>
          <a:lstStyle/>
          <a:p>
            <a:pPr algn="l" indent="0" marL="0">
              <a:lnSpc>
                <a:spcPts val="1560"/>
              </a:lnSpc>
              <a:buNone/>
            </a:pPr>
            <a:r>
              <a:rPr lang="en-US" sz="1300" spc="-39" kern="0" dirty="0">
                <a:solidFill>
                  <a:srgbClr val="0053E2"/>
                </a:solidFill>
                <a:latin typeface="Everyday Sans Headline Light" pitchFamily="34" charset="0"/>
                <a:ea typeface="Everyday Sans Headline Light" pitchFamily="34" charset="-122"/>
                <a:cs typeface="Everyday Sans Headline Light" pitchFamily="34" charset="-120"/>
              </a:rPr>
              <a:t>Native campaign setup</a:t>
            </a:r>
            <a:endParaRPr lang="en-US" sz="1300" dirty="0"/>
          </a:p>
        </p:txBody>
      </p:sp>
      <p:sp>
        <p:nvSpPr>
          <p:cNvPr id="35" name="Text 33"/>
          <p:cNvSpPr txBox="1"/>
          <p:nvPr/>
        </p:nvSpPr>
        <p:spPr>
          <a:xfrm>
            <a:off x="5046067" y="4199037"/>
            <a:ext cx="2148911" cy="209550"/>
          </a:xfrm>
          <a:prstGeom prst="rect">
            <a:avLst/>
          </a:prstGeom>
          <a:noFill/>
          <a:ln/>
        </p:spPr>
        <p:txBody>
          <a:bodyPr wrap="square" lIns="0" tIns="0" rIns="0" bIns="0" rtlCol="0" anchor="t"/>
          <a:lstStyle/>
          <a:p>
            <a:pPr algn="l" indent="0" marL="0">
              <a:lnSpc>
                <a:spcPts val="1560"/>
              </a:lnSpc>
              <a:buNone/>
            </a:pPr>
            <a:r>
              <a:rPr lang="en-US" sz="1300" spc="-39" kern="0" dirty="0">
                <a:solidFill>
                  <a:srgbClr val="0053E2"/>
                </a:solidFill>
                <a:latin typeface="Everyday Sans Headline Light" pitchFamily="34" charset="0"/>
                <a:ea typeface="Everyday Sans Headline Light" pitchFamily="34" charset="-122"/>
                <a:cs typeface="Everyday Sans Headline Light" pitchFamily="34" charset="-120"/>
              </a:rPr>
              <a:t>Launch</a:t>
            </a:r>
            <a:endParaRPr lang="en-US" sz="1300" dirty="0"/>
          </a:p>
        </p:txBody>
      </p:sp>
      <p:sp>
        <p:nvSpPr>
          <p:cNvPr id="36" name="Text 34"/>
          <p:cNvSpPr txBox="1"/>
          <p:nvPr/>
        </p:nvSpPr>
        <p:spPr>
          <a:xfrm>
            <a:off x="508000" y="4764187"/>
            <a:ext cx="154940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WHY IT MATTERS</a:t>
            </a:r>
            <a:endParaRPr lang="en-US" sz="550" dirty="0"/>
          </a:p>
        </p:txBody>
      </p:sp>
      <p:sp>
        <p:nvSpPr>
          <p:cNvPr id="37" name="Text 35"/>
          <p:cNvSpPr txBox="1"/>
          <p:nvPr/>
        </p:nvSpPr>
        <p:spPr>
          <a:xfrm>
            <a:off x="2108200" y="4770537"/>
            <a:ext cx="1945580" cy="426541"/>
          </a:xfrm>
          <a:prstGeom prst="rect">
            <a:avLst/>
          </a:prstGeom>
          <a:noFill/>
          <a:ln/>
        </p:spPr>
        <p:txBody>
          <a:bodyPr wrap="square" lIns="0" tIns="0" rIns="0" bIns="0" rtlCol="0" anchor="t"/>
          <a:lstStyle/>
          <a:p>
            <a:pPr algn="l" indent="0" marL="0">
              <a:lnSpc>
                <a:spcPts val="1120"/>
              </a:lnSpc>
              <a:buNone/>
            </a:pPr>
            <a:r>
              <a:rPr lang="en-US" sz="800" dirty="0">
                <a:solidFill>
                  <a:srgbClr val="001E60"/>
                </a:solidFill>
                <a:latin typeface="Everyday Sans UI" pitchFamily="34" charset="0"/>
                <a:ea typeface="Everyday Sans UI" pitchFamily="34" charset="-122"/>
                <a:cs typeface="Everyday Sans UI" pitchFamily="34" charset="-120"/>
              </a:rPr>
              <a:t>Removes unnecessary platform switching</a:t>
            </a:r>
            <a:endParaRPr lang="en-US" sz="800" dirty="0"/>
          </a:p>
        </p:txBody>
      </p:sp>
      <p:sp>
        <p:nvSpPr>
          <p:cNvPr id="38" name="Text 36"/>
          <p:cNvSpPr txBox="1"/>
          <p:nvPr/>
        </p:nvSpPr>
        <p:spPr>
          <a:xfrm>
            <a:off x="4053780" y="4770537"/>
            <a:ext cx="1945680" cy="426541"/>
          </a:xfrm>
          <a:prstGeom prst="rect">
            <a:avLst/>
          </a:prstGeom>
          <a:noFill/>
          <a:ln/>
        </p:spPr>
        <p:txBody>
          <a:bodyPr wrap="square" lIns="0" tIns="0" rIns="0" bIns="0" rtlCol="0" anchor="t"/>
          <a:lstStyle/>
          <a:p>
            <a:pPr algn="l" indent="0" marL="0">
              <a:lnSpc>
                <a:spcPts val="1120"/>
              </a:lnSpc>
              <a:buNone/>
            </a:pPr>
            <a:r>
              <a:rPr lang="en-US" sz="800" dirty="0">
                <a:solidFill>
                  <a:srgbClr val="001E60"/>
                </a:solidFill>
                <a:latin typeface="Everyday Sans UI" pitchFamily="34" charset="0"/>
                <a:ea typeface="Everyday Sans UI" pitchFamily="34" charset="-122"/>
                <a:cs typeface="Everyday Sans UI" pitchFamily="34" charset="-120"/>
              </a:rPr>
              <a:t>Keeps advertisers in a familiar environment</a:t>
            </a:r>
            <a:endParaRPr lang="en-US" sz="800" dirty="0"/>
          </a:p>
        </p:txBody>
      </p:sp>
      <p:sp>
        <p:nvSpPr>
          <p:cNvPr id="39" name="Text 37"/>
          <p:cNvSpPr txBox="1"/>
          <p:nvPr/>
        </p:nvSpPr>
        <p:spPr>
          <a:xfrm>
            <a:off x="5999460" y="4770537"/>
            <a:ext cx="1945580" cy="426541"/>
          </a:xfrm>
          <a:prstGeom prst="rect">
            <a:avLst/>
          </a:prstGeom>
          <a:noFill/>
          <a:ln/>
        </p:spPr>
        <p:txBody>
          <a:bodyPr wrap="square" lIns="0" tIns="0" rIns="0" bIns="0" rtlCol="0" anchor="t"/>
          <a:lstStyle/>
          <a:p>
            <a:pPr algn="l" indent="0" marL="0">
              <a:lnSpc>
                <a:spcPts val="1120"/>
              </a:lnSpc>
              <a:buNone/>
            </a:pPr>
            <a:r>
              <a:rPr lang="en-US" sz="800" dirty="0">
                <a:solidFill>
                  <a:srgbClr val="001E60"/>
                </a:solidFill>
                <a:latin typeface="Everyday Sans UI" pitchFamily="34" charset="0"/>
                <a:ea typeface="Everyday Sans UI" pitchFamily="34" charset="-122"/>
                <a:cs typeface="Everyday Sans UI" pitchFamily="34" charset="-120"/>
              </a:rPr>
              <a:t>Reduces setup complexity for less-experienced</a:t>
            </a:r>
            <a:endParaRPr lang="en-US" sz="800" dirty="0"/>
          </a:p>
          <a:p>
            <a:pPr algn="l" indent="0" marL="0">
              <a:lnSpc>
                <a:spcPts val="1120"/>
              </a:lnSpc>
              <a:buNone/>
            </a:pPr>
            <a:r>
              <a:rPr lang="en-US" sz="800" dirty="0">
                <a:solidFill>
                  <a:srgbClr val="001E60"/>
                </a:solidFill>
                <a:latin typeface="Everyday Sans UI" pitchFamily="34" charset="0"/>
                <a:ea typeface="Everyday Sans UI" pitchFamily="34" charset="-122"/>
                <a:cs typeface="Everyday Sans UI" pitchFamily="34" charset="-120"/>
              </a:rPr>
              <a:t>advertisers</a:t>
            </a:r>
            <a:endParaRPr lang="en-US" sz="800" dirty="0"/>
          </a:p>
        </p:txBody>
      </p:sp>
      <p:sp>
        <p:nvSpPr>
          <p:cNvPr id="40" name="Text 38"/>
          <p:cNvSpPr txBox="1"/>
          <p:nvPr/>
        </p:nvSpPr>
        <p:spPr>
          <a:xfrm>
            <a:off x="7945041" y="4770537"/>
            <a:ext cx="1945680" cy="426541"/>
          </a:xfrm>
          <a:prstGeom prst="rect">
            <a:avLst/>
          </a:prstGeom>
          <a:noFill/>
          <a:ln/>
        </p:spPr>
        <p:txBody>
          <a:bodyPr wrap="square" lIns="0" tIns="0" rIns="0" bIns="0" rtlCol="0" anchor="t"/>
          <a:lstStyle/>
          <a:p>
            <a:pPr algn="l" indent="0" marL="0">
              <a:lnSpc>
                <a:spcPts val="1120"/>
              </a:lnSpc>
              <a:buNone/>
            </a:pPr>
            <a:r>
              <a:rPr lang="en-US" sz="800" dirty="0">
                <a:solidFill>
                  <a:srgbClr val="001E60"/>
                </a:solidFill>
                <a:latin typeface="Everyday Sans UI" pitchFamily="34" charset="0"/>
                <a:ea typeface="Everyday Sans UI" pitchFamily="34" charset="-122"/>
                <a:cs typeface="Everyday Sans UI" pitchFamily="34" charset="-120"/>
              </a:rPr>
              <a:t>Creates an opportunity for contextual</a:t>
            </a:r>
            <a:endParaRPr lang="en-US" sz="800" dirty="0"/>
          </a:p>
          <a:p>
            <a:pPr algn="l" indent="0" marL="0">
              <a:lnSpc>
                <a:spcPts val="1120"/>
              </a:lnSpc>
              <a:buNone/>
            </a:pPr>
            <a:r>
              <a:rPr lang="en-US" sz="800" dirty="0">
                <a:solidFill>
                  <a:srgbClr val="001E60"/>
                </a:solidFill>
                <a:latin typeface="Everyday Sans UI" pitchFamily="34" charset="0"/>
                <a:ea typeface="Everyday Sans UI" pitchFamily="34" charset="-122"/>
                <a:cs typeface="Everyday Sans UI" pitchFamily="34" charset="-120"/>
              </a:rPr>
              <a:t>guidance at the moment of decision</a:t>
            </a:r>
            <a:endParaRPr lang="en-US" sz="800" dirty="0"/>
          </a:p>
        </p:txBody>
      </p:sp>
      <p:sp>
        <p:nvSpPr>
          <p:cNvPr id="41" name="Text 39"/>
          <p:cNvSpPr txBox="1"/>
          <p:nvPr/>
        </p:nvSpPr>
        <p:spPr>
          <a:xfrm>
            <a:off x="9890720" y="4770537"/>
            <a:ext cx="1945580" cy="426541"/>
          </a:xfrm>
          <a:prstGeom prst="rect">
            <a:avLst/>
          </a:prstGeom>
          <a:noFill/>
          <a:ln/>
        </p:spPr>
        <p:txBody>
          <a:bodyPr wrap="square" lIns="0" tIns="0" rIns="0" bIns="0" rtlCol="0" anchor="t"/>
          <a:lstStyle/>
          <a:p>
            <a:pPr algn="l" indent="0" marL="0">
              <a:lnSpc>
                <a:spcPts val="1120"/>
              </a:lnSpc>
              <a:buNone/>
            </a:pPr>
            <a:r>
              <a:rPr lang="en-US" sz="800" dirty="0">
                <a:solidFill>
                  <a:srgbClr val="001E60"/>
                </a:solidFill>
                <a:latin typeface="Everyday Sans UI" pitchFamily="34" charset="0"/>
                <a:ea typeface="Everyday Sans UI" pitchFamily="34" charset="-122"/>
                <a:cs typeface="Everyday Sans UI" pitchFamily="34" charset="-120"/>
              </a:rPr>
              <a:t>Reduces reliance on advertisers</a:t>
            </a:r>
            <a:endParaRPr lang="en-US" sz="800" dirty="0"/>
          </a:p>
          <a:p>
            <a:pPr algn="l" indent="0" marL="0">
              <a:lnSpc>
                <a:spcPts val="1120"/>
              </a:lnSpc>
              <a:buNone/>
            </a:pPr>
            <a:r>
              <a:rPr lang="en-US" sz="800" dirty="0">
                <a:solidFill>
                  <a:srgbClr val="001E60"/>
                </a:solidFill>
                <a:latin typeface="Everyday Sans UI" pitchFamily="34" charset="0"/>
                <a:ea typeface="Everyday Sans UI" pitchFamily="34" charset="-122"/>
                <a:cs typeface="Everyday Sans UI" pitchFamily="34" charset="-120"/>
              </a:rPr>
              <a:t>understanding our internal</a:t>
            </a:r>
            <a:endParaRPr lang="en-US" sz="800" dirty="0"/>
          </a:p>
          <a:p>
            <a:pPr algn="l" indent="0" marL="0">
              <a:lnSpc>
                <a:spcPts val="1120"/>
              </a:lnSpc>
              <a:buNone/>
            </a:pPr>
            <a:r>
              <a:rPr lang="en-US" sz="800" dirty="0">
                <a:solidFill>
                  <a:srgbClr val="001E60"/>
                </a:solidFill>
                <a:latin typeface="Everyday Sans UI" pitchFamily="34" charset="0"/>
                <a:ea typeface="Everyday Sans UI" pitchFamily="34" charset="-122"/>
                <a:cs typeface="Everyday Sans UI" pitchFamily="34" charset="-120"/>
              </a:rPr>
              <a:t>platform structure</a:t>
            </a:r>
            <a:endParaRPr lang="en-US" sz="800" dirty="0"/>
          </a:p>
        </p:txBody>
      </p:sp>
      <p:sp>
        <p:nvSpPr>
          <p:cNvPr id="42" name="Text 40"/>
          <p:cNvSpPr txBox="1"/>
          <p:nvPr/>
        </p:nvSpPr>
        <p:spPr>
          <a:xfrm>
            <a:off x="508000" y="5647928"/>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THE PRINCIPLE</a:t>
            </a:r>
            <a:endParaRPr lang="en-US" sz="550" dirty="0"/>
          </a:p>
        </p:txBody>
      </p:sp>
      <p:sp>
        <p:nvSpPr>
          <p:cNvPr id="43" name="Text 41"/>
          <p:cNvSpPr txBox="1"/>
          <p:nvPr/>
        </p:nvSpPr>
        <p:spPr>
          <a:xfrm>
            <a:off x="2108200" y="5533628"/>
            <a:ext cx="10341864" cy="22225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This extends beyond Marketplace: don’t make advertisers learn our platform before they can successfully advertise.</a:t>
            </a:r>
            <a:endParaRPr lang="en-US" sz="1400" dirty="0"/>
          </a:p>
        </p:txBody>
      </p:sp>
      <p:pic>
        <p:nvPicPr>
          <p:cNvPr id="44"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45" name="Text 42"/>
          <p:cNvSpPr txBox="1"/>
          <p:nvPr/>
        </p:nvSpPr>
        <p:spPr>
          <a:xfrm>
            <a:off x="711200"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46" name="Text 43"/>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09 / 18</a:t>
            </a:r>
            <a:endParaRPr lang="en-US" sz="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080790" cy="127000"/>
          </a:xfrm>
          <a:prstGeom prst="roundRect">
            <a:avLst>
              <a:gd name="adj" fmla="val 360000"/>
            </a:avLst>
          </a:prstGeom>
          <a:solidFill>
            <a:srgbClr val="D7EEF9"/>
          </a:solidFill>
          <a:ln/>
        </p:spPr>
      </p:sp>
      <p:sp>
        <p:nvSpPr>
          <p:cNvPr id="3" name="Shape 1"/>
          <p:cNvSpPr/>
          <p:nvPr/>
        </p:nvSpPr>
        <p:spPr>
          <a:xfrm>
            <a:off x="508000" y="3138984"/>
            <a:ext cx="4487267" cy="0"/>
          </a:xfrm>
          <a:prstGeom prst="line">
            <a:avLst/>
          </a:prstGeom>
          <a:noFill/>
          <a:ln w="12700">
            <a:solidFill>
              <a:srgbClr val="C3C6CD"/>
            </a:solidFill>
            <a:prstDash val="solid"/>
          </a:ln>
        </p:spPr>
      </p:sp>
      <p:sp>
        <p:nvSpPr>
          <p:cNvPr id="4" name="Shape 2"/>
          <p:cNvSpPr/>
          <p:nvPr/>
        </p:nvSpPr>
        <p:spPr>
          <a:xfrm>
            <a:off x="5401667" y="3138984"/>
            <a:ext cx="6282234" cy="0"/>
          </a:xfrm>
          <a:prstGeom prst="line">
            <a:avLst/>
          </a:prstGeom>
          <a:noFill/>
          <a:ln w="12700">
            <a:solidFill>
              <a:srgbClr val="0053E2"/>
            </a:solidFill>
            <a:prstDash val="solid"/>
          </a:ln>
        </p:spPr>
      </p:sp>
      <p:sp>
        <p:nvSpPr>
          <p:cNvPr id="5" name="Shape 3"/>
          <p:cNvSpPr/>
          <p:nvPr/>
        </p:nvSpPr>
        <p:spPr>
          <a:xfrm>
            <a:off x="1900932" y="4116884"/>
            <a:ext cx="687586" cy="203200"/>
          </a:xfrm>
          <a:prstGeom prst="rect">
            <a:avLst/>
          </a:prstGeom>
          <a:ln w="6350">
            <a:solidFill>
              <a:srgbClr val="E4E8EF"/>
            </a:solidFill>
            <a:prstDash val="solid"/>
          </a:ln>
        </p:spPr>
      </p:sp>
      <p:sp>
        <p:nvSpPr>
          <p:cNvPr id="6" name="Shape 4"/>
          <p:cNvSpPr/>
          <p:nvPr/>
        </p:nvSpPr>
        <p:spPr>
          <a:xfrm>
            <a:off x="2652018" y="4116884"/>
            <a:ext cx="592634" cy="203200"/>
          </a:xfrm>
          <a:prstGeom prst="rect">
            <a:avLst/>
          </a:prstGeom>
          <a:ln w="6350">
            <a:solidFill>
              <a:srgbClr val="E4E8EF"/>
            </a:solidFill>
            <a:prstDash val="solid"/>
          </a:ln>
        </p:spPr>
      </p:sp>
      <p:sp>
        <p:nvSpPr>
          <p:cNvPr id="7" name="Shape 5"/>
          <p:cNvSpPr/>
          <p:nvPr/>
        </p:nvSpPr>
        <p:spPr>
          <a:xfrm>
            <a:off x="3308152" y="4116884"/>
            <a:ext cx="830163" cy="203200"/>
          </a:xfrm>
          <a:prstGeom prst="rect">
            <a:avLst/>
          </a:prstGeom>
          <a:ln w="6350">
            <a:solidFill>
              <a:srgbClr val="E4E8EF"/>
            </a:solidFill>
            <a:prstDash val="solid"/>
          </a:ln>
        </p:spPr>
      </p:sp>
      <p:sp>
        <p:nvSpPr>
          <p:cNvPr id="8" name="Shape 6"/>
          <p:cNvSpPr/>
          <p:nvPr/>
        </p:nvSpPr>
        <p:spPr>
          <a:xfrm>
            <a:off x="4201815" y="4116884"/>
            <a:ext cx="687586" cy="203200"/>
          </a:xfrm>
          <a:prstGeom prst="rect">
            <a:avLst/>
          </a:prstGeom>
          <a:ln w="6350">
            <a:solidFill>
              <a:srgbClr val="E4E8EF"/>
            </a:solidFill>
            <a:prstDash val="solid"/>
          </a:ln>
        </p:spPr>
      </p:sp>
      <p:sp>
        <p:nvSpPr>
          <p:cNvPr id="9" name="Shape 7"/>
          <p:cNvSpPr/>
          <p:nvPr/>
        </p:nvSpPr>
        <p:spPr>
          <a:xfrm>
            <a:off x="4952901" y="4116884"/>
            <a:ext cx="450155" cy="203200"/>
          </a:xfrm>
          <a:prstGeom prst="rect">
            <a:avLst/>
          </a:prstGeom>
          <a:ln w="6350">
            <a:solidFill>
              <a:srgbClr val="E4E8EF"/>
            </a:solidFill>
            <a:prstDash val="solid"/>
          </a:ln>
        </p:spPr>
      </p:sp>
      <p:sp>
        <p:nvSpPr>
          <p:cNvPr id="10" name="Shape 8"/>
          <p:cNvSpPr/>
          <p:nvPr/>
        </p:nvSpPr>
        <p:spPr>
          <a:xfrm>
            <a:off x="5466556" y="4116884"/>
            <a:ext cx="592634" cy="203200"/>
          </a:xfrm>
          <a:prstGeom prst="rect">
            <a:avLst/>
          </a:prstGeom>
          <a:ln w="6350">
            <a:solidFill>
              <a:srgbClr val="E4E8EF"/>
            </a:solidFill>
            <a:prstDash val="solid"/>
          </a:ln>
        </p:spPr>
      </p:sp>
      <p:sp>
        <p:nvSpPr>
          <p:cNvPr id="11" name="Shape 9"/>
          <p:cNvSpPr/>
          <p:nvPr/>
        </p:nvSpPr>
        <p:spPr>
          <a:xfrm>
            <a:off x="6122690" y="4116884"/>
            <a:ext cx="687586" cy="203200"/>
          </a:xfrm>
          <a:prstGeom prst="rect">
            <a:avLst/>
          </a:prstGeom>
          <a:ln w="6350">
            <a:solidFill>
              <a:srgbClr val="E4E8EF"/>
            </a:solidFill>
            <a:prstDash val="solid"/>
          </a:ln>
        </p:spPr>
      </p:sp>
      <p:sp>
        <p:nvSpPr>
          <p:cNvPr id="12" name="Shape 10"/>
          <p:cNvSpPr/>
          <p:nvPr/>
        </p:nvSpPr>
        <p:spPr>
          <a:xfrm>
            <a:off x="6873776" y="4116884"/>
            <a:ext cx="640159" cy="203200"/>
          </a:xfrm>
          <a:prstGeom prst="rect">
            <a:avLst/>
          </a:prstGeom>
          <a:ln w="6350">
            <a:solidFill>
              <a:srgbClr val="E4E8EF"/>
            </a:solidFill>
            <a:prstDash val="solid"/>
          </a:ln>
        </p:spPr>
      </p:sp>
      <p:sp>
        <p:nvSpPr>
          <p:cNvPr id="13" name="Shape 11"/>
          <p:cNvSpPr/>
          <p:nvPr/>
        </p:nvSpPr>
        <p:spPr>
          <a:xfrm>
            <a:off x="7577435" y="4116884"/>
            <a:ext cx="1020068" cy="203200"/>
          </a:xfrm>
          <a:prstGeom prst="rect">
            <a:avLst/>
          </a:prstGeom>
          <a:ln w="6350">
            <a:solidFill>
              <a:srgbClr val="E4E8EF"/>
            </a:solidFill>
            <a:prstDash val="solid"/>
          </a:ln>
        </p:spPr>
      </p:sp>
      <p:sp>
        <p:nvSpPr>
          <p:cNvPr id="14" name="Shape 12"/>
          <p:cNvSpPr/>
          <p:nvPr/>
        </p:nvSpPr>
        <p:spPr>
          <a:xfrm>
            <a:off x="508000" y="4551859"/>
            <a:ext cx="11176000" cy="0"/>
          </a:xfrm>
          <a:prstGeom prst="line">
            <a:avLst/>
          </a:prstGeom>
          <a:noFill/>
          <a:ln w="6350">
            <a:solidFill>
              <a:srgbClr val="0053E2"/>
            </a:solidFill>
            <a:prstDash val="solid"/>
          </a:ln>
        </p:spPr>
      </p:sp>
      <p:sp>
        <p:nvSpPr>
          <p:cNvPr id="15" name="Text 13"/>
          <p:cNvSpPr txBox="1"/>
          <p:nvPr/>
        </p:nvSpPr>
        <p:spPr>
          <a:xfrm>
            <a:off x="501650" y="971550"/>
            <a:ext cx="109349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GUIDANCE, NOT NOISE</a:t>
            </a:r>
            <a:endParaRPr lang="en-US" sz="500" dirty="0"/>
          </a:p>
        </p:txBody>
      </p:sp>
      <p:sp>
        <p:nvSpPr>
          <p:cNvPr id="16" name="Text 14"/>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Recommendations only help when advertisers can </a:t>
            </a:r>
            <a:pPr algn="l" indent="0" marL="0">
              <a:lnSpc>
                <a:spcPts val="3024"/>
              </a:lnSpc>
              <a:buNone/>
            </a:pPr>
            <a:r>
              <a:rPr lang="en-US" sz="2400" i="1" spc="-72" kern="0" dirty="0">
                <a:solidFill>
                  <a:srgbClr val="0053E2"/>
                </a:solidFill>
                <a:latin typeface="Everyday Sans Light" pitchFamily="34" charset="0"/>
                <a:ea typeface="Everyday Sans Light" pitchFamily="34" charset="-122"/>
                <a:cs typeface="Everyday Sans Light" pitchFamily="34" charset="-120"/>
              </a:rPr>
              <a:t>trust</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 them.</a:t>
            </a:r>
            <a:endParaRPr lang="en-US" sz="2400" dirty="0"/>
          </a:p>
        </p:txBody>
      </p:sp>
      <p:sp>
        <p:nvSpPr>
          <p:cNvPr id="17" name="Text 15"/>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Guidance should reduce decision complexity. When relevance, context or expected value is unclear, it can create more complexity instead.</a:t>
            </a:r>
            <a:endParaRPr lang="en-US" sz="900" dirty="0"/>
          </a:p>
        </p:txBody>
      </p:sp>
      <p:sp>
        <p:nvSpPr>
          <p:cNvPr id="18" name="Text 16"/>
          <p:cNvSpPr txBox="1"/>
          <p:nvPr/>
        </p:nvSpPr>
        <p:spPr>
          <a:xfrm>
            <a:off x="508000" y="3246934"/>
            <a:ext cx="4846249"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3D4A63"/>
                </a:solidFill>
                <a:latin typeface="Everyday Sans Mono" pitchFamily="34" charset="0"/>
                <a:ea typeface="Everyday Sans Mono" pitchFamily="34" charset="-122"/>
                <a:cs typeface="Everyday Sans Mono" pitchFamily="34" charset="-120"/>
              </a:rPr>
              <a:t>HISTORICAL ASSUMPTION</a:t>
            </a:r>
            <a:endParaRPr lang="en-US" sz="550" dirty="0"/>
          </a:p>
        </p:txBody>
      </p:sp>
      <p:sp>
        <p:nvSpPr>
          <p:cNvPr id="19" name="Text 17"/>
          <p:cNvSpPr txBox="1"/>
          <p:nvPr/>
        </p:nvSpPr>
        <p:spPr>
          <a:xfrm>
            <a:off x="508000" y="3412034"/>
            <a:ext cx="4846249" cy="476250"/>
          </a:xfrm>
          <a:prstGeom prst="rect">
            <a:avLst/>
          </a:prstGeom>
          <a:noFill/>
          <a:ln/>
        </p:spPr>
        <p:txBody>
          <a:bodyPr wrap="square" lIns="0" tIns="0" rIns="0" bIns="0" rtlCol="0" anchor="t"/>
          <a:lstStyle/>
          <a:p>
            <a:pPr algn="l" indent="0" marL="0">
              <a:lnSpc>
                <a:spcPts val="1875"/>
              </a:lnSpc>
              <a:buNone/>
            </a:pPr>
            <a:r>
              <a:rPr lang="en-US" sz="1500" spc="-30" kern="0" dirty="0">
                <a:solidFill>
                  <a:srgbClr val="3D4A63"/>
                </a:solidFill>
                <a:latin typeface="Everyday Sans Headline Light" pitchFamily="34" charset="0"/>
                <a:ea typeface="Everyday Sans Headline Light" pitchFamily="34" charset="-122"/>
                <a:cs typeface="Everyday Sans Headline Light" pitchFamily="34" charset="-120"/>
              </a:rPr>
              <a:t>More recommendations = more optimization</a:t>
            </a:r>
            <a:endParaRPr lang="en-US" sz="1500" dirty="0"/>
          </a:p>
          <a:p>
            <a:pPr algn="l" indent="0" marL="0">
              <a:lnSpc>
                <a:spcPts val="1875"/>
              </a:lnSpc>
              <a:buNone/>
            </a:pPr>
            <a:r>
              <a:rPr lang="en-US" sz="1500" spc="-30" kern="0" dirty="0">
                <a:solidFill>
                  <a:srgbClr val="3D4A63"/>
                </a:solidFill>
                <a:latin typeface="Everyday Sans Headline Light" pitchFamily="34" charset="0"/>
                <a:ea typeface="Everyday Sans Headline Light" pitchFamily="34" charset="-122"/>
                <a:cs typeface="Everyday Sans Headline Light" pitchFamily="34" charset="-120"/>
              </a:rPr>
              <a:t>opportunity.</a:t>
            </a:r>
            <a:endParaRPr lang="en-US" sz="1500" dirty="0"/>
          </a:p>
        </p:txBody>
      </p:sp>
      <p:sp>
        <p:nvSpPr>
          <p:cNvPr id="20" name="Text 18"/>
          <p:cNvSpPr txBox="1"/>
          <p:nvPr/>
        </p:nvSpPr>
        <p:spPr>
          <a:xfrm>
            <a:off x="5401667" y="3246934"/>
            <a:ext cx="6784812"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WHAT WE’RE LEARNING</a:t>
            </a:r>
            <a:endParaRPr lang="en-US" sz="550" dirty="0"/>
          </a:p>
        </p:txBody>
      </p:sp>
      <p:sp>
        <p:nvSpPr>
          <p:cNvPr id="21" name="Text 19"/>
          <p:cNvSpPr txBox="1"/>
          <p:nvPr/>
        </p:nvSpPr>
        <p:spPr>
          <a:xfrm>
            <a:off x="5401667" y="3412034"/>
            <a:ext cx="6784812" cy="476250"/>
          </a:xfrm>
          <a:prstGeom prst="rect">
            <a:avLst/>
          </a:prstGeom>
          <a:noFill/>
          <a:ln/>
        </p:spPr>
        <p:txBody>
          <a:bodyPr wrap="square" lIns="0" tIns="0" rIns="0" bIns="0" rtlCol="0" anchor="t"/>
          <a:lstStyle/>
          <a:p>
            <a:pPr algn="l" indent="0" marL="0">
              <a:lnSpc>
                <a:spcPts val="1875"/>
              </a:lnSpc>
              <a:buNone/>
            </a:pPr>
            <a:r>
              <a:rPr lang="en-US" sz="1500" spc="-30" kern="0" dirty="0">
                <a:solidFill>
                  <a:srgbClr val="001E60"/>
                </a:solidFill>
                <a:latin typeface="Everyday Sans Headline Light" pitchFamily="34" charset="0"/>
                <a:ea typeface="Everyday Sans Headline Light" pitchFamily="34" charset="-122"/>
                <a:cs typeface="Everyday Sans Headline Light" pitchFamily="34" charset="-120"/>
              </a:rPr>
              <a:t>A recommendation without sufficient relevance, context or credibility can</a:t>
            </a:r>
            <a:endParaRPr lang="en-US" sz="1500" dirty="0"/>
          </a:p>
          <a:p>
            <a:pPr algn="l" indent="0" marL="0">
              <a:lnSpc>
                <a:spcPts val="1875"/>
              </a:lnSpc>
              <a:buNone/>
            </a:pPr>
            <a:r>
              <a:rPr lang="en-US" sz="1500" spc="-30" kern="0" dirty="0">
                <a:solidFill>
                  <a:srgbClr val="001E60"/>
                </a:solidFill>
                <a:latin typeface="Everyday Sans Headline Light" pitchFamily="34" charset="0"/>
                <a:ea typeface="Everyday Sans Headline Light" pitchFamily="34" charset="-122"/>
                <a:cs typeface="Everyday Sans Headline Light" pitchFamily="34" charset="-120"/>
              </a:rPr>
              <a:t>make the advertiser’s decision harder rather than easier.</a:t>
            </a:r>
            <a:endParaRPr lang="en-US" sz="1500" dirty="0"/>
          </a:p>
        </p:txBody>
      </p:sp>
      <p:sp>
        <p:nvSpPr>
          <p:cNvPr id="22" name="Text 20"/>
          <p:cNvSpPr txBox="1"/>
          <p:nvPr/>
        </p:nvSpPr>
        <p:spPr>
          <a:xfrm>
            <a:off x="508000" y="4174034"/>
            <a:ext cx="1392932"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ADDING MORE RIGOR AROUND</a:t>
            </a:r>
            <a:endParaRPr lang="en-US" sz="550" dirty="0"/>
          </a:p>
        </p:txBody>
      </p:sp>
      <p:sp>
        <p:nvSpPr>
          <p:cNvPr id="23" name="Text 21"/>
          <p:cNvSpPr txBox="1"/>
          <p:nvPr/>
        </p:nvSpPr>
        <p:spPr>
          <a:xfrm>
            <a:off x="1983482" y="4174034"/>
            <a:ext cx="674886"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ELIGIBILITY</a:t>
            </a:r>
            <a:endParaRPr lang="en-US" sz="550" dirty="0"/>
          </a:p>
        </p:txBody>
      </p:sp>
      <p:sp>
        <p:nvSpPr>
          <p:cNvPr id="24" name="Text 22"/>
          <p:cNvSpPr txBox="1"/>
          <p:nvPr/>
        </p:nvSpPr>
        <p:spPr>
          <a:xfrm>
            <a:off x="2734568" y="4174034"/>
            <a:ext cx="579934"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RELEVANCE</a:t>
            </a:r>
            <a:endParaRPr lang="en-US" sz="550" dirty="0"/>
          </a:p>
        </p:txBody>
      </p:sp>
      <p:sp>
        <p:nvSpPr>
          <p:cNvPr id="25" name="Text 23"/>
          <p:cNvSpPr txBox="1"/>
          <p:nvPr/>
        </p:nvSpPr>
        <p:spPr>
          <a:xfrm>
            <a:off x="3390702" y="4174034"/>
            <a:ext cx="817463"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EXPECTED VALUE</a:t>
            </a:r>
            <a:endParaRPr lang="en-US" sz="550" dirty="0"/>
          </a:p>
        </p:txBody>
      </p:sp>
      <p:sp>
        <p:nvSpPr>
          <p:cNvPr id="26" name="Text 24"/>
          <p:cNvSpPr txBox="1"/>
          <p:nvPr/>
        </p:nvSpPr>
        <p:spPr>
          <a:xfrm>
            <a:off x="4284365" y="4174034"/>
            <a:ext cx="674886"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EXPLANATION</a:t>
            </a:r>
            <a:endParaRPr lang="en-US" sz="550" dirty="0"/>
          </a:p>
        </p:txBody>
      </p:sp>
      <p:sp>
        <p:nvSpPr>
          <p:cNvPr id="27" name="Text 25"/>
          <p:cNvSpPr txBox="1"/>
          <p:nvPr/>
        </p:nvSpPr>
        <p:spPr>
          <a:xfrm>
            <a:off x="5035451" y="4174034"/>
            <a:ext cx="437455"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TIMING</a:t>
            </a:r>
            <a:endParaRPr lang="en-US" sz="550" dirty="0"/>
          </a:p>
        </p:txBody>
      </p:sp>
      <p:sp>
        <p:nvSpPr>
          <p:cNvPr id="28" name="Text 26"/>
          <p:cNvSpPr txBox="1"/>
          <p:nvPr/>
        </p:nvSpPr>
        <p:spPr>
          <a:xfrm>
            <a:off x="5549106" y="4174034"/>
            <a:ext cx="579934"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CONFLICTS</a:t>
            </a:r>
            <a:endParaRPr lang="en-US" sz="550" dirty="0"/>
          </a:p>
        </p:txBody>
      </p:sp>
      <p:sp>
        <p:nvSpPr>
          <p:cNvPr id="29" name="Text 27"/>
          <p:cNvSpPr txBox="1"/>
          <p:nvPr/>
        </p:nvSpPr>
        <p:spPr>
          <a:xfrm>
            <a:off x="6205240" y="4174034"/>
            <a:ext cx="674886"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SUPPRESSION</a:t>
            </a:r>
            <a:endParaRPr lang="en-US" sz="550" dirty="0"/>
          </a:p>
        </p:txBody>
      </p:sp>
      <p:sp>
        <p:nvSpPr>
          <p:cNvPr id="30" name="Text 28"/>
          <p:cNvSpPr txBox="1"/>
          <p:nvPr/>
        </p:nvSpPr>
        <p:spPr>
          <a:xfrm>
            <a:off x="6956326" y="4174034"/>
            <a:ext cx="627459"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ACCEPTANCE</a:t>
            </a:r>
            <a:endParaRPr lang="en-US" sz="550" dirty="0"/>
          </a:p>
        </p:txBody>
      </p:sp>
      <p:sp>
        <p:nvSpPr>
          <p:cNvPr id="31" name="Text 29"/>
          <p:cNvSpPr txBox="1"/>
          <p:nvPr/>
        </p:nvSpPr>
        <p:spPr>
          <a:xfrm>
            <a:off x="7659985" y="4174034"/>
            <a:ext cx="1007368"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DOWNSTREAM OUTCOME</a:t>
            </a:r>
            <a:endParaRPr lang="en-US" sz="550" dirty="0"/>
          </a:p>
        </p:txBody>
      </p:sp>
      <p:sp>
        <p:nvSpPr>
          <p:cNvPr id="32" name="Text 30"/>
          <p:cNvSpPr txBox="1"/>
          <p:nvPr/>
        </p:nvSpPr>
        <p:spPr>
          <a:xfrm>
            <a:off x="508000" y="4770934"/>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THE GOAL</a:t>
            </a:r>
            <a:endParaRPr lang="en-US" sz="550" dirty="0"/>
          </a:p>
        </p:txBody>
      </p:sp>
      <p:sp>
        <p:nvSpPr>
          <p:cNvPr id="33" name="Text 31"/>
          <p:cNvSpPr txBox="1"/>
          <p:nvPr/>
        </p:nvSpPr>
        <p:spPr>
          <a:xfrm>
            <a:off x="2108200" y="4656634"/>
            <a:ext cx="10341864" cy="22225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The goal isn’t recommendation volume. It’s better advertiser decisions.</a:t>
            </a:r>
            <a:endParaRPr lang="en-US" sz="1400" dirty="0"/>
          </a:p>
        </p:txBody>
      </p:sp>
      <p:pic>
        <p:nvPicPr>
          <p:cNvPr id="34"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35" name="Text 32"/>
          <p:cNvSpPr txBox="1"/>
          <p:nvPr/>
        </p:nvSpPr>
        <p:spPr>
          <a:xfrm>
            <a:off x="711200"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36" name="Text 33"/>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10 / 18</a:t>
            </a:r>
            <a:endParaRPr lang="en-US" sz="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625600" cy="127000"/>
          </a:xfrm>
          <a:prstGeom prst="roundRect">
            <a:avLst>
              <a:gd name="adj" fmla="val 360000"/>
            </a:avLst>
          </a:prstGeom>
          <a:solidFill>
            <a:srgbClr val="D7EEF9"/>
          </a:solidFill>
          <a:ln/>
        </p:spPr>
      </p:sp>
      <p:sp>
        <p:nvSpPr>
          <p:cNvPr id="3" name="Shape 1"/>
          <p:cNvSpPr/>
          <p:nvPr/>
        </p:nvSpPr>
        <p:spPr>
          <a:xfrm>
            <a:off x="508000" y="2790825"/>
            <a:ext cx="5641181" cy="0"/>
          </a:xfrm>
          <a:prstGeom prst="line">
            <a:avLst/>
          </a:prstGeom>
          <a:noFill/>
          <a:ln w="6350">
            <a:solidFill>
              <a:srgbClr val="0053E2"/>
            </a:solidFill>
            <a:prstDash val="solid"/>
          </a:ln>
        </p:spPr>
      </p:sp>
      <p:sp>
        <p:nvSpPr>
          <p:cNvPr id="4" name="Shape 2"/>
          <p:cNvSpPr/>
          <p:nvPr/>
        </p:nvSpPr>
        <p:spPr>
          <a:xfrm>
            <a:off x="508000" y="3984228"/>
            <a:ext cx="1334095" cy="0"/>
          </a:xfrm>
          <a:prstGeom prst="line">
            <a:avLst/>
          </a:prstGeom>
          <a:noFill/>
          <a:ln w="6350">
            <a:solidFill>
              <a:srgbClr val="0053E2"/>
            </a:solidFill>
            <a:prstDash val="solid"/>
          </a:ln>
        </p:spPr>
      </p:sp>
      <p:sp>
        <p:nvSpPr>
          <p:cNvPr id="5" name="Shape 3"/>
          <p:cNvSpPr/>
          <p:nvPr/>
        </p:nvSpPr>
        <p:spPr>
          <a:xfrm>
            <a:off x="1943695" y="3984228"/>
            <a:ext cx="1334095" cy="0"/>
          </a:xfrm>
          <a:prstGeom prst="line">
            <a:avLst/>
          </a:prstGeom>
          <a:noFill/>
          <a:ln w="6350">
            <a:solidFill>
              <a:srgbClr val="0053E2"/>
            </a:solidFill>
            <a:prstDash val="solid"/>
          </a:ln>
        </p:spPr>
      </p:sp>
      <p:sp>
        <p:nvSpPr>
          <p:cNvPr id="6" name="Shape 4"/>
          <p:cNvSpPr/>
          <p:nvPr/>
        </p:nvSpPr>
        <p:spPr>
          <a:xfrm>
            <a:off x="3379391" y="3984228"/>
            <a:ext cx="1334095" cy="0"/>
          </a:xfrm>
          <a:prstGeom prst="line">
            <a:avLst/>
          </a:prstGeom>
          <a:noFill/>
          <a:ln w="6350">
            <a:solidFill>
              <a:srgbClr val="0053E2"/>
            </a:solidFill>
            <a:prstDash val="solid"/>
          </a:ln>
        </p:spPr>
      </p:sp>
      <p:sp>
        <p:nvSpPr>
          <p:cNvPr id="7" name="Shape 5"/>
          <p:cNvSpPr/>
          <p:nvPr/>
        </p:nvSpPr>
        <p:spPr>
          <a:xfrm>
            <a:off x="4815086" y="3984228"/>
            <a:ext cx="1334095" cy="0"/>
          </a:xfrm>
          <a:prstGeom prst="line">
            <a:avLst/>
          </a:prstGeom>
          <a:noFill/>
          <a:ln w="6350">
            <a:solidFill>
              <a:srgbClr val="0053E2"/>
            </a:solidFill>
            <a:prstDash val="solid"/>
          </a:ln>
        </p:spPr>
      </p:sp>
      <p:sp>
        <p:nvSpPr>
          <p:cNvPr id="8" name="Shape 6"/>
          <p:cNvSpPr/>
          <p:nvPr/>
        </p:nvSpPr>
        <p:spPr>
          <a:xfrm>
            <a:off x="6555581" y="2790825"/>
            <a:ext cx="5128419" cy="0"/>
          </a:xfrm>
          <a:prstGeom prst="line">
            <a:avLst/>
          </a:prstGeom>
          <a:noFill/>
          <a:ln w="6350">
            <a:solidFill>
              <a:srgbClr val="0053E2"/>
            </a:solidFill>
            <a:prstDash val="solid"/>
          </a:ln>
        </p:spPr>
      </p:sp>
      <p:sp>
        <p:nvSpPr>
          <p:cNvPr id="9" name="Shape 7"/>
          <p:cNvSpPr/>
          <p:nvPr/>
        </p:nvSpPr>
        <p:spPr>
          <a:xfrm>
            <a:off x="6555581" y="3296543"/>
            <a:ext cx="5128419" cy="0"/>
          </a:xfrm>
          <a:prstGeom prst="line">
            <a:avLst/>
          </a:prstGeom>
          <a:noFill/>
          <a:ln w="6350">
            <a:solidFill>
              <a:srgbClr val="E4E8EF"/>
            </a:solidFill>
            <a:prstDash val="solid"/>
          </a:ln>
        </p:spPr>
      </p:sp>
      <p:sp>
        <p:nvSpPr>
          <p:cNvPr id="10" name="Shape 8"/>
          <p:cNvSpPr/>
          <p:nvPr/>
        </p:nvSpPr>
        <p:spPr>
          <a:xfrm>
            <a:off x="6555581" y="3605411"/>
            <a:ext cx="5128419" cy="0"/>
          </a:xfrm>
          <a:prstGeom prst="line">
            <a:avLst/>
          </a:prstGeom>
          <a:noFill/>
          <a:ln w="6350">
            <a:solidFill>
              <a:srgbClr val="E4E8EF"/>
            </a:solidFill>
            <a:prstDash val="solid"/>
          </a:ln>
        </p:spPr>
      </p:sp>
      <p:sp>
        <p:nvSpPr>
          <p:cNvPr id="11" name="Shape 9"/>
          <p:cNvSpPr/>
          <p:nvPr/>
        </p:nvSpPr>
        <p:spPr>
          <a:xfrm>
            <a:off x="6555581" y="3914279"/>
            <a:ext cx="5128419" cy="0"/>
          </a:xfrm>
          <a:prstGeom prst="line">
            <a:avLst/>
          </a:prstGeom>
          <a:noFill/>
          <a:ln w="6350">
            <a:solidFill>
              <a:srgbClr val="E4E8EF"/>
            </a:solidFill>
            <a:prstDash val="solid"/>
          </a:ln>
        </p:spPr>
      </p:sp>
      <p:sp>
        <p:nvSpPr>
          <p:cNvPr id="12" name="Shape 10"/>
          <p:cNvSpPr/>
          <p:nvPr/>
        </p:nvSpPr>
        <p:spPr>
          <a:xfrm>
            <a:off x="6555581" y="4223147"/>
            <a:ext cx="5128419" cy="0"/>
          </a:xfrm>
          <a:prstGeom prst="line">
            <a:avLst/>
          </a:prstGeom>
          <a:noFill/>
          <a:ln w="6350">
            <a:solidFill>
              <a:srgbClr val="E4E8EF"/>
            </a:solidFill>
            <a:prstDash val="solid"/>
          </a:ln>
        </p:spPr>
      </p:sp>
      <p:sp>
        <p:nvSpPr>
          <p:cNvPr id="13" name="Shape 11"/>
          <p:cNvSpPr/>
          <p:nvPr/>
        </p:nvSpPr>
        <p:spPr>
          <a:xfrm>
            <a:off x="6555581" y="4532015"/>
            <a:ext cx="5128419" cy="0"/>
          </a:xfrm>
          <a:prstGeom prst="line">
            <a:avLst/>
          </a:prstGeom>
          <a:noFill/>
          <a:ln w="6350">
            <a:solidFill>
              <a:srgbClr val="E4E8EF"/>
            </a:solidFill>
            <a:prstDash val="solid"/>
          </a:ln>
        </p:spPr>
      </p:sp>
      <p:sp>
        <p:nvSpPr>
          <p:cNvPr id="14" name="Shape 12"/>
          <p:cNvSpPr/>
          <p:nvPr/>
        </p:nvSpPr>
        <p:spPr>
          <a:xfrm>
            <a:off x="508000" y="5069483"/>
            <a:ext cx="11176000" cy="0"/>
          </a:xfrm>
          <a:prstGeom prst="line">
            <a:avLst/>
          </a:prstGeom>
          <a:noFill/>
          <a:ln w="6350">
            <a:solidFill>
              <a:srgbClr val="0053E2"/>
            </a:solidFill>
            <a:prstDash val="solid"/>
          </a:ln>
        </p:spPr>
      </p:sp>
      <p:sp>
        <p:nvSpPr>
          <p:cNvPr id="15" name="Text 13"/>
          <p:cNvSpPr txBox="1"/>
          <p:nvPr/>
        </p:nvSpPr>
        <p:spPr>
          <a:xfrm>
            <a:off x="501650" y="971550"/>
            <a:ext cx="163830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SIMPLIFYING CAMPAIGN DECISIONS</a:t>
            </a:r>
            <a:endParaRPr lang="en-US" sz="500" dirty="0"/>
          </a:p>
        </p:txBody>
      </p:sp>
      <p:sp>
        <p:nvSpPr>
          <p:cNvPr id="16" name="Text 14"/>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We’re testing whether intent can replace some of the </a:t>
            </a:r>
            <a:pPr algn="l" indent="0" marL="0">
              <a:lnSpc>
                <a:spcPts val="3024"/>
              </a:lnSpc>
              <a:buNone/>
            </a:pPr>
            <a:r>
              <a:rPr lang="en-US" sz="2400" i="1" spc="-72" kern="0" dirty="0">
                <a:solidFill>
                  <a:srgbClr val="0053E2"/>
                </a:solidFill>
                <a:latin typeface="Everyday Sans Light" pitchFamily="34" charset="0"/>
                <a:ea typeface="Everyday Sans Light" pitchFamily="34" charset="-122"/>
                <a:cs typeface="Everyday Sans Light" pitchFamily="34" charset="-120"/>
              </a:rPr>
              <a:t>complexity</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17" name="Text 15"/>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Goal-Based Buying is one approach we’re testing to determine whether starting with advertiser intent can simplify setup and improve campaign configuration.</a:t>
            </a:r>
            <a:endParaRPr lang="en-US" sz="900" dirty="0"/>
          </a:p>
        </p:txBody>
      </p:sp>
      <p:sp>
        <p:nvSpPr>
          <p:cNvPr id="18" name="Text 16"/>
          <p:cNvSpPr txBox="1"/>
          <p:nvPr/>
        </p:nvSpPr>
        <p:spPr>
          <a:xfrm>
            <a:off x="508000" y="2895600"/>
            <a:ext cx="6092476"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CORE QUESTION</a:t>
            </a:r>
            <a:endParaRPr lang="en-US" sz="550" dirty="0"/>
          </a:p>
        </p:txBody>
      </p:sp>
      <p:sp>
        <p:nvSpPr>
          <p:cNvPr id="19" name="Text 17"/>
          <p:cNvSpPr txBox="1"/>
          <p:nvPr/>
        </p:nvSpPr>
        <p:spPr>
          <a:xfrm>
            <a:off x="508000" y="3060700"/>
            <a:ext cx="6092476" cy="526653"/>
          </a:xfrm>
          <a:prstGeom prst="rect">
            <a:avLst/>
          </a:prstGeom>
          <a:noFill/>
          <a:ln/>
        </p:spPr>
        <p:txBody>
          <a:bodyPr wrap="square" lIns="0" tIns="0" rIns="0" bIns="0" rtlCol="0" anchor="t"/>
          <a:lstStyle/>
          <a:p>
            <a:pPr algn="l" indent="0" marL="0">
              <a:lnSpc>
                <a:spcPts val="2074"/>
              </a:lnSpc>
              <a:buNone/>
            </a:pPr>
            <a:r>
              <a:rPr lang="en-US" sz="1700" spc="-51" kern="0" dirty="0">
                <a:solidFill>
                  <a:srgbClr val="001E60"/>
                </a:solidFill>
                <a:latin typeface="Everyday Sans Headline Light" pitchFamily="34" charset="0"/>
                <a:ea typeface="Everyday Sans Headline Light" pitchFamily="34" charset="-122"/>
                <a:cs typeface="Everyday Sans Headline Light" pitchFamily="34" charset="-120"/>
              </a:rPr>
              <a:t>Can we start with what an advertiser is trying to accomplish</a:t>
            </a:r>
            <a:endParaRPr lang="en-US" sz="1700" dirty="0"/>
          </a:p>
          <a:p>
            <a:pPr algn="l" indent="0" marL="0">
              <a:lnSpc>
                <a:spcPts val="2074"/>
              </a:lnSpc>
              <a:buNone/>
            </a:pPr>
            <a:r>
              <a:rPr lang="en-US" sz="1700" spc="-51" kern="0" dirty="0">
                <a:solidFill>
                  <a:srgbClr val="001E60"/>
                </a:solidFill>
                <a:latin typeface="Everyday Sans Headline Light" pitchFamily="34" charset="0"/>
                <a:ea typeface="Everyday Sans Headline Light" pitchFamily="34" charset="-122"/>
                <a:cs typeface="Everyday Sans Headline Light" pitchFamily="34" charset="-120"/>
              </a:rPr>
              <a:t>and simplify the decisions required to get there?</a:t>
            </a:r>
            <a:endParaRPr lang="en-US" sz="1700" dirty="0"/>
          </a:p>
        </p:txBody>
      </p:sp>
      <p:sp>
        <p:nvSpPr>
          <p:cNvPr id="20" name="Text 18"/>
          <p:cNvSpPr txBox="1"/>
          <p:nvPr/>
        </p:nvSpPr>
        <p:spPr>
          <a:xfrm>
            <a:off x="508000" y="3815953"/>
            <a:ext cx="6092476"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APPROACH</a:t>
            </a:r>
            <a:endParaRPr lang="en-US" sz="550" dirty="0"/>
          </a:p>
        </p:txBody>
      </p:sp>
      <p:sp>
        <p:nvSpPr>
          <p:cNvPr id="21" name="Text 19"/>
          <p:cNvSpPr txBox="1"/>
          <p:nvPr/>
        </p:nvSpPr>
        <p:spPr>
          <a:xfrm>
            <a:off x="1735931" y="4031853"/>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0053E2"/>
                </a:solidFill>
                <a:latin typeface="Everyday Sans UI Medium" pitchFamily="34" charset="0"/>
                <a:ea typeface="Everyday Sans UI Medium" pitchFamily="34" charset="-122"/>
                <a:cs typeface="Everyday Sans UI Medium" pitchFamily="34" charset="-120"/>
              </a:rPr>
              <a:t>→</a:t>
            </a:r>
            <a:endParaRPr lang="en-US" sz="900" dirty="0"/>
          </a:p>
        </p:txBody>
      </p:sp>
      <p:sp>
        <p:nvSpPr>
          <p:cNvPr id="22" name="Text 20"/>
          <p:cNvSpPr txBox="1"/>
          <p:nvPr/>
        </p:nvSpPr>
        <p:spPr>
          <a:xfrm>
            <a:off x="508000" y="4076303"/>
            <a:ext cx="1308695" cy="190500"/>
          </a:xfrm>
          <a:prstGeom prst="rect">
            <a:avLst/>
          </a:prstGeom>
          <a:noFill/>
          <a:ln/>
        </p:spPr>
        <p:txBody>
          <a:bodyPr wrap="square" lIns="0" tIns="0" rIns="0" bIns="0" rtlCol="0" anchor="t"/>
          <a:lstStyle/>
          <a:p>
            <a:pPr algn="l" indent="0" marL="0">
              <a:lnSpc>
                <a:spcPts val="1440"/>
              </a:lnSpc>
              <a:buNone/>
            </a:pPr>
            <a:r>
              <a:rPr lang="en-US" sz="1200" dirty="0">
                <a:solidFill>
                  <a:srgbClr val="0053E2"/>
                </a:solidFill>
                <a:latin typeface="Everyday Sans Headline Light" pitchFamily="34" charset="0"/>
                <a:ea typeface="Everyday Sans Headline Light" pitchFamily="34" charset="-122"/>
                <a:cs typeface="Everyday Sans Headline Light" pitchFamily="34" charset="-120"/>
              </a:rPr>
              <a:t>Learn</a:t>
            </a:r>
            <a:endParaRPr lang="en-US" sz="1200" dirty="0"/>
          </a:p>
        </p:txBody>
      </p:sp>
      <p:sp>
        <p:nvSpPr>
          <p:cNvPr id="23" name="Text 21"/>
          <p:cNvSpPr txBox="1"/>
          <p:nvPr/>
        </p:nvSpPr>
        <p:spPr>
          <a:xfrm>
            <a:off x="3171627" y="4031853"/>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0053E2"/>
                </a:solidFill>
                <a:latin typeface="Everyday Sans UI Medium" pitchFamily="34" charset="0"/>
                <a:ea typeface="Everyday Sans UI Medium" pitchFamily="34" charset="-122"/>
                <a:cs typeface="Everyday Sans UI Medium" pitchFamily="34" charset="-120"/>
              </a:rPr>
              <a:t>→</a:t>
            </a:r>
            <a:endParaRPr lang="en-US" sz="900" dirty="0"/>
          </a:p>
        </p:txBody>
      </p:sp>
      <p:sp>
        <p:nvSpPr>
          <p:cNvPr id="24" name="Text 22"/>
          <p:cNvSpPr txBox="1"/>
          <p:nvPr/>
        </p:nvSpPr>
        <p:spPr>
          <a:xfrm>
            <a:off x="1943695" y="4076303"/>
            <a:ext cx="1308695" cy="190500"/>
          </a:xfrm>
          <a:prstGeom prst="rect">
            <a:avLst/>
          </a:prstGeom>
          <a:noFill/>
          <a:ln/>
        </p:spPr>
        <p:txBody>
          <a:bodyPr wrap="square" lIns="0" tIns="0" rIns="0" bIns="0" rtlCol="0" anchor="t"/>
          <a:lstStyle/>
          <a:p>
            <a:pPr algn="l" indent="0" marL="0">
              <a:lnSpc>
                <a:spcPts val="1440"/>
              </a:lnSpc>
              <a:buNone/>
            </a:pPr>
            <a:r>
              <a:rPr lang="en-US" sz="1200" dirty="0">
                <a:solidFill>
                  <a:srgbClr val="0053E2"/>
                </a:solidFill>
                <a:latin typeface="Everyday Sans Headline Light" pitchFamily="34" charset="0"/>
                <a:ea typeface="Everyday Sans Headline Light" pitchFamily="34" charset="-122"/>
                <a:cs typeface="Everyday Sans Headline Light" pitchFamily="34" charset="-120"/>
              </a:rPr>
              <a:t>Validate</a:t>
            </a:r>
            <a:endParaRPr lang="en-US" sz="1200" dirty="0"/>
          </a:p>
        </p:txBody>
      </p:sp>
      <p:sp>
        <p:nvSpPr>
          <p:cNvPr id="25" name="Text 23"/>
          <p:cNvSpPr txBox="1"/>
          <p:nvPr/>
        </p:nvSpPr>
        <p:spPr>
          <a:xfrm>
            <a:off x="4607322" y="4031853"/>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0053E2"/>
                </a:solidFill>
                <a:latin typeface="Everyday Sans UI Medium" pitchFamily="34" charset="0"/>
                <a:ea typeface="Everyday Sans UI Medium" pitchFamily="34" charset="-122"/>
                <a:cs typeface="Everyday Sans UI Medium" pitchFamily="34" charset="-120"/>
              </a:rPr>
              <a:t>→</a:t>
            </a:r>
            <a:endParaRPr lang="en-US" sz="900" dirty="0"/>
          </a:p>
        </p:txBody>
      </p:sp>
      <p:sp>
        <p:nvSpPr>
          <p:cNvPr id="26" name="Text 24"/>
          <p:cNvSpPr txBox="1"/>
          <p:nvPr/>
        </p:nvSpPr>
        <p:spPr>
          <a:xfrm>
            <a:off x="3379391" y="4076303"/>
            <a:ext cx="1308695" cy="190500"/>
          </a:xfrm>
          <a:prstGeom prst="rect">
            <a:avLst/>
          </a:prstGeom>
          <a:noFill/>
          <a:ln/>
        </p:spPr>
        <p:txBody>
          <a:bodyPr wrap="square" lIns="0" tIns="0" rIns="0" bIns="0" rtlCol="0" anchor="t"/>
          <a:lstStyle/>
          <a:p>
            <a:pPr algn="l" indent="0" marL="0">
              <a:lnSpc>
                <a:spcPts val="1440"/>
              </a:lnSpc>
              <a:buNone/>
            </a:pPr>
            <a:r>
              <a:rPr lang="en-US" sz="1200" dirty="0">
                <a:solidFill>
                  <a:srgbClr val="0053E2"/>
                </a:solidFill>
                <a:latin typeface="Everyday Sans Headline Light" pitchFamily="34" charset="0"/>
                <a:ea typeface="Everyday Sans Headline Light" pitchFamily="34" charset="-122"/>
                <a:cs typeface="Everyday Sans Headline Light" pitchFamily="34" charset="-120"/>
              </a:rPr>
              <a:t>Refine</a:t>
            </a:r>
            <a:endParaRPr lang="en-US" sz="1200" dirty="0"/>
          </a:p>
        </p:txBody>
      </p:sp>
      <p:sp>
        <p:nvSpPr>
          <p:cNvPr id="27" name="Text 25"/>
          <p:cNvSpPr txBox="1"/>
          <p:nvPr/>
        </p:nvSpPr>
        <p:spPr>
          <a:xfrm>
            <a:off x="4815086" y="4076303"/>
            <a:ext cx="1308695" cy="190500"/>
          </a:xfrm>
          <a:prstGeom prst="rect">
            <a:avLst/>
          </a:prstGeom>
          <a:noFill/>
          <a:ln/>
        </p:spPr>
        <p:txBody>
          <a:bodyPr wrap="square" lIns="0" tIns="0" rIns="0" bIns="0" rtlCol="0" anchor="t"/>
          <a:lstStyle/>
          <a:p>
            <a:pPr algn="l" indent="0" marL="0">
              <a:lnSpc>
                <a:spcPts val="1440"/>
              </a:lnSpc>
              <a:buNone/>
            </a:pPr>
            <a:r>
              <a:rPr lang="en-US" sz="1200" dirty="0">
                <a:solidFill>
                  <a:srgbClr val="0053E2"/>
                </a:solidFill>
                <a:latin typeface="Everyday Sans Headline Light" pitchFamily="34" charset="0"/>
                <a:ea typeface="Everyday Sans Headline Light" pitchFamily="34" charset="-122"/>
                <a:cs typeface="Everyday Sans Headline Light" pitchFamily="34" charset="-120"/>
              </a:rPr>
              <a:t>Scale</a:t>
            </a:r>
            <a:endParaRPr lang="en-US" sz="1200" dirty="0"/>
          </a:p>
        </p:txBody>
      </p:sp>
      <p:sp>
        <p:nvSpPr>
          <p:cNvPr id="28" name="Text 26"/>
          <p:cNvSpPr txBox="1"/>
          <p:nvPr/>
        </p:nvSpPr>
        <p:spPr>
          <a:xfrm>
            <a:off x="6555581" y="2895600"/>
            <a:ext cx="5538692"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WE WILL EVALUATE</a:t>
            </a:r>
            <a:endParaRPr lang="en-US" sz="550" dirty="0"/>
          </a:p>
        </p:txBody>
      </p:sp>
      <p:sp>
        <p:nvSpPr>
          <p:cNvPr id="29" name="Text 27"/>
          <p:cNvSpPr txBox="1"/>
          <p:nvPr/>
        </p:nvSpPr>
        <p:spPr>
          <a:xfrm>
            <a:off x="6555581" y="3060700"/>
            <a:ext cx="5538692" cy="162877"/>
          </a:xfrm>
          <a:prstGeom prst="rect">
            <a:avLst/>
          </a:prstGeom>
          <a:noFill/>
          <a:ln/>
        </p:spPr>
        <p:txBody>
          <a:bodyPr wrap="square" lIns="0" tIns="0" rIns="0" bIns="0" rtlCol="0" anchor="t"/>
          <a:lstStyle/>
          <a:p>
            <a:pPr algn="l" indent="0" marL="0">
              <a:lnSpc>
                <a:spcPts val="1283"/>
              </a:lnSpc>
              <a:buNone/>
            </a:pPr>
            <a:r>
              <a:rPr lang="en-US" sz="950" dirty="0">
                <a:solidFill>
                  <a:srgbClr val="001E60"/>
                </a:solidFill>
                <a:latin typeface="Everyday Sans UI" pitchFamily="34" charset="0"/>
                <a:ea typeface="Everyday Sans UI" pitchFamily="34" charset="-122"/>
                <a:cs typeface="Everyday Sans UI" pitchFamily="34" charset="-120"/>
              </a:rPr>
              <a:t>Do advertisers understand the goals?</a:t>
            </a:r>
            <a:endParaRPr lang="en-US" sz="950" dirty="0"/>
          </a:p>
        </p:txBody>
      </p:sp>
      <p:sp>
        <p:nvSpPr>
          <p:cNvPr id="30" name="Text 28"/>
          <p:cNvSpPr txBox="1"/>
          <p:nvPr/>
        </p:nvSpPr>
        <p:spPr>
          <a:xfrm>
            <a:off x="6555581" y="3369568"/>
            <a:ext cx="5538692" cy="162877"/>
          </a:xfrm>
          <a:prstGeom prst="rect">
            <a:avLst/>
          </a:prstGeom>
          <a:noFill/>
          <a:ln/>
        </p:spPr>
        <p:txBody>
          <a:bodyPr wrap="square" lIns="0" tIns="0" rIns="0" bIns="0" rtlCol="0" anchor="t"/>
          <a:lstStyle/>
          <a:p>
            <a:pPr algn="l" indent="0" marL="0">
              <a:lnSpc>
                <a:spcPts val="1283"/>
              </a:lnSpc>
              <a:buNone/>
            </a:pPr>
            <a:r>
              <a:rPr lang="en-US" sz="950" dirty="0">
                <a:solidFill>
                  <a:srgbClr val="001E60"/>
                </a:solidFill>
                <a:latin typeface="Everyday Sans UI" pitchFamily="34" charset="0"/>
                <a:ea typeface="Everyday Sans UI" pitchFamily="34" charset="-122"/>
                <a:cs typeface="Everyday Sans UI" pitchFamily="34" charset="-120"/>
              </a:rPr>
              <a:t>Does setup become easier?</a:t>
            </a:r>
            <a:endParaRPr lang="en-US" sz="950" dirty="0"/>
          </a:p>
        </p:txBody>
      </p:sp>
      <p:sp>
        <p:nvSpPr>
          <p:cNvPr id="31" name="Text 29"/>
          <p:cNvSpPr txBox="1"/>
          <p:nvPr/>
        </p:nvSpPr>
        <p:spPr>
          <a:xfrm>
            <a:off x="6555581" y="3678436"/>
            <a:ext cx="5538692" cy="162877"/>
          </a:xfrm>
          <a:prstGeom prst="rect">
            <a:avLst/>
          </a:prstGeom>
          <a:noFill/>
          <a:ln/>
        </p:spPr>
        <p:txBody>
          <a:bodyPr wrap="square" lIns="0" tIns="0" rIns="0" bIns="0" rtlCol="0" anchor="t"/>
          <a:lstStyle/>
          <a:p>
            <a:pPr algn="l" indent="0" marL="0">
              <a:lnSpc>
                <a:spcPts val="1283"/>
              </a:lnSpc>
              <a:buNone/>
            </a:pPr>
            <a:r>
              <a:rPr lang="en-US" sz="950" dirty="0">
                <a:solidFill>
                  <a:srgbClr val="001E60"/>
                </a:solidFill>
                <a:latin typeface="Everyday Sans UI" pitchFamily="34" charset="0"/>
                <a:ea typeface="Everyday Sans UI" pitchFamily="34" charset="-122"/>
                <a:cs typeface="Everyday Sans UI" pitchFamily="34" charset="-120"/>
              </a:rPr>
              <a:t>Do campaigns launch with stronger configurations?</a:t>
            </a:r>
            <a:endParaRPr lang="en-US" sz="950" dirty="0"/>
          </a:p>
        </p:txBody>
      </p:sp>
      <p:sp>
        <p:nvSpPr>
          <p:cNvPr id="32" name="Text 30"/>
          <p:cNvSpPr txBox="1"/>
          <p:nvPr/>
        </p:nvSpPr>
        <p:spPr>
          <a:xfrm>
            <a:off x="6555581" y="3987304"/>
            <a:ext cx="5538692" cy="162877"/>
          </a:xfrm>
          <a:prstGeom prst="rect">
            <a:avLst/>
          </a:prstGeom>
          <a:noFill/>
          <a:ln/>
        </p:spPr>
        <p:txBody>
          <a:bodyPr wrap="square" lIns="0" tIns="0" rIns="0" bIns="0" rtlCol="0" anchor="t"/>
          <a:lstStyle/>
          <a:p>
            <a:pPr algn="l" indent="0" marL="0">
              <a:lnSpc>
                <a:spcPts val="1283"/>
              </a:lnSpc>
              <a:buNone/>
            </a:pPr>
            <a:r>
              <a:rPr lang="en-US" sz="950" dirty="0">
                <a:solidFill>
                  <a:srgbClr val="001E60"/>
                </a:solidFill>
                <a:latin typeface="Everyday Sans UI" pitchFamily="34" charset="0"/>
                <a:ea typeface="Everyday Sans UI" pitchFamily="34" charset="-122"/>
                <a:cs typeface="Everyday Sans UI" pitchFamily="34" charset="-120"/>
              </a:rPr>
              <a:t>Does performance improve?</a:t>
            </a:r>
            <a:endParaRPr lang="en-US" sz="950" dirty="0"/>
          </a:p>
        </p:txBody>
      </p:sp>
      <p:sp>
        <p:nvSpPr>
          <p:cNvPr id="33" name="Text 31"/>
          <p:cNvSpPr txBox="1"/>
          <p:nvPr/>
        </p:nvSpPr>
        <p:spPr>
          <a:xfrm>
            <a:off x="6555581" y="4296172"/>
            <a:ext cx="5538692" cy="162877"/>
          </a:xfrm>
          <a:prstGeom prst="rect">
            <a:avLst/>
          </a:prstGeom>
          <a:noFill/>
          <a:ln/>
        </p:spPr>
        <p:txBody>
          <a:bodyPr wrap="square" lIns="0" tIns="0" rIns="0" bIns="0" rtlCol="0" anchor="t"/>
          <a:lstStyle/>
          <a:p>
            <a:pPr algn="l" indent="0" marL="0">
              <a:lnSpc>
                <a:spcPts val="1283"/>
              </a:lnSpc>
              <a:buNone/>
            </a:pPr>
            <a:r>
              <a:rPr lang="en-US" sz="950" dirty="0">
                <a:solidFill>
                  <a:srgbClr val="001E60"/>
                </a:solidFill>
                <a:latin typeface="Everyday Sans UI" pitchFamily="34" charset="0"/>
                <a:ea typeface="Everyday Sans UI" pitchFamily="34" charset="-122"/>
                <a:cs typeface="Everyday Sans UI" pitchFamily="34" charset="-120"/>
              </a:rPr>
              <a:t>Do advertisers retain appropriate control?</a:t>
            </a:r>
            <a:endParaRPr lang="en-US" sz="950" dirty="0"/>
          </a:p>
        </p:txBody>
      </p:sp>
      <p:sp>
        <p:nvSpPr>
          <p:cNvPr id="34" name="Text 32"/>
          <p:cNvSpPr txBox="1"/>
          <p:nvPr/>
        </p:nvSpPr>
        <p:spPr>
          <a:xfrm>
            <a:off x="6555581" y="4605040"/>
            <a:ext cx="5538692" cy="162877"/>
          </a:xfrm>
          <a:prstGeom prst="rect">
            <a:avLst/>
          </a:prstGeom>
          <a:noFill/>
          <a:ln/>
        </p:spPr>
        <p:txBody>
          <a:bodyPr wrap="square" lIns="0" tIns="0" rIns="0" bIns="0" rtlCol="0" anchor="t"/>
          <a:lstStyle/>
          <a:p>
            <a:pPr algn="l" indent="0" marL="0">
              <a:lnSpc>
                <a:spcPts val="1283"/>
              </a:lnSpc>
              <a:buNone/>
            </a:pPr>
            <a:r>
              <a:rPr lang="en-US" sz="950" dirty="0">
                <a:solidFill>
                  <a:srgbClr val="001E60"/>
                </a:solidFill>
                <a:latin typeface="Everyday Sans UI" pitchFamily="34" charset="0"/>
                <a:ea typeface="Everyday Sans UI" pitchFamily="34" charset="-122"/>
                <a:cs typeface="Everyday Sans UI" pitchFamily="34" charset="-120"/>
              </a:rPr>
              <a:t>Do we see unintended behavior?</a:t>
            </a:r>
            <a:endParaRPr lang="en-US" sz="950" dirty="0"/>
          </a:p>
        </p:txBody>
      </p:sp>
      <p:sp>
        <p:nvSpPr>
          <p:cNvPr id="35" name="Text 33"/>
          <p:cNvSpPr txBox="1"/>
          <p:nvPr/>
        </p:nvSpPr>
        <p:spPr>
          <a:xfrm>
            <a:off x="508000" y="5288558"/>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STATUS</a:t>
            </a:r>
            <a:endParaRPr lang="en-US" sz="550" dirty="0"/>
          </a:p>
        </p:txBody>
      </p:sp>
      <p:sp>
        <p:nvSpPr>
          <p:cNvPr id="36" name="Text 34"/>
          <p:cNvSpPr txBox="1"/>
          <p:nvPr/>
        </p:nvSpPr>
        <p:spPr>
          <a:xfrm>
            <a:off x="2108200" y="5174258"/>
            <a:ext cx="10341864" cy="22225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Goal-Based Buying is a hypothesis to test, not a predetermined answer to every campaign setup problem.</a:t>
            </a:r>
            <a:endParaRPr lang="en-US" sz="1400" dirty="0"/>
          </a:p>
        </p:txBody>
      </p:sp>
      <p:pic>
        <p:nvPicPr>
          <p:cNvPr id="37"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38" name="Text 35"/>
          <p:cNvSpPr txBox="1"/>
          <p:nvPr/>
        </p:nvSpPr>
        <p:spPr>
          <a:xfrm>
            <a:off x="711200"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39" name="Text 36"/>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11 / 18</a:t>
            </a:r>
            <a:endParaRPr lang="en-US" sz="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477070" cy="127000"/>
          </a:xfrm>
          <a:prstGeom prst="roundRect">
            <a:avLst>
              <a:gd name="adj" fmla="val 360000"/>
            </a:avLst>
          </a:prstGeom>
          <a:solidFill>
            <a:srgbClr val="D7EEF9"/>
          </a:solidFill>
          <a:ln/>
        </p:spPr>
      </p:sp>
      <p:sp>
        <p:nvSpPr>
          <p:cNvPr id="3" name="Shape 1"/>
          <p:cNvSpPr/>
          <p:nvPr/>
        </p:nvSpPr>
        <p:spPr>
          <a:xfrm>
            <a:off x="1320800" y="3317577"/>
            <a:ext cx="1473200" cy="254000"/>
          </a:xfrm>
          <a:prstGeom prst="rect">
            <a:avLst/>
          </a:prstGeom>
          <a:solidFill>
            <a:srgbClr val="FFFFFF"/>
          </a:solidFill>
          <a:ln w="6350">
            <a:solidFill>
              <a:srgbClr val="E4E8EF"/>
            </a:solidFill>
            <a:prstDash val="solid"/>
          </a:ln>
        </p:spPr>
      </p:sp>
      <p:sp>
        <p:nvSpPr>
          <p:cNvPr id="4" name="Shape 2"/>
          <p:cNvSpPr/>
          <p:nvPr/>
        </p:nvSpPr>
        <p:spPr>
          <a:xfrm>
            <a:off x="2844800" y="3317577"/>
            <a:ext cx="1473200" cy="254000"/>
          </a:xfrm>
          <a:prstGeom prst="rect">
            <a:avLst/>
          </a:prstGeom>
          <a:solidFill>
            <a:srgbClr val="FFFFFF"/>
          </a:solidFill>
          <a:ln w="6350">
            <a:solidFill>
              <a:srgbClr val="E4E8EF"/>
            </a:solidFill>
            <a:prstDash val="solid"/>
          </a:ln>
        </p:spPr>
      </p:sp>
      <p:sp>
        <p:nvSpPr>
          <p:cNvPr id="5" name="Shape 3"/>
          <p:cNvSpPr/>
          <p:nvPr/>
        </p:nvSpPr>
        <p:spPr>
          <a:xfrm>
            <a:off x="4368800" y="3317577"/>
            <a:ext cx="1473200" cy="254000"/>
          </a:xfrm>
          <a:prstGeom prst="rect">
            <a:avLst/>
          </a:prstGeom>
          <a:solidFill>
            <a:srgbClr val="FFFFFF"/>
          </a:solidFill>
          <a:ln w="6350">
            <a:solidFill>
              <a:srgbClr val="E4E8EF"/>
            </a:solidFill>
            <a:prstDash val="solid"/>
          </a:ln>
        </p:spPr>
      </p:sp>
      <p:sp>
        <p:nvSpPr>
          <p:cNvPr id="6" name="Shape 4"/>
          <p:cNvSpPr/>
          <p:nvPr/>
        </p:nvSpPr>
        <p:spPr>
          <a:xfrm>
            <a:off x="1320800" y="3622377"/>
            <a:ext cx="1473200" cy="254000"/>
          </a:xfrm>
          <a:prstGeom prst="rect">
            <a:avLst/>
          </a:prstGeom>
          <a:solidFill>
            <a:srgbClr val="FFFFFF"/>
          </a:solidFill>
          <a:ln w="6350">
            <a:solidFill>
              <a:srgbClr val="E4E8EF"/>
            </a:solidFill>
            <a:prstDash val="solid"/>
          </a:ln>
        </p:spPr>
      </p:sp>
      <p:sp>
        <p:nvSpPr>
          <p:cNvPr id="7" name="Shape 5"/>
          <p:cNvSpPr/>
          <p:nvPr/>
        </p:nvSpPr>
        <p:spPr>
          <a:xfrm>
            <a:off x="2844800" y="3622377"/>
            <a:ext cx="1473200" cy="254000"/>
          </a:xfrm>
          <a:prstGeom prst="rect">
            <a:avLst/>
          </a:prstGeom>
          <a:solidFill>
            <a:srgbClr val="FFFFFF"/>
          </a:solidFill>
          <a:ln w="6350">
            <a:solidFill>
              <a:srgbClr val="E4E8EF"/>
            </a:solidFill>
            <a:prstDash val="solid"/>
          </a:ln>
        </p:spPr>
      </p:sp>
      <p:sp>
        <p:nvSpPr>
          <p:cNvPr id="8" name="Shape 6"/>
          <p:cNvSpPr/>
          <p:nvPr/>
        </p:nvSpPr>
        <p:spPr>
          <a:xfrm>
            <a:off x="4368800" y="3622377"/>
            <a:ext cx="1473200" cy="254000"/>
          </a:xfrm>
          <a:prstGeom prst="rect">
            <a:avLst/>
          </a:prstGeom>
          <a:solidFill>
            <a:srgbClr val="FFFFFF"/>
          </a:solidFill>
          <a:ln w="6350">
            <a:solidFill>
              <a:srgbClr val="E4E8EF"/>
            </a:solidFill>
            <a:prstDash val="solid"/>
          </a:ln>
        </p:spPr>
      </p:sp>
      <p:sp>
        <p:nvSpPr>
          <p:cNvPr id="9" name="Shape 7"/>
          <p:cNvSpPr/>
          <p:nvPr/>
        </p:nvSpPr>
        <p:spPr>
          <a:xfrm>
            <a:off x="508000" y="4019252"/>
            <a:ext cx="5334000" cy="0"/>
          </a:xfrm>
          <a:prstGeom prst="line">
            <a:avLst/>
          </a:prstGeom>
          <a:noFill/>
          <a:ln w="6350">
            <a:solidFill>
              <a:srgbClr val="E4E8EF"/>
            </a:solidFill>
            <a:prstDash val="solid"/>
          </a:ln>
        </p:spPr>
      </p:sp>
      <p:sp>
        <p:nvSpPr>
          <p:cNvPr id="10" name="Shape 8"/>
          <p:cNvSpPr/>
          <p:nvPr/>
        </p:nvSpPr>
        <p:spPr>
          <a:xfrm>
            <a:off x="6350000" y="3266777"/>
            <a:ext cx="5334000" cy="482600"/>
          </a:xfrm>
          <a:prstGeom prst="rect">
            <a:avLst/>
          </a:prstGeom>
          <a:solidFill>
            <a:srgbClr val="0053E2">
              <a:alpha val="5000"/>
            </a:srgbClr>
          </a:solidFill>
          <a:ln/>
        </p:spPr>
      </p:sp>
      <p:sp>
        <p:nvSpPr>
          <p:cNvPr id="11" name="Shape 9"/>
          <p:cNvSpPr/>
          <p:nvPr/>
        </p:nvSpPr>
        <p:spPr>
          <a:xfrm>
            <a:off x="6350000" y="3273127"/>
            <a:ext cx="5334000" cy="0"/>
          </a:xfrm>
          <a:prstGeom prst="line">
            <a:avLst/>
          </a:prstGeom>
          <a:noFill/>
          <a:ln w="12700">
            <a:solidFill>
              <a:srgbClr val="0053E2"/>
            </a:solidFill>
            <a:prstDash val="solid"/>
          </a:ln>
        </p:spPr>
      </p:sp>
      <p:sp>
        <p:nvSpPr>
          <p:cNvPr id="12" name="Shape 10"/>
          <p:cNvSpPr/>
          <p:nvPr/>
        </p:nvSpPr>
        <p:spPr>
          <a:xfrm>
            <a:off x="6464300" y="3393777"/>
            <a:ext cx="621506" cy="241300"/>
          </a:xfrm>
          <a:prstGeom prst="rect">
            <a:avLst/>
          </a:prstGeom>
          <a:solidFill>
            <a:srgbClr val="FFFFFF"/>
          </a:solidFill>
          <a:ln w="6350">
            <a:solidFill>
              <a:srgbClr val="0053E2">
                <a:alpha val="35000"/>
              </a:srgbClr>
            </a:solidFill>
            <a:prstDash val="solid"/>
          </a:ln>
        </p:spPr>
      </p:sp>
      <p:sp>
        <p:nvSpPr>
          <p:cNvPr id="13" name="Shape 11"/>
          <p:cNvSpPr/>
          <p:nvPr/>
        </p:nvSpPr>
        <p:spPr>
          <a:xfrm>
            <a:off x="7136606" y="3393777"/>
            <a:ext cx="417016" cy="241300"/>
          </a:xfrm>
          <a:prstGeom prst="rect">
            <a:avLst/>
          </a:prstGeom>
          <a:solidFill>
            <a:srgbClr val="FFFFFF"/>
          </a:solidFill>
          <a:ln w="6350">
            <a:solidFill>
              <a:srgbClr val="0053E2">
                <a:alpha val="35000"/>
              </a:srgbClr>
            </a:solidFill>
            <a:prstDash val="solid"/>
          </a:ln>
        </p:spPr>
      </p:sp>
      <p:sp>
        <p:nvSpPr>
          <p:cNvPr id="14" name="Shape 12"/>
          <p:cNvSpPr/>
          <p:nvPr/>
        </p:nvSpPr>
        <p:spPr>
          <a:xfrm>
            <a:off x="7604423" y="3393777"/>
            <a:ext cx="403324" cy="241300"/>
          </a:xfrm>
          <a:prstGeom prst="rect">
            <a:avLst/>
          </a:prstGeom>
          <a:solidFill>
            <a:srgbClr val="FFFFFF"/>
          </a:solidFill>
          <a:ln w="6350">
            <a:solidFill>
              <a:srgbClr val="0053E2">
                <a:alpha val="35000"/>
              </a:srgbClr>
            </a:solidFill>
            <a:prstDash val="solid"/>
          </a:ln>
        </p:spPr>
      </p:sp>
      <p:sp>
        <p:nvSpPr>
          <p:cNvPr id="15" name="Shape 13"/>
          <p:cNvSpPr/>
          <p:nvPr/>
        </p:nvSpPr>
        <p:spPr>
          <a:xfrm>
            <a:off x="8058547" y="3393777"/>
            <a:ext cx="440730" cy="241300"/>
          </a:xfrm>
          <a:prstGeom prst="rect">
            <a:avLst/>
          </a:prstGeom>
          <a:solidFill>
            <a:srgbClr val="FFFFFF"/>
          </a:solidFill>
          <a:ln w="6350">
            <a:solidFill>
              <a:srgbClr val="0053E2">
                <a:alpha val="35000"/>
              </a:srgbClr>
            </a:solidFill>
            <a:prstDash val="solid"/>
          </a:ln>
        </p:spPr>
      </p:sp>
      <p:sp>
        <p:nvSpPr>
          <p:cNvPr id="16" name="Shape 14"/>
          <p:cNvSpPr/>
          <p:nvPr/>
        </p:nvSpPr>
        <p:spPr>
          <a:xfrm>
            <a:off x="8550077" y="3393777"/>
            <a:ext cx="431006" cy="241300"/>
          </a:xfrm>
          <a:prstGeom prst="rect">
            <a:avLst/>
          </a:prstGeom>
          <a:solidFill>
            <a:srgbClr val="FFFFFF"/>
          </a:solidFill>
          <a:ln w="6350">
            <a:solidFill>
              <a:srgbClr val="0053E2">
                <a:alpha val="35000"/>
              </a:srgbClr>
            </a:solidFill>
            <a:prstDash val="solid"/>
          </a:ln>
        </p:spPr>
      </p:sp>
      <p:sp>
        <p:nvSpPr>
          <p:cNvPr id="17" name="Shape 15"/>
          <p:cNvSpPr/>
          <p:nvPr/>
        </p:nvSpPr>
        <p:spPr>
          <a:xfrm>
            <a:off x="9031883" y="3393777"/>
            <a:ext cx="748705" cy="241300"/>
          </a:xfrm>
          <a:prstGeom prst="rect">
            <a:avLst/>
          </a:prstGeom>
          <a:solidFill>
            <a:srgbClr val="FFFFFF"/>
          </a:solidFill>
          <a:ln w="6350">
            <a:solidFill>
              <a:srgbClr val="0053E2">
                <a:alpha val="35000"/>
              </a:srgbClr>
            </a:solidFill>
            <a:prstDash val="solid"/>
          </a:ln>
        </p:spPr>
      </p:sp>
      <p:sp>
        <p:nvSpPr>
          <p:cNvPr id="18" name="Shape 16"/>
          <p:cNvSpPr/>
          <p:nvPr/>
        </p:nvSpPr>
        <p:spPr>
          <a:xfrm>
            <a:off x="9831388" y="3393777"/>
            <a:ext cx="717252" cy="241300"/>
          </a:xfrm>
          <a:prstGeom prst="rect">
            <a:avLst/>
          </a:prstGeom>
          <a:solidFill>
            <a:srgbClr val="FFFFFF"/>
          </a:solidFill>
          <a:ln w="6350">
            <a:solidFill>
              <a:srgbClr val="0053E2">
                <a:alpha val="35000"/>
              </a:srgbClr>
            </a:solidFill>
            <a:prstDash val="solid"/>
          </a:ln>
        </p:spPr>
      </p:sp>
      <p:sp>
        <p:nvSpPr>
          <p:cNvPr id="19" name="Shape 17"/>
          <p:cNvSpPr/>
          <p:nvPr/>
        </p:nvSpPr>
        <p:spPr>
          <a:xfrm>
            <a:off x="508000" y="4617343"/>
            <a:ext cx="11176000" cy="0"/>
          </a:xfrm>
          <a:prstGeom prst="line">
            <a:avLst/>
          </a:prstGeom>
          <a:noFill/>
          <a:ln w="6350">
            <a:solidFill>
              <a:srgbClr val="0053E2"/>
            </a:solidFill>
            <a:prstDash val="solid"/>
          </a:ln>
        </p:spPr>
      </p:sp>
      <p:sp>
        <p:nvSpPr>
          <p:cNvPr id="20" name="Text 18"/>
          <p:cNvSpPr txBox="1"/>
          <p:nvPr/>
        </p:nvSpPr>
        <p:spPr>
          <a:xfrm>
            <a:off x="501650" y="971550"/>
            <a:ext cx="148977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CONSISTENCY ACROSS CHANNELS</a:t>
            </a:r>
            <a:endParaRPr lang="en-US" sz="500" dirty="0"/>
          </a:p>
        </p:txBody>
      </p:sp>
      <p:sp>
        <p:nvSpPr>
          <p:cNvPr id="21" name="Text 19"/>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Sponsored &amp; Display shouldn’t feel like </a:t>
            </a:r>
            <a:pPr algn="l" indent="0" marL="0">
              <a:lnSpc>
                <a:spcPts val="3024"/>
              </a:lnSpc>
              <a:buNone/>
            </a:pPr>
            <a:r>
              <a:rPr lang="en-US" sz="2400" i="1" spc="-72" kern="0" dirty="0">
                <a:solidFill>
                  <a:srgbClr val="0053E2"/>
                </a:solidFill>
                <a:latin typeface="Everyday Sans Light" pitchFamily="34" charset="0"/>
                <a:ea typeface="Everyday Sans Light" pitchFamily="34" charset="-122"/>
                <a:cs typeface="Everyday Sans Light" pitchFamily="34" charset="-120"/>
              </a:rPr>
              <a:t>different</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 companies built them.</a:t>
            </a:r>
            <a:endParaRPr lang="en-US" sz="2400" dirty="0"/>
          </a:p>
        </p:txBody>
      </p:sp>
      <p:sp>
        <p:nvSpPr>
          <p:cNvPr id="22" name="Text 20"/>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Advertisers increasingly manage objectives and budgets across channels, but our workflows still expose differences created by product history and organizational boundaries.</a:t>
            </a:r>
            <a:endParaRPr lang="en-US" sz="900" dirty="0"/>
          </a:p>
        </p:txBody>
      </p:sp>
      <p:sp>
        <p:nvSpPr>
          <p:cNvPr id="23" name="Text 21"/>
          <p:cNvSpPr txBox="1"/>
          <p:nvPr/>
        </p:nvSpPr>
        <p:spPr>
          <a:xfrm>
            <a:off x="508000" y="3088977"/>
            <a:ext cx="576072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TODAY</a:t>
            </a:r>
            <a:endParaRPr lang="en-US" sz="550" dirty="0"/>
          </a:p>
        </p:txBody>
      </p:sp>
      <p:sp>
        <p:nvSpPr>
          <p:cNvPr id="24" name="Text 22"/>
          <p:cNvSpPr txBox="1"/>
          <p:nvPr/>
        </p:nvSpPr>
        <p:spPr>
          <a:xfrm>
            <a:off x="508000" y="3381077"/>
            <a:ext cx="914400" cy="127000"/>
          </a:xfrm>
          <a:prstGeom prst="rect">
            <a:avLst/>
          </a:prstGeom>
          <a:noFill/>
          <a:ln/>
        </p:spPr>
        <p:txBody>
          <a:bodyPr wrap="square" lIns="0" tIns="0" rIns="0" bIns="0" rtlCol="0" anchor="t"/>
          <a:lstStyle/>
          <a:p>
            <a:pPr algn="l" indent="0" marL="0">
              <a:lnSpc>
                <a:spcPts val="960"/>
              </a:lnSpc>
              <a:buNone/>
            </a:pPr>
            <a:r>
              <a:rPr lang="en-US" sz="800" dirty="0">
                <a:solidFill>
                  <a:srgbClr val="001E60"/>
                </a:solidFill>
                <a:latin typeface="Everyday Sans UI Medium" pitchFamily="34" charset="0"/>
                <a:ea typeface="Everyday Sans UI Medium" pitchFamily="34" charset="-122"/>
                <a:cs typeface="Everyday Sans UI Medium" pitchFamily="34" charset="-120"/>
              </a:rPr>
              <a:t>Sponsored</a:t>
            </a:r>
            <a:endParaRPr lang="en-US" sz="800" dirty="0"/>
          </a:p>
        </p:txBody>
      </p:sp>
      <p:sp>
        <p:nvSpPr>
          <p:cNvPr id="25" name="Text 23"/>
          <p:cNvSpPr txBox="1"/>
          <p:nvPr/>
        </p:nvSpPr>
        <p:spPr>
          <a:xfrm>
            <a:off x="1314450" y="3387427"/>
            <a:ext cx="1485900" cy="114300"/>
          </a:xfrm>
          <a:prstGeom prst="rect">
            <a:avLst/>
          </a:prstGeom>
          <a:noFill/>
          <a:ln/>
        </p:spPr>
        <p:txBody>
          <a:bodyPr wrap="square" lIns="0" tIns="0" rIns="0" bIns="0" rtlCol="0" anchor="t"/>
          <a:lstStyle/>
          <a:p>
            <a:pPr algn="ctr" indent="0" marL="0">
              <a:lnSpc>
                <a:spcPts val="840"/>
              </a:lnSpc>
              <a:buNone/>
            </a:pPr>
            <a:r>
              <a:rPr lang="en-US" sz="700" dirty="0">
                <a:solidFill>
                  <a:srgbClr val="3D4A63"/>
                </a:solidFill>
                <a:latin typeface="Everyday Sans UI" pitchFamily="34" charset="0"/>
                <a:ea typeface="Everyday Sans UI" pitchFamily="34" charset="-122"/>
                <a:cs typeface="Everyday Sans UI" pitchFamily="34" charset="-120"/>
              </a:rPr>
              <a:t>Workflow A</a:t>
            </a:r>
            <a:endParaRPr lang="en-US" sz="700" dirty="0"/>
          </a:p>
        </p:txBody>
      </p:sp>
      <p:sp>
        <p:nvSpPr>
          <p:cNvPr id="26" name="Text 24"/>
          <p:cNvSpPr txBox="1"/>
          <p:nvPr/>
        </p:nvSpPr>
        <p:spPr>
          <a:xfrm>
            <a:off x="2838450" y="3387427"/>
            <a:ext cx="1485900" cy="114300"/>
          </a:xfrm>
          <a:prstGeom prst="rect">
            <a:avLst/>
          </a:prstGeom>
          <a:noFill/>
          <a:ln/>
        </p:spPr>
        <p:txBody>
          <a:bodyPr wrap="square" lIns="0" tIns="0" rIns="0" bIns="0" rtlCol="0" anchor="t"/>
          <a:lstStyle/>
          <a:p>
            <a:pPr algn="ctr" indent="0" marL="0">
              <a:lnSpc>
                <a:spcPts val="840"/>
              </a:lnSpc>
              <a:buNone/>
            </a:pPr>
            <a:r>
              <a:rPr lang="en-US" sz="700" dirty="0">
                <a:solidFill>
                  <a:srgbClr val="3D4A63"/>
                </a:solidFill>
                <a:latin typeface="Everyday Sans UI" pitchFamily="34" charset="0"/>
                <a:ea typeface="Everyday Sans UI" pitchFamily="34" charset="-122"/>
                <a:cs typeface="Everyday Sans UI" pitchFamily="34" charset="-120"/>
              </a:rPr>
              <a:t>Terminology A</a:t>
            </a:r>
            <a:endParaRPr lang="en-US" sz="700" dirty="0"/>
          </a:p>
        </p:txBody>
      </p:sp>
      <p:sp>
        <p:nvSpPr>
          <p:cNvPr id="27" name="Text 25"/>
          <p:cNvSpPr txBox="1"/>
          <p:nvPr/>
        </p:nvSpPr>
        <p:spPr>
          <a:xfrm>
            <a:off x="4362450" y="3387427"/>
            <a:ext cx="1485900" cy="114300"/>
          </a:xfrm>
          <a:prstGeom prst="rect">
            <a:avLst/>
          </a:prstGeom>
          <a:noFill/>
          <a:ln/>
        </p:spPr>
        <p:txBody>
          <a:bodyPr wrap="square" lIns="0" tIns="0" rIns="0" bIns="0" rtlCol="0" anchor="t"/>
          <a:lstStyle/>
          <a:p>
            <a:pPr algn="ctr" indent="0" marL="0">
              <a:lnSpc>
                <a:spcPts val="840"/>
              </a:lnSpc>
              <a:buNone/>
            </a:pPr>
            <a:r>
              <a:rPr lang="en-US" sz="700" dirty="0">
                <a:solidFill>
                  <a:srgbClr val="3D4A63"/>
                </a:solidFill>
                <a:latin typeface="Everyday Sans UI" pitchFamily="34" charset="0"/>
                <a:ea typeface="Everyday Sans UI" pitchFamily="34" charset="-122"/>
                <a:cs typeface="Everyday Sans UI" pitchFamily="34" charset="-120"/>
              </a:rPr>
              <a:t>Interaction patterns A</a:t>
            </a:r>
            <a:endParaRPr lang="en-US" sz="700" dirty="0"/>
          </a:p>
        </p:txBody>
      </p:sp>
      <p:sp>
        <p:nvSpPr>
          <p:cNvPr id="28" name="Text 26"/>
          <p:cNvSpPr txBox="1"/>
          <p:nvPr/>
        </p:nvSpPr>
        <p:spPr>
          <a:xfrm>
            <a:off x="508000" y="3685877"/>
            <a:ext cx="914400" cy="127000"/>
          </a:xfrm>
          <a:prstGeom prst="rect">
            <a:avLst/>
          </a:prstGeom>
          <a:noFill/>
          <a:ln/>
        </p:spPr>
        <p:txBody>
          <a:bodyPr wrap="square" lIns="0" tIns="0" rIns="0" bIns="0" rtlCol="0" anchor="t"/>
          <a:lstStyle/>
          <a:p>
            <a:pPr algn="l" indent="0" marL="0">
              <a:lnSpc>
                <a:spcPts val="960"/>
              </a:lnSpc>
              <a:buNone/>
            </a:pPr>
            <a:r>
              <a:rPr lang="en-US" sz="800" dirty="0">
                <a:solidFill>
                  <a:srgbClr val="001E60"/>
                </a:solidFill>
                <a:latin typeface="Everyday Sans UI Medium" pitchFamily="34" charset="0"/>
                <a:ea typeface="Everyday Sans UI Medium" pitchFamily="34" charset="-122"/>
                <a:cs typeface="Everyday Sans UI Medium" pitchFamily="34" charset="-120"/>
              </a:rPr>
              <a:t>Display</a:t>
            </a:r>
            <a:endParaRPr lang="en-US" sz="800" dirty="0"/>
          </a:p>
        </p:txBody>
      </p:sp>
      <p:sp>
        <p:nvSpPr>
          <p:cNvPr id="29" name="Text 27"/>
          <p:cNvSpPr txBox="1"/>
          <p:nvPr/>
        </p:nvSpPr>
        <p:spPr>
          <a:xfrm>
            <a:off x="1314450" y="3692227"/>
            <a:ext cx="1485900" cy="114300"/>
          </a:xfrm>
          <a:prstGeom prst="rect">
            <a:avLst/>
          </a:prstGeom>
          <a:noFill/>
          <a:ln/>
        </p:spPr>
        <p:txBody>
          <a:bodyPr wrap="square" lIns="0" tIns="0" rIns="0" bIns="0" rtlCol="0" anchor="t"/>
          <a:lstStyle/>
          <a:p>
            <a:pPr algn="ctr" indent="0" marL="0">
              <a:lnSpc>
                <a:spcPts val="840"/>
              </a:lnSpc>
              <a:buNone/>
            </a:pPr>
            <a:r>
              <a:rPr lang="en-US" sz="700" dirty="0">
                <a:solidFill>
                  <a:srgbClr val="3D4A63"/>
                </a:solidFill>
                <a:latin typeface="Everyday Sans UI" pitchFamily="34" charset="0"/>
                <a:ea typeface="Everyday Sans UI" pitchFamily="34" charset="-122"/>
                <a:cs typeface="Everyday Sans UI" pitchFamily="34" charset="-120"/>
              </a:rPr>
              <a:t>Workflow B</a:t>
            </a:r>
            <a:endParaRPr lang="en-US" sz="700" dirty="0"/>
          </a:p>
        </p:txBody>
      </p:sp>
      <p:sp>
        <p:nvSpPr>
          <p:cNvPr id="30" name="Text 28"/>
          <p:cNvSpPr txBox="1"/>
          <p:nvPr/>
        </p:nvSpPr>
        <p:spPr>
          <a:xfrm>
            <a:off x="2838450" y="3692227"/>
            <a:ext cx="1485900" cy="114300"/>
          </a:xfrm>
          <a:prstGeom prst="rect">
            <a:avLst/>
          </a:prstGeom>
          <a:noFill/>
          <a:ln/>
        </p:spPr>
        <p:txBody>
          <a:bodyPr wrap="square" lIns="0" tIns="0" rIns="0" bIns="0" rtlCol="0" anchor="t"/>
          <a:lstStyle/>
          <a:p>
            <a:pPr algn="ctr" indent="0" marL="0">
              <a:lnSpc>
                <a:spcPts val="840"/>
              </a:lnSpc>
              <a:buNone/>
            </a:pPr>
            <a:r>
              <a:rPr lang="en-US" sz="700" dirty="0">
                <a:solidFill>
                  <a:srgbClr val="3D4A63"/>
                </a:solidFill>
                <a:latin typeface="Everyday Sans UI" pitchFamily="34" charset="0"/>
                <a:ea typeface="Everyday Sans UI" pitchFamily="34" charset="-122"/>
                <a:cs typeface="Everyday Sans UI" pitchFamily="34" charset="-120"/>
              </a:rPr>
              <a:t>Terminology B</a:t>
            </a:r>
            <a:endParaRPr lang="en-US" sz="700" dirty="0"/>
          </a:p>
        </p:txBody>
      </p:sp>
      <p:sp>
        <p:nvSpPr>
          <p:cNvPr id="31" name="Text 29"/>
          <p:cNvSpPr txBox="1"/>
          <p:nvPr/>
        </p:nvSpPr>
        <p:spPr>
          <a:xfrm>
            <a:off x="4362450" y="3692227"/>
            <a:ext cx="1485900" cy="114300"/>
          </a:xfrm>
          <a:prstGeom prst="rect">
            <a:avLst/>
          </a:prstGeom>
          <a:noFill/>
          <a:ln/>
        </p:spPr>
        <p:txBody>
          <a:bodyPr wrap="square" lIns="0" tIns="0" rIns="0" bIns="0" rtlCol="0" anchor="t"/>
          <a:lstStyle/>
          <a:p>
            <a:pPr algn="ctr" indent="0" marL="0">
              <a:lnSpc>
                <a:spcPts val="840"/>
              </a:lnSpc>
              <a:buNone/>
            </a:pPr>
            <a:r>
              <a:rPr lang="en-US" sz="700" dirty="0">
                <a:solidFill>
                  <a:srgbClr val="3D4A63"/>
                </a:solidFill>
                <a:latin typeface="Everyday Sans UI" pitchFamily="34" charset="0"/>
                <a:ea typeface="Everyday Sans UI" pitchFamily="34" charset="-122"/>
                <a:cs typeface="Everyday Sans UI" pitchFamily="34" charset="-120"/>
              </a:rPr>
              <a:t>Interaction patterns B</a:t>
            </a:r>
            <a:endParaRPr lang="en-US" sz="700" dirty="0"/>
          </a:p>
        </p:txBody>
      </p:sp>
      <p:sp>
        <p:nvSpPr>
          <p:cNvPr id="32" name="Text 30"/>
          <p:cNvSpPr txBox="1"/>
          <p:nvPr/>
        </p:nvSpPr>
        <p:spPr>
          <a:xfrm>
            <a:off x="508000" y="4219218"/>
            <a:ext cx="5760720" cy="166350"/>
          </a:xfrm>
          <a:prstGeom prst="rect">
            <a:avLst/>
          </a:prstGeom>
          <a:noFill/>
          <a:ln/>
        </p:spPr>
        <p:txBody>
          <a:bodyPr wrap="square" lIns="0" tIns="0" rIns="0" bIns="0" rtlCol="0" anchor="t"/>
          <a:lstStyle/>
          <a:p>
            <a:pPr algn="l" indent="0" marL="0">
              <a:lnSpc>
                <a:spcPts val="1190"/>
              </a:lnSpc>
              <a:buNone/>
            </a:pPr>
            <a:r>
              <a:rPr lang="en-US" sz="850" dirty="0">
                <a:solidFill>
                  <a:srgbClr val="001E60"/>
                </a:solidFill>
                <a:latin typeface="Everyday Sans UI" pitchFamily="34" charset="0"/>
                <a:ea typeface="Everyday Sans UI" pitchFamily="34" charset="-122"/>
                <a:cs typeface="Everyday Sans UI" pitchFamily="34" charset="-120"/>
              </a:rPr>
              <a:t>Advertiser strategy, budgets, teams and objectives increasingly overlap.</a:t>
            </a:r>
            <a:endParaRPr lang="en-US" sz="850" dirty="0"/>
          </a:p>
        </p:txBody>
      </p:sp>
      <p:sp>
        <p:nvSpPr>
          <p:cNvPr id="33" name="Text 31"/>
          <p:cNvSpPr txBox="1"/>
          <p:nvPr/>
        </p:nvSpPr>
        <p:spPr>
          <a:xfrm>
            <a:off x="508000" y="4098627"/>
            <a:ext cx="5760720" cy="97790"/>
          </a:xfrm>
          <a:prstGeom prst="rect">
            <a:avLst/>
          </a:prstGeom>
          <a:noFill/>
          <a:ln/>
        </p:spPr>
        <p:txBody>
          <a:bodyPr wrap="square" lIns="0" tIns="0" rIns="0" bIns="0" rtlCol="0" anchor="t"/>
          <a:lstStyle/>
          <a:p>
            <a:pPr algn="l" indent="0" marL="0">
              <a:lnSpc>
                <a:spcPts val="77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YET UPSTREAM</a:t>
            </a:r>
            <a:endParaRPr lang="en-US" sz="550" dirty="0"/>
          </a:p>
        </p:txBody>
      </p:sp>
      <p:sp>
        <p:nvSpPr>
          <p:cNvPr id="34" name="Text 32"/>
          <p:cNvSpPr txBox="1"/>
          <p:nvPr/>
        </p:nvSpPr>
        <p:spPr>
          <a:xfrm>
            <a:off x="6350000" y="3088977"/>
            <a:ext cx="576072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FUTURE DIRECTION · SHARED PATTERNS</a:t>
            </a:r>
            <a:endParaRPr lang="en-US" sz="550" dirty="0"/>
          </a:p>
        </p:txBody>
      </p:sp>
      <p:sp>
        <p:nvSpPr>
          <p:cNvPr id="35" name="Text 33"/>
          <p:cNvSpPr txBox="1"/>
          <p:nvPr/>
        </p:nvSpPr>
        <p:spPr>
          <a:xfrm>
            <a:off x="6546850" y="3450927"/>
            <a:ext cx="608806"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Navigation</a:t>
            </a:r>
            <a:endParaRPr lang="en-US" sz="800" dirty="0"/>
          </a:p>
        </p:txBody>
      </p:sp>
      <p:sp>
        <p:nvSpPr>
          <p:cNvPr id="36" name="Text 34"/>
          <p:cNvSpPr txBox="1"/>
          <p:nvPr/>
        </p:nvSpPr>
        <p:spPr>
          <a:xfrm>
            <a:off x="7219156" y="3450927"/>
            <a:ext cx="404316"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Setup</a:t>
            </a:r>
            <a:endParaRPr lang="en-US" sz="800" dirty="0"/>
          </a:p>
        </p:txBody>
      </p:sp>
      <p:sp>
        <p:nvSpPr>
          <p:cNvPr id="37" name="Text 35"/>
          <p:cNvSpPr txBox="1"/>
          <p:nvPr/>
        </p:nvSpPr>
        <p:spPr>
          <a:xfrm>
            <a:off x="7686973" y="3450927"/>
            <a:ext cx="390624"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Goals</a:t>
            </a:r>
            <a:endParaRPr lang="en-US" sz="800" dirty="0"/>
          </a:p>
        </p:txBody>
      </p:sp>
      <p:sp>
        <p:nvSpPr>
          <p:cNvPr id="38" name="Text 36"/>
          <p:cNvSpPr txBox="1"/>
          <p:nvPr/>
        </p:nvSpPr>
        <p:spPr>
          <a:xfrm>
            <a:off x="8141097" y="3450927"/>
            <a:ext cx="428030"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Tables</a:t>
            </a:r>
            <a:endParaRPr lang="en-US" sz="800" dirty="0"/>
          </a:p>
        </p:txBody>
      </p:sp>
      <p:sp>
        <p:nvSpPr>
          <p:cNvPr id="39" name="Text 37"/>
          <p:cNvSpPr txBox="1"/>
          <p:nvPr/>
        </p:nvSpPr>
        <p:spPr>
          <a:xfrm>
            <a:off x="8632627" y="3450927"/>
            <a:ext cx="418306"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Filters</a:t>
            </a:r>
            <a:endParaRPr lang="en-US" sz="800" dirty="0"/>
          </a:p>
        </p:txBody>
      </p:sp>
      <p:sp>
        <p:nvSpPr>
          <p:cNvPr id="40" name="Text 38"/>
          <p:cNvSpPr txBox="1"/>
          <p:nvPr/>
        </p:nvSpPr>
        <p:spPr>
          <a:xfrm>
            <a:off x="9114433" y="3450927"/>
            <a:ext cx="736005"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Measurement</a:t>
            </a:r>
            <a:endParaRPr lang="en-US" sz="800" dirty="0"/>
          </a:p>
        </p:txBody>
      </p:sp>
      <p:sp>
        <p:nvSpPr>
          <p:cNvPr id="41" name="Text 39"/>
          <p:cNvSpPr txBox="1"/>
          <p:nvPr/>
        </p:nvSpPr>
        <p:spPr>
          <a:xfrm>
            <a:off x="9913938" y="3450927"/>
            <a:ext cx="704552"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Optimization</a:t>
            </a:r>
            <a:endParaRPr lang="en-US" sz="800" dirty="0"/>
          </a:p>
        </p:txBody>
      </p:sp>
      <p:sp>
        <p:nvSpPr>
          <p:cNvPr id="42" name="Text 40"/>
          <p:cNvSpPr txBox="1"/>
          <p:nvPr/>
        </p:nvSpPr>
        <p:spPr>
          <a:xfrm>
            <a:off x="6350000" y="3838277"/>
            <a:ext cx="5760720" cy="133350"/>
          </a:xfrm>
          <a:prstGeom prst="rect">
            <a:avLst/>
          </a:prstGeom>
          <a:noFill/>
          <a:ln/>
        </p:spPr>
        <p:txBody>
          <a:bodyPr wrap="square" lIns="0" tIns="0" rIns="0" bIns="0" rtlCol="0" anchor="t"/>
          <a:lstStyle/>
          <a:p>
            <a:pPr algn="l" indent="0" marL="0">
              <a:lnSpc>
                <a:spcPts val="1050"/>
              </a:lnSpc>
              <a:buNone/>
            </a:pPr>
            <a:r>
              <a:rPr lang="en-US" sz="750" i="1" dirty="0">
                <a:solidFill>
                  <a:srgbClr val="3D4A63"/>
                </a:solidFill>
                <a:latin typeface="Everyday Sans UI" pitchFamily="34" charset="0"/>
                <a:ea typeface="Everyday Sans UI" pitchFamily="34" charset="-122"/>
                <a:cs typeface="Everyday Sans UI" pitchFamily="34" charset="-120"/>
              </a:rPr>
              <a:t>Retain channel-specific decisions only where those differences add genuine advertiser value.</a:t>
            </a:r>
            <a:endParaRPr lang="en-US" sz="750" dirty="0"/>
          </a:p>
        </p:txBody>
      </p:sp>
      <p:sp>
        <p:nvSpPr>
          <p:cNvPr id="43" name="Text 41"/>
          <p:cNvSpPr txBox="1"/>
          <p:nvPr/>
        </p:nvSpPr>
        <p:spPr>
          <a:xfrm>
            <a:off x="508000" y="4836418"/>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WHY IT MATTERS</a:t>
            </a:r>
            <a:endParaRPr lang="en-US" sz="550" dirty="0"/>
          </a:p>
        </p:txBody>
      </p:sp>
      <p:sp>
        <p:nvSpPr>
          <p:cNvPr id="44" name="Text 42"/>
          <p:cNvSpPr txBox="1"/>
          <p:nvPr/>
        </p:nvSpPr>
        <p:spPr>
          <a:xfrm>
            <a:off x="2108200" y="4722118"/>
            <a:ext cx="10341864" cy="22225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Consistency reduces the cognitive cost of moving across Walmart Ads.</a:t>
            </a:r>
            <a:endParaRPr lang="en-US" sz="1400" dirty="0"/>
          </a:p>
        </p:txBody>
      </p:sp>
      <p:pic>
        <p:nvPicPr>
          <p:cNvPr id="45"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46" name="Text 43"/>
          <p:cNvSpPr txBox="1"/>
          <p:nvPr/>
        </p:nvSpPr>
        <p:spPr>
          <a:xfrm>
            <a:off x="711200"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47" name="Text 44"/>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12 / 18</a:t>
            </a:r>
            <a:endParaRPr lang="en-US" sz="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2863850" cy="127000"/>
          </a:xfrm>
          <a:prstGeom prst="roundRect">
            <a:avLst>
              <a:gd name="adj" fmla="val 360000"/>
            </a:avLst>
          </a:prstGeom>
          <a:solidFill>
            <a:srgbClr val="D7EEF9"/>
          </a:solidFill>
          <a:ln/>
        </p:spPr>
      </p:sp>
      <p:sp>
        <p:nvSpPr>
          <p:cNvPr id="3" name="Shape 1"/>
          <p:cNvSpPr/>
          <p:nvPr/>
        </p:nvSpPr>
        <p:spPr>
          <a:xfrm>
            <a:off x="508000" y="3005534"/>
            <a:ext cx="11176000" cy="0"/>
          </a:xfrm>
          <a:prstGeom prst="line">
            <a:avLst/>
          </a:prstGeom>
          <a:noFill/>
          <a:ln w="6350">
            <a:solidFill>
              <a:srgbClr val="E4E8EF"/>
            </a:solidFill>
            <a:prstDash val="solid"/>
          </a:ln>
        </p:spPr>
      </p:sp>
      <p:sp>
        <p:nvSpPr>
          <p:cNvPr id="4" name="Shape 2"/>
          <p:cNvSpPr/>
          <p:nvPr/>
        </p:nvSpPr>
        <p:spPr>
          <a:xfrm>
            <a:off x="508000" y="3926880"/>
            <a:ext cx="1291729" cy="0"/>
          </a:xfrm>
          <a:prstGeom prst="line">
            <a:avLst/>
          </a:prstGeom>
          <a:noFill/>
          <a:ln w="6350">
            <a:solidFill>
              <a:srgbClr val="0053E2"/>
            </a:solidFill>
            <a:prstDash val="solid"/>
          </a:ln>
        </p:spPr>
      </p:sp>
      <p:sp>
        <p:nvSpPr>
          <p:cNvPr id="5" name="Shape 3"/>
          <p:cNvSpPr/>
          <p:nvPr/>
        </p:nvSpPr>
        <p:spPr>
          <a:xfrm>
            <a:off x="1901329" y="3926880"/>
            <a:ext cx="1291729" cy="0"/>
          </a:xfrm>
          <a:prstGeom prst="line">
            <a:avLst/>
          </a:prstGeom>
          <a:noFill/>
          <a:ln w="6350">
            <a:solidFill>
              <a:srgbClr val="0053E2"/>
            </a:solidFill>
            <a:prstDash val="solid"/>
          </a:ln>
        </p:spPr>
      </p:sp>
      <p:sp>
        <p:nvSpPr>
          <p:cNvPr id="6" name="Shape 4"/>
          <p:cNvSpPr/>
          <p:nvPr/>
        </p:nvSpPr>
        <p:spPr>
          <a:xfrm>
            <a:off x="3294658" y="3926880"/>
            <a:ext cx="1291828" cy="0"/>
          </a:xfrm>
          <a:prstGeom prst="line">
            <a:avLst/>
          </a:prstGeom>
          <a:noFill/>
          <a:ln w="6350">
            <a:solidFill>
              <a:srgbClr val="0053E2"/>
            </a:solidFill>
            <a:prstDash val="solid"/>
          </a:ln>
        </p:spPr>
      </p:sp>
      <p:sp>
        <p:nvSpPr>
          <p:cNvPr id="7" name="Shape 5"/>
          <p:cNvSpPr/>
          <p:nvPr/>
        </p:nvSpPr>
        <p:spPr>
          <a:xfrm>
            <a:off x="4688086" y="3926880"/>
            <a:ext cx="1291729" cy="0"/>
          </a:xfrm>
          <a:prstGeom prst="line">
            <a:avLst/>
          </a:prstGeom>
          <a:noFill/>
          <a:ln w="6350">
            <a:solidFill>
              <a:srgbClr val="0053E2"/>
            </a:solidFill>
            <a:prstDash val="solid"/>
          </a:ln>
        </p:spPr>
      </p:sp>
      <p:sp>
        <p:nvSpPr>
          <p:cNvPr id="8" name="Shape 6"/>
          <p:cNvSpPr/>
          <p:nvPr/>
        </p:nvSpPr>
        <p:spPr>
          <a:xfrm>
            <a:off x="6081415" y="3926880"/>
            <a:ext cx="1291828" cy="0"/>
          </a:xfrm>
          <a:prstGeom prst="line">
            <a:avLst/>
          </a:prstGeom>
          <a:noFill/>
          <a:ln w="6350">
            <a:solidFill>
              <a:srgbClr val="0053E2"/>
            </a:solidFill>
            <a:prstDash val="solid"/>
          </a:ln>
        </p:spPr>
      </p:sp>
      <p:sp>
        <p:nvSpPr>
          <p:cNvPr id="9" name="Shape 7"/>
          <p:cNvSpPr/>
          <p:nvPr/>
        </p:nvSpPr>
        <p:spPr>
          <a:xfrm>
            <a:off x="7474843" y="3926880"/>
            <a:ext cx="1291729" cy="0"/>
          </a:xfrm>
          <a:prstGeom prst="line">
            <a:avLst/>
          </a:prstGeom>
          <a:noFill/>
          <a:ln w="6350">
            <a:solidFill>
              <a:srgbClr val="0053E2"/>
            </a:solidFill>
            <a:prstDash val="solid"/>
          </a:ln>
        </p:spPr>
      </p:sp>
      <p:sp>
        <p:nvSpPr>
          <p:cNvPr id="10" name="Shape 8"/>
          <p:cNvSpPr/>
          <p:nvPr/>
        </p:nvSpPr>
        <p:spPr>
          <a:xfrm>
            <a:off x="8868172" y="3926880"/>
            <a:ext cx="1291828" cy="0"/>
          </a:xfrm>
          <a:prstGeom prst="line">
            <a:avLst/>
          </a:prstGeom>
          <a:noFill/>
          <a:ln w="6350">
            <a:solidFill>
              <a:srgbClr val="0053E2"/>
            </a:solidFill>
            <a:prstDash val="solid"/>
          </a:ln>
        </p:spPr>
      </p:sp>
      <p:sp>
        <p:nvSpPr>
          <p:cNvPr id="11" name="Shape 9"/>
          <p:cNvSpPr/>
          <p:nvPr/>
        </p:nvSpPr>
        <p:spPr>
          <a:xfrm>
            <a:off x="508000" y="4511080"/>
            <a:ext cx="5384800" cy="0"/>
          </a:xfrm>
          <a:prstGeom prst="line">
            <a:avLst/>
          </a:prstGeom>
          <a:noFill/>
          <a:ln w="6350">
            <a:solidFill>
              <a:srgbClr val="E4E8EF"/>
            </a:solidFill>
            <a:prstDash val="solid"/>
          </a:ln>
        </p:spPr>
      </p:sp>
      <p:sp>
        <p:nvSpPr>
          <p:cNvPr id="12" name="Shape 10"/>
          <p:cNvSpPr/>
          <p:nvPr/>
        </p:nvSpPr>
        <p:spPr>
          <a:xfrm>
            <a:off x="6299200" y="4511080"/>
            <a:ext cx="5384800" cy="0"/>
          </a:xfrm>
          <a:prstGeom prst="line">
            <a:avLst/>
          </a:prstGeom>
          <a:noFill/>
          <a:ln w="6350">
            <a:solidFill>
              <a:srgbClr val="E4E8EF"/>
            </a:solidFill>
            <a:prstDash val="solid"/>
          </a:ln>
        </p:spPr>
      </p:sp>
      <p:sp>
        <p:nvSpPr>
          <p:cNvPr id="13" name="Text 11"/>
          <p:cNvSpPr txBox="1"/>
          <p:nvPr/>
        </p:nvSpPr>
        <p:spPr>
          <a:xfrm>
            <a:off x="468884" y="971550"/>
            <a:ext cx="2942082"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BETTER TARGETING STARTS WITH BETTER AUDIENCE EXPERIENCE</a:t>
            </a:r>
            <a:endParaRPr lang="en-US" sz="500" dirty="0"/>
          </a:p>
        </p:txBody>
      </p:sp>
      <p:sp>
        <p:nvSpPr>
          <p:cNvPr id="14" name="Text 12"/>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Audiences should be an asset advertisers understand &amp; </a:t>
            </a:r>
            <a:pPr algn="l" indent="0" marL="0">
              <a:lnSpc>
                <a:spcPts val="3024"/>
              </a:lnSpc>
              <a:buNone/>
            </a:pPr>
            <a:r>
              <a:rPr lang="en-US" sz="2400" i="1" spc="-72" kern="0" dirty="0">
                <a:solidFill>
                  <a:srgbClr val="0053E2"/>
                </a:solidFill>
                <a:latin typeface="Everyday Sans Light" pitchFamily="34" charset="0"/>
                <a:ea typeface="Everyday Sans Light" pitchFamily="34" charset="-122"/>
                <a:cs typeface="Everyday Sans Light" pitchFamily="34" charset="-120"/>
              </a:rPr>
              <a:t>reuse</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15" name="Text 13"/>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Audience creation, selection and management should help advertisers make confident targeting decisions across campaigns and channels.</a:t>
            </a:r>
            <a:endParaRPr lang="en-US" sz="900" dirty="0"/>
          </a:p>
        </p:txBody>
      </p:sp>
      <p:sp>
        <p:nvSpPr>
          <p:cNvPr id="16" name="Text 14"/>
          <p:cNvSpPr txBox="1"/>
          <p:nvPr/>
        </p:nvSpPr>
        <p:spPr>
          <a:xfrm>
            <a:off x="508000" y="3148409"/>
            <a:ext cx="1549400" cy="101283"/>
          </a:xfrm>
          <a:prstGeom prst="rect">
            <a:avLst/>
          </a:prstGeom>
          <a:noFill/>
          <a:ln/>
        </p:spPr>
        <p:txBody>
          <a:bodyPr wrap="square" lIns="0" tIns="0" rIns="0" bIns="0" rtlCol="0" anchor="t"/>
          <a:lstStyle/>
          <a:p>
            <a:pPr algn="l" indent="0" marL="0">
              <a:lnSpc>
                <a:spcPts val="798"/>
              </a:lnSpc>
              <a:buNone/>
            </a:pPr>
            <a:r>
              <a:rPr lang="en-US" sz="550" spc="77" kern="0" dirty="0">
                <a:solidFill>
                  <a:srgbClr val="3D4A63"/>
                </a:solidFill>
                <a:latin typeface="Everyday Sans Mono" pitchFamily="34" charset="0"/>
                <a:ea typeface="Everyday Sans Mono" pitchFamily="34" charset="-122"/>
                <a:cs typeface="Everyday Sans Mono" pitchFamily="34" charset="-120"/>
              </a:rPr>
              <a:t>TODAY</a:t>
            </a:r>
            <a:endParaRPr lang="en-US" sz="550" dirty="0"/>
          </a:p>
        </p:txBody>
      </p:sp>
      <p:sp>
        <p:nvSpPr>
          <p:cNvPr id="17" name="Text 15"/>
          <p:cNvSpPr txBox="1"/>
          <p:nvPr/>
        </p:nvSpPr>
        <p:spPr>
          <a:xfrm>
            <a:off x="2108200" y="3097609"/>
            <a:ext cx="10341864"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Audience selection and management can be fragmented from the actual campaign decisions advertisers are trying to make.</a:t>
            </a:r>
            <a:endParaRPr lang="en-US" sz="900" dirty="0"/>
          </a:p>
        </p:txBody>
      </p:sp>
      <p:sp>
        <p:nvSpPr>
          <p:cNvPr id="18" name="Text 16"/>
          <p:cNvSpPr txBox="1"/>
          <p:nvPr/>
        </p:nvSpPr>
        <p:spPr>
          <a:xfrm>
            <a:off x="508000" y="3491905"/>
            <a:ext cx="1207008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FUTURE EXPERIENCE · ACROSS CHANNELS</a:t>
            </a:r>
            <a:endParaRPr lang="en-US" sz="550" dirty="0"/>
          </a:p>
        </p:txBody>
      </p:sp>
      <p:sp>
        <p:nvSpPr>
          <p:cNvPr id="19" name="Text 17"/>
          <p:cNvSpPr txBox="1"/>
          <p:nvPr/>
        </p:nvSpPr>
        <p:spPr>
          <a:xfrm>
            <a:off x="1693564" y="3974505"/>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0053E2"/>
                </a:solidFill>
                <a:latin typeface="Everyday Sans UI Medium" pitchFamily="34" charset="0"/>
                <a:ea typeface="Everyday Sans UI Medium" pitchFamily="34" charset="-122"/>
                <a:cs typeface="Everyday Sans UI Medium" pitchFamily="34" charset="-120"/>
              </a:rPr>
              <a:t>→</a:t>
            </a:r>
            <a:endParaRPr lang="en-US" sz="900" dirty="0"/>
          </a:p>
        </p:txBody>
      </p:sp>
      <p:sp>
        <p:nvSpPr>
          <p:cNvPr id="20" name="Text 18"/>
          <p:cNvSpPr txBox="1"/>
          <p:nvPr/>
        </p:nvSpPr>
        <p:spPr>
          <a:xfrm>
            <a:off x="508000" y="4018955"/>
            <a:ext cx="1266329" cy="209550"/>
          </a:xfrm>
          <a:prstGeom prst="rect">
            <a:avLst/>
          </a:prstGeom>
          <a:noFill/>
          <a:ln/>
        </p:spPr>
        <p:txBody>
          <a:bodyPr wrap="square" lIns="0" tIns="0" rIns="0" bIns="0" rtlCol="0" anchor="t"/>
          <a:lstStyle/>
          <a:p>
            <a:pPr algn="l" indent="0" marL="0">
              <a:lnSpc>
                <a:spcPts val="1560"/>
              </a:lnSpc>
              <a:buNone/>
            </a:pPr>
            <a:r>
              <a:rPr lang="en-US" sz="1300" spc="-39" kern="0" dirty="0">
                <a:solidFill>
                  <a:srgbClr val="0053E2"/>
                </a:solidFill>
                <a:latin typeface="Everyday Sans Headline Light" pitchFamily="34" charset="0"/>
                <a:ea typeface="Everyday Sans Headline Light" pitchFamily="34" charset="-122"/>
                <a:cs typeface="Everyday Sans Headline Light" pitchFamily="34" charset="-120"/>
              </a:rPr>
              <a:t>Discover</a:t>
            </a:r>
            <a:endParaRPr lang="en-US" sz="1300" dirty="0"/>
          </a:p>
        </p:txBody>
      </p:sp>
      <p:sp>
        <p:nvSpPr>
          <p:cNvPr id="21" name="Text 19"/>
          <p:cNvSpPr txBox="1"/>
          <p:nvPr/>
        </p:nvSpPr>
        <p:spPr>
          <a:xfrm>
            <a:off x="3086893" y="3974505"/>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0053E2"/>
                </a:solidFill>
                <a:latin typeface="Everyday Sans UI Medium" pitchFamily="34" charset="0"/>
                <a:ea typeface="Everyday Sans UI Medium" pitchFamily="34" charset="-122"/>
                <a:cs typeface="Everyday Sans UI Medium" pitchFamily="34" charset="-120"/>
              </a:rPr>
              <a:t>→</a:t>
            </a:r>
            <a:endParaRPr lang="en-US" sz="900" dirty="0"/>
          </a:p>
        </p:txBody>
      </p:sp>
      <p:sp>
        <p:nvSpPr>
          <p:cNvPr id="22" name="Text 20"/>
          <p:cNvSpPr txBox="1"/>
          <p:nvPr/>
        </p:nvSpPr>
        <p:spPr>
          <a:xfrm>
            <a:off x="1901329" y="4018955"/>
            <a:ext cx="1266329" cy="209550"/>
          </a:xfrm>
          <a:prstGeom prst="rect">
            <a:avLst/>
          </a:prstGeom>
          <a:noFill/>
          <a:ln/>
        </p:spPr>
        <p:txBody>
          <a:bodyPr wrap="square" lIns="0" tIns="0" rIns="0" bIns="0" rtlCol="0" anchor="t"/>
          <a:lstStyle/>
          <a:p>
            <a:pPr algn="l" indent="0" marL="0">
              <a:lnSpc>
                <a:spcPts val="1560"/>
              </a:lnSpc>
              <a:buNone/>
            </a:pPr>
            <a:r>
              <a:rPr lang="en-US" sz="1300" spc="-39" kern="0" dirty="0">
                <a:solidFill>
                  <a:srgbClr val="0053E2"/>
                </a:solidFill>
                <a:latin typeface="Everyday Sans Headline Light" pitchFamily="34" charset="0"/>
                <a:ea typeface="Everyday Sans Headline Light" pitchFamily="34" charset="-122"/>
                <a:cs typeface="Everyday Sans Headline Light" pitchFamily="34" charset="-120"/>
              </a:rPr>
              <a:t>Understand</a:t>
            </a:r>
            <a:endParaRPr lang="en-US" sz="1300" dirty="0"/>
          </a:p>
        </p:txBody>
      </p:sp>
      <p:sp>
        <p:nvSpPr>
          <p:cNvPr id="23" name="Text 21"/>
          <p:cNvSpPr txBox="1"/>
          <p:nvPr/>
        </p:nvSpPr>
        <p:spPr>
          <a:xfrm>
            <a:off x="4480323" y="3974505"/>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0053E2"/>
                </a:solidFill>
                <a:latin typeface="Everyday Sans UI Medium" pitchFamily="34" charset="0"/>
                <a:ea typeface="Everyday Sans UI Medium" pitchFamily="34" charset="-122"/>
                <a:cs typeface="Everyday Sans UI Medium" pitchFamily="34" charset="-120"/>
              </a:rPr>
              <a:t>→</a:t>
            </a:r>
            <a:endParaRPr lang="en-US" sz="900" dirty="0"/>
          </a:p>
        </p:txBody>
      </p:sp>
      <p:sp>
        <p:nvSpPr>
          <p:cNvPr id="24" name="Text 22"/>
          <p:cNvSpPr txBox="1"/>
          <p:nvPr/>
        </p:nvSpPr>
        <p:spPr>
          <a:xfrm>
            <a:off x="3294658" y="4018955"/>
            <a:ext cx="1266428" cy="209550"/>
          </a:xfrm>
          <a:prstGeom prst="rect">
            <a:avLst/>
          </a:prstGeom>
          <a:noFill/>
          <a:ln/>
        </p:spPr>
        <p:txBody>
          <a:bodyPr wrap="square" lIns="0" tIns="0" rIns="0" bIns="0" rtlCol="0" anchor="t"/>
          <a:lstStyle/>
          <a:p>
            <a:pPr algn="l" indent="0" marL="0">
              <a:lnSpc>
                <a:spcPts val="1560"/>
              </a:lnSpc>
              <a:buNone/>
            </a:pPr>
            <a:r>
              <a:rPr lang="en-US" sz="1300" spc="-39" kern="0" dirty="0">
                <a:solidFill>
                  <a:srgbClr val="0053E2"/>
                </a:solidFill>
                <a:latin typeface="Everyday Sans Headline Light" pitchFamily="34" charset="0"/>
                <a:ea typeface="Everyday Sans Headline Light" pitchFamily="34" charset="-122"/>
                <a:cs typeface="Everyday Sans Headline Light" pitchFamily="34" charset="-120"/>
              </a:rPr>
              <a:t>Create</a:t>
            </a:r>
            <a:endParaRPr lang="en-US" sz="1300" dirty="0"/>
          </a:p>
        </p:txBody>
      </p:sp>
      <p:sp>
        <p:nvSpPr>
          <p:cNvPr id="25" name="Text 23"/>
          <p:cNvSpPr txBox="1"/>
          <p:nvPr/>
        </p:nvSpPr>
        <p:spPr>
          <a:xfrm>
            <a:off x="5873650" y="3974505"/>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0053E2"/>
                </a:solidFill>
                <a:latin typeface="Everyday Sans UI Medium" pitchFamily="34" charset="0"/>
                <a:ea typeface="Everyday Sans UI Medium" pitchFamily="34" charset="-122"/>
                <a:cs typeface="Everyday Sans UI Medium" pitchFamily="34" charset="-120"/>
              </a:rPr>
              <a:t>→</a:t>
            </a:r>
            <a:endParaRPr lang="en-US" sz="900" dirty="0"/>
          </a:p>
        </p:txBody>
      </p:sp>
      <p:sp>
        <p:nvSpPr>
          <p:cNvPr id="26" name="Text 24"/>
          <p:cNvSpPr txBox="1"/>
          <p:nvPr/>
        </p:nvSpPr>
        <p:spPr>
          <a:xfrm>
            <a:off x="4688086" y="4018955"/>
            <a:ext cx="1266329" cy="209550"/>
          </a:xfrm>
          <a:prstGeom prst="rect">
            <a:avLst/>
          </a:prstGeom>
          <a:noFill/>
          <a:ln/>
        </p:spPr>
        <p:txBody>
          <a:bodyPr wrap="square" lIns="0" tIns="0" rIns="0" bIns="0" rtlCol="0" anchor="t"/>
          <a:lstStyle/>
          <a:p>
            <a:pPr algn="l" indent="0" marL="0">
              <a:lnSpc>
                <a:spcPts val="1560"/>
              </a:lnSpc>
              <a:buNone/>
            </a:pPr>
            <a:r>
              <a:rPr lang="en-US" sz="1300" spc="-39" kern="0" dirty="0">
                <a:solidFill>
                  <a:srgbClr val="0053E2"/>
                </a:solidFill>
                <a:latin typeface="Everyday Sans Headline Light" pitchFamily="34" charset="0"/>
                <a:ea typeface="Everyday Sans Headline Light" pitchFamily="34" charset="-122"/>
                <a:cs typeface="Everyday Sans Headline Light" pitchFamily="34" charset="-120"/>
              </a:rPr>
              <a:t>Save</a:t>
            </a:r>
            <a:endParaRPr lang="en-US" sz="1300" dirty="0"/>
          </a:p>
        </p:txBody>
      </p:sp>
      <p:sp>
        <p:nvSpPr>
          <p:cNvPr id="27" name="Text 25"/>
          <p:cNvSpPr txBox="1"/>
          <p:nvPr/>
        </p:nvSpPr>
        <p:spPr>
          <a:xfrm>
            <a:off x="7267080" y="3974505"/>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0053E2"/>
                </a:solidFill>
                <a:latin typeface="Everyday Sans UI Medium" pitchFamily="34" charset="0"/>
                <a:ea typeface="Everyday Sans UI Medium" pitchFamily="34" charset="-122"/>
                <a:cs typeface="Everyday Sans UI Medium" pitchFamily="34" charset="-120"/>
              </a:rPr>
              <a:t>→</a:t>
            </a:r>
            <a:endParaRPr lang="en-US" sz="900" dirty="0"/>
          </a:p>
        </p:txBody>
      </p:sp>
      <p:sp>
        <p:nvSpPr>
          <p:cNvPr id="28" name="Text 26"/>
          <p:cNvSpPr txBox="1"/>
          <p:nvPr/>
        </p:nvSpPr>
        <p:spPr>
          <a:xfrm>
            <a:off x="6081415" y="4018955"/>
            <a:ext cx="1266428" cy="209550"/>
          </a:xfrm>
          <a:prstGeom prst="rect">
            <a:avLst/>
          </a:prstGeom>
          <a:noFill/>
          <a:ln/>
        </p:spPr>
        <p:txBody>
          <a:bodyPr wrap="square" lIns="0" tIns="0" rIns="0" bIns="0" rtlCol="0" anchor="t"/>
          <a:lstStyle/>
          <a:p>
            <a:pPr algn="l" indent="0" marL="0">
              <a:lnSpc>
                <a:spcPts val="1560"/>
              </a:lnSpc>
              <a:buNone/>
            </a:pPr>
            <a:r>
              <a:rPr lang="en-US" sz="1300" spc="-39" kern="0" dirty="0">
                <a:solidFill>
                  <a:srgbClr val="0053E2"/>
                </a:solidFill>
                <a:latin typeface="Everyday Sans Headline Light" pitchFamily="34" charset="0"/>
                <a:ea typeface="Everyday Sans Headline Light" pitchFamily="34" charset="-122"/>
                <a:cs typeface="Everyday Sans Headline Light" pitchFamily="34" charset="-120"/>
              </a:rPr>
              <a:t>Activate</a:t>
            </a:r>
            <a:endParaRPr lang="en-US" sz="1300" dirty="0"/>
          </a:p>
        </p:txBody>
      </p:sp>
      <p:sp>
        <p:nvSpPr>
          <p:cNvPr id="29" name="Text 27"/>
          <p:cNvSpPr txBox="1"/>
          <p:nvPr/>
        </p:nvSpPr>
        <p:spPr>
          <a:xfrm>
            <a:off x="8660407" y="3974505"/>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0053E2"/>
                </a:solidFill>
                <a:latin typeface="Everyday Sans UI Medium" pitchFamily="34" charset="0"/>
                <a:ea typeface="Everyday Sans UI Medium" pitchFamily="34" charset="-122"/>
                <a:cs typeface="Everyday Sans UI Medium" pitchFamily="34" charset="-120"/>
              </a:rPr>
              <a:t>→</a:t>
            </a:r>
            <a:endParaRPr lang="en-US" sz="900" dirty="0"/>
          </a:p>
        </p:txBody>
      </p:sp>
      <p:sp>
        <p:nvSpPr>
          <p:cNvPr id="30" name="Text 28"/>
          <p:cNvSpPr txBox="1"/>
          <p:nvPr/>
        </p:nvSpPr>
        <p:spPr>
          <a:xfrm>
            <a:off x="7474843" y="4018955"/>
            <a:ext cx="1266329" cy="209550"/>
          </a:xfrm>
          <a:prstGeom prst="rect">
            <a:avLst/>
          </a:prstGeom>
          <a:noFill/>
          <a:ln/>
        </p:spPr>
        <p:txBody>
          <a:bodyPr wrap="square" lIns="0" tIns="0" rIns="0" bIns="0" rtlCol="0" anchor="t"/>
          <a:lstStyle/>
          <a:p>
            <a:pPr algn="l" indent="0" marL="0">
              <a:lnSpc>
                <a:spcPts val="1560"/>
              </a:lnSpc>
              <a:buNone/>
            </a:pPr>
            <a:r>
              <a:rPr lang="en-US" sz="1300" spc="-39" kern="0" dirty="0">
                <a:solidFill>
                  <a:srgbClr val="0053E2"/>
                </a:solidFill>
                <a:latin typeface="Everyday Sans Headline Light" pitchFamily="34" charset="0"/>
                <a:ea typeface="Everyday Sans Headline Light" pitchFamily="34" charset="-122"/>
                <a:cs typeface="Everyday Sans Headline Light" pitchFamily="34" charset="-120"/>
              </a:rPr>
              <a:t>Measure</a:t>
            </a:r>
            <a:endParaRPr lang="en-US" sz="1300" dirty="0"/>
          </a:p>
        </p:txBody>
      </p:sp>
      <p:sp>
        <p:nvSpPr>
          <p:cNvPr id="31" name="Text 29"/>
          <p:cNvSpPr txBox="1"/>
          <p:nvPr/>
        </p:nvSpPr>
        <p:spPr>
          <a:xfrm>
            <a:off x="8868172" y="4018955"/>
            <a:ext cx="1266428" cy="209550"/>
          </a:xfrm>
          <a:prstGeom prst="rect">
            <a:avLst/>
          </a:prstGeom>
          <a:noFill/>
          <a:ln/>
        </p:spPr>
        <p:txBody>
          <a:bodyPr wrap="square" lIns="0" tIns="0" rIns="0" bIns="0" rtlCol="0" anchor="t"/>
          <a:lstStyle/>
          <a:p>
            <a:pPr algn="l" indent="0" marL="0">
              <a:lnSpc>
                <a:spcPts val="1560"/>
              </a:lnSpc>
              <a:buNone/>
            </a:pPr>
            <a:r>
              <a:rPr lang="en-US" sz="1300" spc="-39" kern="0" dirty="0">
                <a:solidFill>
                  <a:srgbClr val="0053E2"/>
                </a:solidFill>
                <a:latin typeface="Everyday Sans Headline Light" pitchFamily="34" charset="0"/>
                <a:ea typeface="Everyday Sans Headline Light" pitchFamily="34" charset="-122"/>
                <a:cs typeface="Everyday Sans Headline Light" pitchFamily="34" charset="-120"/>
              </a:rPr>
              <a:t>Reuse</a:t>
            </a:r>
            <a:endParaRPr lang="en-US" sz="1300" dirty="0"/>
          </a:p>
        </p:txBody>
      </p:sp>
      <p:sp>
        <p:nvSpPr>
          <p:cNvPr id="32" name="Text 30"/>
          <p:cNvSpPr txBox="1"/>
          <p:nvPr/>
        </p:nvSpPr>
        <p:spPr>
          <a:xfrm>
            <a:off x="508000" y="4603155"/>
            <a:ext cx="5815584"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WHAT BETTER AUDIENCE EXPERIENCE CAN IMPROVE</a:t>
            </a:r>
            <a:endParaRPr lang="en-US" sz="550" dirty="0"/>
          </a:p>
        </p:txBody>
      </p:sp>
      <p:sp>
        <p:nvSpPr>
          <p:cNvPr id="33" name="Text 31"/>
          <p:cNvSpPr txBox="1"/>
          <p:nvPr/>
        </p:nvSpPr>
        <p:spPr>
          <a:xfrm>
            <a:off x="508000" y="4742855"/>
            <a:ext cx="5815584" cy="331391"/>
          </a:xfrm>
          <a:prstGeom prst="rect">
            <a:avLst/>
          </a:prstGeom>
          <a:noFill/>
          <a:ln/>
        </p:spPr>
        <p:txBody>
          <a:bodyPr wrap="square" lIns="0" tIns="0" rIns="0" bIns="0" rtlCol="0" anchor="t"/>
          <a:lstStyle/>
          <a:p>
            <a:pPr algn="l" indent="0" marL="0">
              <a:lnSpc>
                <a:spcPts val="1305"/>
              </a:lnSpc>
              <a:buNone/>
            </a:pPr>
            <a:r>
              <a:rPr lang="en-US" sz="900" dirty="0">
                <a:solidFill>
                  <a:srgbClr val="001E60"/>
                </a:solidFill>
                <a:latin typeface="Everyday Sans UI" pitchFamily="34" charset="0"/>
                <a:ea typeface="Everyday Sans UI" pitchFamily="34" charset="-122"/>
                <a:cs typeface="Everyday Sans UI" pitchFamily="34" charset="-120"/>
              </a:rPr>
              <a:t>Understanding audience size · Composition · Applicability · Expected reach · Reuse across workflows · Consistency</a:t>
            </a:r>
            <a:endParaRPr lang="en-US" sz="900" dirty="0"/>
          </a:p>
          <a:p>
            <a:pPr algn="l" indent="0" marL="0">
              <a:lnSpc>
                <a:spcPts val="1305"/>
              </a:lnSpc>
              <a:buNone/>
            </a:pPr>
            <a:r>
              <a:rPr lang="en-US" sz="900" dirty="0">
                <a:solidFill>
                  <a:srgbClr val="001E60"/>
                </a:solidFill>
                <a:latin typeface="Everyday Sans UI" pitchFamily="34" charset="0"/>
                <a:ea typeface="Everyday Sans UI" pitchFamily="34" charset="-122"/>
                <a:cs typeface="Everyday Sans UI" pitchFamily="34" charset="-120"/>
              </a:rPr>
              <a:t>between the Audience Library and campaign setup</a:t>
            </a:r>
            <a:endParaRPr lang="en-US" sz="900" dirty="0"/>
          </a:p>
        </p:txBody>
      </p:sp>
      <p:sp>
        <p:nvSpPr>
          <p:cNvPr id="34" name="Text 32"/>
          <p:cNvSpPr txBox="1"/>
          <p:nvPr/>
        </p:nvSpPr>
        <p:spPr>
          <a:xfrm>
            <a:off x="6299200" y="4603155"/>
            <a:ext cx="5815584"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CONNECTION TO DISPLAY DIAGNOSIS</a:t>
            </a:r>
            <a:endParaRPr lang="en-US" sz="550" dirty="0"/>
          </a:p>
        </p:txBody>
      </p:sp>
      <p:sp>
        <p:nvSpPr>
          <p:cNvPr id="35" name="Text 33"/>
          <p:cNvSpPr txBox="1"/>
          <p:nvPr/>
        </p:nvSpPr>
        <p:spPr>
          <a:xfrm>
            <a:off x="6299200" y="4742855"/>
            <a:ext cx="5815584" cy="331391"/>
          </a:xfrm>
          <a:prstGeom prst="rect">
            <a:avLst/>
          </a:prstGeom>
          <a:noFill/>
          <a:ln/>
        </p:spPr>
        <p:txBody>
          <a:bodyPr wrap="square" lIns="0" tIns="0" rIns="0" bIns="0" rtlCol="0" anchor="t"/>
          <a:lstStyle/>
          <a:p>
            <a:pPr algn="l" indent="0" marL="0">
              <a:lnSpc>
                <a:spcPts val="1305"/>
              </a:lnSpc>
              <a:buNone/>
            </a:pPr>
            <a:r>
              <a:rPr lang="en-US" sz="900" dirty="0">
                <a:solidFill>
                  <a:srgbClr val="001E60"/>
                </a:solidFill>
                <a:latin typeface="Everyday Sans UI" pitchFamily="34" charset="0"/>
                <a:ea typeface="Everyday Sans UI" pitchFamily="34" charset="-122"/>
                <a:cs typeface="Everyday Sans UI" pitchFamily="34" charset="-120"/>
              </a:rPr>
              <a:t>Better audience information also helps us distinguish poor campaign configuration from underlying delivery or</a:t>
            </a:r>
            <a:endParaRPr lang="en-US" sz="900" dirty="0"/>
          </a:p>
          <a:p>
            <a:pPr algn="l" indent="0" marL="0">
              <a:lnSpc>
                <a:spcPts val="1305"/>
              </a:lnSpc>
              <a:buNone/>
            </a:pPr>
            <a:r>
              <a:rPr lang="en-US" sz="900" dirty="0">
                <a:solidFill>
                  <a:srgbClr val="001E60"/>
                </a:solidFill>
                <a:latin typeface="Everyday Sans UI" pitchFamily="34" charset="0"/>
                <a:ea typeface="Everyday Sans UI" pitchFamily="34" charset="-122"/>
                <a:cs typeface="Everyday Sans UI" pitchFamily="34" charset="-120"/>
              </a:rPr>
              <a:t>inventory constraints.</a:t>
            </a:r>
            <a:endParaRPr lang="en-US" sz="900" dirty="0"/>
          </a:p>
        </p:txBody>
      </p:sp>
      <p:pic>
        <p:nvPicPr>
          <p:cNvPr id="36"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37" name="Text 34"/>
          <p:cNvSpPr txBox="1"/>
          <p:nvPr/>
        </p:nvSpPr>
        <p:spPr>
          <a:xfrm>
            <a:off x="711200"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38" name="Text 35"/>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13 / 18</a:t>
            </a:r>
            <a:endParaRPr lang="en-US" sz="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823740" cy="127000"/>
          </a:xfrm>
          <a:prstGeom prst="roundRect">
            <a:avLst>
              <a:gd name="adj" fmla="val 360000"/>
            </a:avLst>
          </a:prstGeom>
          <a:solidFill>
            <a:srgbClr val="D7EEF9"/>
          </a:solidFill>
          <a:ln/>
        </p:spPr>
      </p:sp>
      <p:sp>
        <p:nvSpPr>
          <p:cNvPr id="3" name="Shape 1"/>
          <p:cNvSpPr/>
          <p:nvPr/>
        </p:nvSpPr>
        <p:spPr>
          <a:xfrm>
            <a:off x="508000" y="2844800"/>
            <a:ext cx="11176000" cy="0"/>
          </a:xfrm>
          <a:prstGeom prst="line">
            <a:avLst/>
          </a:prstGeom>
          <a:noFill/>
          <a:ln w="6350">
            <a:solidFill>
              <a:srgbClr val="E4E8EF"/>
            </a:solidFill>
            <a:prstDash val="solid"/>
          </a:ln>
        </p:spPr>
      </p:sp>
      <p:sp>
        <p:nvSpPr>
          <p:cNvPr id="4" name="Shape 2"/>
          <p:cNvSpPr/>
          <p:nvPr/>
        </p:nvSpPr>
        <p:spPr>
          <a:xfrm>
            <a:off x="508000" y="3394670"/>
            <a:ext cx="11176000" cy="6350"/>
          </a:xfrm>
          <a:prstGeom prst="rect">
            <a:avLst/>
          </a:prstGeom>
          <a:solidFill>
            <a:srgbClr val="0053E2"/>
          </a:solidFill>
          <a:ln/>
        </p:spPr>
      </p:sp>
      <p:sp>
        <p:nvSpPr>
          <p:cNvPr id="5" name="Shape 3"/>
          <p:cNvSpPr/>
          <p:nvPr/>
        </p:nvSpPr>
        <p:spPr>
          <a:xfrm>
            <a:off x="508000" y="3356570"/>
            <a:ext cx="82550" cy="82550"/>
          </a:xfrm>
          <a:prstGeom prst="ellipse">
            <a:avLst/>
          </a:prstGeom>
          <a:solidFill>
            <a:srgbClr val="F5F6F8"/>
          </a:solidFill>
          <a:ln w="6350">
            <a:solidFill>
              <a:srgbClr val="0053E2"/>
            </a:solidFill>
            <a:prstDash val="solid"/>
          </a:ln>
        </p:spPr>
      </p:sp>
      <p:sp>
        <p:nvSpPr>
          <p:cNvPr id="6" name="Shape 4"/>
          <p:cNvSpPr/>
          <p:nvPr/>
        </p:nvSpPr>
        <p:spPr>
          <a:xfrm>
            <a:off x="2783780" y="3356570"/>
            <a:ext cx="82550" cy="82550"/>
          </a:xfrm>
          <a:prstGeom prst="ellipse">
            <a:avLst/>
          </a:prstGeom>
          <a:solidFill>
            <a:srgbClr val="F5F6F8"/>
          </a:solidFill>
          <a:ln w="6350">
            <a:solidFill>
              <a:srgbClr val="0053E2"/>
            </a:solidFill>
            <a:prstDash val="solid"/>
          </a:ln>
        </p:spPr>
      </p:sp>
      <p:sp>
        <p:nvSpPr>
          <p:cNvPr id="7" name="Shape 5"/>
          <p:cNvSpPr/>
          <p:nvPr/>
        </p:nvSpPr>
        <p:spPr>
          <a:xfrm>
            <a:off x="5059660" y="3356570"/>
            <a:ext cx="82550" cy="82550"/>
          </a:xfrm>
          <a:prstGeom prst="ellipse">
            <a:avLst/>
          </a:prstGeom>
          <a:solidFill>
            <a:srgbClr val="F5F6F8"/>
          </a:solidFill>
          <a:ln w="6350">
            <a:solidFill>
              <a:srgbClr val="0053E2"/>
            </a:solidFill>
            <a:prstDash val="solid"/>
          </a:ln>
        </p:spPr>
      </p:sp>
      <p:sp>
        <p:nvSpPr>
          <p:cNvPr id="8" name="Shape 6"/>
          <p:cNvSpPr/>
          <p:nvPr/>
        </p:nvSpPr>
        <p:spPr>
          <a:xfrm>
            <a:off x="7335441" y="3356570"/>
            <a:ext cx="82550" cy="82550"/>
          </a:xfrm>
          <a:prstGeom prst="ellipse">
            <a:avLst/>
          </a:prstGeom>
          <a:solidFill>
            <a:srgbClr val="F5F6F8"/>
          </a:solidFill>
          <a:ln w="6350">
            <a:solidFill>
              <a:srgbClr val="0053E2"/>
            </a:solidFill>
            <a:prstDash val="solid"/>
          </a:ln>
        </p:spPr>
      </p:sp>
      <p:sp>
        <p:nvSpPr>
          <p:cNvPr id="9" name="Shape 7"/>
          <p:cNvSpPr/>
          <p:nvPr/>
        </p:nvSpPr>
        <p:spPr>
          <a:xfrm>
            <a:off x="9611320" y="3356570"/>
            <a:ext cx="82550" cy="82550"/>
          </a:xfrm>
          <a:prstGeom prst="ellipse">
            <a:avLst/>
          </a:prstGeom>
          <a:solidFill>
            <a:srgbClr val="F5F6F8"/>
          </a:solidFill>
          <a:ln w="6350">
            <a:solidFill>
              <a:srgbClr val="0053E2"/>
            </a:solidFill>
            <a:prstDash val="solid"/>
          </a:ln>
        </p:spPr>
      </p:sp>
      <p:sp>
        <p:nvSpPr>
          <p:cNvPr id="10" name="Shape 8"/>
          <p:cNvSpPr/>
          <p:nvPr/>
        </p:nvSpPr>
        <p:spPr>
          <a:xfrm>
            <a:off x="508000" y="4359077"/>
            <a:ext cx="3556000" cy="0"/>
          </a:xfrm>
          <a:prstGeom prst="line">
            <a:avLst/>
          </a:prstGeom>
          <a:noFill/>
          <a:ln w="6350">
            <a:solidFill>
              <a:srgbClr val="E4E8EF"/>
            </a:solidFill>
            <a:prstDash val="solid"/>
          </a:ln>
        </p:spPr>
      </p:sp>
      <p:sp>
        <p:nvSpPr>
          <p:cNvPr id="11" name="Shape 9"/>
          <p:cNvSpPr/>
          <p:nvPr/>
        </p:nvSpPr>
        <p:spPr>
          <a:xfrm>
            <a:off x="4318000" y="4359077"/>
            <a:ext cx="3556000" cy="0"/>
          </a:xfrm>
          <a:prstGeom prst="line">
            <a:avLst/>
          </a:prstGeom>
          <a:noFill/>
          <a:ln w="6350">
            <a:solidFill>
              <a:srgbClr val="E4E8EF"/>
            </a:solidFill>
            <a:prstDash val="solid"/>
          </a:ln>
        </p:spPr>
      </p:sp>
      <p:sp>
        <p:nvSpPr>
          <p:cNvPr id="12" name="Shape 10"/>
          <p:cNvSpPr/>
          <p:nvPr/>
        </p:nvSpPr>
        <p:spPr>
          <a:xfrm>
            <a:off x="8128000" y="4359077"/>
            <a:ext cx="3556000" cy="0"/>
          </a:xfrm>
          <a:prstGeom prst="line">
            <a:avLst/>
          </a:prstGeom>
          <a:noFill/>
          <a:ln w="6350">
            <a:solidFill>
              <a:srgbClr val="E4E8EF"/>
            </a:solidFill>
            <a:prstDash val="solid"/>
          </a:ln>
        </p:spPr>
      </p:sp>
      <p:sp>
        <p:nvSpPr>
          <p:cNvPr id="13" name="Shape 11"/>
          <p:cNvSpPr/>
          <p:nvPr/>
        </p:nvSpPr>
        <p:spPr>
          <a:xfrm>
            <a:off x="508000" y="4988322"/>
            <a:ext cx="11176000" cy="0"/>
          </a:xfrm>
          <a:prstGeom prst="line">
            <a:avLst/>
          </a:prstGeom>
          <a:noFill/>
          <a:ln w="6350">
            <a:solidFill>
              <a:srgbClr val="0053E2"/>
            </a:solidFill>
            <a:prstDash val="solid"/>
          </a:ln>
        </p:spPr>
      </p:sp>
      <p:sp>
        <p:nvSpPr>
          <p:cNvPr id="14" name="Text 12"/>
          <p:cNvSpPr txBox="1"/>
          <p:nvPr/>
        </p:nvSpPr>
        <p:spPr>
          <a:xfrm>
            <a:off x="501650" y="971550"/>
            <a:ext cx="183644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FROM REPORTING TO DECISION SUPPORT</a:t>
            </a:r>
            <a:endParaRPr lang="en-US" sz="500" dirty="0"/>
          </a:p>
        </p:txBody>
      </p:sp>
      <p:sp>
        <p:nvSpPr>
          <p:cNvPr id="15" name="Text 13"/>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Measurement should help advertisers decide what to do </a:t>
            </a:r>
            <a:pPr algn="l" indent="0" marL="0">
              <a:lnSpc>
                <a:spcPts val="3024"/>
              </a:lnSpc>
              <a:buNone/>
            </a:pPr>
            <a:r>
              <a:rPr lang="en-US" sz="2400" i="1" spc="-72" kern="0" dirty="0">
                <a:solidFill>
                  <a:srgbClr val="0053E2"/>
                </a:solidFill>
                <a:latin typeface="Everyday Sans Light" pitchFamily="34" charset="0"/>
                <a:ea typeface="Everyday Sans Light" pitchFamily="34" charset="-122"/>
                <a:cs typeface="Everyday Sans Light" pitchFamily="34" charset="-120"/>
              </a:rPr>
              <a:t>next</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16" name="Text 14"/>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We’re moving from distributed reporting destinations toward a clearer experience organized around the questions advertisers are trying to answer.</a:t>
            </a:r>
            <a:endParaRPr lang="en-US" sz="900" dirty="0"/>
          </a:p>
        </p:txBody>
      </p:sp>
      <p:sp>
        <p:nvSpPr>
          <p:cNvPr id="17" name="Text 15"/>
          <p:cNvSpPr txBox="1"/>
          <p:nvPr/>
        </p:nvSpPr>
        <p:spPr>
          <a:xfrm>
            <a:off x="508000" y="2987675"/>
            <a:ext cx="1549400" cy="101283"/>
          </a:xfrm>
          <a:prstGeom prst="rect">
            <a:avLst/>
          </a:prstGeom>
          <a:noFill/>
          <a:ln/>
        </p:spPr>
        <p:txBody>
          <a:bodyPr wrap="square" lIns="0" tIns="0" rIns="0" bIns="0" rtlCol="0" anchor="t"/>
          <a:lstStyle/>
          <a:p>
            <a:pPr algn="l" indent="0" marL="0">
              <a:lnSpc>
                <a:spcPts val="798"/>
              </a:lnSpc>
              <a:buNone/>
            </a:pPr>
            <a:r>
              <a:rPr lang="en-US" sz="550" spc="77" kern="0" dirty="0">
                <a:solidFill>
                  <a:srgbClr val="3D4A63"/>
                </a:solidFill>
                <a:latin typeface="Everyday Sans Mono" pitchFamily="34" charset="0"/>
                <a:ea typeface="Everyday Sans Mono" pitchFamily="34" charset="-122"/>
                <a:cs typeface="Everyday Sans Mono" pitchFamily="34" charset="-120"/>
              </a:rPr>
              <a:t>TODAY</a:t>
            </a:r>
            <a:endParaRPr lang="en-US" sz="550" dirty="0"/>
          </a:p>
        </p:txBody>
      </p:sp>
      <p:sp>
        <p:nvSpPr>
          <p:cNvPr id="18" name="Text 16"/>
          <p:cNvSpPr txBox="1"/>
          <p:nvPr/>
        </p:nvSpPr>
        <p:spPr>
          <a:xfrm>
            <a:off x="2108200" y="2936875"/>
            <a:ext cx="10341864"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Campaign reports · Channel reports · Measurement tools · Performance views · Optimization signals · Different destinations and interaction patterns</a:t>
            </a:r>
            <a:endParaRPr lang="en-US" sz="900" dirty="0"/>
          </a:p>
        </p:txBody>
      </p:sp>
      <p:sp>
        <p:nvSpPr>
          <p:cNvPr id="19" name="Text 17"/>
          <p:cNvSpPr txBox="1"/>
          <p:nvPr/>
        </p:nvSpPr>
        <p:spPr>
          <a:xfrm>
            <a:off x="508000" y="3534370"/>
            <a:ext cx="2238387" cy="95250"/>
          </a:xfrm>
          <a:prstGeom prst="rect">
            <a:avLst/>
          </a:prstGeom>
          <a:noFill/>
          <a:ln/>
        </p:spPr>
        <p:txBody>
          <a:bodyPr wrap="square" lIns="0" tIns="0" rIns="0" bIns="0" rtlCol="0" anchor="t"/>
          <a:lstStyle/>
          <a:p>
            <a:pPr algn="l" indent="0" marL="0">
              <a:lnSpc>
                <a:spcPts val="720"/>
              </a:lnSpc>
              <a:buNone/>
            </a:pPr>
            <a:r>
              <a:rPr lang="en-US" sz="600" spc="84" kern="0" dirty="0">
                <a:solidFill>
                  <a:srgbClr val="0053E2"/>
                </a:solidFill>
                <a:latin typeface="Everyday Sans Mono" pitchFamily="34" charset="0"/>
                <a:ea typeface="Everyday Sans Mono" pitchFamily="34" charset="-122"/>
                <a:cs typeface="Everyday Sans Mono" pitchFamily="34" charset="-120"/>
              </a:rPr>
              <a:t>UNDERSTAND</a:t>
            </a:r>
            <a:endParaRPr lang="en-US" sz="600" dirty="0"/>
          </a:p>
        </p:txBody>
      </p:sp>
      <p:sp>
        <p:nvSpPr>
          <p:cNvPr id="20" name="Text 18"/>
          <p:cNvSpPr txBox="1"/>
          <p:nvPr/>
        </p:nvSpPr>
        <p:spPr>
          <a:xfrm>
            <a:off x="508000" y="3680420"/>
            <a:ext cx="2238387" cy="198120"/>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How am I performing?</a:t>
            </a:r>
            <a:endParaRPr lang="en-US" sz="1300" dirty="0"/>
          </a:p>
        </p:txBody>
      </p:sp>
      <p:sp>
        <p:nvSpPr>
          <p:cNvPr id="21" name="Text 19"/>
          <p:cNvSpPr txBox="1"/>
          <p:nvPr/>
        </p:nvSpPr>
        <p:spPr>
          <a:xfrm>
            <a:off x="2783780" y="3534370"/>
            <a:ext cx="2238494" cy="95250"/>
          </a:xfrm>
          <a:prstGeom prst="rect">
            <a:avLst/>
          </a:prstGeom>
          <a:noFill/>
          <a:ln/>
        </p:spPr>
        <p:txBody>
          <a:bodyPr wrap="square" lIns="0" tIns="0" rIns="0" bIns="0" rtlCol="0" anchor="t"/>
          <a:lstStyle/>
          <a:p>
            <a:pPr algn="l" indent="0" marL="0">
              <a:lnSpc>
                <a:spcPts val="720"/>
              </a:lnSpc>
              <a:buNone/>
            </a:pPr>
            <a:r>
              <a:rPr lang="en-US" sz="600" spc="84" kern="0" dirty="0">
                <a:solidFill>
                  <a:srgbClr val="0053E2"/>
                </a:solidFill>
                <a:latin typeface="Everyday Sans Mono" pitchFamily="34" charset="0"/>
                <a:ea typeface="Everyday Sans Mono" pitchFamily="34" charset="-122"/>
                <a:cs typeface="Everyday Sans Mono" pitchFamily="34" charset="-120"/>
              </a:rPr>
              <a:t>DIAGNOSE</a:t>
            </a:r>
            <a:endParaRPr lang="en-US" sz="600" dirty="0"/>
          </a:p>
        </p:txBody>
      </p:sp>
      <p:sp>
        <p:nvSpPr>
          <p:cNvPr id="22" name="Text 20"/>
          <p:cNvSpPr txBox="1"/>
          <p:nvPr/>
        </p:nvSpPr>
        <p:spPr>
          <a:xfrm>
            <a:off x="2783780" y="3680420"/>
            <a:ext cx="2238494" cy="198120"/>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What’s driving the result?</a:t>
            </a:r>
            <a:endParaRPr lang="en-US" sz="1300" dirty="0"/>
          </a:p>
        </p:txBody>
      </p:sp>
      <p:sp>
        <p:nvSpPr>
          <p:cNvPr id="23" name="Text 21"/>
          <p:cNvSpPr txBox="1"/>
          <p:nvPr/>
        </p:nvSpPr>
        <p:spPr>
          <a:xfrm>
            <a:off x="5059660" y="3534370"/>
            <a:ext cx="2238387" cy="95250"/>
          </a:xfrm>
          <a:prstGeom prst="rect">
            <a:avLst/>
          </a:prstGeom>
          <a:noFill/>
          <a:ln/>
        </p:spPr>
        <p:txBody>
          <a:bodyPr wrap="square" lIns="0" tIns="0" rIns="0" bIns="0" rtlCol="0" anchor="t"/>
          <a:lstStyle/>
          <a:p>
            <a:pPr algn="l" indent="0" marL="0">
              <a:lnSpc>
                <a:spcPts val="720"/>
              </a:lnSpc>
              <a:buNone/>
            </a:pPr>
            <a:r>
              <a:rPr lang="en-US" sz="600" spc="84" kern="0" dirty="0">
                <a:solidFill>
                  <a:srgbClr val="0053E2"/>
                </a:solidFill>
                <a:latin typeface="Everyday Sans Mono" pitchFamily="34" charset="0"/>
                <a:ea typeface="Everyday Sans Mono" pitchFamily="34" charset="-122"/>
                <a:cs typeface="Everyday Sans Mono" pitchFamily="34" charset="-120"/>
              </a:rPr>
              <a:t>COMPARE</a:t>
            </a:r>
            <a:endParaRPr lang="en-US" sz="600" dirty="0"/>
          </a:p>
        </p:txBody>
      </p:sp>
      <p:sp>
        <p:nvSpPr>
          <p:cNvPr id="24" name="Text 22"/>
          <p:cNvSpPr txBox="1"/>
          <p:nvPr/>
        </p:nvSpPr>
        <p:spPr>
          <a:xfrm>
            <a:off x="5059660" y="3680420"/>
            <a:ext cx="2238387" cy="396081"/>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How are campaigns and</a:t>
            </a:r>
            <a:endParaRPr lang="en-US" sz="1300" dirty="0"/>
          </a:p>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channels performing?</a:t>
            </a:r>
            <a:endParaRPr lang="en-US" sz="1300" dirty="0"/>
          </a:p>
        </p:txBody>
      </p:sp>
      <p:sp>
        <p:nvSpPr>
          <p:cNvPr id="25" name="Text 23"/>
          <p:cNvSpPr txBox="1"/>
          <p:nvPr/>
        </p:nvSpPr>
        <p:spPr>
          <a:xfrm>
            <a:off x="7335441" y="3534370"/>
            <a:ext cx="2238494" cy="95250"/>
          </a:xfrm>
          <a:prstGeom prst="rect">
            <a:avLst/>
          </a:prstGeom>
          <a:noFill/>
          <a:ln/>
        </p:spPr>
        <p:txBody>
          <a:bodyPr wrap="square" lIns="0" tIns="0" rIns="0" bIns="0" rtlCol="0" anchor="t"/>
          <a:lstStyle/>
          <a:p>
            <a:pPr algn="l" indent="0" marL="0">
              <a:lnSpc>
                <a:spcPts val="720"/>
              </a:lnSpc>
              <a:buNone/>
            </a:pPr>
            <a:r>
              <a:rPr lang="en-US" sz="600" spc="84" kern="0" dirty="0">
                <a:solidFill>
                  <a:srgbClr val="0053E2"/>
                </a:solidFill>
                <a:latin typeface="Everyday Sans Mono" pitchFamily="34" charset="0"/>
                <a:ea typeface="Everyday Sans Mono" pitchFamily="34" charset="-122"/>
                <a:cs typeface="Everyday Sans Mono" pitchFamily="34" charset="-120"/>
              </a:rPr>
              <a:t>OPTIMIZE</a:t>
            </a:r>
            <a:endParaRPr lang="en-US" sz="600" dirty="0"/>
          </a:p>
        </p:txBody>
      </p:sp>
      <p:sp>
        <p:nvSpPr>
          <p:cNvPr id="26" name="Text 24"/>
          <p:cNvSpPr txBox="1"/>
          <p:nvPr/>
        </p:nvSpPr>
        <p:spPr>
          <a:xfrm>
            <a:off x="7335441" y="3680420"/>
            <a:ext cx="2238494" cy="198120"/>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Where should I act?</a:t>
            </a:r>
            <a:endParaRPr lang="en-US" sz="1300" dirty="0"/>
          </a:p>
        </p:txBody>
      </p:sp>
      <p:sp>
        <p:nvSpPr>
          <p:cNvPr id="27" name="Text 25"/>
          <p:cNvSpPr txBox="1"/>
          <p:nvPr/>
        </p:nvSpPr>
        <p:spPr>
          <a:xfrm>
            <a:off x="9611320" y="3534370"/>
            <a:ext cx="2238387" cy="95250"/>
          </a:xfrm>
          <a:prstGeom prst="rect">
            <a:avLst/>
          </a:prstGeom>
          <a:noFill/>
          <a:ln/>
        </p:spPr>
        <p:txBody>
          <a:bodyPr wrap="square" lIns="0" tIns="0" rIns="0" bIns="0" rtlCol="0" anchor="t"/>
          <a:lstStyle/>
          <a:p>
            <a:pPr algn="l" indent="0" marL="0">
              <a:lnSpc>
                <a:spcPts val="720"/>
              </a:lnSpc>
              <a:buNone/>
            </a:pPr>
            <a:r>
              <a:rPr lang="en-US" sz="600" spc="84" kern="0" dirty="0">
                <a:solidFill>
                  <a:srgbClr val="0053E2"/>
                </a:solidFill>
                <a:latin typeface="Everyday Sans Mono" pitchFamily="34" charset="0"/>
                <a:ea typeface="Everyday Sans Mono" pitchFamily="34" charset="-122"/>
                <a:cs typeface="Everyday Sans Mono" pitchFamily="34" charset="-120"/>
              </a:rPr>
              <a:t>VALIDATE</a:t>
            </a:r>
            <a:endParaRPr lang="en-US" sz="600" dirty="0"/>
          </a:p>
        </p:txBody>
      </p:sp>
      <p:sp>
        <p:nvSpPr>
          <p:cNvPr id="28" name="Text 26"/>
          <p:cNvSpPr txBox="1"/>
          <p:nvPr/>
        </p:nvSpPr>
        <p:spPr>
          <a:xfrm>
            <a:off x="9611320" y="3680420"/>
            <a:ext cx="2238387" cy="198120"/>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Did the change work?</a:t>
            </a:r>
            <a:endParaRPr lang="en-US" sz="1300" dirty="0"/>
          </a:p>
        </p:txBody>
      </p:sp>
      <p:sp>
        <p:nvSpPr>
          <p:cNvPr id="29" name="Text 27"/>
          <p:cNvSpPr txBox="1"/>
          <p:nvPr/>
        </p:nvSpPr>
        <p:spPr>
          <a:xfrm>
            <a:off x="508000" y="4451152"/>
            <a:ext cx="384048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SPONSORED ONLY</a:t>
            </a:r>
            <a:endParaRPr lang="en-US" sz="550" dirty="0"/>
          </a:p>
        </p:txBody>
      </p:sp>
      <p:sp>
        <p:nvSpPr>
          <p:cNvPr id="30" name="Text 28"/>
          <p:cNvSpPr txBox="1"/>
          <p:nvPr/>
        </p:nvSpPr>
        <p:spPr>
          <a:xfrm>
            <a:off x="508000" y="4590852"/>
            <a:ext cx="3840480" cy="165735"/>
          </a:xfrm>
          <a:prstGeom prst="rect">
            <a:avLst/>
          </a:prstGeom>
          <a:noFill/>
          <a:ln/>
        </p:spPr>
        <p:txBody>
          <a:bodyPr wrap="square" lIns="0" tIns="0" rIns="0" bIns="0" rtlCol="0" anchor="t"/>
          <a:lstStyle/>
          <a:p>
            <a:pPr algn="l" indent="0" marL="0">
              <a:lnSpc>
                <a:spcPts val="1305"/>
              </a:lnSpc>
              <a:buNone/>
            </a:pPr>
            <a:r>
              <a:rPr lang="en-US" sz="900" dirty="0">
                <a:solidFill>
                  <a:srgbClr val="001E60"/>
                </a:solidFill>
                <a:latin typeface="Everyday Sans UI" pitchFamily="34" charset="0"/>
                <a:ea typeface="Everyday Sans UI" pitchFamily="34" charset="-122"/>
                <a:cs typeface="Everyday Sans UI" pitchFamily="34" charset="-120"/>
              </a:rPr>
              <a:t>Surface Sponsored activity.</a:t>
            </a:r>
            <a:endParaRPr lang="en-US" sz="900" dirty="0"/>
          </a:p>
        </p:txBody>
      </p:sp>
      <p:sp>
        <p:nvSpPr>
          <p:cNvPr id="31" name="Text 29"/>
          <p:cNvSpPr txBox="1"/>
          <p:nvPr/>
        </p:nvSpPr>
        <p:spPr>
          <a:xfrm>
            <a:off x="4318000" y="4451152"/>
            <a:ext cx="384048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DISPLAY ONLY</a:t>
            </a:r>
            <a:endParaRPr lang="en-US" sz="550" dirty="0"/>
          </a:p>
        </p:txBody>
      </p:sp>
      <p:sp>
        <p:nvSpPr>
          <p:cNvPr id="32" name="Text 30"/>
          <p:cNvSpPr txBox="1"/>
          <p:nvPr/>
        </p:nvSpPr>
        <p:spPr>
          <a:xfrm>
            <a:off x="4318000" y="4590852"/>
            <a:ext cx="3840480" cy="165735"/>
          </a:xfrm>
          <a:prstGeom prst="rect">
            <a:avLst/>
          </a:prstGeom>
          <a:noFill/>
          <a:ln/>
        </p:spPr>
        <p:txBody>
          <a:bodyPr wrap="square" lIns="0" tIns="0" rIns="0" bIns="0" rtlCol="0" anchor="t"/>
          <a:lstStyle/>
          <a:p>
            <a:pPr algn="l" indent="0" marL="0">
              <a:lnSpc>
                <a:spcPts val="1305"/>
              </a:lnSpc>
              <a:buNone/>
            </a:pPr>
            <a:r>
              <a:rPr lang="en-US" sz="900" dirty="0">
                <a:solidFill>
                  <a:srgbClr val="001E60"/>
                </a:solidFill>
                <a:latin typeface="Everyday Sans UI" pitchFamily="34" charset="0"/>
                <a:ea typeface="Everyday Sans UI" pitchFamily="34" charset="-122"/>
                <a:cs typeface="Everyday Sans UI" pitchFamily="34" charset="-120"/>
              </a:rPr>
              <a:t>Surface Display activity.</a:t>
            </a:r>
            <a:endParaRPr lang="en-US" sz="900" dirty="0"/>
          </a:p>
        </p:txBody>
      </p:sp>
      <p:sp>
        <p:nvSpPr>
          <p:cNvPr id="33" name="Text 31"/>
          <p:cNvSpPr txBox="1"/>
          <p:nvPr/>
        </p:nvSpPr>
        <p:spPr>
          <a:xfrm>
            <a:off x="8128000" y="4451152"/>
            <a:ext cx="384048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MULTI-CHANNEL</a:t>
            </a:r>
            <a:endParaRPr lang="en-US" sz="550" dirty="0"/>
          </a:p>
        </p:txBody>
      </p:sp>
      <p:sp>
        <p:nvSpPr>
          <p:cNvPr id="34" name="Text 32"/>
          <p:cNvSpPr txBox="1"/>
          <p:nvPr/>
        </p:nvSpPr>
        <p:spPr>
          <a:xfrm>
            <a:off x="8128000" y="4590852"/>
            <a:ext cx="3840480" cy="165735"/>
          </a:xfrm>
          <a:prstGeom prst="rect">
            <a:avLst/>
          </a:prstGeom>
          <a:noFill/>
          <a:ln/>
        </p:spPr>
        <p:txBody>
          <a:bodyPr wrap="square" lIns="0" tIns="0" rIns="0" bIns="0" rtlCol="0" anchor="t"/>
          <a:lstStyle/>
          <a:p>
            <a:pPr algn="l" indent="0" marL="0">
              <a:lnSpc>
                <a:spcPts val="1305"/>
              </a:lnSpc>
              <a:buNone/>
            </a:pPr>
            <a:r>
              <a:rPr lang="en-US" sz="900" dirty="0">
                <a:solidFill>
                  <a:srgbClr val="001E60"/>
                </a:solidFill>
                <a:latin typeface="Everyday Sans UI" pitchFamily="34" charset="0"/>
                <a:ea typeface="Everyday Sans UI" pitchFamily="34" charset="-122"/>
                <a:cs typeface="Everyday Sans UI" pitchFamily="34" charset="-120"/>
              </a:rPr>
              <a:t>Make it possible to understand the portfolio.</a:t>
            </a:r>
            <a:endParaRPr lang="en-US" sz="900" dirty="0"/>
          </a:p>
        </p:txBody>
      </p:sp>
      <p:sp>
        <p:nvSpPr>
          <p:cNvPr id="35" name="Text 33"/>
          <p:cNvSpPr txBox="1"/>
          <p:nvPr/>
        </p:nvSpPr>
        <p:spPr>
          <a:xfrm>
            <a:off x="508000" y="5207397"/>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THE STANDARD</a:t>
            </a:r>
            <a:endParaRPr lang="en-US" sz="550" dirty="0"/>
          </a:p>
        </p:txBody>
      </p:sp>
      <p:sp>
        <p:nvSpPr>
          <p:cNvPr id="36" name="Text 34"/>
          <p:cNvSpPr txBox="1"/>
          <p:nvPr/>
        </p:nvSpPr>
        <p:spPr>
          <a:xfrm>
            <a:off x="2108200" y="5093097"/>
            <a:ext cx="10341864" cy="22225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The advertiser shouldn’t have to navigate our taxonomy to get an answer.</a:t>
            </a:r>
            <a:endParaRPr lang="en-US" sz="1400" dirty="0"/>
          </a:p>
        </p:txBody>
      </p:sp>
      <p:pic>
        <p:nvPicPr>
          <p:cNvPr id="37"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38" name="Text 35"/>
          <p:cNvSpPr txBox="1"/>
          <p:nvPr/>
        </p:nvSpPr>
        <p:spPr>
          <a:xfrm>
            <a:off x="711200"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39" name="Text 36"/>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14 / 18</a:t>
            </a:r>
            <a:endParaRPr lang="en-US" sz="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278930" cy="127000"/>
          </a:xfrm>
          <a:prstGeom prst="roundRect">
            <a:avLst>
              <a:gd name="adj" fmla="val 360000"/>
            </a:avLst>
          </a:prstGeom>
          <a:solidFill>
            <a:srgbClr val="D7EEF9"/>
          </a:solidFill>
          <a:ln/>
        </p:spPr>
      </p:sp>
      <p:sp>
        <p:nvSpPr>
          <p:cNvPr id="3" name="Shape 1"/>
          <p:cNvSpPr/>
          <p:nvPr/>
        </p:nvSpPr>
        <p:spPr>
          <a:xfrm>
            <a:off x="508000" y="2918023"/>
            <a:ext cx="4487267" cy="0"/>
          </a:xfrm>
          <a:prstGeom prst="line">
            <a:avLst/>
          </a:prstGeom>
          <a:noFill/>
          <a:ln w="12700">
            <a:solidFill>
              <a:srgbClr val="C3C6CD"/>
            </a:solidFill>
            <a:prstDash val="solid"/>
          </a:ln>
        </p:spPr>
      </p:sp>
      <p:sp>
        <p:nvSpPr>
          <p:cNvPr id="4" name="Shape 2"/>
          <p:cNvSpPr/>
          <p:nvPr/>
        </p:nvSpPr>
        <p:spPr>
          <a:xfrm>
            <a:off x="5401667" y="2918023"/>
            <a:ext cx="6282234" cy="0"/>
          </a:xfrm>
          <a:prstGeom prst="line">
            <a:avLst/>
          </a:prstGeom>
          <a:noFill/>
          <a:ln w="12700">
            <a:solidFill>
              <a:srgbClr val="0053E2"/>
            </a:solidFill>
            <a:prstDash val="solid"/>
          </a:ln>
        </p:spPr>
      </p:sp>
      <p:sp>
        <p:nvSpPr>
          <p:cNvPr id="5" name="Shape 3"/>
          <p:cNvSpPr/>
          <p:nvPr/>
        </p:nvSpPr>
        <p:spPr>
          <a:xfrm>
            <a:off x="2159397" y="4448373"/>
            <a:ext cx="972641" cy="203200"/>
          </a:xfrm>
          <a:prstGeom prst="rect">
            <a:avLst/>
          </a:prstGeom>
          <a:ln w="6350">
            <a:solidFill>
              <a:srgbClr val="E4E8EF"/>
            </a:solidFill>
            <a:prstDash val="solid"/>
          </a:ln>
        </p:spPr>
      </p:sp>
      <p:sp>
        <p:nvSpPr>
          <p:cNvPr id="6" name="Shape 4"/>
          <p:cNvSpPr/>
          <p:nvPr/>
        </p:nvSpPr>
        <p:spPr>
          <a:xfrm>
            <a:off x="3195538" y="4448373"/>
            <a:ext cx="925116" cy="203200"/>
          </a:xfrm>
          <a:prstGeom prst="rect">
            <a:avLst/>
          </a:prstGeom>
          <a:ln w="6350">
            <a:solidFill>
              <a:srgbClr val="E4E8EF"/>
            </a:solidFill>
            <a:prstDash val="solid"/>
          </a:ln>
        </p:spPr>
      </p:sp>
      <p:sp>
        <p:nvSpPr>
          <p:cNvPr id="7" name="Shape 5"/>
          <p:cNvSpPr/>
          <p:nvPr/>
        </p:nvSpPr>
        <p:spPr>
          <a:xfrm>
            <a:off x="4184154" y="4448373"/>
            <a:ext cx="1162645" cy="203200"/>
          </a:xfrm>
          <a:prstGeom prst="rect">
            <a:avLst/>
          </a:prstGeom>
          <a:ln w="6350">
            <a:solidFill>
              <a:srgbClr val="E4E8EF"/>
            </a:solidFill>
            <a:prstDash val="solid"/>
          </a:ln>
        </p:spPr>
      </p:sp>
      <p:sp>
        <p:nvSpPr>
          <p:cNvPr id="8" name="Shape 6"/>
          <p:cNvSpPr/>
          <p:nvPr/>
        </p:nvSpPr>
        <p:spPr>
          <a:xfrm>
            <a:off x="5410299" y="4448373"/>
            <a:ext cx="925116" cy="203200"/>
          </a:xfrm>
          <a:prstGeom prst="rect">
            <a:avLst/>
          </a:prstGeom>
          <a:ln w="6350">
            <a:solidFill>
              <a:srgbClr val="E4E8EF"/>
            </a:solidFill>
            <a:prstDash val="solid"/>
          </a:ln>
        </p:spPr>
      </p:sp>
      <p:sp>
        <p:nvSpPr>
          <p:cNvPr id="9" name="Shape 7"/>
          <p:cNvSpPr/>
          <p:nvPr/>
        </p:nvSpPr>
        <p:spPr>
          <a:xfrm>
            <a:off x="6398915" y="4448373"/>
            <a:ext cx="1447602" cy="203200"/>
          </a:xfrm>
          <a:prstGeom prst="rect">
            <a:avLst/>
          </a:prstGeom>
          <a:ln w="6350">
            <a:solidFill>
              <a:srgbClr val="E4E8EF"/>
            </a:solidFill>
            <a:prstDash val="solid"/>
          </a:ln>
        </p:spPr>
      </p:sp>
      <p:sp>
        <p:nvSpPr>
          <p:cNvPr id="10" name="Shape 8"/>
          <p:cNvSpPr/>
          <p:nvPr/>
        </p:nvSpPr>
        <p:spPr>
          <a:xfrm>
            <a:off x="508000" y="4883348"/>
            <a:ext cx="11176000" cy="0"/>
          </a:xfrm>
          <a:prstGeom prst="line">
            <a:avLst/>
          </a:prstGeom>
          <a:noFill/>
          <a:ln w="6350">
            <a:solidFill>
              <a:srgbClr val="0053E2"/>
            </a:solidFill>
            <a:prstDash val="solid"/>
          </a:ln>
        </p:spPr>
      </p:sp>
      <p:sp>
        <p:nvSpPr>
          <p:cNvPr id="11" name="Text 9"/>
          <p:cNvSpPr txBox="1"/>
          <p:nvPr/>
        </p:nvSpPr>
        <p:spPr>
          <a:xfrm>
            <a:off x="501650" y="971550"/>
            <a:ext cx="129163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CLOSE THE LEARNING LOOP</a:t>
            </a:r>
            <a:endParaRPr lang="en-US" sz="500" dirty="0"/>
          </a:p>
        </p:txBody>
      </p:sp>
      <p:sp>
        <p:nvSpPr>
          <p:cNvPr id="12" name="Text 10"/>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Campaign experiments turn performance questions into </a:t>
            </a:r>
            <a:pPr algn="l" indent="0" marL="0">
              <a:lnSpc>
                <a:spcPts val="3024"/>
              </a:lnSpc>
              <a:buNone/>
            </a:pPr>
            <a:r>
              <a:rPr lang="en-US" sz="2400" i="1" spc="-72" kern="0" dirty="0">
                <a:solidFill>
                  <a:srgbClr val="0053E2"/>
                </a:solidFill>
                <a:latin typeface="Everyday Sans Light" pitchFamily="34" charset="0"/>
                <a:ea typeface="Everyday Sans Light" pitchFamily="34" charset="-122"/>
                <a:cs typeface="Everyday Sans Light" pitchFamily="34" charset="-120"/>
              </a:rPr>
              <a:t>evidence</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13" name="Text 11"/>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Controlled experimentation gives advertisers and Product teams a better way to understand what actually changed an outcome.</a:t>
            </a:r>
            <a:endParaRPr lang="en-US" sz="900" dirty="0"/>
          </a:p>
        </p:txBody>
      </p:sp>
      <p:sp>
        <p:nvSpPr>
          <p:cNvPr id="14" name="Text 12"/>
          <p:cNvSpPr txBox="1"/>
          <p:nvPr/>
        </p:nvSpPr>
        <p:spPr>
          <a:xfrm>
            <a:off x="508000" y="3025973"/>
            <a:ext cx="4846249"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3D4A63"/>
                </a:solidFill>
                <a:latin typeface="Everyday Sans Mono" pitchFamily="34" charset="0"/>
                <a:ea typeface="Everyday Sans Mono" pitchFamily="34" charset="-122"/>
                <a:cs typeface="Everyday Sans Mono" pitchFamily="34" charset="-120"/>
              </a:rPr>
              <a:t>INSTEAD OF</a:t>
            </a:r>
            <a:endParaRPr lang="en-US" sz="550" dirty="0"/>
          </a:p>
        </p:txBody>
      </p:sp>
      <p:sp>
        <p:nvSpPr>
          <p:cNvPr id="15" name="Text 13"/>
          <p:cNvSpPr txBox="1"/>
          <p:nvPr/>
        </p:nvSpPr>
        <p:spPr>
          <a:xfrm>
            <a:off x="508000" y="3191073"/>
            <a:ext cx="4846249" cy="285750"/>
          </a:xfrm>
          <a:prstGeom prst="rect">
            <a:avLst/>
          </a:prstGeom>
          <a:noFill/>
          <a:ln/>
        </p:spPr>
        <p:txBody>
          <a:bodyPr wrap="square" lIns="0" tIns="0" rIns="0" bIns="0" rtlCol="0" anchor="t"/>
          <a:lstStyle/>
          <a:p>
            <a:pPr algn="l" indent="0" marL="0">
              <a:lnSpc>
                <a:spcPts val="2250"/>
              </a:lnSpc>
              <a:buNone/>
            </a:pPr>
            <a:r>
              <a:rPr lang="en-US" sz="1800" i="1" spc="-36" kern="0" dirty="0">
                <a:solidFill>
                  <a:srgbClr val="3D4A63"/>
                </a:solidFill>
                <a:latin typeface="Everyday Sans Light" pitchFamily="34" charset="0"/>
                <a:ea typeface="Everyday Sans Light" pitchFamily="34" charset="-122"/>
                <a:cs typeface="Everyday Sans Light" pitchFamily="34" charset="-120"/>
              </a:rPr>
              <a:t>“Display isn’t performing.”</a:t>
            </a:r>
            <a:endParaRPr lang="en-US" sz="1800" dirty="0"/>
          </a:p>
        </p:txBody>
      </p:sp>
      <p:sp>
        <p:nvSpPr>
          <p:cNvPr id="16" name="Text 14"/>
          <p:cNvSpPr txBox="1"/>
          <p:nvPr/>
        </p:nvSpPr>
        <p:spPr>
          <a:xfrm>
            <a:off x="5401667" y="3025973"/>
            <a:ext cx="6784812"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WE CAN TEST</a:t>
            </a:r>
            <a:endParaRPr lang="en-US" sz="550" dirty="0"/>
          </a:p>
        </p:txBody>
      </p:sp>
      <p:sp>
        <p:nvSpPr>
          <p:cNvPr id="17" name="Text 15"/>
          <p:cNvSpPr txBox="1"/>
          <p:nvPr/>
        </p:nvSpPr>
        <p:spPr>
          <a:xfrm>
            <a:off x="5401667" y="3191073"/>
            <a:ext cx="995263" cy="209550"/>
          </a:xfrm>
          <a:prstGeom prst="rect">
            <a:avLst/>
          </a:prstGeom>
          <a:noFill/>
          <a:ln/>
        </p:spPr>
        <p:txBody>
          <a:bodyPr wrap="square" lIns="0" tIns="0" rIns="0" bIns="0" rtlCol="0" anchor="t"/>
          <a:lstStyle/>
          <a:p>
            <a:pPr algn="l" indent="0" marL="0">
              <a:lnSpc>
                <a:spcPts val="1560"/>
              </a:lnSpc>
              <a:buNone/>
            </a:pPr>
            <a:r>
              <a:rPr lang="en-US" sz="1300" spc="-26" kern="0" dirty="0">
                <a:solidFill>
                  <a:srgbClr val="0053E2"/>
                </a:solidFill>
                <a:latin typeface="Everyday Sans Headline Light" pitchFamily="34" charset="0"/>
                <a:ea typeface="Everyday Sans Headline Light" pitchFamily="34" charset="-122"/>
                <a:cs typeface="Everyday Sans Headline Light" pitchFamily="34" charset="-120"/>
              </a:rPr>
              <a:t>Audience A</a:t>
            </a:r>
            <a:endParaRPr lang="en-US" sz="1300" dirty="0"/>
          </a:p>
        </p:txBody>
      </p:sp>
      <p:sp>
        <p:nvSpPr>
          <p:cNvPr id="18" name="Text 16"/>
          <p:cNvSpPr txBox="1"/>
          <p:nvPr/>
        </p:nvSpPr>
        <p:spPr>
          <a:xfrm>
            <a:off x="6396930" y="3279973"/>
            <a:ext cx="321568" cy="95250"/>
          </a:xfrm>
          <a:prstGeom prst="rect">
            <a:avLst/>
          </a:prstGeom>
          <a:noFill/>
          <a:ln/>
        </p:spPr>
        <p:txBody>
          <a:bodyPr wrap="square" lIns="0" tIns="0" rIns="0" bIns="0" rtlCol="0" anchor="t"/>
          <a:lstStyle/>
          <a:p>
            <a:pPr algn="l" indent="0" marL="0">
              <a:lnSpc>
                <a:spcPts val="720"/>
              </a:lnSpc>
              <a:buNone/>
            </a:pPr>
            <a:r>
              <a:rPr lang="en-US" sz="600" spc="84" kern="0" dirty="0">
                <a:solidFill>
                  <a:srgbClr val="3D4A63"/>
                </a:solidFill>
                <a:latin typeface="Everyday Sans Mono" pitchFamily="34" charset="0"/>
                <a:ea typeface="Everyday Sans Mono" pitchFamily="34" charset="-122"/>
                <a:cs typeface="Everyday Sans Mono" pitchFamily="34" charset="-120"/>
              </a:rPr>
              <a:t>VS.</a:t>
            </a:r>
            <a:endParaRPr lang="en-US" sz="600" dirty="0"/>
          </a:p>
        </p:txBody>
      </p:sp>
      <p:sp>
        <p:nvSpPr>
          <p:cNvPr id="19" name="Text 17"/>
          <p:cNvSpPr txBox="1"/>
          <p:nvPr/>
        </p:nvSpPr>
        <p:spPr>
          <a:xfrm>
            <a:off x="6718498" y="3191073"/>
            <a:ext cx="990302" cy="209550"/>
          </a:xfrm>
          <a:prstGeom prst="rect">
            <a:avLst/>
          </a:prstGeom>
          <a:noFill/>
          <a:ln/>
        </p:spPr>
        <p:txBody>
          <a:bodyPr wrap="square" lIns="0" tIns="0" rIns="0" bIns="0" rtlCol="0" anchor="t"/>
          <a:lstStyle/>
          <a:p>
            <a:pPr algn="l" indent="0" marL="0">
              <a:lnSpc>
                <a:spcPts val="1560"/>
              </a:lnSpc>
              <a:buNone/>
            </a:pPr>
            <a:r>
              <a:rPr lang="en-US" sz="1300" spc="-26" kern="0" dirty="0">
                <a:solidFill>
                  <a:srgbClr val="0053E2"/>
                </a:solidFill>
                <a:latin typeface="Everyday Sans Headline Light" pitchFamily="34" charset="0"/>
                <a:ea typeface="Everyday Sans Headline Light" pitchFamily="34" charset="-122"/>
                <a:cs typeface="Everyday Sans Headline Light" pitchFamily="34" charset="-120"/>
              </a:rPr>
              <a:t>Audience B</a:t>
            </a:r>
            <a:endParaRPr lang="en-US" sz="1300" dirty="0"/>
          </a:p>
        </p:txBody>
      </p:sp>
      <p:sp>
        <p:nvSpPr>
          <p:cNvPr id="20" name="Text 18"/>
          <p:cNvSpPr txBox="1"/>
          <p:nvPr/>
        </p:nvSpPr>
        <p:spPr>
          <a:xfrm>
            <a:off x="5401667" y="3464123"/>
            <a:ext cx="995263" cy="209550"/>
          </a:xfrm>
          <a:prstGeom prst="rect">
            <a:avLst/>
          </a:prstGeom>
          <a:noFill/>
          <a:ln/>
        </p:spPr>
        <p:txBody>
          <a:bodyPr wrap="square" lIns="0" tIns="0" rIns="0" bIns="0" rtlCol="0" anchor="t"/>
          <a:lstStyle/>
          <a:p>
            <a:pPr algn="l" indent="0" marL="0">
              <a:lnSpc>
                <a:spcPts val="1560"/>
              </a:lnSpc>
              <a:buNone/>
            </a:pPr>
            <a:r>
              <a:rPr lang="en-US" sz="1300" spc="-26" kern="0" dirty="0">
                <a:solidFill>
                  <a:srgbClr val="0053E2"/>
                </a:solidFill>
                <a:latin typeface="Everyday Sans Headline Light" pitchFamily="34" charset="0"/>
                <a:ea typeface="Everyday Sans Headline Light" pitchFamily="34" charset="-122"/>
                <a:cs typeface="Everyday Sans Headline Light" pitchFamily="34" charset="-120"/>
              </a:rPr>
              <a:t>Creative A</a:t>
            </a:r>
            <a:endParaRPr lang="en-US" sz="1300" dirty="0"/>
          </a:p>
        </p:txBody>
      </p:sp>
      <p:sp>
        <p:nvSpPr>
          <p:cNvPr id="21" name="Text 19"/>
          <p:cNvSpPr txBox="1"/>
          <p:nvPr/>
        </p:nvSpPr>
        <p:spPr>
          <a:xfrm>
            <a:off x="6396930" y="3553023"/>
            <a:ext cx="321568" cy="95250"/>
          </a:xfrm>
          <a:prstGeom prst="rect">
            <a:avLst/>
          </a:prstGeom>
          <a:noFill/>
          <a:ln/>
        </p:spPr>
        <p:txBody>
          <a:bodyPr wrap="square" lIns="0" tIns="0" rIns="0" bIns="0" rtlCol="0" anchor="t"/>
          <a:lstStyle/>
          <a:p>
            <a:pPr algn="l" indent="0" marL="0">
              <a:lnSpc>
                <a:spcPts val="720"/>
              </a:lnSpc>
              <a:buNone/>
            </a:pPr>
            <a:r>
              <a:rPr lang="en-US" sz="600" spc="84" kern="0" dirty="0">
                <a:solidFill>
                  <a:srgbClr val="3D4A63"/>
                </a:solidFill>
                <a:latin typeface="Everyday Sans Mono" pitchFamily="34" charset="0"/>
                <a:ea typeface="Everyday Sans Mono" pitchFamily="34" charset="-122"/>
                <a:cs typeface="Everyday Sans Mono" pitchFamily="34" charset="-120"/>
              </a:rPr>
              <a:t>VS.</a:t>
            </a:r>
            <a:endParaRPr lang="en-US" sz="600" dirty="0"/>
          </a:p>
        </p:txBody>
      </p:sp>
      <p:sp>
        <p:nvSpPr>
          <p:cNvPr id="22" name="Text 20"/>
          <p:cNvSpPr txBox="1"/>
          <p:nvPr/>
        </p:nvSpPr>
        <p:spPr>
          <a:xfrm>
            <a:off x="6718498" y="3464123"/>
            <a:ext cx="990302" cy="209550"/>
          </a:xfrm>
          <a:prstGeom prst="rect">
            <a:avLst/>
          </a:prstGeom>
          <a:noFill/>
          <a:ln/>
        </p:spPr>
        <p:txBody>
          <a:bodyPr wrap="square" lIns="0" tIns="0" rIns="0" bIns="0" rtlCol="0" anchor="t"/>
          <a:lstStyle/>
          <a:p>
            <a:pPr algn="l" indent="0" marL="0">
              <a:lnSpc>
                <a:spcPts val="1560"/>
              </a:lnSpc>
              <a:buNone/>
            </a:pPr>
            <a:r>
              <a:rPr lang="en-US" sz="1300" spc="-26" kern="0" dirty="0">
                <a:solidFill>
                  <a:srgbClr val="0053E2"/>
                </a:solidFill>
                <a:latin typeface="Everyday Sans Headline Light" pitchFamily="34" charset="0"/>
                <a:ea typeface="Everyday Sans Headline Light" pitchFamily="34" charset="-122"/>
                <a:cs typeface="Everyday Sans Headline Light" pitchFamily="34" charset="-120"/>
              </a:rPr>
              <a:t>Creative B</a:t>
            </a:r>
            <a:endParaRPr lang="en-US" sz="1300" dirty="0"/>
          </a:p>
        </p:txBody>
      </p:sp>
      <p:sp>
        <p:nvSpPr>
          <p:cNvPr id="23" name="Text 21"/>
          <p:cNvSpPr txBox="1"/>
          <p:nvPr/>
        </p:nvSpPr>
        <p:spPr>
          <a:xfrm>
            <a:off x="5401667" y="3737173"/>
            <a:ext cx="995263" cy="209550"/>
          </a:xfrm>
          <a:prstGeom prst="rect">
            <a:avLst/>
          </a:prstGeom>
          <a:noFill/>
          <a:ln/>
        </p:spPr>
        <p:txBody>
          <a:bodyPr wrap="square" lIns="0" tIns="0" rIns="0" bIns="0" rtlCol="0" anchor="t"/>
          <a:lstStyle/>
          <a:p>
            <a:pPr algn="l" indent="0" marL="0">
              <a:lnSpc>
                <a:spcPts val="1560"/>
              </a:lnSpc>
              <a:buNone/>
            </a:pPr>
            <a:r>
              <a:rPr lang="en-US" sz="1300" spc="-26" kern="0" dirty="0">
                <a:solidFill>
                  <a:srgbClr val="0053E2"/>
                </a:solidFill>
                <a:latin typeface="Everyday Sans Headline Light" pitchFamily="34" charset="0"/>
                <a:ea typeface="Everyday Sans Headline Light" pitchFamily="34" charset="-122"/>
                <a:cs typeface="Everyday Sans Headline Light" pitchFamily="34" charset="-120"/>
              </a:rPr>
              <a:t>Setup A</a:t>
            </a:r>
            <a:endParaRPr lang="en-US" sz="1300" dirty="0"/>
          </a:p>
        </p:txBody>
      </p:sp>
      <p:sp>
        <p:nvSpPr>
          <p:cNvPr id="24" name="Text 22"/>
          <p:cNvSpPr txBox="1"/>
          <p:nvPr/>
        </p:nvSpPr>
        <p:spPr>
          <a:xfrm>
            <a:off x="6396930" y="3826073"/>
            <a:ext cx="321568" cy="95250"/>
          </a:xfrm>
          <a:prstGeom prst="rect">
            <a:avLst/>
          </a:prstGeom>
          <a:noFill/>
          <a:ln/>
        </p:spPr>
        <p:txBody>
          <a:bodyPr wrap="square" lIns="0" tIns="0" rIns="0" bIns="0" rtlCol="0" anchor="t"/>
          <a:lstStyle/>
          <a:p>
            <a:pPr algn="l" indent="0" marL="0">
              <a:lnSpc>
                <a:spcPts val="720"/>
              </a:lnSpc>
              <a:buNone/>
            </a:pPr>
            <a:r>
              <a:rPr lang="en-US" sz="600" spc="84" kern="0" dirty="0">
                <a:solidFill>
                  <a:srgbClr val="3D4A63"/>
                </a:solidFill>
                <a:latin typeface="Everyday Sans Mono" pitchFamily="34" charset="0"/>
                <a:ea typeface="Everyday Sans Mono" pitchFamily="34" charset="-122"/>
                <a:cs typeface="Everyday Sans Mono" pitchFamily="34" charset="-120"/>
              </a:rPr>
              <a:t>VS.</a:t>
            </a:r>
            <a:endParaRPr lang="en-US" sz="600" dirty="0"/>
          </a:p>
        </p:txBody>
      </p:sp>
      <p:sp>
        <p:nvSpPr>
          <p:cNvPr id="25" name="Text 23"/>
          <p:cNvSpPr txBox="1"/>
          <p:nvPr/>
        </p:nvSpPr>
        <p:spPr>
          <a:xfrm>
            <a:off x="6718498" y="3737173"/>
            <a:ext cx="990302" cy="209550"/>
          </a:xfrm>
          <a:prstGeom prst="rect">
            <a:avLst/>
          </a:prstGeom>
          <a:noFill/>
          <a:ln/>
        </p:spPr>
        <p:txBody>
          <a:bodyPr wrap="square" lIns="0" tIns="0" rIns="0" bIns="0" rtlCol="0" anchor="t"/>
          <a:lstStyle/>
          <a:p>
            <a:pPr algn="l" indent="0" marL="0">
              <a:lnSpc>
                <a:spcPts val="1560"/>
              </a:lnSpc>
              <a:buNone/>
            </a:pPr>
            <a:r>
              <a:rPr lang="en-US" sz="1300" spc="-26" kern="0" dirty="0">
                <a:solidFill>
                  <a:srgbClr val="0053E2"/>
                </a:solidFill>
                <a:latin typeface="Everyday Sans Headline Light" pitchFamily="34" charset="0"/>
                <a:ea typeface="Everyday Sans Headline Light" pitchFamily="34" charset="-122"/>
                <a:cs typeface="Everyday Sans Headline Light" pitchFamily="34" charset="-120"/>
              </a:rPr>
              <a:t>Setup B</a:t>
            </a:r>
            <a:endParaRPr lang="en-US" sz="1300" dirty="0"/>
          </a:p>
        </p:txBody>
      </p:sp>
      <p:sp>
        <p:nvSpPr>
          <p:cNvPr id="26" name="Text 24"/>
          <p:cNvSpPr txBox="1"/>
          <p:nvPr/>
        </p:nvSpPr>
        <p:spPr>
          <a:xfrm>
            <a:off x="5401667" y="4010223"/>
            <a:ext cx="995263" cy="209550"/>
          </a:xfrm>
          <a:prstGeom prst="rect">
            <a:avLst/>
          </a:prstGeom>
          <a:noFill/>
          <a:ln/>
        </p:spPr>
        <p:txBody>
          <a:bodyPr wrap="square" lIns="0" tIns="0" rIns="0" bIns="0" rtlCol="0" anchor="t"/>
          <a:lstStyle/>
          <a:p>
            <a:pPr algn="l" indent="0" marL="0">
              <a:lnSpc>
                <a:spcPts val="1560"/>
              </a:lnSpc>
              <a:buNone/>
            </a:pPr>
            <a:r>
              <a:rPr lang="en-US" sz="1300" spc="-26" kern="0" dirty="0">
                <a:solidFill>
                  <a:srgbClr val="0053E2"/>
                </a:solidFill>
                <a:latin typeface="Everyday Sans Headline Light" pitchFamily="34" charset="0"/>
                <a:ea typeface="Everyday Sans Headline Light" pitchFamily="34" charset="-122"/>
                <a:cs typeface="Everyday Sans Headline Light" pitchFamily="34" charset="-120"/>
              </a:rPr>
              <a:t>Strategy A</a:t>
            </a:r>
            <a:endParaRPr lang="en-US" sz="1300" dirty="0"/>
          </a:p>
        </p:txBody>
      </p:sp>
      <p:sp>
        <p:nvSpPr>
          <p:cNvPr id="27" name="Text 25"/>
          <p:cNvSpPr txBox="1"/>
          <p:nvPr/>
        </p:nvSpPr>
        <p:spPr>
          <a:xfrm>
            <a:off x="6396930" y="4099123"/>
            <a:ext cx="321568" cy="95250"/>
          </a:xfrm>
          <a:prstGeom prst="rect">
            <a:avLst/>
          </a:prstGeom>
          <a:noFill/>
          <a:ln/>
        </p:spPr>
        <p:txBody>
          <a:bodyPr wrap="square" lIns="0" tIns="0" rIns="0" bIns="0" rtlCol="0" anchor="t"/>
          <a:lstStyle/>
          <a:p>
            <a:pPr algn="l" indent="0" marL="0">
              <a:lnSpc>
                <a:spcPts val="720"/>
              </a:lnSpc>
              <a:buNone/>
            </a:pPr>
            <a:r>
              <a:rPr lang="en-US" sz="600" spc="84" kern="0" dirty="0">
                <a:solidFill>
                  <a:srgbClr val="3D4A63"/>
                </a:solidFill>
                <a:latin typeface="Everyday Sans Mono" pitchFamily="34" charset="0"/>
                <a:ea typeface="Everyday Sans Mono" pitchFamily="34" charset="-122"/>
                <a:cs typeface="Everyday Sans Mono" pitchFamily="34" charset="-120"/>
              </a:rPr>
              <a:t>VS.</a:t>
            </a:r>
            <a:endParaRPr lang="en-US" sz="600" dirty="0"/>
          </a:p>
        </p:txBody>
      </p:sp>
      <p:sp>
        <p:nvSpPr>
          <p:cNvPr id="28" name="Text 26"/>
          <p:cNvSpPr txBox="1"/>
          <p:nvPr/>
        </p:nvSpPr>
        <p:spPr>
          <a:xfrm>
            <a:off x="6718498" y="4010223"/>
            <a:ext cx="990302" cy="209550"/>
          </a:xfrm>
          <a:prstGeom prst="rect">
            <a:avLst/>
          </a:prstGeom>
          <a:noFill/>
          <a:ln/>
        </p:spPr>
        <p:txBody>
          <a:bodyPr wrap="square" lIns="0" tIns="0" rIns="0" bIns="0" rtlCol="0" anchor="t"/>
          <a:lstStyle/>
          <a:p>
            <a:pPr algn="l" indent="0" marL="0">
              <a:lnSpc>
                <a:spcPts val="1560"/>
              </a:lnSpc>
              <a:buNone/>
            </a:pPr>
            <a:r>
              <a:rPr lang="en-US" sz="1300" spc="-26" kern="0" dirty="0">
                <a:solidFill>
                  <a:srgbClr val="0053E2"/>
                </a:solidFill>
                <a:latin typeface="Everyday Sans Headline Light" pitchFamily="34" charset="0"/>
                <a:ea typeface="Everyday Sans Headline Light" pitchFamily="34" charset="-122"/>
                <a:cs typeface="Everyday Sans Headline Light" pitchFamily="34" charset="-120"/>
              </a:rPr>
              <a:t>Strategy B</a:t>
            </a:r>
            <a:endParaRPr lang="en-US" sz="1300" dirty="0"/>
          </a:p>
        </p:txBody>
      </p:sp>
      <p:sp>
        <p:nvSpPr>
          <p:cNvPr id="29" name="Text 27"/>
          <p:cNvSpPr txBox="1"/>
          <p:nvPr/>
        </p:nvSpPr>
        <p:spPr>
          <a:xfrm>
            <a:off x="508000" y="4505523"/>
            <a:ext cx="1651397"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EXPERIMENTS CAN HELP SEPARATE</a:t>
            </a:r>
            <a:endParaRPr lang="en-US" sz="550" dirty="0"/>
          </a:p>
        </p:txBody>
      </p:sp>
      <p:sp>
        <p:nvSpPr>
          <p:cNvPr id="30" name="Text 28"/>
          <p:cNvSpPr txBox="1"/>
          <p:nvPr/>
        </p:nvSpPr>
        <p:spPr>
          <a:xfrm>
            <a:off x="2241947" y="4505523"/>
            <a:ext cx="959941"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TARGETING EFFECTS</a:t>
            </a:r>
            <a:endParaRPr lang="en-US" sz="550" dirty="0"/>
          </a:p>
        </p:txBody>
      </p:sp>
      <p:sp>
        <p:nvSpPr>
          <p:cNvPr id="31" name="Text 29"/>
          <p:cNvSpPr txBox="1"/>
          <p:nvPr/>
        </p:nvSpPr>
        <p:spPr>
          <a:xfrm>
            <a:off x="3278088" y="4505523"/>
            <a:ext cx="912416"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CREATIVE EFFECTS</a:t>
            </a:r>
            <a:endParaRPr lang="en-US" sz="550" dirty="0"/>
          </a:p>
        </p:txBody>
      </p:sp>
      <p:sp>
        <p:nvSpPr>
          <p:cNvPr id="32" name="Text 30"/>
          <p:cNvSpPr txBox="1"/>
          <p:nvPr/>
        </p:nvSpPr>
        <p:spPr>
          <a:xfrm>
            <a:off x="4266704" y="4505523"/>
            <a:ext cx="1149945"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CONFIGURATION EFFECTS</a:t>
            </a:r>
            <a:endParaRPr lang="en-US" sz="550" dirty="0"/>
          </a:p>
        </p:txBody>
      </p:sp>
      <p:sp>
        <p:nvSpPr>
          <p:cNvPr id="33" name="Text 31"/>
          <p:cNvSpPr txBox="1"/>
          <p:nvPr/>
        </p:nvSpPr>
        <p:spPr>
          <a:xfrm>
            <a:off x="5492849" y="4505523"/>
            <a:ext cx="912416"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STRATEGY EFFECTS</a:t>
            </a:r>
            <a:endParaRPr lang="en-US" sz="550" dirty="0"/>
          </a:p>
        </p:txBody>
      </p:sp>
      <p:sp>
        <p:nvSpPr>
          <p:cNvPr id="34" name="Text 32"/>
          <p:cNvSpPr txBox="1"/>
          <p:nvPr/>
        </p:nvSpPr>
        <p:spPr>
          <a:xfrm>
            <a:off x="6481465" y="4505523"/>
            <a:ext cx="1434902"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OTHER PERFORMANCE VARIABLES</a:t>
            </a:r>
            <a:endParaRPr lang="en-US" sz="550" dirty="0"/>
          </a:p>
        </p:txBody>
      </p:sp>
      <p:sp>
        <p:nvSpPr>
          <p:cNvPr id="35" name="Text 33"/>
          <p:cNvSpPr txBox="1"/>
          <p:nvPr/>
        </p:nvSpPr>
        <p:spPr>
          <a:xfrm>
            <a:off x="508000" y="5102423"/>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THEN ASK</a:t>
            </a:r>
            <a:endParaRPr lang="en-US" sz="550" dirty="0"/>
          </a:p>
        </p:txBody>
      </p:sp>
      <p:sp>
        <p:nvSpPr>
          <p:cNvPr id="36" name="Text 34"/>
          <p:cNvSpPr txBox="1"/>
          <p:nvPr/>
        </p:nvSpPr>
        <p:spPr>
          <a:xfrm>
            <a:off x="2108200" y="4988123"/>
            <a:ext cx="10341864" cy="22225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What actually changed the outcome?</a:t>
            </a:r>
            <a:endParaRPr lang="en-US" sz="1400" dirty="0"/>
          </a:p>
        </p:txBody>
      </p:sp>
      <p:pic>
        <p:nvPicPr>
          <p:cNvPr id="37"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38" name="Text 35"/>
          <p:cNvSpPr txBox="1"/>
          <p:nvPr/>
        </p:nvSpPr>
        <p:spPr>
          <a:xfrm>
            <a:off x="711200"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39" name="Text 36"/>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15 / 18</a:t>
            </a:r>
            <a:endParaRPr lang="en-US" sz="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922859" cy="127000"/>
          </a:xfrm>
          <a:prstGeom prst="roundRect">
            <a:avLst>
              <a:gd name="adj" fmla="val 360000"/>
            </a:avLst>
          </a:prstGeom>
          <a:solidFill>
            <a:srgbClr val="D7EEF9"/>
          </a:solidFill>
          <a:ln/>
        </p:spPr>
      </p:sp>
      <p:sp>
        <p:nvSpPr>
          <p:cNvPr id="3" name="Shape 1"/>
          <p:cNvSpPr/>
          <p:nvPr/>
        </p:nvSpPr>
        <p:spPr>
          <a:xfrm>
            <a:off x="508000" y="2567583"/>
            <a:ext cx="3911699" cy="0"/>
          </a:xfrm>
          <a:prstGeom prst="line">
            <a:avLst/>
          </a:prstGeom>
          <a:noFill/>
          <a:ln w="6350">
            <a:solidFill>
              <a:srgbClr val="E4E8EF"/>
            </a:solidFill>
            <a:prstDash val="solid"/>
          </a:ln>
        </p:spPr>
      </p:sp>
      <p:sp>
        <p:nvSpPr>
          <p:cNvPr id="4" name="Shape 2"/>
          <p:cNvSpPr/>
          <p:nvPr/>
        </p:nvSpPr>
        <p:spPr>
          <a:xfrm>
            <a:off x="4419699" y="2567583"/>
            <a:ext cx="1452860" cy="0"/>
          </a:xfrm>
          <a:prstGeom prst="line">
            <a:avLst/>
          </a:prstGeom>
          <a:noFill/>
          <a:ln w="6350">
            <a:solidFill>
              <a:srgbClr val="E4E8EF"/>
            </a:solidFill>
            <a:prstDash val="solid"/>
          </a:ln>
        </p:spPr>
      </p:sp>
      <p:sp>
        <p:nvSpPr>
          <p:cNvPr id="5" name="Shape 3"/>
          <p:cNvSpPr/>
          <p:nvPr/>
        </p:nvSpPr>
        <p:spPr>
          <a:xfrm>
            <a:off x="5872559" y="2567583"/>
            <a:ext cx="1452860" cy="0"/>
          </a:xfrm>
          <a:prstGeom prst="line">
            <a:avLst/>
          </a:prstGeom>
          <a:noFill/>
          <a:ln w="6350">
            <a:solidFill>
              <a:srgbClr val="E4E8EF"/>
            </a:solidFill>
            <a:prstDash val="solid"/>
          </a:ln>
        </p:spPr>
      </p:sp>
      <p:sp>
        <p:nvSpPr>
          <p:cNvPr id="6" name="Shape 4"/>
          <p:cNvSpPr/>
          <p:nvPr/>
        </p:nvSpPr>
        <p:spPr>
          <a:xfrm>
            <a:off x="7325420" y="2567583"/>
            <a:ext cx="1452860" cy="0"/>
          </a:xfrm>
          <a:prstGeom prst="line">
            <a:avLst/>
          </a:prstGeom>
          <a:noFill/>
          <a:ln w="6350">
            <a:solidFill>
              <a:srgbClr val="E4E8EF"/>
            </a:solidFill>
            <a:prstDash val="solid"/>
          </a:ln>
        </p:spPr>
      </p:sp>
      <p:sp>
        <p:nvSpPr>
          <p:cNvPr id="7" name="Shape 5"/>
          <p:cNvSpPr/>
          <p:nvPr/>
        </p:nvSpPr>
        <p:spPr>
          <a:xfrm>
            <a:off x="8778280" y="2567583"/>
            <a:ext cx="1452860" cy="0"/>
          </a:xfrm>
          <a:prstGeom prst="line">
            <a:avLst/>
          </a:prstGeom>
          <a:noFill/>
          <a:ln w="6350">
            <a:solidFill>
              <a:srgbClr val="E4E8EF"/>
            </a:solidFill>
            <a:prstDash val="solid"/>
          </a:ln>
        </p:spPr>
      </p:sp>
      <p:sp>
        <p:nvSpPr>
          <p:cNvPr id="8" name="Shape 6"/>
          <p:cNvSpPr/>
          <p:nvPr/>
        </p:nvSpPr>
        <p:spPr>
          <a:xfrm>
            <a:off x="10231140" y="2567583"/>
            <a:ext cx="1452860" cy="0"/>
          </a:xfrm>
          <a:prstGeom prst="line">
            <a:avLst/>
          </a:prstGeom>
          <a:noFill/>
          <a:ln w="6350">
            <a:solidFill>
              <a:srgbClr val="E4E8EF"/>
            </a:solidFill>
            <a:prstDash val="solid"/>
          </a:ln>
        </p:spPr>
      </p:sp>
      <p:sp>
        <p:nvSpPr>
          <p:cNvPr id="9" name="Shape 7"/>
          <p:cNvSpPr/>
          <p:nvPr/>
        </p:nvSpPr>
        <p:spPr>
          <a:xfrm>
            <a:off x="508000" y="2829818"/>
            <a:ext cx="3911699" cy="0"/>
          </a:xfrm>
          <a:prstGeom prst="line">
            <a:avLst/>
          </a:prstGeom>
          <a:noFill/>
          <a:ln w="6350">
            <a:solidFill>
              <a:srgbClr val="E4E8EF"/>
            </a:solidFill>
            <a:prstDash val="solid"/>
          </a:ln>
        </p:spPr>
      </p:sp>
      <p:sp>
        <p:nvSpPr>
          <p:cNvPr id="10" name="Shape 8"/>
          <p:cNvSpPr/>
          <p:nvPr/>
        </p:nvSpPr>
        <p:spPr>
          <a:xfrm>
            <a:off x="4419699" y="2829818"/>
            <a:ext cx="1452860" cy="0"/>
          </a:xfrm>
          <a:prstGeom prst="line">
            <a:avLst/>
          </a:prstGeom>
          <a:noFill/>
          <a:ln w="6350">
            <a:solidFill>
              <a:srgbClr val="E4E8EF"/>
            </a:solidFill>
            <a:prstDash val="solid"/>
          </a:ln>
        </p:spPr>
      </p:sp>
      <p:sp>
        <p:nvSpPr>
          <p:cNvPr id="11" name="Shape 9"/>
          <p:cNvSpPr/>
          <p:nvPr/>
        </p:nvSpPr>
        <p:spPr>
          <a:xfrm>
            <a:off x="5872559" y="2829818"/>
            <a:ext cx="1452860" cy="0"/>
          </a:xfrm>
          <a:prstGeom prst="line">
            <a:avLst/>
          </a:prstGeom>
          <a:noFill/>
          <a:ln w="6350">
            <a:solidFill>
              <a:srgbClr val="E4E8EF"/>
            </a:solidFill>
            <a:prstDash val="solid"/>
          </a:ln>
        </p:spPr>
      </p:sp>
      <p:sp>
        <p:nvSpPr>
          <p:cNvPr id="12" name="Shape 10"/>
          <p:cNvSpPr/>
          <p:nvPr/>
        </p:nvSpPr>
        <p:spPr>
          <a:xfrm>
            <a:off x="7325420" y="2829818"/>
            <a:ext cx="1452860" cy="0"/>
          </a:xfrm>
          <a:prstGeom prst="line">
            <a:avLst/>
          </a:prstGeom>
          <a:noFill/>
          <a:ln w="6350">
            <a:solidFill>
              <a:srgbClr val="E4E8EF"/>
            </a:solidFill>
            <a:prstDash val="solid"/>
          </a:ln>
        </p:spPr>
      </p:sp>
      <p:sp>
        <p:nvSpPr>
          <p:cNvPr id="13" name="Shape 11"/>
          <p:cNvSpPr/>
          <p:nvPr/>
        </p:nvSpPr>
        <p:spPr>
          <a:xfrm>
            <a:off x="8778280" y="2829818"/>
            <a:ext cx="1452860" cy="0"/>
          </a:xfrm>
          <a:prstGeom prst="line">
            <a:avLst/>
          </a:prstGeom>
          <a:noFill/>
          <a:ln w="6350">
            <a:solidFill>
              <a:srgbClr val="E4E8EF"/>
            </a:solidFill>
            <a:prstDash val="solid"/>
          </a:ln>
        </p:spPr>
      </p:sp>
      <p:sp>
        <p:nvSpPr>
          <p:cNvPr id="14" name="Shape 12"/>
          <p:cNvSpPr/>
          <p:nvPr/>
        </p:nvSpPr>
        <p:spPr>
          <a:xfrm>
            <a:off x="10231140" y="2829818"/>
            <a:ext cx="1452860" cy="0"/>
          </a:xfrm>
          <a:prstGeom prst="line">
            <a:avLst/>
          </a:prstGeom>
          <a:noFill/>
          <a:ln w="6350">
            <a:solidFill>
              <a:srgbClr val="E4E8EF"/>
            </a:solidFill>
            <a:prstDash val="solid"/>
          </a:ln>
        </p:spPr>
      </p:sp>
      <p:sp>
        <p:nvSpPr>
          <p:cNvPr id="15" name="Shape 13"/>
          <p:cNvSpPr/>
          <p:nvPr/>
        </p:nvSpPr>
        <p:spPr>
          <a:xfrm>
            <a:off x="508000" y="3092053"/>
            <a:ext cx="3911699" cy="0"/>
          </a:xfrm>
          <a:prstGeom prst="line">
            <a:avLst/>
          </a:prstGeom>
          <a:noFill/>
          <a:ln w="6350">
            <a:solidFill>
              <a:srgbClr val="E4E8EF"/>
            </a:solidFill>
            <a:prstDash val="solid"/>
          </a:ln>
        </p:spPr>
      </p:sp>
      <p:sp>
        <p:nvSpPr>
          <p:cNvPr id="16" name="Shape 14"/>
          <p:cNvSpPr/>
          <p:nvPr/>
        </p:nvSpPr>
        <p:spPr>
          <a:xfrm>
            <a:off x="4419699" y="3092053"/>
            <a:ext cx="1452860" cy="0"/>
          </a:xfrm>
          <a:prstGeom prst="line">
            <a:avLst/>
          </a:prstGeom>
          <a:noFill/>
          <a:ln w="6350">
            <a:solidFill>
              <a:srgbClr val="E4E8EF"/>
            </a:solidFill>
            <a:prstDash val="solid"/>
          </a:ln>
        </p:spPr>
      </p:sp>
      <p:sp>
        <p:nvSpPr>
          <p:cNvPr id="17" name="Shape 15"/>
          <p:cNvSpPr/>
          <p:nvPr/>
        </p:nvSpPr>
        <p:spPr>
          <a:xfrm>
            <a:off x="5872559" y="3092053"/>
            <a:ext cx="1452860" cy="0"/>
          </a:xfrm>
          <a:prstGeom prst="line">
            <a:avLst/>
          </a:prstGeom>
          <a:noFill/>
          <a:ln w="6350">
            <a:solidFill>
              <a:srgbClr val="E4E8EF"/>
            </a:solidFill>
            <a:prstDash val="solid"/>
          </a:ln>
        </p:spPr>
      </p:sp>
      <p:sp>
        <p:nvSpPr>
          <p:cNvPr id="18" name="Shape 16"/>
          <p:cNvSpPr/>
          <p:nvPr/>
        </p:nvSpPr>
        <p:spPr>
          <a:xfrm>
            <a:off x="7325420" y="3092053"/>
            <a:ext cx="1452860" cy="0"/>
          </a:xfrm>
          <a:prstGeom prst="line">
            <a:avLst/>
          </a:prstGeom>
          <a:noFill/>
          <a:ln w="6350">
            <a:solidFill>
              <a:srgbClr val="E4E8EF"/>
            </a:solidFill>
            <a:prstDash val="solid"/>
          </a:ln>
        </p:spPr>
      </p:sp>
      <p:sp>
        <p:nvSpPr>
          <p:cNvPr id="19" name="Shape 17"/>
          <p:cNvSpPr/>
          <p:nvPr/>
        </p:nvSpPr>
        <p:spPr>
          <a:xfrm>
            <a:off x="8778280" y="3092053"/>
            <a:ext cx="1452860" cy="0"/>
          </a:xfrm>
          <a:prstGeom prst="line">
            <a:avLst/>
          </a:prstGeom>
          <a:noFill/>
          <a:ln w="6350">
            <a:solidFill>
              <a:srgbClr val="E4E8EF"/>
            </a:solidFill>
            <a:prstDash val="solid"/>
          </a:ln>
        </p:spPr>
      </p:sp>
      <p:sp>
        <p:nvSpPr>
          <p:cNvPr id="20" name="Shape 18"/>
          <p:cNvSpPr/>
          <p:nvPr/>
        </p:nvSpPr>
        <p:spPr>
          <a:xfrm>
            <a:off x="10231140" y="3092053"/>
            <a:ext cx="1452860" cy="0"/>
          </a:xfrm>
          <a:prstGeom prst="line">
            <a:avLst/>
          </a:prstGeom>
          <a:noFill/>
          <a:ln w="6350">
            <a:solidFill>
              <a:srgbClr val="E4E8EF"/>
            </a:solidFill>
            <a:prstDash val="solid"/>
          </a:ln>
        </p:spPr>
      </p:sp>
      <p:sp>
        <p:nvSpPr>
          <p:cNvPr id="21" name="Shape 19"/>
          <p:cNvSpPr/>
          <p:nvPr/>
        </p:nvSpPr>
        <p:spPr>
          <a:xfrm>
            <a:off x="508000" y="3354288"/>
            <a:ext cx="3911699" cy="0"/>
          </a:xfrm>
          <a:prstGeom prst="line">
            <a:avLst/>
          </a:prstGeom>
          <a:noFill/>
          <a:ln w="6350">
            <a:solidFill>
              <a:srgbClr val="E4E8EF"/>
            </a:solidFill>
            <a:prstDash val="solid"/>
          </a:ln>
        </p:spPr>
      </p:sp>
      <p:sp>
        <p:nvSpPr>
          <p:cNvPr id="22" name="Shape 20"/>
          <p:cNvSpPr/>
          <p:nvPr/>
        </p:nvSpPr>
        <p:spPr>
          <a:xfrm>
            <a:off x="4419699" y="3354288"/>
            <a:ext cx="1452860" cy="0"/>
          </a:xfrm>
          <a:prstGeom prst="line">
            <a:avLst/>
          </a:prstGeom>
          <a:noFill/>
          <a:ln w="6350">
            <a:solidFill>
              <a:srgbClr val="E4E8EF"/>
            </a:solidFill>
            <a:prstDash val="solid"/>
          </a:ln>
        </p:spPr>
      </p:sp>
      <p:sp>
        <p:nvSpPr>
          <p:cNvPr id="23" name="Shape 21"/>
          <p:cNvSpPr/>
          <p:nvPr/>
        </p:nvSpPr>
        <p:spPr>
          <a:xfrm>
            <a:off x="5872559" y="3354288"/>
            <a:ext cx="1452860" cy="0"/>
          </a:xfrm>
          <a:prstGeom prst="line">
            <a:avLst/>
          </a:prstGeom>
          <a:noFill/>
          <a:ln w="6350">
            <a:solidFill>
              <a:srgbClr val="E4E8EF"/>
            </a:solidFill>
            <a:prstDash val="solid"/>
          </a:ln>
        </p:spPr>
      </p:sp>
      <p:sp>
        <p:nvSpPr>
          <p:cNvPr id="24" name="Shape 22"/>
          <p:cNvSpPr/>
          <p:nvPr/>
        </p:nvSpPr>
        <p:spPr>
          <a:xfrm>
            <a:off x="7325420" y="3354288"/>
            <a:ext cx="1452860" cy="0"/>
          </a:xfrm>
          <a:prstGeom prst="line">
            <a:avLst/>
          </a:prstGeom>
          <a:noFill/>
          <a:ln w="6350">
            <a:solidFill>
              <a:srgbClr val="E4E8EF"/>
            </a:solidFill>
            <a:prstDash val="solid"/>
          </a:ln>
        </p:spPr>
      </p:sp>
      <p:sp>
        <p:nvSpPr>
          <p:cNvPr id="25" name="Shape 23"/>
          <p:cNvSpPr/>
          <p:nvPr/>
        </p:nvSpPr>
        <p:spPr>
          <a:xfrm>
            <a:off x="8778280" y="3354288"/>
            <a:ext cx="1452860" cy="0"/>
          </a:xfrm>
          <a:prstGeom prst="line">
            <a:avLst/>
          </a:prstGeom>
          <a:noFill/>
          <a:ln w="6350">
            <a:solidFill>
              <a:srgbClr val="E4E8EF"/>
            </a:solidFill>
            <a:prstDash val="solid"/>
          </a:ln>
        </p:spPr>
      </p:sp>
      <p:sp>
        <p:nvSpPr>
          <p:cNvPr id="26" name="Shape 24"/>
          <p:cNvSpPr/>
          <p:nvPr/>
        </p:nvSpPr>
        <p:spPr>
          <a:xfrm>
            <a:off x="10231140" y="3354288"/>
            <a:ext cx="1452860" cy="0"/>
          </a:xfrm>
          <a:prstGeom prst="line">
            <a:avLst/>
          </a:prstGeom>
          <a:noFill/>
          <a:ln w="6350">
            <a:solidFill>
              <a:srgbClr val="E4E8EF"/>
            </a:solidFill>
            <a:prstDash val="solid"/>
          </a:ln>
        </p:spPr>
      </p:sp>
      <p:sp>
        <p:nvSpPr>
          <p:cNvPr id="27" name="Shape 25"/>
          <p:cNvSpPr/>
          <p:nvPr/>
        </p:nvSpPr>
        <p:spPr>
          <a:xfrm>
            <a:off x="508000" y="3616523"/>
            <a:ext cx="3911699" cy="0"/>
          </a:xfrm>
          <a:prstGeom prst="line">
            <a:avLst/>
          </a:prstGeom>
          <a:noFill/>
          <a:ln w="6350">
            <a:solidFill>
              <a:srgbClr val="E4E8EF"/>
            </a:solidFill>
            <a:prstDash val="solid"/>
          </a:ln>
        </p:spPr>
      </p:sp>
      <p:sp>
        <p:nvSpPr>
          <p:cNvPr id="28" name="Shape 26"/>
          <p:cNvSpPr/>
          <p:nvPr/>
        </p:nvSpPr>
        <p:spPr>
          <a:xfrm>
            <a:off x="4419699" y="3616523"/>
            <a:ext cx="1452860" cy="0"/>
          </a:xfrm>
          <a:prstGeom prst="line">
            <a:avLst/>
          </a:prstGeom>
          <a:noFill/>
          <a:ln w="6350">
            <a:solidFill>
              <a:srgbClr val="E4E8EF"/>
            </a:solidFill>
            <a:prstDash val="solid"/>
          </a:ln>
        </p:spPr>
      </p:sp>
      <p:sp>
        <p:nvSpPr>
          <p:cNvPr id="29" name="Shape 27"/>
          <p:cNvSpPr/>
          <p:nvPr/>
        </p:nvSpPr>
        <p:spPr>
          <a:xfrm>
            <a:off x="5872559" y="3616523"/>
            <a:ext cx="1452860" cy="0"/>
          </a:xfrm>
          <a:prstGeom prst="line">
            <a:avLst/>
          </a:prstGeom>
          <a:noFill/>
          <a:ln w="6350">
            <a:solidFill>
              <a:srgbClr val="E4E8EF"/>
            </a:solidFill>
            <a:prstDash val="solid"/>
          </a:ln>
        </p:spPr>
      </p:sp>
      <p:sp>
        <p:nvSpPr>
          <p:cNvPr id="30" name="Shape 28"/>
          <p:cNvSpPr/>
          <p:nvPr/>
        </p:nvSpPr>
        <p:spPr>
          <a:xfrm>
            <a:off x="7325420" y="3616523"/>
            <a:ext cx="1452860" cy="0"/>
          </a:xfrm>
          <a:prstGeom prst="line">
            <a:avLst/>
          </a:prstGeom>
          <a:noFill/>
          <a:ln w="6350">
            <a:solidFill>
              <a:srgbClr val="E4E8EF"/>
            </a:solidFill>
            <a:prstDash val="solid"/>
          </a:ln>
        </p:spPr>
      </p:sp>
      <p:sp>
        <p:nvSpPr>
          <p:cNvPr id="31" name="Shape 29"/>
          <p:cNvSpPr/>
          <p:nvPr/>
        </p:nvSpPr>
        <p:spPr>
          <a:xfrm>
            <a:off x="8778280" y="3616523"/>
            <a:ext cx="1452860" cy="0"/>
          </a:xfrm>
          <a:prstGeom prst="line">
            <a:avLst/>
          </a:prstGeom>
          <a:noFill/>
          <a:ln w="6350">
            <a:solidFill>
              <a:srgbClr val="E4E8EF"/>
            </a:solidFill>
            <a:prstDash val="solid"/>
          </a:ln>
        </p:spPr>
      </p:sp>
      <p:sp>
        <p:nvSpPr>
          <p:cNvPr id="32" name="Shape 30"/>
          <p:cNvSpPr/>
          <p:nvPr/>
        </p:nvSpPr>
        <p:spPr>
          <a:xfrm>
            <a:off x="10231140" y="3616523"/>
            <a:ext cx="1452860" cy="0"/>
          </a:xfrm>
          <a:prstGeom prst="line">
            <a:avLst/>
          </a:prstGeom>
          <a:noFill/>
          <a:ln w="6350">
            <a:solidFill>
              <a:srgbClr val="E4E8EF"/>
            </a:solidFill>
            <a:prstDash val="solid"/>
          </a:ln>
        </p:spPr>
      </p:sp>
      <p:sp>
        <p:nvSpPr>
          <p:cNvPr id="33" name="Shape 31"/>
          <p:cNvSpPr/>
          <p:nvPr/>
        </p:nvSpPr>
        <p:spPr>
          <a:xfrm>
            <a:off x="508000" y="3878759"/>
            <a:ext cx="3911699" cy="0"/>
          </a:xfrm>
          <a:prstGeom prst="line">
            <a:avLst/>
          </a:prstGeom>
          <a:noFill/>
          <a:ln w="6350">
            <a:solidFill>
              <a:srgbClr val="E4E8EF"/>
            </a:solidFill>
            <a:prstDash val="solid"/>
          </a:ln>
        </p:spPr>
      </p:sp>
      <p:sp>
        <p:nvSpPr>
          <p:cNvPr id="34" name="Shape 32"/>
          <p:cNvSpPr/>
          <p:nvPr/>
        </p:nvSpPr>
        <p:spPr>
          <a:xfrm>
            <a:off x="4419699" y="3878759"/>
            <a:ext cx="1452860" cy="0"/>
          </a:xfrm>
          <a:prstGeom prst="line">
            <a:avLst/>
          </a:prstGeom>
          <a:noFill/>
          <a:ln w="6350">
            <a:solidFill>
              <a:srgbClr val="E4E8EF"/>
            </a:solidFill>
            <a:prstDash val="solid"/>
          </a:ln>
        </p:spPr>
      </p:sp>
      <p:sp>
        <p:nvSpPr>
          <p:cNvPr id="35" name="Shape 33"/>
          <p:cNvSpPr/>
          <p:nvPr/>
        </p:nvSpPr>
        <p:spPr>
          <a:xfrm>
            <a:off x="5872559" y="3878759"/>
            <a:ext cx="1452860" cy="0"/>
          </a:xfrm>
          <a:prstGeom prst="line">
            <a:avLst/>
          </a:prstGeom>
          <a:noFill/>
          <a:ln w="6350">
            <a:solidFill>
              <a:srgbClr val="E4E8EF"/>
            </a:solidFill>
            <a:prstDash val="solid"/>
          </a:ln>
        </p:spPr>
      </p:sp>
      <p:sp>
        <p:nvSpPr>
          <p:cNvPr id="36" name="Shape 34"/>
          <p:cNvSpPr/>
          <p:nvPr/>
        </p:nvSpPr>
        <p:spPr>
          <a:xfrm>
            <a:off x="7325420" y="3878759"/>
            <a:ext cx="1452860" cy="0"/>
          </a:xfrm>
          <a:prstGeom prst="line">
            <a:avLst/>
          </a:prstGeom>
          <a:noFill/>
          <a:ln w="6350">
            <a:solidFill>
              <a:srgbClr val="E4E8EF"/>
            </a:solidFill>
            <a:prstDash val="solid"/>
          </a:ln>
        </p:spPr>
      </p:sp>
      <p:sp>
        <p:nvSpPr>
          <p:cNvPr id="37" name="Shape 35"/>
          <p:cNvSpPr/>
          <p:nvPr/>
        </p:nvSpPr>
        <p:spPr>
          <a:xfrm>
            <a:off x="8778280" y="3878759"/>
            <a:ext cx="1452860" cy="0"/>
          </a:xfrm>
          <a:prstGeom prst="line">
            <a:avLst/>
          </a:prstGeom>
          <a:noFill/>
          <a:ln w="6350">
            <a:solidFill>
              <a:srgbClr val="E4E8EF"/>
            </a:solidFill>
            <a:prstDash val="solid"/>
          </a:ln>
        </p:spPr>
      </p:sp>
      <p:sp>
        <p:nvSpPr>
          <p:cNvPr id="38" name="Shape 36"/>
          <p:cNvSpPr/>
          <p:nvPr/>
        </p:nvSpPr>
        <p:spPr>
          <a:xfrm>
            <a:off x="10231140" y="3878759"/>
            <a:ext cx="1452860" cy="0"/>
          </a:xfrm>
          <a:prstGeom prst="line">
            <a:avLst/>
          </a:prstGeom>
          <a:noFill/>
          <a:ln w="6350">
            <a:solidFill>
              <a:srgbClr val="E4E8EF"/>
            </a:solidFill>
            <a:prstDash val="solid"/>
          </a:ln>
        </p:spPr>
      </p:sp>
      <p:sp>
        <p:nvSpPr>
          <p:cNvPr id="39" name="Shape 37"/>
          <p:cNvSpPr/>
          <p:nvPr/>
        </p:nvSpPr>
        <p:spPr>
          <a:xfrm>
            <a:off x="508000" y="4140994"/>
            <a:ext cx="3911699" cy="0"/>
          </a:xfrm>
          <a:prstGeom prst="line">
            <a:avLst/>
          </a:prstGeom>
          <a:noFill/>
          <a:ln w="6350">
            <a:solidFill>
              <a:srgbClr val="E4E8EF"/>
            </a:solidFill>
            <a:prstDash val="solid"/>
          </a:ln>
        </p:spPr>
      </p:sp>
      <p:sp>
        <p:nvSpPr>
          <p:cNvPr id="40" name="Shape 38"/>
          <p:cNvSpPr/>
          <p:nvPr/>
        </p:nvSpPr>
        <p:spPr>
          <a:xfrm>
            <a:off x="4419699" y="4140994"/>
            <a:ext cx="1452860" cy="0"/>
          </a:xfrm>
          <a:prstGeom prst="line">
            <a:avLst/>
          </a:prstGeom>
          <a:noFill/>
          <a:ln w="6350">
            <a:solidFill>
              <a:srgbClr val="E4E8EF"/>
            </a:solidFill>
            <a:prstDash val="solid"/>
          </a:ln>
        </p:spPr>
      </p:sp>
      <p:sp>
        <p:nvSpPr>
          <p:cNvPr id="41" name="Shape 39"/>
          <p:cNvSpPr/>
          <p:nvPr/>
        </p:nvSpPr>
        <p:spPr>
          <a:xfrm>
            <a:off x="5872559" y="4140994"/>
            <a:ext cx="1452860" cy="0"/>
          </a:xfrm>
          <a:prstGeom prst="line">
            <a:avLst/>
          </a:prstGeom>
          <a:noFill/>
          <a:ln w="6350">
            <a:solidFill>
              <a:srgbClr val="E4E8EF"/>
            </a:solidFill>
            <a:prstDash val="solid"/>
          </a:ln>
        </p:spPr>
      </p:sp>
      <p:sp>
        <p:nvSpPr>
          <p:cNvPr id="42" name="Shape 40"/>
          <p:cNvSpPr/>
          <p:nvPr/>
        </p:nvSpPr>
        <p:spPr>
          <a:xfrm>
            <a:off x="7325420" y="4140994"/>
            <a:ext cx="1452860" cy="0"/>
          </a:xfrm>
          <a:prstGeom prst="line">
            <a:avLst/>
          </a:prstGeom>
          <a:noFill/>
          <a:ln w="6350">
            <a:solidFill>
              <a:srgbClr val="E4E8EF"/>
            </a:solidFill>
            <a:prstDash val="solid"/>
          </a:ln>
        </p:spPr>
      </p:sp>
      <p:sp>
        <p:nvSpPr>
          <p:cNvPr id="43" name="Shape 41"/>
          <p:cNvSpPr/>
          <p:nvPr/>
        </p:nvSpPr>
        <p:spPr>
          <a:xfrm>
            <a:off x="8778280" y="4140994"/>
            <a:ext cx="1452860" cy="0"/>
          </a:xfrm>
          <a:prstGeom prst="line">
            <a:avLst/>
          </a:prstGeom>
          <a:noFill/>
          <a:ln w="6350">
            <a:solidFill>
              <a:srgbClr val="E4E8EF"/>
            </a:solidFill>
            <a:prstDash val="solid"/>
          </a:ln>
        </p:spPr>
      </p:sp>
      <p:sp>
        <p:nvSpPr>
          <p:cNvPr id="44" name="Shape 42"/>
          <p:cNvSpPr/>
          <p:nvPr/>
        </p:nvSpPr>
        <p:spPr>
          <a:xfrm>
            <a:off x="10231140" y="4140994"/>
            <a:ext cx="1452860" cy="0"/>
          </a:xfrm>
          <a:prstGeom prst="line">
            <a:avLst/>
          </a:prstGeom>
          <a:noFill/>
          <a:ln w="6350">
            <a:solidFill>
              <a:srgbClr val="E4E8EF"/>
            </a:solidFill>
            <a:prstDash val="solid"/>
          </a:ln>
        </p:spPr>
      </p:sp>
      <p:sp>
        <p:nvSpPr>
          <p:cNvPr id="45" name="Shape 43"/>
          <p:cNvSpPr/>
          <p:nvPr/>
        </p:nvSpPr>
        <p:spPr>
          <a:xfrm>
            <a:off x="508000" y="4403229"/>
            <a:ext cx="3911699" cy="0"/>
          </a:xfrm>
          <a:prstGeom prst="line">
            <a:avLst/>
          </a:prstGeom>
          <a:noFill/>
          <a:ln w="6350">
            <a:solidFill>
              <a:srgbClr val="E4E8EF"/>
            </a:solidFill>
            <a:prstDash val="solid"/>
          </a:ln>
        </p:spPr>
      </p:sp>
      <p:sp>
        <p:nvSpPr>
          <p:cNvPr id="46" name="Shape 44"/>
          <p:cNvSpPr/>
          <p:nvPr/>
        </p:nvSpPr>
        <p:spPr>
          <a:xfrm>
            <a:off x="4419699" y="4403229"/>
            <a:ext cx="1452860" cy="0"/>
          </a:xfrm>
          <a:prstGeom prst="line">
            <a:avLst/>
          </a:prstGeom>
          <a:noFill/>
          <a:ln w="6350">
            <a:solidFill>
              <a:srgbClr val="E4E8EF"/>
            </a:solidFill>
            <a:prstDash val="solid"/>
          </a:ln>
        </p:spPr>
      </p:sp>
      <p:sp>
        <p:nvSpPr>
          <p:cNvPr id="47" name="Shape 45"/>
          <p:cNvSpPr/>
          <p:nvPr/>
        </p:nvSpPr>
        <p:spPr>
          <a:xfrm>
            <a:off x="5872559" y="4403229"/>
            <a:ext cx="1452860" cy="0"/>
          </a:xfrm>
          <a:prstGeom prst="line">
            <a:avLst/>
          </a:prstGeom>
          <a:noFill/>
          <a:ln w="6350">
            <a:solidFill>
              <a:srgbClr val="E4E8EF"/>
            </a:solidFill>
            <a:prstDash val="solid"/>
          </a:ln>
        </p:spPr>
      </p:sp>
      <p:sp>
        <p:nvSpPr>
          <p:cNvPr id="48" name="Shape 46"/>
          <p:cNvSpPr/>
          <p:nvPr/>
        </p:nvSpPr>
        <p:spPr>
          <a:xfrm>
            <a:off x="7325420" y="4403229"/>
            <a:ext cx="1452860" cy="0"/>
          </a:xfrm>
          <a:prstGeom prst="line">
            <a:avLst/>
          </a:prstGeom>
          <a:noFill/>
          <a:ln w="6350">
            <a:solidFill>
              <a:srgbClr val="E4E8EF"/>
            </a:solidFill>
            <a:prstDash val="solid"/>
          </a:ln>
        </p:spPr>
      </p:sp>
      <p:sp>
        <p:nvSpPr>
          <p:cNvPr id="49" name="Shape 47"/>
          <p:cNvSpPr/>
          <p:nvPr/>
        </p:nvSpPr>
        <p:spPr>
          <a:xfrm>
            <a:off x="8778280" y="4403229"/>
            <a:ext cx="1452860" cy="0"/>
          </a:xfrm>
          <a:prstGeom prst="line">
            <a:avLst/>
          </a:prstGeom>
          <a:noFill/>
          <a:ln w="6350">
            <a:solidFill>
              <a:srgbClr val="E4E8EF"/>
            </a:solidFill>
            <a:prstDash val="solid"/>
          </a:ln>
        </p:spPr>
      </p:sp>
      <p:sp>
        <p:nvSpPr>
          <p:cNvPr id="50" name="Shape 48"/>
          <p:cNvSpPr/>
          <p:nvPr/>
        </p:nvSpPr>
        <p:spPr>
          <a:xfrm>
            <a:off x="10231140" y="4403229"/>
            <a:ext cx="1452860" cy="0"/>
          </a:xfrm>
          <a:prstGeom prst="line">
            <a:avLst/>
          </a:prstGeom>
          <a:noFill/>
          <a:ln w="6350">
            <a:solidFill>
              <a:srgbClr val="E4E8EF"/>
            </a:solidFill>
            <a:prstDash val="solid"/>
          </a:ln>
        </p:spPr>
      </p:sp>
      <p:sp>
        <p:nvSpPr>
          <p:cNvPr id="51" name="Shape 49"/>
          <p:cNvSpPr/>
          <p:nvPr/>
        </p:nvSpPr>
        <p:spPr>
          <a:xfrm>
            <a:off x="508000" y="4665464"/>
            <a:ext cx="3911699" cy="0"/>
          </a:xfrm>
          <a:prstGeom prst="line">
            <a:avLst/>
          </a:prstGeom>
          <a:noFill/>
          <a:ln w="6350">
            <a:solidFill>
              <a:srgbClr val="E4E8EF"/>
            </a:solidFill>
            <a:prstDash val="solid"/>
          </a:ln>
        </p:spPr>
      </p:sp>
      <p:sp>
        <p:nvSpPr>
          <p:cNvPr id="52" name="Shape 50"/>
          <p:cNvSpPr/>
          <p:nvPr/>
        </p:nvSpPr>
        <p:spPr>
          <a:xfrm>
            <a:off x="4419699" y="4665464"/>
            <a:ext cx="1452860" cy="0"/>
          </a:xfrm>
          <a:prstGeom prst="line">
            <a:avLst/>
          </a:prstGeom>
          <a:noFill/>
          <a:ln w="6350">
            <a:solidFill>
              <a:srgbClr val="E4E8EF"/>
            </a:solidFill>
            <a:prstDash val="solid"/>
          </a:ln>
        </p:spPr>
      </p:sp>
      <p:sp>
        <p:nvSpPr>
          <p:cNvPr id="53" name="Shape 51"/>
          <p:cNvSpPr/>
          <p:nvPr/>
        </p:nvSpPr>
        <p:spPr>
          <a:xfrm>
            <a:off x="5872559" y="4665464"/>
            <a:ext cx="1452860" cy="0"/>
          </a:xfrm>
          <a:prstGeom prst="line">
            <a:avLst/>
          </a:prstGeom>
          <a:noFill/>
          <a:ln w="6350">
            <a:solidFill>
              <a:srgbClr val="E4E8EF"/>
            </a:solidFill>
            <a:prstDash val="solid"/>
          </a:ln>
        </p:spPr>
      </p:sp>
      <p:sp>
        <p:nvSpPr>
          <p:cNvPr id="54" name="Shape 52"/>
          <p:cNvSpPr/>
          <p:nvPr/>
        </p:nvSpPr>
        <p:spPr>
          <a:xfrm>
            <a:off x="7325420" y="4665464"/>
            <a:ext cx="1452860" cy="0"/>
          </a:xfrm>
          <a:prstGeom prst="line">
            <a:avLst/>
          </a:prstGeom>
          <a:noFill/>
          <a:ln w="6350">
            <a:solidFill>
              <a:srgbClr val="E4E8EF"/>
            </a:solidFill>
            <a:prstDash val="solid"/>
          </a:ln>
        </p:spPr>
      </p:sp>
      <p:sp>
        <p:nvSpPr>
          <p:cNvPr id="55" name="Shape 53"/>
          <p:cNvSpPr/>
          <p:nvPr/>
        </p:nvSpPr>
        <p:spPr>
          <a:xfrm>
            <a:off x="8778280" y="4665464"/>
            <a:ext cx="1452860" cy="0"/>
          </a:xfrm>
          <a:prstGeom prst="line">
            <a:avLst/>
          </a:prstGeom>
          <a:noFill/>
          <a:ln w="6350">
            <a:solidFill>
              <a:srgbClr val="E4E8EF"/>
            </a:solidFill>
            <a:prstDash val="solid"/>
          </a:ln>
        </p:spPr>
      </p:sp>
      <p:sp>
        <p:nvSpPr>
          <p:cNvPr id="56" name="Shape 54"/>
          <p:cNvSpPr/>
          <p:nvPr/>
        </p:nvSpPr>
        <p:spPr>
          <a:xfrm>
            <a:off x="10231140" y="4665464"/>
            <a:ext cx="1452860" cy="0"/>
          </a:xfrm>
          <a:prstGeom prst="line">
            <a:avLst/>
          </a:prstGeom>
          <a:noFill/>
          <a:ln w="6350">
            <a:solidFill>
              <a:srgbClr val="E4E8EF"/>
            </a:solidFill>
            <a:prstDash val="solid"/>
          </a:ln>
        </p:spPr>
      </p:sp>
      <p:sp>
        <p:nvSpPr>
          <p:cNvPr id="57" name="Shape 55"/>
          <p:cNvSpPr/>
          <p:nvPr/>
        </p:nvSpPr>
        <p:spPr>
          <a:xfrm>
            <a:off x="508000" y="4671814"/>
            <a:ext cx="3911699" cy="0"/>
          </a:xfrm>
          <a:prstGeom prst="line">
            <a:avLst/>
          </a:prstGeom>
          <a:noFill/>
          <a:ln w="6350">
            <a:solidFill>
              <a:srgbClr val="0053E2"/>
            </a:solidFill>
            <a:prstDash val="solid"/>
          </a:ln>
        </p:spPr>
      </p:sp>
      <p:sp>
        <p:nvSpPr>
          <p:cNvPr id="58" name="Shape 56"/>
          <p:cNvSpPr/>
          <p:nvPr/>
        </p:nvSpPr>
        <p:spPr>
          <a:xfrm>
            <a:off x="508000" y="4996259"/>
            <a:ext cx="3911699" cy="0"/>
          </a:xfrm>
          <a:prstGeom prst="line">
            <a:avLst/>
          </a:prstGeom>
          <a:noFill/>
          <a:ln w="6350">
            <a:solidFill>
              <a:srgbClr val="E4E8EF"/>
            </a:solidFill>
            <a:prstDash val="solid"/>
          </a:ln>
        </p:spPr>
      </p:sp>
      <p:sp>
        <p:nvSpPr>
          <p:cNvPr id="59" name="Shape 57"/>
          <p:cNvSpPr/>
          <p:nvPr/>
        </p:nvSpPr>
        <p:spPr>
          <a:xfrm>
            <a:off x="4419699" y="4671814"/>
            <a:ext cx="1452860" cy="0"/>
          </a:xfrm>
          <a:prstGeom prst="line">
            <a:avLst/>
          </a:prstGeom>
          <a:noFill/>
          <a:ln w="6350">
            <a:solidFill>
              <a:srgbClr val="0053E2"/>
            </a:solidFill>
            <a:prstDash val="solid"/>
          </a:ln>
        </p:spPr>
      </p:sp>
      <p:sp>
        <p:nvSpPr>
          <p:cNvPr id="60" name="Shape 58"/>
          <p:cNvSpPr/>
          <p:nvPr/>
        </p:nvSpPr>
        <p:spPr>
          <a:xfrm>
            <a:off x="4419699" y="4996259"/>
            <a:ext cx="1452860" cy="0"/>
          </a:xfrm>
          <a:prstGeom prst="line">
            <a:avLst/>
          </a:prstGeom>
          <a:noFill/>
          <a:ln w="6350">
            <a:solidFill>
              <a:srgbClr val="E4E8EF"/>
            </a:solidFill>
            <a:prstDash val="solid"/>
          </a:ln>
        </p:spPr>
      </p:sp>
      <p:sp>
        <p:nvSpPr>
          <p:cNvPr id="61" name="Shape 59"/>
          <p:cNvSpPr/>
          <p:nvPr/>
        </p:nvSpPr>
        <p:spPr>
          <a:xfrm>
            <a:off x="5872559" y="4671814"/>
            <a:ext cx="1452860" cy="0"/>
          </a:xfrm>
          <a:prstGeom prst="line">
            <a:avLst/>
          </a:prstGeom>
          <a:noFill/>
          <a:ln w="6350">
            <a:solidFill>
              <a:srgbClr val="0053E2"/>
            </a:solidFill>
            <a:prstDash val="solid"/>
          </a:ln>
        </p:spPr>
      </p:sp>
      <p:sp>
        <p:nvSpPr>
          <p:cNvPr id="62" name="Shape 60"/>
          <p:cNvSpPr/>
          <p:nvPr/>
        </p:nvSpPr>
        <p:spPr>
          <a:xfrm>
            <a:off x="5872559" y="4996259"/>
            <a:ext cx="1452860" cy="0"/>
          </a:xfrm>
          <a:prstGeom prst="line">
            <a:avLst/>
          </a:prstGeom>
          <a:noFill/>
          <a:ln w="6350">
            <a:solidFill>
              <a:srgbClr val="E4E8EF"/>
            </a:solidFill>
            <a:prstDash val="solid"/>
          </a:ln>
        </p:spPr>
      </p:sp>
      <p:sp>
        <p:nvSpPr>
          <p:cNvPr id="63" name="Shape 61"/>
          <p:cNvSpPr/>
          <p:nvPr/>
        </p:nvSpPr>
        <p:spPr>
          <a:xfrm>
            <a:off x="7325420" y="4671814"/>
            <a:ext cx="1452860" cy="0"/>
          </a:xfrm>
          <a:prstGeom prst="line">
            <a:avLst/>
          </a:prstGeom>
          <a:noFill/>
          <a:ln w="6350">
            <a:solidFill>
              <a:srgbClr val="0053E2"/>
            </a:solidFill>
            <a:prstDash val="solid"/>
          </a:ln>
        </p:spPr>
      </p:sp>
      <p:sp>
        <p:nvSpPr>
          <p:cNvPr id="64" name="Shape 62"/>
          <p:cNvSpPr/>
          <p:nvPr/>
        </p:nvSpPr>
        <p:spPr>
          <a:xfrm>
            <a:off x="7325420" y="4996259"/>
            <a:ext cx="1452860" cy="0"/>
          </a:xfrm>
          <a:prstGeom prst="line">
            <a:avLst/>
          </a:prstGeom>
          <a:noFill/>
          <a:ln w="6350">
            <a:solidFill>
              <a:srgbClr val="E4E8EF"/>
            </a:solidFill>
            <a:prstDash val="solid"/>
          </a:ln>
        </p:spPr>
      </p:sp>
      <p:sp>
        <p:nvSpPr>
          <p:cNvPr id="65" name="Shape 63"/>
          <p:cNvSpPr/>
          <p:nvPr/>
        </p:nvSpPr>
        <p:spPr>
          <a:xfrm>
            <a:off x="8778280" y="4671814"/>
            <a:ext cx="1452860" cy="0"/>
          </a:xfrm>
          <a:prstGeom prst="line">
            <a:avLst/>
          </a:prstGeom>
          <a:noFill/>
          <a:ln w="6350">
            <a:solidFill>
              <a:srgbClr val="0053E2"/>
            </a:solidFill>
            <a:prstDash val="solid"/>
          </a:ln>
        </p:spPr>
      </p:sp>
      <p:sp>
        <p:nvSpPr>
          <p:cNvPr id="66" name="Shape 64"/>
          <p:cNvSpPr/>
          <p:nvPr/>
        </p:nvSpPr>
        <p:spPr>
          <a:xfrm>
            <a:off x="8778280" y="4996259"/>
            <a:ext cx="1452860" cy="0"/>
          </a:xfrm>
          <a:prstGeom prst="line">
            <a:avLst/>
          </a:prstGeom>
          <a:noFill/>
          <a:ln w="6350">
            <a:solidFill>
              <a:srgbClr val="E4E8EF"/>
            </a:solidFill>
            <a:prstDash val="solid"/>
          </a:ln>
        </p:spPr>
      </p:sp>
      <p:sp>
        <p:nvSpPr>
          <p:cNvPr id="67" name="Shape 65"/>
          <p:cNvSpPr/>
          <p:nvPr/>
        </p:nvSpPr>
        <p:spPr>
          <a:xfrm>
            <a:off x="10231140" y="4671814"/>
            <a:ext cx="1452860" cy="0"/>
          </a:xfrm>
          <a:prstGeom prst="line">
            <a:avLst/>
          </a:prstGeom>
          <a:noFill/>
          <a:ln w="6350">
            <a:solidFill>
              <a:srgbClr val="0053E2"/>
            </a:solidFill>
            <a:prstDash val="solid"/>
          </a:ln>
        </p:spPr>
      </p:sp>
      <p:sp>
        <p:nvSpPr>
          <p:cNvPr id="68" name="Shape 66"/>
          <p:cNvSpPr/>
          <p:nvPr/>
        </p:nvSpPr>
        <p:spPr>
          <a:xfrm>
            <a:off x="10231140" y="4996259"/>
            <a:ext cx="1452860" cy="0"/>
          </a:xfrm>
          <a:prstGeom prst="line">
            <a:avLst/>
          </a:prstGeom>
          <a:noFill/>
          <a:ln w="6350">
            <a:solidFill>
              <a:srgbClr val="E4E8EF"/>
            </a:solidFill>
            <a:prstDash val="solid"/>
          </a:ln>
        </p:spPr>
      </p:sp>
      <p:sp>
        <p:nvSpPr>
          <p:cNvPr id="69" name="Shape 67"/>
          <p:cNvSpPr/>
          <p:nvPr/>
        </p:nvSpPr>
        <p:spPr>
          <a:xfrm>
            <a:off x="508000" y="5685234"/>
            <a:ext cx="11176000" cy="0"/>
          </a:xfrm>
          <a:prstGeom prst="line">
            <a:avLst/>
          </a:prstGeom>
          <a:noFill/>
          <a:ln w="6350">
            <a:solidFill>
              <a:srgbClr val="0053E2"/>
            </a:solidFill>
            <a:prstDash val="solid"/>
          </a:ln>
        </p:spPr>
      </p:sp>
      <p:sp>
        <p:nvSpPr>
          <p:cNvPr id="70" name="Text 68"/>
          <p:cNvSpPr txBox="1"/>
          <p:nvPr/>
        </p:nvSpPr>
        <p:spPr>
          <a:xfrm>
            <a:off x="501650" y="971550"/>
            <a:ext cx="1935559"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ONE STRATEGY, MULTIPLE INTERVENTIONS</a:t>
            </a:r>
            <a:endParaRPr lang="en-US" sz="500" dirty="0"/>
          </a:p>
        </p:txBody>
      </p:sp>
      <p:sp>
        <p:nvSpPr>
          <p:cNvPr id="71" name="Text 69"/>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Each initiative attacks a different part of the </a:t>
            </a:r>
            <a:pPr algn="l" indent="0" marL="0">
              <a:lnSpc>
                <a:spcPts val="3024"/>
              </a:lnSpc>
              <a:buNone/>
            </a:pPr>
            <a:r>
              <a:rPr lang="en-US" sz="2400" i="1" spc="-72" kern="0" dirty="0">
                <a:solidFill>
                  <a:srgbClr val="0053E2"/>
                </a:solidFill>
                <a:latin typeface="Everyday Sans Light" pitchFamily="34" charset="0"/>
                <a:ea typeface="Everyday Sans Light" pitchFamily="34" charset="-122"/>
                <a:cs typeface="Everyday Sans Light" pitchFamily="34" charset="-120"/>
              </a:rPr>
              <a:t>same</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 experience problem.</a:t>
            </a:r>
            <a:endParaRPr lang="en-US" sz="2400" dirty="0"/>
          </a:p>
        </p:txBody>
      </p:sp>
      <p:sp>
        <p:nvSpPr>
          <p:cNvPr id="72" name="Text 70"/>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The roadmap is not a collection of disconnected projects. Each initiative addresses one or more of the structural problems advertisers consistently experience.</a:t>
            </a:r>
            <a:endParaRPr lang="en-US" sz="900" dirty="0"/>
          </a:p>
        </p:txBody>
      </p:sp>
      <p:sp>
        <p:nvSpPr>
          <p:cNvPr id="73" name="Text 71"/>
          <p:cNvSpPr txBox="1"/>
          <p:nvPr/>
        </p:nvSpPr>
        <p:spPr>
          <a:xfrm>
            <a:off x="508000" y="2427883"/>
            <a:ext cx="4128623" cy="85725"/>
          </a:xfrm>
          <a:prstGeom prst="rect">
            <a:avLst/>
          </a:prstGeom>
          <a:noFill/>
          <a:ln/>
        </p:spPr>
        <p:txBody>
          <a:bodyPr wrap="square" lIns="0" tIns="0" rIns="0" bIns="0" rtlCol="0" anchor="t"/>
          <a:lstStyle/>
          <a:p>
            <a:pPr algn="l" indent="0" marL="0">
              <a:lnSpc>
                <a:spcPts val="660"/>
              </a:lnSpc>
              <a:buNone/>
            </a:pPr>
            <a:r>
              <a:rPr lang="en-US" sz="550" spc="66" kern="0" dirty="0">
                <a:solidFill>
                  <a:srgbClr val="0053E2"/>
                </a:solidFill>
                <a:latin typeface="Everyday Sans Mono" pitchFamily="34" charset="0"/>
                <a:ea typeface="Everyday Sans Mono" pitchFamily="34" charset="-122"/>
                <a:cs typeface="Everyday Sans Mono" pitchFamily="34" charset="-120"/>
              </a:rPr>
              <a:t>INITIATIVE</a:t>
            </a:r>
            <a:endParaRPr lang="en-US" sz="550" dirty="0"/>
          </a:p>
        </p:txBody>
      </p:sp>
      <p:sp>
        <p:nvSpPr>
          <p:cNvPr id="74" name="Text 72"/>
          <p:cNvSpPr txBox="1"/>
          <p:nvPr/>
        </p:nvSpPr>
        <p:spPr>
          <a:xfrm>
            <a:off x="4343499" y="2427883"/>
            <a:ext cx="1516360" cy="85725"/>
          </a:xfrm>
          <a:prstGeom prst="rect">
            <a:avLst/>
          </a:prstGeom>
          <a:noFill/>
          <a:ln/>
        </p:spPr>
        <p:txBody>
          <a:bodyPr wrap="square" lIns="0" tIns="0" rIns="0" bIns="0" rtlCol="0" anchor="t"/>
          <a:lstStyle/>
          <a:p>
            <a:pPr algn="ctr" indent="0" marL="0">
              <a:lnSpc>
                <a:spcPts val="660"/>
              </a:lnSpc>
              <a:buNone/>
            </a:pPr>
            <a:r>
              <a:rPr lang="en-US" sz="550" spc="66" kern="0" dirty="0">
                <a:solidFill>
                  <a:srgbClr val="0053E2"/>
                </a:solidFill>
                <a:latin typeface="Everyday Sans Mono" pitchFamily="34" charset="0"/>
                <a:ea typeface="Everyday Sans Mono" pitchFamily="34" charset="-122"/>
                <a:cs typeface="Everyday Sans Mono" pitchFamily="34" charset="-120"/>
              </a:rPr>
              <a:t>COMPLEX</a:t>
            </a:r>
            <a:endParaRPr lang="en-US" sz="550" dirty="0"/>
          </a:p>
        </p:txBody>
      </p:sp>
      <p:sp>
        <p:nvSpPr>
          <p:cNvPr id="75" name="Text 73"/>
          <p:cNvSpPr txBox="1"/>
          <p:nvPr/>
        </p:nvSpPr>
        <p:spPr>
          <a:xfrm>
            <a:off x="5796359" y="2427883"/>
            <a:ext cx="1516360" cy="85725"/>
          </a:xfrm>
          <a:prstGeom prst="rect">
            <a:avLst/>
          </a:prstGeom>
          <a:noFill/>
          <a:ln/>
        </p:spPr>
        <p:txBody>
          <a:bodyPr wrap="square" lIns="0" tIns="0" rIns="0" bIns="0" rtlCol="0" anchor="t"/>
          <a:lstStyle/>
          <a:p>
            <a:pPr algn="ctr" indent="0" marL="0">
              <a:lnSpc>
                <a:spcPts val="660"/>
              </a:lnSpc>
              <a:buNone/>
            </a:pPr>
            <a:r>
              <a:rPr lang="en-US" sz="550" spc="66" kern="0" dirty="0">
                <a:solidFill>
                  <a:srgbClr val="0053E2"/>
                </a:solidFill>
                <a:latin typeface="Everyday Sans Mono" pitchFamily="34" charset="0"/>
                <a:ea typeface="Everyday Sans Mono" pitchFamily="34" charset="-122"/>
                <a:cs typeface="Everyday Sans Mono" pitchFamily="34" charset="-120"/>
              </a:rPr>
              <a:t>FRAGMENTED</a:t>
            </a:r>
            <a:endParaRPr lang="en-US" sz="550" dirty="0"/>
          </a:p>
        </p:txBody>
      </p:sp>
      <p:sp>
        <p:nvSpPr>
          <p:cNvPr id="76" name="Text 74"/>
          <p:cNvSpPr txBox="1"/>
          <p:nvPr/>
        </p:nvSpPr>
        <p:spPr>
          <a:xfrm>
            <a:off x="7249220" y="2427883"/>
            <a:ext cx="1516360" cy="85725"/>
          </a:xfrm>
          <a:prstGeom prst="rect">
            <a:avLst/>
          </a:prstGeom>
          <a:noFill/>
          <a:ln/>
        </p:spPr>
        <p:txBody>
          <a:bodyPr wrap="square" lIns="0" tIns="0" rIns="0" bIns="0" rtlCol="0" anchor="t"/>
          <a:lstStyle/>
          <a:p>
            <a:pPr algn="ctr" indent="0" marL="0">
              <a:lnSpc>
                <a:spcPts val="660"/>
              </a:lnSpc>
              <a:buNone/>
            </a:pPr>
            <a:r>
              <a:rPr lang="en-US" sz="550" spc="66" kern="0" dirty="0">
                <a:solidFill>
                  <a:srgbClr val="0053E2"/>
                </a:solidFill>
                <a:latin typeface="Everyday Sans Mono" pitchFamily="34" charset="0"/>
                <a:ea typeface="Everyday Sans Mono" pitchFamily="34" charset="-122"/>
                <a:cs typeface="Everyday Sans Mono" pitchFamily="34" charset="-120"/>
              </a:rPr>
              <a:t>INCONSISTENT</a:t>
            </a:r>
            <a:endParaRPr lang="en-US" sz="550" dirty="0"/>
          </a:p>
        </p:txBody>
      </p:sp>
      <p:sp>
        <p:nvSpPr>
          <p:cNvPr id="77" name="Text 75"/>
          <p:cNvSpPr txBox="1"/>
          <p:nvPr/>
        </p:nvSpPr>
        <p:spPr>
          <a:xfrm>
            <a:off x="8702080" y="2427883"/>
            <a:ext cx="1516360" cy="85725"/>
          </a:xfrm>
          <a:prstGeom prst="rect">
            <a:avLst/>
          </a:prstGeom>
          <a:noFill/>
          <a:ln/>
        </p:spPr>
        <p:txBody>
          <a:bodyPr wrap="square" lIns="0" tIns="0" rIns="0" bIns="0" rtlCol="0" anchor="t"/>
          <a:lstStyle/>
          <a:p>
            <a:pPr algn="ctr" indent="0" marL="0">
              <a:lnSpc>
                <a:spcPts val="660"/>
              </a:lnSpc>
              <a:buNone/>
            </a:pPr>
            <a:r>
              <a:rPr lang="en-US" sz="550" spc="66" kern="0" dirty="0">
                <a:solidFill>
                  <a:srgbClr val="0053E2"/>
                </a:solidFill>
                <a:latin typeface="Everyday Sans Mono" pitchFamily="34" charset="0"/>
                <a:ea typeface="Everyday Sans Mono" pitchFamily="34" charset="-122"/>
                <a:cs typeface="Everyday Sans Mono" pitchFamily="34" charset="-120"/>
              </a:rPr>
              <a:t>UNCLEAR</a:t>
            </a:r>
            <a:endParaRPr lang="en-US" sz="550" dirty="0"/>
          </a:p>
        </p:txBody>
      </p:sp>
      <p:sp>
        <p:nvSpPr>
          <p:cNvPr id="78" name="Text 76"/>
          <p:cNvSpPr txBox="1"/>
          <p:nvPr/>
        </p:nvSpPr>
        <p:spPr>
          <a:xfrm>
            <a:off x="10154940" y="2427883"/>
            <a:ext cx="1516360" cy="85725"/>
          </a:xfrm>
          <a:prstGeom prst="rect">
            <a:avLst/>
          </a:prstGeom>
          <a:noFill/>
          <a:ln/>
        </p:spPr>
        <p:txBody>
          <a:bodyPr wrap="square" lIns="0" tIns="0" rIns="0" bIns="0" rtlCol="0" anchor="t"/>
          <a:lstStyle/>
          <a:p>
            <a:pPr algn="ctr" indent="0" marL="0">
              <a:lnSpc>
                <a:spcPts val="660"/>
              </a:lnSpc>
              <a:buNone/>
            </a:pPr>
            <a:r>
              <a:rPr lang="en-US" sz="550" spc="66" kern="0" dirty="0">
                <a:solidFill>
                  <a:srgbClr val="0053E2"/>
                </a:solidFill>
                <a:latin typeface="Everyday Sans Mono" pitchFamily="34" charset="0"/>
                <a:ea typeface="Everyday Sans Mono" pitchFamily="34" charset="-122"/>
                <a:cs typeface="Everyday Sans Mono" pitchFamily="34" charset="-120"/>
              </a:rPr>
              <a:t>TIME-CONSUMING</a:t>
            </a:r>
            <a:endParaRPr lang="en-US" sz="550" dirty="0"/>
          </a:p>
        </p:txBody>
      </p:sp>
      <p:sp>
        <p:nvSpPr>
          <p:cNvPr id="79" name="Text 77"/>
          <p:cNvSpPr txBox="1"/>
          <p:nvPr/>
        </p:nvSpPr>
        <p:spPr>
          <a:xfrm>
            <a:off x="508000" y="2621558"/>
            <a:ext cx="4128623" cy="154285"/>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Seller Center Native Creation</a:t>
            </a:r>
            <a:endParaRPr lang="en-US" sz="850" dirty="0"/>
          </a:p>
        </p:txBody>
      </p:sp>
      <p:sp>
        <p:nvSpPr>
          <p:cNvPr id="80" name="Text 78"/>
          <p:cNvSpPr txBox="1"/>
          <p:nvPr/>
        </p:nvSpPr>
        <p:spPr>
          <a:xfrm>
            <a:off x="4343499" y="2621558"/>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81" name="Text 79"/>
          <p:cNvSpPr txBox="1"/>
          <p:nvPr/>
        </p:nvSpPr>
        <p:spPr>
          <a:xfrm>
            <a:off x="5796359" y="2621558"/>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82" name="Text 80"/>
          <p:cNvSpPr txBox="1"/>
          <p:nvPr/>
        </p:nvSpPr>
        <p:spPr>
          <a:xfrm>
            <a:off x="8702080" y="2621558"/>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83" name="Text 81"/>
          <p:cNvSpPr txBox="1"/>
          <p:nvPr/>
        </p:nvSpPr>
        <p:spPr>
          <a:xfrm>
            <a:off x="10154940" y="2621558"/>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84" name="Text 82"/>
          <p:cNvSpPr txBox="1"/>
          <p:nvPr/>
        </p:nvSpPr>
        <p:spPr>
          <a:xfrm>
            <a:off x="508000" y="2883793"/>
            <a:ext cx="4128623" cy="154285"/>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Audience Library</a:t>
            </a:r>
            <a:endParaRPr lang="en-US" sz="850" dirty="0"/>
          </a:p>
        </p:txBody>
      </p:sp>
      <p:sp>
        <p:nvSpPr>
          <p:cNvPr id="85" name="Text 83"/>
          <p:cNvSpPr txBox="1"/>
          <p:nvPr/>
        </p:nvSpPr>
        <p:spPr>
          <a:xfrm>
            <a:off x="4343499" y="2883793"/>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86" name="Text 84"/>
          <p:cNvSpPr txBox="1"/>
          <p:nvPr/>
        </p:nvSpPr>
        <p:spPr>
          <a:xfrm>
            <a:off x="5796359" y="2883793"/>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87" name="Text 85"/>
          <p:cNvSpPr txBox="1"/>
          <p:nvPr/>
        </p:nvSpPr>
        <p:spPr>
          <a:xfrm>
            <a:off x="7249220" y="2883793"/>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88" name="Text 86"/>
          <p:cNvSpPr txBox="1"/>
          <p:nvPr/>
        </p:nvSpPr>
        <p:spPr>
          <a:xfrm>
            <a:off x="8702080" y="2883793"/>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89" name="Text 87"/>
          <p:cNvSpPr txBox="1"/>
          <p:nvPr/>
        </p:nvSpPr>
        <p:spPr>
          <a:xfrm>
            <a:off x="10154940" y="2883793"/>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90" name="Text 88"/>
          <p:cNvSpPr txBox="1"/>
          <p:nvPr/>
        </p:nvSpPr>
        <p:spPr>
          <a:xfrm>
            <a:off x="508000" y="3146028"/>
            <a:ext cx="4128623" cy="154285"/>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Unified Measurement + Reporting</a:t>
            </a:r>
            <a:endParaRPr lang="en-US" sz="850" dirty="0"/>
          </a:p>
        </p:txBody>
      </p:sp>
      <p:sp>
        <p:nvSpPr>
          <p:cNvPr id="91" name="Text 89"/>
          <p:cNvSpPr txBox="1"/>
          <p:nvPr/>
        </p:nvSpPr>
        <p:spPr>
          <a:xfrm>
            <a:off x="4343499" y="3146028"/>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92" name="Text 90"/>
          <p:cNvSpPr txBox="1"/>
          <p:nvPr/>
        </p:nvSpPr>
        <p:spPr>
          <a:xfrm>
            <a:off x="5796359" y="3146028"/>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93" name="Text 91"/>
          <p:cNvSpPr txBox="1"/>
          <p:nvPr/>
        </p:nvSpPr>
        <p:spPr>
          <a:xfrm>
            <a:off x="7249220" y="3146028"/>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94" name="Text 92"/>
          <p:cNvSpPr txBox="1"/>
          <p:nvPr/>
        </p:nvSpPr>
        <p:spPr>
          <a:xfrm>
            <a:off x="8702080" y="3146028"/>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95" name="Text 93"/>
          <p:cNvSpPr txBox="1"/>
          <p:nvPr/>
        </p:nvSpPr>
        <p:spPr>
          <a:xfrm>
            <a:off x="10154940" y="3146028"/>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96" name="Text 94"/>
          <p:cNvSpPr txBox="1"/>
          <p:nvPr/>
        </p:nvSpPr>
        <p:spPr>
          <a:xfrm>
            <a:off x="508000" y="3408263"/>
            <a:ext cx="4128623" cy="154285"/>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Sponsored Workflow Enhancements</a:t>
            </a:r>
            <a:endParaRPr lang="en-US" sz="850" dirty="0"/>
          </a:p>
        </p:txBody>
      </p:sp>
      <p:sp>
        <p:nvSpPr>
          <p:cNvPr id="97" name="Text 95"/>
          <p:cNvSpPr txBox="1"/>
          <p:nvPr/>
        </p:nvSpPr>
        <p:spPr>
          <a:xfrm>
            <a:off x="4343499" y="3408263"/>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98" name="Text 96"/>
          <p:cNvSpPr txBox="1"/>
          <p:nvPr/>
        </p:nvSpPr>
        <p:spPr>
          <a:xfrm>
            <a:off x="7249220" y="3408263"/>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99" name="Text 97"/>
          <p:cNvSpPr txBox="1"/>
          <p:nvPr/>
        </p:nvSpPr>
        <p:spPr>
          <a:xfrm>
            <a:off x="8702080" y="3408263"/>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100" name="Text 98"/>
          <p:cNvSpPr txBox="1"/>
          <p:nvPr/>
        </p:nvSpPr>
        <p:spPr>
          <a:xfrm>
            <a:off x="10154940" y="3408263"/>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101" name="Text 99"/>
          <p:cNvSpPr txBox="1"/>
          <p:nvPr/>
        </p:nvSpPr>
        <p:spPr>
          <a:xfrm>
            <a:off x="508000" y="3670498"/>
            <a:ext cx="4128623" cy="154285"/>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Display Workflow Enhancements</a:t>
            </a:r>
            <a:endParaRPr lang="en-US" sz="850" dirty="0"/>
          </a:p>
        </p:txBody>
      </p:sp>
      <p:sp>
        <p:nvSpPr>
          <p:cNvPr id="102" name="Text 100"/>
          <p:cNvSpPr txBox="1"/>
          <p:nvPr/>
        </p:nvSpPr>
        <p:spPr>
          <a:xfrm>
            <a:off x="4343499" y="3670498"/>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103" name="Text 101"/>
          <p:cNvSpPr txBox="1"/>
          <p:nvPr/>
        </p:nvSpPr>
        <p:spPr>
          <a:xfrm>
            <a:off x="7249220" y="3670498"/>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104" name="Text 102"/>
          <p:cNvSpPr txBox="1"/>
          <p:nvPr/>
        </p:nvSpPr>
        <p:spPr>
          <a:xfrm>
            <a:off x="8702080" y="3670498"/>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105" name="Text 103"/>
          <p:cNvSpPr txBox="1"/>
          <p:nvPr/>
        </p:nvSpPr>
        <p:spPr>
          <a:xfrm>
            <a:off x="10154940" y="3670498"/>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106" name="Text 104"/>
          <p:cNvSpPr txBox="1"/>
          <p:nvPr/>
        </p:nvSpPr>
        <p:spPr>
          <a:xfrm>
            <a:off x="508000" y="3932734"/>
            <a:ext cx="4128623" cy="154285"/>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Goal-Based Buying</a:t>
            </a:r>
            <a:endParaRPr lang="en-US" sz="850" dirty="0"/>
          </a:p>
        </p:txBody>
      </p:sp>
      <p:sp>
        <p:nvSpPr>
          <p:cNvPr id="107" name="Text 105"/>
          <p:cNvSpPr txBox="1"/>
          <p:nvPr/>
        </p:nvSpPr>
        <p:spPr>
          <a:xfrm>
            <a:off x="4343499" y="3932734"/>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108" name="Text 106"/>
          <p:cNvSpPr txBox="1"/>
          <p:nvPr/>
        </p:nvSpPr>
        <p:spPr>
          <a:xfrm>
            <a:off x="8702080" y="3932734"/>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109" name="Text 107"/>
          <p:cNvSpPr txBox="1"/>
          <p:nvPr/>
        </p:nvSpPr>
        <p:spPr>
          <a:xfrm>
            <a:off x="10154940" y="3932734"/>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110" name="Text 108"/>
          <p:cNvSpPr txBox="1"/>
          <p:nvPr/>
        </p:nvSpPr>
        <p:spPr>
          <a:xfrm>
            <a:off x="508000" y="4194969"/>
            <a:ext cx="4128623" cy="154285"/>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Recommendation Experience Framework</a:t>
            </a:r>
            <a:endParaRPr lang="en-US" sz="850" dirty="0"/>
          </a:p>
        </p:txBody>
      </p:sp>
      <p:sp>
        <p:nvSpPr>
          <p:cNvPr id="111" name="Text 109"/>
          <p:cNvSpPr txBox="1"/>
          <p:nvPr/>
        </p:nvSpPr>
        <p:spPr>
          <a:xfrm>
            <a:off x="4343499" y="4194969"/>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112" name="Text 110"/>
          <p:cNvSpPr txBox="1"/>
          <p:nvPr/>
        </p:nvSpPr>
        <p:spPr>
          <a:xfrm>
            <a:off x="7249220" y="4194969"/>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113" name="Text 111"/>
          <p:cNvSpPr txBox="1"/>
          <p:nvPr/>
        </p:nvSpPr>
        <p:spPr>
          <a:xfrm>
            <a:off x="8702080" y="4194969"/>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114" name="Text 112"/>
          <p:cNvSpPr txBox="1"/>
          <p:nvPr/>
        </p:nvSpPr>
        <p:spPr>
          <a:xfrm>
            <a:off x="10154940" y="4194969"/>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115" name="Text 113"/>
          <p:cNvSpPr txBox="1"/>
          <p:nvPr/>
        </p:nvSpPr>
        <p:spPr>
          <a:xfrm>
            <a:off x="508000" y="4457204"/>
            <a:ext cx="4128623" cy="154285"/>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Campaign Experiments</a:t>
            </a:r>
            <a:endParaRPr lang="en-US" sz="850" dirty="0"/>
          </a:p>
        </p:txBody>
      </p:sp>
      <p:sp>
        <p:nvSpPr>
          <p:cNvPr id="116" name="Text 114"/>
          <p:cNvSpPr txBox="1"/>
          <p:nvPr/>
        </p:nvSpPr>
        <p:spPr>
          <a:xfrm>
            <a:off x="8702080" y="4457204"/>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117" name="Text 115"/>
          <p:cNvSpPr txBox="1"/>
          <p:nvPr/>
        </p:nvSpPr>
        <p:spPr>
          <a:xfrm>
            <a:off x="508000" y="4725789"/>
            <a:ext cx="4128623" cy="216495"/>
          </a:xfrm>
          <a:prstGeom prst="rect">
            <a:avLst/>
          </a:prstGeom>
          <a:noFill/>
          <a:ln/>
        </p:spPr>
        <p:txBody>
          <a:bodyPr wrap="square" lIns="0" tIns="0" rIns="0" bIns="0" rtlCol="0" anchor="t"/>
          <a:lstStyle/>
          <a:p>
            <a:pPr algn="l" indent="0" marL="0">
              <a:lnSpc>
                <a:spcPts val="810"/>
              </a:lnSpc>
              <a:buNone/>
            </a:pPr>
            <a:r>
              <a:rPr lang="en-US" sz="600" spc="84" kern="0" dirty="0">
                <a:solidFill>
                  <a:srgbClr val="0053E2"/>
                </a:solidFill>
                <a:latin typeface="Everyday Sans Mono" pitchFamily="34" charset="0"/>
                <a:ea typeface="Everyday Sans Mono" pitchFamily="34" charset="-122"/>
                <a:cs typeface="Everyday Sans Mono" pitchFamily="34" charset="-120"/>
              </a:rPr>
              <a:t>INITIATIVES ADDRESSING EACH PROBLEM</a:t>
            </a:r>
            <a:endParaRPr lang="en-US" sz="600" dirty="0"/>
          </a:p>
        </p:txBody>
      </p:sp>
      <p:sp>
        <p:nvSpPr>
          <p:cNvPr id="118" name="Text 116"/>
          <p:cNvSpPr txBox="1"/>
          <p:nvPr/>
        </p:nvSpPr>
        <p:spPr>
          <a:xfrm>
            <a:off x="4343499" y="4725789"/>
            <a:ext cx="1516360" cy="222885"/>
          </a:xfrm>
          <a:prstGeom prst="rect">
            <a:avLst/>
          </a:prstGeom>
          <a:noFill/>
          <a:ln/>
        </p:spPr>
        <p:txBody>
          <a:bodyPr wrap="square" lIns="0" tIns="0" rIns="0" bIns="0" rtlCol="0" anchor="t"/>
          <a:lstStyle/>
          <a:p>
            <a:pPr algn="ctr" indent="0" marL="0">
              <a:lnSpc>
                <a:spcPts val="1755"/>
              </a:lnSpc>
              <a:buNone/>
            </a:pPr>
            <a:r>
              <a:rPr lang="en-US" sz="1300" spc="-26" kern="0" dirty="0">
                <a:solidFill>
                  <a:srgbClr val="0053E2"/>
                </a:solidFill>
                <a:latin typeface="Everyday Sans Headline Light" pitchFamily="34" charset="0"/>
                <a:ea typeface="Everyday Sans Headline Light" pitchFamily="34" charset="-122"/>
                <a:cs typeface="Everyday Sans Headline Light" pitchFamily="34" charset="-120"/>
              </a:rPr>
              <a:t>7</a:t>
            </a:r>
            <a:endParaRPr lang="en-US" sz="1300" dirty="0"/>
          </a:p>
        </p:txBody>
      </p:sp>
      <p:sp>
        <p:nvSpPr>
          <p:cNvPr id="119" name="Text 117"/>
          <p:cNvSpPr txBox="1"/>
          <p:nvPr/>
        </p:nvSpPr>
        <p:spPr>
          <a:xfrm>
            <a:off x="5796359" y="4725789"/>
            <a:ext cx="1516360" cy="222885"/>
          </a:xfrm>
          <a:prstGeom prst="rect">
            <a:avLst/>
          </a:prstGeom>
          <a:noFill/>
          <a:ln/>
        </p:spPr>
        <p:txBody>
          <a:bodyPr wrap="square" lIns="0" tIns="0" rIns="0" bIns="0" rtlCol="0" anchor="t"/>
          <a:lstStyle/>
          <a:p>
            <a:pPr algn="ctr" indent="0" marL="0">
              <a:lnSpc>
                <a:spcPts val="1755"/>
              </a:lnSpc>
              <a:buNone/>
            </a:pPr>
            <a:r>
              <a:rPr lang="en-US" sz="1300" spc="-26" kern="0" dirty="0">
                <a:solidFill>
                  <a:srgbClr val="0053E2"/>
                </a:solidFill>
                <a:latin typeface="Everyday Sans Headline Light" pitchFamily="34" charset="0"/>
                <a:ea typeface="Everyday Sans Headline Light" pitchFamily="34" charset="-122"/>
                <a:cs typeface="Everyday Sans Headline Light" pitchFamily="34" charset="-120"/>
              </a:rPr>
              <a:t>3</a:t>
            </a:r>
            <a:endParaRPr lang="en-US" sz="1300" dirty="0"/>
          </a:p>
        </p:txBody>
      </p:sp>
      <p:sp>
        <p:nvSpPr>
          <p:cNvPr id="120" name="Text 118"/>
          <p:cNvSpPr txBox="1"/>
          <p:nvPr/>
        </p:nvSpPr>
        <p:spPr>
          <a:xfrm>
            <a:off x="7249220" y="4725789"/>
            <a:ext cx="1516360" cy="222885"/>
          </a:xfrm>
          <a:prstGeom prst="rect">
            <a:avLst/>
          </a:prstGeom>
          <a:noFill/>
          <a:ln/>
        </p:spPr>
        <p:txBody>
          <a:bodyPr wrap="square" lIns="0" tIns="0" rIns="0" bIns="0" rtlCol="0" anchor="t"/>
          <a:lstStyle/>
          <a:p>
            <a:pPr algn="ctr" indent="0" marL="0">
              <a:lnSpc>
                <a:spcPts val="1755"/>
              </a:lnSpc>
              <a:buNone/>
            </a:pPr>
            <a:r>
              <a:rPr lang="en-US" sz="1300" spc="-26" kern="0" dirty="0">
                <a:solidFill>
                  <a:srgbClr val="0053E2"/>
                </a:solidFill>
                <a:latin typeface="Everyday Sans Headline Light" pitchFamily="34" charset="0"/>
                <a:ea typeface="Everyday Sans Headline Light" pitchFamily="34" charset="-122"/>
                <a:cs typeface="Everyday Sans Headline Light" pitchFamily="34" charset="-120"/>
              </a:rPr>
              <a:t>5</a:t>
            </a:r>
            <a:endParaRPr lang="en-US" sz="1300" dirty="0"/>
          </a:p>
        </p:txBody>
      </p:sp>
      <p:sp>
        <p:nvSpPr>
          <p:cNvPr id="121" name="Text 119"/>
          <p:cNvSpPr txBox="1"/>
          <p:nvPr/>
        </p:nvSpPr>
        <p:spPr>
          <a:xfrm>
            <a:off x="8702080" y="4725789"/>
            <a:ext cx="1516360" cy="222885"/>
          </a:xfrm>
          <a:prstGeom prst="rect">
            <a:avLst/>
          </a:prstGeom>
          <a:noFill/>
          <a:ln/>
        </p:spPr>
        <p:txBody>
          <a:bodyPr wrap="square" lIns="0" tIns="0" rIns="0" bIns="0" rtlCol="0" anchor="t"/>
          <a:lstStyle/>
          <a:p>
            <a:pPr algn="ctr" indent="0" marL="0">
              <a:lnSpc>
                <a:spcPts val="1755"/>
              </a:lnSpc>
              <a:buNone/>
            </a:pPr>
            <a:r>
              <a:rPr lang="en-US" sz="1300" spc="-26" kern="0" dirty="0">
                <a:solidFill>
                  <a:srgbClr val="0053E2"/>
                </a:solidFill>
                <a:latin typeface="Everyday Sans Headline Light" pitchFamily="34" charset="0"/>
                <a:ea typeface="Everyday Sans Headline Light" pitchFamily="34" charset="-122"/>
                <a:cs typeface="Everyday Sans Headline Light" pitchFamily="34" charset="-120"/>
              </a:rPr>
              <a:t>8</a:t>
            </a:r>
            <a:endParaRPr lang="en-US" sz="1300" dirty="0"/>
          </a:p>
        </p:txBody>
      </p:sp>
      <p:sp>
        <p:nvSpPr>
          <p:cNvPr id="122" name="Text 120"/>
          <p:cNvSpPr txBox="1"/>
          <p:nvPr/>
        </p:nvSpPr>
        <p:spPr>
          <a:xfrm>
            <a:off x="10154940" y="4725789"/>
            <a:ext cx="1516360" cy="222885"/>
          </a:xfrm>
          <a:prstGeom prst="rect">
            <a:avLst/>
          </a:prstGeom>
          <a:noFill/>
          <a:ln/>
        </p:spPr>
        <p:txBody>
          <a:bodyPr wrap="square" lIns="0" tIns="0" rIns="0" bIns="0" rtlCol="0" anchor="t"/>
          <a:lstStyle/>
          <a:p>
            <a:pPr algn="ctr" indent="0" marL="0">
              <a:lnSpc>
                <a:spcPts val="1755"/>
              </a:lnSpc>
              <a:buNone/>
            </a:pPr>
            <a:r>
              <a:rPr lang="en-US" sz="1300" spc="-26" kern="0" dirty="0">
                <a:solidFill>
                  <a:srgbClr val="0053E2"/>
                </a:solidFill>
                <a:latin typeface="Everyday Sans Headline Light" pitchFamily="34" charset="0"/>
                <a:ea typeface="Everyday Sans Headline Light" pitchFamily="34" charset="-122"/>
                <a:cs typeface="Everyday Sans Headline Light" pitchFamily="34" charset="-120"/>
              </a:rPr>
              <a:t>7</a:t>
            </a:r>
            <a:endParaRPr lang="en-US" sz="1300" dirty="0"/>
          </a:p>
        </p:txBody>
      </p:sp>
      <p:sp>
        <p:nvSpPr>
          <p:cNvPr id="123" name="Text 121"/>
          <p:cNvSpPr txBox="1"/>
          <p:nvPr/>
        </p:nvSpPr>
        <p:spPr>
          <a:xfrm>
            <a:off x="508000" y="5320109"/>
            <a:ext cx="12070080" cy="133350"/>
          </a:xfrm>
          <a:prstGeom prst="rect">
            <a:avLst/>
          </a:prstGeom>
          <a:noFill/>
          <a:ln/>
        </p:spPr>
        <p:txBody>
          <a:bodyPr wrap="square" lIns="0" tIns="0" rIns="0" bIns="0" rtlCol="0" anchor="t"/>
          <a:lstStyle/>
          <a:p>
            <a:pPr algn="l" indent="0" marL="0">
              <a:lnSpc>
                <a:spcPts val="1050"/>
              </a:lnSpc>
              <a:buNone/>
            </a:pPr>
            <a:r>
              <a:rPr lang="en-US" sz="750" i="1" dirty="0">
                <a:solidFill>
                  <a:srgbClr val="3D4A63"/>
                </a:solidFill>
                <a:latin typeface="Everyday Sans UI" pitchFamily="34" charset="0"/>
                <a:ea typeface="Everyday Sans UI" pitchFamily="34" charset="-122"/>
                <a:cs typeface="Everyday Sans UI" pitchFamily="34" charset="-120"/>
              </a:rPr>
              <a:t>Dots indicate which advertiser pain points each initiative is intended to address. They are not scores, rankings or estimates of relative impact.</a:t>
            </a:r>
            <a:endParaRPr lang="en-US" sz="750" dirty="0"/>
          </a:p>
        </p:txBody>
      </p:sp>
      <p:sp>
        <p:nvSpPr>
          <p:cNvPr id="124" name="Text 122"/>
          <p:cNvSpPr txBox="1"/>
          <p:nvPr/>
        </p:nvSpPr>
        <p:spPr>
          <a:xfrm>
            <a:off x="508000" y="5904309"/>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THE SYSTEM</a:t>
            </a:r>
            <a:endParaRPr lang="en-US" sz="550" dirty="0"/>
          </a:p>
        </p:txBody>
      </p:sp>
      <p:sp>
        <p:nvSpPr>
          <p:cNvPr id="125" name="Text 123"/>
          <p:cNvSpPr txBox="1"/>
          <p:nvPr/>
        </p:nvSpPr>
        <p:spPr>
          <a:xfrm>
            <a:off x="2108200" y="5790009"/>
            <a:ext cx="10341864" cy="22225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Individual initiatives become more valuable when they work together as part of a coherent experience system.</a:t>
            </a:r>
            <a:endParaRPr lang="en-US" sz="1400" dirty="0"/>
          </a:p>
        </p:txBody>
      </p:sp>
      <p:pic>
        <p:nvPicPr>
          <p:cNvPr id="126"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127" name="Text 124"/>
          <p:cNvSpPr txBox="1"/>
          <p:nvPr/>
        </p:nvSpPr>
        <p:spPr>
          <a:xfrm>
            <a:off x="711200"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128" name="Text 125"/>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16 / 18</a:t>
            </a:r>
            <a:endParaRPr lang="en-US" sz="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377950" cy="127000"/>
          </a:xfrm>
          <a:prstGeom prst="roundRect">
            <a:avLst>
              <a:gd name="adj" fmla="val 360000"/>
            </a:avLst>
          </a:prstGeom>
          <a:solidFill>
            <a:srgbClr val="D7EEF9"/>
          </a:solidFill>
          <a:ln/>
        </p:spPr>
      </p:sp>
      <p:sp>
        <p:nvSpPr>
          <p:cNvPr id="3" name="Shape 1"/>
          <p:cNvSpPr/>
          <p:nvPr/>
        </p:nvSpPr>
        <p:spPr>
          <a:xfrm>
            <a:off x="508000" y="3100586"/>
            <a:ext cx="11176000" cy="6350"/>
          </a:xfrm>
          <a:prstGeom prst="rect">
            <a:avLst/>
          </a:prstGeom>
          <a:solidFill>
            <a:srgbClr val="0053E2"/>
          </a:solidFill>
          <a:ln/>
        </p:spPr>
      </p:sp>
      <p:sp>
        <p:nvSpPr>
          <p:cNvPr id="4" name="Shape 2"/>
          <p:cNvSpPr/>
          <p:nvPr/>
        </p:nvSpPr>
        <p:spPr>
          <a:xfrm>
            <a:off x="508000" y="3062486"/>
            <a:ext cx="82550" cy="82550"/>
          </a:xfrm>
          <a:prstGeom prst="ellipse">
            <a:avLst/>
          </a:prstGeom>
          <a:solidFill>
            <a:srgbClr val="F5F6F8"/>
          </a:solidFill>
          <a:ln w="6350">
            <a:solidFill>
              <a:srgbClr val="0053E2"/>
            </a:solidFill>
            <a:prstDash val="solid"/>
          </a:ln>
        </p:spPr>
      </p:sp>
      <p:sp>
        <p:nvSpPr>
          <p:cNvPr id="5" name="Shape 3"/>
          <p:cNvSpPr/>
          <p:nvPr/>
        </p:nvSpPr>
        <p:spPr>
          <a:xfrm>
            <a:off x="2783780" y="3062486"/>
            <a:ext cx="82550" cy="82550"/>
          </a:xfrm>
          <a:prstGeom prst="ellipse">
            <a:avLst/>
          </a:prstGeom>
          <a:solidFill>
            <a:srgbClr val="F5F6F8"/>
          </a:solidFill>
          <a:ln w="6350">
            <a:solidFill>
              <a:srgbClr val="0053E2"/>
            </a:solidFill>
            <a:prstDash val="solid"/>
          </a:ln>
        </p:spPr>
      </p:sp>
      <p:sp>
        <p:nvSpPr>
          <p:cNvPr id="6" name="Shape 4"/>
          <p:cNvSpPr/>
          <p:nvPr/>
        </p:nvSpPr>
        <p:spPr>
          <a:xfrm>
            <a:off x="5059660" y="3062486"/>
            <a:ext cx="82550" cy="82550"/>
          </a:xfrm>
          <a:prstGeom prst="ellipse">
            <a:avLst/>
          </a:prstGeom>
          <a:solidFill>
            <a:srgbClr val="F5F6F8"/>
          </a:solidFill>
          <a:ln w="6350">
            <a:solidFill>
              <a:srgbClr val="0053E2"/>
            </a:solidFill>
            <a:prstDash val="solid"/>
          </a:ln>
        </p:spPr>
      </p:sp>
      <p:sp>
        <p:nvSpPr>
          <p:cNvPr id="7" name="Shape 5"/>
          <p:cNvSpPr/>
          <p:nvPr/>
        </p:nvSpPr>
        <p:spPr>
          <a:xfrm>
            <a:off x="7335441" y="3062486"/>
            <a:ext cx="82550" cy="82550"/>
          </a:xfrm>
          <a:prstGeom prst="ellipse">
            <a:avLst/>
          </a:prstGeom>
          <a:solidFill>
            <a:srgbClr val="F5F6F8"/>
          </a:solidFill>
          <a:ln w="6350">
            <a:solidFill>
              <a:srgbClr val="0053E2"/>
            </a:solidFill>
            <a:prstDash val="solid"/>
          </a:ln>
        </p:spPr>
      </p:sp>
      <p:sp>
        <p:nvSpPr>
          <p:cNvPr id="8" name="Shape 6"/>
          <p:cNvSpPr/>
          <p:nvPr/>
        </p:nvSpPr>
        <p:spPr>
          <a:xfrm>
            <a:off x="9611320" y="3062486"/>
            <a:ext cx="82550" cy="82550"/>
          </a:xfrm>
          <a:prstGeom prst="ellipse">
            <a:avLst/>
          </a:prstGeom>
          <a:solidFill>
            <a:srgbClr val="F5F6F8"/>
          </a:solidFill>
          <a:ln w="6350">
            <a:solidFill>
              <a:srgbClr val="0053E2"/>
            </a:solidFill>
            <a:prstDash val="solid"/>
          </a:ln>
        </p:spPr>
      </p:sp>
      <p:sp>
        <p:nvSpPr>
          <p:cNvPr id="9" name="Shape 7"/>
          <p:cNvSpPr/>
          <p:nvPr/>
        </p:nvSpPr>
        <p:spPr>
          <a:xfrm>
            <a:off x="508000" y="4282480"/>
            <a:ext cx="8890000" cy="0"/>
          </a:xfrm>
          <a:prstGeom prst="line">
            <a:avLst/>
          </a:prstGeom>
          <a:noFill/>
          <a:ln w="6350">
            <a:solidFill>
              <a:srgbClr val="0053E2"/>
            </a:solidFill>
            <a:prstDash val="solid"/>
          </a:ln>
        </p:spPr>
      </p:sp>
      <p:sp>
        <p:nvSpPr>
          <p:cNvPr id="10" name="Text 8"/>
          <p:cNvSpPr txBox="1"/>
          <p:nvPr/>
        </p:nvSpPr>
        <p:spPr>
          <a:xfrm>
            <a:off x="501650" y="971550"/>
            <a:ext cx="139065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THE SYSTEM WE’RE BUILDING</a:t>
            </a:r>
            <a:endParaRPr lang="en-US" sz="500" dirty="0"/>
          </a:p>
        </p:txBody>
      </p:sp>
      <p:sp>
        <p:nvSpPr>
          <p:cNvPr id="11" name="Text 9"/>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Listen. Diagnose. Simplify. Measure. </a:t>
            </a:r>
            <a:pPr algn="l" indent="0" marL="0">
              <a:lnSpc>
                <a:spcPts val="3024"/>
              </a:lnSpc>
              <a:buNone/>
            </a:pPr>
            <a:r>
              <a:rPr lang="en-US" sz="2400" i="1" spc="-72" kern="0" dirty="0">
                <a:solidFill>
                  <a:srgbClr val="0053E2"/>
                </a:solidFill>
                <a:latin typeface="Everyday Sans Light" pitchFamily="34" charset="0"/>
                <a:ea typeface="Everyday Sans Light" pitchFamily="34" charset="-122"/>
                <a:cs typeface="Everyday Sans Light" pitchFamily="34" charset="-120"/>
              </a:rPr>
              <a:t>Learn</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12" name="Text 10"/>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Improving advertiser experience is not a one-time redesign. It is a continuous system for turning advertiser evidence into better experiences and measurable outcomes.</a:t>
            </a:r>
            <a:endParaRPr lang="en-US" sz="900" dirty="0"/>
          </a:p>
        </p:txBody>
      </p:sp>
      <p:sp>
        <p:nvSpPr>
          <p:cNvPr id="13" name="Text 11"/>
          <p:cNvSpPr txBox="1"/>
          <p:nvPr/>
        </p:nvSpPr>
        <p:spPr>
          <a:xfrm>
            <a:off x="508000" y="3240286"/>
            <a:ext cx="2238387" cy="95250"/>
          </a:xfrm>
          <a:prstGeom prst="rect">
            <a:avLst/>
          </a:prstGeom>
          <a:noFill/>
          <a:ln/>
        </p:spPr>
        <p:txBody>
          <a:bodyPr wrap="square" lIns="0" tIns="0" rIns="0" bIns="0" rtlCol="0" anchor="t"/>
          <a:lstStyle/>
          <a:p>
            <a:pPr algn="l" indent="0" marL="0">
              <a:lnSpc>
                <a:spcPts val="720"/>
              </a:lnSpc>
              <a:buNone/>
            </a:pPr>
            <a:r>
              <a:rPr lang="en-US" sz="600" spc="84" kern="0" dirty="0">
                <a:solidFill>
                  <a:srgbClr val="0053E2"/>
                </a:solidFill>
                <a:latin typeface="Everyday Sans Mono" pitchFamily="34" charset="0"/>
                <a:ea typeface="Everyday Sans Mono" pitchFamily="34" charset="-122"/>
                <a:cs typeface="Everyday Sans Mono" pitchFamily="34" charset="-120"/>
              </a:rPr>
              <a:t>LISTEN</a:t>
            </a:r>
            <a:endParaRPr lang="en-US" sz="600" dirty="0"/>
          </a:p>
        </p:txBody>
      </p:sp>
      <p:sp>
        <p:nvSpPr>
          <p:cNvPr id="14" name="Text 12"/>
          <p:cNvSpPr txBox="1"/>
          <p:nvPr/>
        </p:nvSpPr>
        <p:spPr>
          <a:xfrm>
            <a:off x="508000" y="3386336"/>
            <a:ext cx="2238387" cy="396081"/>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UXR, VOC, Sales, Support,</a:t>
            </a:r>
            <a:endParaRPr lang="en-US" sz="1300" dirty="0"/>
          </a:p>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Pendo</a:t>
            </a:r>
            <a:endParaRPr lang="en-US" sz="1300" dirty="0"/>
          </a:p>
        </p:txBody>
      </p:sp>
      <p:sp>
        <p:nvSpPr>
          <p:cNvPr id="15" name="Text 13"/>
          <p:cNvSpPr txBox="1"/>
          <p:nvPr/>
        </p:nvSpPr>
        <p:spPr>
          <a:xfrm>
            <a:off x="2783780" y="3240286"/>
            <a:ext cx="2238494" cy="95250"/>
          </a:xfrm>
          <a:prstGeom prst="rect">
            <a:avLst/>
          </a:prstGeom>
          <a:noFill/>
          <a:ln/>
        </p:spPr>
        <p:txBody>
          <a:bodyPr wrap="square" lIns="0" tIns="0" rIns="0" bIns="0" rtlCol="0" anchor="t"/>
          <a:lstStyle/>
          <a:p>
            <a:pPr algn="l" indent="0" marL="0">
              <a:lnSpc>
                <a:spcPts val="720"/>
              </a:lnSpc>
              <a:buNone/>
            </a:pPr>
            <a:r>
              <a:rPr lang="en-US" sz="600" spc="84" kern="0" dirty="0">
                <a:solidFill>
                  <a:srgbClr val="0053E2"/>
                </a:solidFill>
                <a:latin typeface="Everyday Sans Mono" pitchFamily="34" charset="0"/>
                <a:ea typeface="Everyday Sans Mono" pitchFamily="34" charset="-122"/>
                <a:cs typeface="Everyday Sans Mono" pitchFamily="34" charset="-120"/>
              </a:rPr>
              <a:t>DIAGNOSE</a:t>
            </a:r>
            <a:endParaRPr lang="en-US" sz="600" dirty="0"/>
          </a:p>
        </p:txBody>
      </p:sp>
      <p:sp>
        <p:nvSpPr>
          <p:cNvPr id="16" name="Text 14"/>
          <p:cNvSpPr txBox="1"/>
          <p:nvPr/>
        </p:nvSpPr>
        <p:spPr>
          <a:xfrm>
            <a:off x="2783780" y="3386336"/>
            <a:ext cx="2238494" cy="396081"/>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Behavior, experience,</a:t>
            </a:r>
            <a:endParaRPr lang="en-US" sz="1300" dirty="0"/>
          </a:p>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performance</a:t>
            </a:r>
            <a:endParaRPr lang="en-US" sz="1300" dirty="0"/>
          </a:p>
        </p:txBody>
      </p:sp>
      <p:sp>
        <p:nvSpPr>
          <p:cNvPr id="17" name="Text 15"/>
          <p:cNvSpPr txBox="1"/>
          <p:nvPr/>
        </p:nvSpPr>
        <p:spPr>
          <a:xfrm>
            <a:off x="5059660" y="3240286"/>
            <a:ext cx="2238387" cy="95250"/>
          </a:xfrm>
          <a:prstGeom prst="rect">
            <a:avLst/>
          </a:prstGeom>
          <a:noFill/>
          <a:ln/>
        </p:spPr>
        <p:txBody>
          <a:bodyPr wrap="square" lIns="0" tIns="0" rIns="0" bIns="0" rtlCol="0" anchor="t"/>
          <a:lstStyle/>
          <a:p>
            <a:pPr algn="l" indent="0" marL="0">
              <a:lnSpc>
                <a:spcPts val="720"/>
              </a:lnSpc>
              <a:buNone/>
            </a:pPr>
            <a:r>
              <a:rPr lang="en-US" sz="600" spc="84" kern="0" dirty="0">
                <a:solidFill>
                  <a:srgbClr val="0053E2"/>
                </a:solidFill>
                <a:latin typeface="Everyday Sans Mono" pitchFamily="34" charset="0"/>
                <a:ea typeface="Everyday Sans Mono" pitchFamily="34" charset="-122"/>
                <a:cs typeface="Everyday Sans Mono" pitchFamily="34" charset="-120"/>
              </a:rPr>
              <a:t>SIMPLIFY</a:t>
            </a:r>
            <a:endParaRPr lang="en-US" sz="600" dirty="0"/>
          </a:p>
        </p:txBody>
      </p:sp>
      <p:sp>
        <p:nvSpPr>
          <p:cNvPr id="18" name="Text 16"/>
          <p:cNvSpPr txBox="1"/>
          <p:nvPr/>
        </p:nvSpPr>
        <p:spPr>
          <a:xfrm>
            <a:off x="5059660" y="3386336"/>
            <a:ext cx="2238387" cy="594122"/>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Remove friction with shared</a:t>
            </a:r>
            <a:endParaRPr lang="en-US" sz="1300" dirty="0"/>
          </a:p>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capabilities and better</a:t>
            </a:r>
            <a:endParaRPr lang="en-US" sz="1300" dirty="0"/>
          </a:p>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guidance</a:t>
            </a:r>
            <a:endParaRPr lang="en-US" sz="1300" dirty="0"/>
          </a:p>
        </p:txBody>
      </p:sp>
      <p:sp>
        <p:nvSpPr>
          <p:cNvPr id="19" name="Text 17"/>
          <p:cNvSpPr txBox="1"/>
          <p:nvPr/>
        </p:nvSpPr>
        <p:spPr>
          <a:xfrm>
            <a:off x="7335441" y="3240286"/>
            <a:ext cx="2238494" cy="95250"/>
          </a:xfrm>
          <a:prstGeom prst="rect">
            <a:avLst/>
          </a:prstGeom>
          <a:noFill/>
          <a:ln/>
        </p:spPr>
        <p:txBody>
          <a:bodyPr wrap="square" lIns="0" tIns="0" rIns="0" bIns="0" rtlCol="0" anchor="t"/>
          <a:lstStyle/>
          <a:p>
            <a:pPr algn="l" indent="0" marL="0">
              <a:lnSpc>
                <a:spcPts val="720"/>
              </a:lnSpc>
              <a:buNone/>
            </a:pPr>
            <a:r>
              <a:rPr lang="en-US" sz="600" spc="84" kern="0" dirty="0">
                <a:solidFill>
                  <a:srgbClr val="0053E2"/>
                </a:solidFill>
                <a:latin typeface="Everyday Sans Mono" pitchFamily="34" charset="0"/>
                <a:ea typeface="Everyday Sans Mono" pitchFamily="34" charset="-122"/>
                <a:cs typeface="Everyday Sans Mono" pitchFamily="34" charset="-120"/>
              </a:rPr>
              <a:t>MEASURE</a:t>
            </a:r>
            <a:endParaRPr lang="en-US" sz="600" dirty="0"/>
          </a:p>
        </p:txBody>
      </p:sp>
      <p:sp>
        <p:nvSpPr>
          <p:cNvPr id="20" name="Text 18"/>
          <p:cNvSpPr txBox="1"/>
          <p:nvPr/>
        </p:nvSpPr>
        <p:spPr>
          <a:xfrm>
            <a:off x="7335441" y="3386336"/>
            <a:ext cx="2238494" cy="396081"/>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Behavior, adoption, media</a:t>
            </a:r>
            <a:endParaRPr lang="en-US" sz="1300" dirty="0"/>
          </a:p>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outcomes</a:t>
            </a:r>
            <a:endParaRPr lang="en-US" sz="1300" dirty="0"/>
          </a:p>
        </p:txBody>
      </p:sp>
      <p:sp>
        <p:nvSpPr>
          <p:cNvPr id="21" name="Text 19"/>
          <p:cNvSpPr txBox="1"/>
          <p:nvPr/>
        </p:nvSpPr>
        <p:spPr>
          <a:xfrm>
            <a:off x="9611320" y="3240286"/>
            <a:ext cx="2238387" cy="95250"/>
          </a:xfrm>
          <a:prstGeom prst="rect">
            <a:avLst/>
          </a:prstGeom>
          <a:noFill/>
          <a:ln/>
        </p:spPr>
        <p:txBody>
          <a:bodyPr wrap="square" lIns="0" tIns="0" rIns="0" bIns="0" rtlCol="0" anchor="t"/>
          <a:lstStyle/>
          <a:p>
            <a:pPr algn="l" indent="0" marL="0">
              <a:lnSpc>
                <a:spcPts val="720"/>
              </a:lnSpc>
              <a:buNone/>
            </a:pPr>
            <a:r>
              <a:rPr lang="en-US" sz="600" spc="84" kern="0" dirty="0">
                <a:solidFill>
                  <a:srgbClr val="0053E2"/>
                </a:solidFill>
                <a:latin typeface="Everyday Sans Mono" pitchFamily="34" charset="0"/>
                <a:ea typeface="Everyday Sans Mono" pitchFamily="34" charset="-122"/>
                <a:cs typeface="Everyday Sans Mono" pitchFamily="34" charset="-120"/>
              </a:rPr>
              <a:t>LEARN</a:t>
            </a:r>
            <a:endParaRPr lang="en-US" sz="600" dirty="0"/>
          </a:p>
        </p:txBody>
      </p:sp>
      <p:sp>
        <p:nvSpPr>
          <p:cNvPr id="22" name="Text 20"/>
          <p:cNvSpPr txBox="1"/>
          <p:nvPr/>
        </p:nvSpPr>
        <p:spPr>
          <a:xfrm>
            <a:off x="9611320" y="3386336"/>
            <a:ext cx="2238387" cy="396081"/>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Decide what to improve,</a:t>
            </a:r>
            <a:endParaRPr lang="en-US" sz="1300" dirty="0"/>
          </a:p>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refine or scale next</a:t>
            </a:r>
            <a:endParaRPr lang="en-US" sz="1300" dirty="0"/>
          </a:p>
        </p:txBody>
      </p:sp>
      <p:sp>
        <p:nvSpPr>
          <p:cNvPr id="23" name="Text 21"/>
          <p:cNvSpPr txBox="1"/>
          <p:nvPr/>
        </p:nvSpPr>
        <p:spPr>
          <a:xfrm>
            <a:off x="9611320" y="3922117"/>
            <a:ext cx="2238387" cy="128588"/>
          </a:xfrm>
          <a:prstGeom prst="rect">
            <a:avLst/>
          </a:prstGeom>
          <a:noFill/>
          <a:ln/>
        </p:spPr>
        <p:txBody>
          <a:bodyPr wrap="square" lIns="0" tIns="0" rIns="0" bIns="0" rtlCol="0" anchor="t"/>
          <a:lstStyle/>
          <a:p>
            <a:pPr algn="l" indent="0" marL="0">
              <a:lnSpc>
                <a:spcPts val="1013"/>
              </a:lnSpc>
              <a:buNone/>
            </a:pPr>
            <a:r>
              <a:rPr lang="en-US" sz="750" spc="105" kern="0" dirty="0">
                <a:solidFill>
                  <a:srgbClr val="3D4A63"/>
                </a:solidFill>
                <a:latin typeface="Everyday Sans Mono" pitchFamily="34" charset="0"/>
                <a:ea typeface="Everyday Sans Mono" pitchFamily="34" charset="-122"/>
                <a:cs typeface="Everyday Sans Mono" pitchFamily="34" charset="-120"/>
              </a:rPr>
              <a:t>↺ REPEAT</a:t>
            </a:r>
            <a:endParaRPr lang="en-US" sz="750" dirty="0"/>
          </a:p>
        </p:txBody>
      </p:sp>
      <p:sp>
        <p:nvSpPr>
          <p:cNvPr id="24" name="Text 22"/>
          <p:cNvSpPr txBox="1"/>
          <p:nvPr/>
        </p:nvSpPr>
        <p:spPr>
          <a:xfrm>
            <a:off x="508000" y="4412655"/>
            <a:ext cx="9601200" cy="609600"/>
          </a:xfrm>
          <a:prstGeom prst="rect">
            <a:avLst/>
          </a:prstGeom>
          <a:noFill/>
          <a:ln/>
        </p:spPr>
        <p:txBody>
          <a:bodyPr wrap="square" lIns="0" tIns="0" rIns="0" bIns="0" rtlCol="0" anchor="t"/>
          <a:lstStyle/>
          <a:p>
            <a:pPr algn="l" indent="0" marL="0">
              <a:lnSpc>
                <a:spcPts val="2400"/>
              </a:lnSpc>
              <a:buNone/>
            </a:pPr>
            <a:r>
              <a:rPr lang="en-US" sz="2000" spc="-60" kern="0" dirty="0">
                <a:solidFill>
                  <a:srgbClr val="001E60"/>
                </a:solidFill>
                <a:latin typeface="Everyday Sans Headline Light" pitchFamily="34" charset="0"/>
                <a:ea typeface="Everyday Sans Headline Light" pitchFamily="34" charset="-122"/>
                <a:cs typeface="Everyday Sans Headline Light" pitchFamily="34" charset="-120"/>
              </a:rPr>
              <a:t>We don’t need advertisers to trust that Walmart Ads is getting better. We need to</a:t>
            </a:r>
            <a:endParaRPr lang="en-US" sz="2000" dirty="0"/>
          </a:p>
          <a:p>
            <a:pPr algn="l" indent="0" marL="0">
              <a:lnSpc>
                <a:spcPts val="2400"/>
              </a:lnSpc>
              <a:buNone/>
            </a:pPr>
            <a:r>
              <a:rPr lang="en-US" sz="2000" spc="-60" kern="0" dirty="0">
                <a:solidFill>
                  <a:srgbClr val="001E60"/>
                </a:solidFill>
                <a:latin typeface="Everyday Sans Headline Light" pitchFamily="34" charset="0"/>
                <a:ea typeface="Everyday Sans Headline Light" pitchFamily="34" charset="-122"/>
                <a:cs typeface="Everyday Sans Headline Light" pitchFamily="34" charset="-120"/>
              </a:rPr>
              <a:t>give them an experience, evidence and outcomes that prove it.</a:t>
            </a:r>
            <a:endParaRPr lang="en-US" sz="2000" dirty="0"/>
          </a:p>
        </p:txBody>
      </p:sp>
      <p:pic>
        <p:nvPicPr>
          <p:cNvPr id="25"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26" name="Text 23"/>
          <p:cNvSpPr txBox="1"/>
          <p:nvPr/>
        </p:nvSpPr>
        <p:spPr>
          <a:xfrm>
            <a:off x="711200"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27" name="Text 24"/>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17 / 18</a:t>
            </a:r>
            <a:endParaRPr lang="en-US" sz="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1E60"/>
        </a:solidFill>
      </p:bgPr>
    </p:bg>
    <p:spTree>
      <p:nvGrpSpPr>
        <p:cNvPr id="1" name=""/>
        <p:cNvGrpSpPr/>
        <p:nvPr/>
      </p:nvGrpSpPr>
      <p:grpSpPr>
        <a:xfrm>
          <a:off x="0" y="0"/>
          <a:ext cx="0" cy="0"/>
          <a:chOff x="0" y="0"/>
          <a:chExt cx="0" cy="0"/>
        </a:xfrm>
      </p:grpSpPr>
      <p:sp>
        <p:nvSpPr>
          <p:cNvPr id="2" name="Shape 0"/>
          <p:cNvSpPr/>
          <p:nvPr/>
        </p:nvSpPr>
        <p:spPr>
          <a:xfrm>
            <a:off x="508000" y="939800"/>
            <a:ext cx="734120" cy="127000"/>
          </a:xfrm>
          <a:prstGeom prst="roundRect">
            <a:avLst>
              <a:gd name="adj" fmla="val 360000"/>
            </a:avLst>
          </a:prstGeom>
          <a:solidFill>
            <a:srgbClr val="D7EEF9"/>
          </a:solidFill>
          <a:ln/>
        </p:spPr>
      </p:sp>
      <p:sp>
        <p:nvSpPr>
          <p:cNvPr id="3" name="Shape 1"/>
          <p:cNvSpPr/>
          <p:nvPr/>
        </p:nvSpPr>
        <p:spPr>
          <a:xfrm>
            <a:off x="508000" y="2506464"/>
            <a:ext cx="3048000" cy="0"/>
          </a:xfrm>
          <a:prstGeom prst="line">
            <a:avLst/>
          </a:prstGeom>
          <a:noFill/>
          <a:ln w="6350">
            <a:solidFill>
              <a:srgbClr val="4DBDF5"/>
            </a:solidFill>
            <a:prstDash val="solid"/>
          </a:ln>
        </p:spPr>
      </p:sp>
      <p:sp>
        <p:nvSpPr>
          <p:cNvPr id="4" name="Shape 2"/>
          <p:cNvSpPr/>
          <p:nvPr/>
        </p:nvSpPr>
        <p:spPr>
          <a:xfrm>
            <a:off x="3810000" y="2506464"/>
            <a:ext cx="3048000" cy="0"/>
          </a:xfrm>
          <a:prstGeom prst="line">
            <a:avLst/>
          </a:prstGeom>
          <a:noFill/>
          <a:ln w="6350">
            <a:solidFill>
              <a:srgbClr val="4DBDF5"/>
            </a:solidFill>
            <a:prstDash val="solid"/>
          </a:ln>
        </p:spPr>
      </p:sp>
      <p:sp>
        <p:nvSpPr>
          <p:cNvPr id="5" name="Shape 3"/>
          <p:cNvSpPr/>
          <p:nvPr/>
        </p:nvSpPr>
        <p:spPr>
          <a:xfrm>
            <a:off x="7112000" y="2506464"/>
            <a:ext cx="3048000" cy="0"/>
          </a:xfrm>
          <a:prstGeom prst="line">
            <a:avLst/>
          </a:prstGeom>
          <a:noFill/>
          <a:ln w="6350">
            <a:solidFill>
              <a:srgbClr val="4DBDF5"/>
            </a:solidFill>
            <a:prstDash val="solid"/>
          </a:ln>
        </p:spPr>
      </p:sp>
      <p:sp>
        <p:nvSpPr>
          <p:cNvPr id="6" name="Text 4"/>
          <p:cNvSpPr txBox="1"/>
          <p:nvPr/>
        </p:nvSpPr>
        <p:spPr>
          <a:xfrm>
            <a:off x="501650" y="971550"/>
            <a:ext cx="74682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WHAT WE NEED</a:t>
            </a:r>
            <a:endParaRPr lang="en-US" sz="500" dirty="0"/>
          </a:p>
        </p:txBody>
      </p:sp>
      <p:sp>
        <p:nvSpPr>
          <p:cNvPr id="7" name="Text 5"/>
          <p:cNvSpPr txBox="1"/>
          <p:nvPr/>
        </p:nvSpPr>
        <p:spPr>
          <a:xfrm>
            <a:off x="508000" y="1212850"/>
            <a:ext cx="7848767" cy="576072"/>
          </a:xfrm>
          <a:prstGeom prst="rect">
            <a:avLst/>
          </a:prstGeom>
          <a:noFill/>
          <a:ln/>
        </p:spPr>
        <p:txBody>
          <a:bodyPr wrap="square" lIns="0" tIns="0" rIns="0" bIns="0" rtlCol="0" anchor="t"/>
          <a:lstStyle/>
          <a:p>
            <a:pPr algn="l" indent="0" marL="0">
              <a:lnSpc>
                <a:spcPts val="4536"/>
              </a:lnSpc>
              <a:buNone/>
            </a:pPr>
            <a:r>
              <a:rPr lang="en-US" sz="3600" spc="-108" kern="0" dirty="0">
                <a:solidFill>
                  <a:srgbClr val="FFFFFF"/>
                </a:solidFill>
                <a:latin typeface="Everyday Sans Headline Light" pitchFamily="34" charset="0"/>
                <a:ea typeface="Everyday Sans Headline Light" pitchFamily="34" charset="-122"/>
                <a:cs typeface="Everyday Sans Headline Light" pitchFamily="34" charset="-120"/>
              </a:rPr>
              <a:t>Three commitments make this </a:t>
            </a:r>
            <a:pPr algn="l" indent="0" marL="0">
              <a:lnSpc>
                <a:spcPts val="4536"/>
              </a:lnSpc>
              <a:buNone/>
            </a:pPr>
            <a:r>
              <a:rPr lang="en-US" sz="3600" i="1" spc="-108" kern="0" dirty="0">
                <a:solidFill>
                  <a:srgbClr val="4DBDF5"/>
                </a:solidFill>
                <a:latin typeface="Everyday Sans Light" pitchFamily="34" charset="0"/>
                <a:ea typeface="Everyday Sans Light" pitchFamily="34" charset="-122"/>
                <a:cs typeface="Everyday Sans Light" pitchFamily="34" charset="-120"/>
              </a:rPr>
              <a:t>work</a:t>
            </a:r>
            <a:pPr algn="l" indent="0" marL="0">
              <a:lnSpc>
                <a:spcPts val="4536"/>
              </a:lnSpc>
              <a:buNone/>
            </a:pPr>
            <a:r>
              <a:rPr lang="en-US" sz="3600" spc="-108" kern="0" dirty="0">
                <a:solidFill>
                  <a:srgbClr val="FFFFFF"/>
                </a:solidFill>
                <a:latin typeface="Everyday Sans Headline Light" pitchFamily="34" charset="0"/>
                <a:ea typeface="Everyday Sans Headline Light" pitchFamily="34" charset="-122"/>
                <a:cs typeface="Everyday Sans Headline Light" pitchFamily="34" charset="-120"/>
              </a:rPr>
              <a:t>.</a:t>
            </a:r>
            <a:endParaRPr lang="en-US" sz="3600" dirty="0"/>
          </a:p>
        </p:txBody>
      </p:sp>
      <p:sp>
        <p:nvSpPr>
          <p:cNvPr id="8" name="Text 6"/>
          <p:cNvSpPr txBox="1"/>
          <p:nvPr/>
        </p:nvSpPr>
        <p:spPr>
          <a:xfrm>
            <a:off x="508000" y="1890514"/>
            <a:ext cx="6720840" cy="460375"/>
          </a:xfrm>
          <a:prstGeom prst="rect">
            <a:avLst/>
          </a:prstGeom>
          <a:noFill/>
          <a:ln/>
        </p:spPr>
        <p:txBody>
          <a:bodyPr wrap="square" lIns="0" tIns="0" rIns="0" bIns="0" rtlCol="0" anchor="t"/>
          <a:lstStyle/>
          <a:p>
            <a:pPr algn="l" indent="0" marL="0">
              <a:lnSpc>
                <a:spcPts val="1813"/>
              </a:lnSpc>
              <a:buNone/>
            </a:pPr>
            <a:r>
              <a:rPr lang="en-US" sz="1250" i="1" dirty="0">
                <a:solidFill>
                  <a:srgbClr val="FFFFFF"/>
                </a:solidFill>
                <a:latin typeface="Everyday Sans UI" pitchFamily="34" charset="0"/>
                <a:ea typeface="Everyday Sans UI" pitchFamily="34" charset="-122"/>
                <a:cs typeface="Everyday Sans UI" pitchFamily="34" charset="-120"/>
              </a:rPr>
              <a:t>The strategy only holds if diagnosis, ownership and measurement are agreed before</a:t>
            </a:r>
            <a:endParaRPr lang="en-US" sz="1250" dirty="0"/>
          </a:p>
          <a:p>
            <a:pPr algn="l" indent="0" marL="0">
              <a:lnSpc>
                <a:spcPts val="1813"/>
              </a:lnSpc>
              <a:buNone/>
            </a:pPr>
            <a:r>
              <a:rPr lang="en-US" sz="1250" i="1" dirty="0">
                <a:solidFill>
                  <a:srgbClr val="FFFFFF"/>
                </a:solidFill>
                <a:latin typeface="Everyday Sans UI" pitchFamily="34" charset="0"/>
                <a:ea typeface="Everyday Sans UI" pitchFamily="34" charset="-122"/>
                <a:cs typeface="Everyday Sans UI" pitchFamily="34" charset="-120"/>
              </a:rPr>
              <a:t>solutions scale.</a:t>
            </a:r>
            <a:endParaRPr lang="en-US" sz="1250" dirty="0"/>
          </a:p>
        </p:txBody>
      </p:sp>
      <p:sp>
        <p:nvSpPr>
          <p:cNvPr id="9" name="Text 7"/>
          <p:cNvSpPr txBox="1"/>
          <p:nvPr/>
        </p:nvSpPr>
        <p:spPr>
          <a:xfrm>
            <a:off x="508000" y="2598539"/>
            <a:ext cx="3291840" cy="95250"/>
          </a:xfrm>
          <a:prstGeom prst="rect">
            <a:avLst/>
          </a:prstGeom>
          <a:noFill/>
          <a:ln/>
        </p:spPr>
        <p:txBody>
          <a:bodyPr wrap="square" lIns="0" tIns="0" rIns="0" bIns="0" rtlCol="0" anchor="t"/>
          <a:lstStyle/>
          <a:p>
            <a:pPr algn="l" indent="0" marL="0">
              <a:lnSpc>
                <a:spcPts val="720"/>
              </a:lnSpc>
              <a:buNone/>
            </a:pPr>
            <a:r>
              <a:rPr lang="en-US" sz="600" spc="60" kern="0" dirty="0">
                <a:solidFill>
                  <a:srgbClr val="4DBDF5"/>
                </a:solidFill>
                <a:latin typeface="Everyday Sans UI Medium" pitchFamily="34" charset="0"/>
                <a:ea typeface="Everyday Sans UI Medium" pitchFamily="34" charset="-122"/>
                <a:cs typeface="Everyday Sans UI Medium" pitchFamily="34" charset="-120"/>
              </a:rPr>
              <a:t>ALIGN</a:t>
            </a:r>
            <a:endParaRPr lang="en-US" sz="600" dirty="0"/>
          </a:p>
        </p:txBody>
      </p:sp>
      <p:sp>
        <p:nvSpPr>
          <p:cNvPr id="10" name="Text 8"/>
          <p:cNvSpPr txBox="1"/>
          <p:nvPr/>
        </p:nvSpPr>
        <p:spPr>
          <a:xfrm>
            <a:off x="508000" y="2744589"/>
            <a:ext cx="3291840" cy="268089"/>
          </a:xfrm>
          <a:prstGeom prst="rect">
            <a:avLst/>
          </a:prstGeom>
          <a:noFill/>
          <a:ln/>
        </p:spPr>
        <p:txBody>
          <a:bodyPr wrap="square" lIns="0" tIns="0" rIns="0" bIns="0" rtlCol="0" anchor="t"/>
          <a:lstStyle/>
          <a:p>
            <a:pPr algn="l" indent="0" marL="0">
              <a:lnSpc>
                <a:spcPts val="1056"/>
              </a:lnSpc>
              <a:buNone/>
            </a:pPr>
            <a:r>
              <a:rPr lang="en-US" sz="800" dirty="0">
                <a:solidFill>
                  <a:srgbClr val="FFFFFF"/>
                </a:solidFill>
                <a:latin typeface="Everyday Sans UI" pitchFamily="34" charset="0"/>
                <a:ea typeface="Everyday Sans UI" pitchFamily="34" charset="-122"/>
                <a:cs typeface="Everyday Sans UI" pitchFamily="34" charset="-120"/>
              </a:rPr>
              <a:t>Diagnose Display across all three contributors before prescribing a</a:t>
            </a:r>
            <a:endParaRPr lang="en-US" sz="800" dirty="0"/>
          </a:p>
          <a:p>
            <a:pPr algn="l" indent="0" marL="0">
              <a:lnSpc>
                <a:spcPts val="1056"/>
              </a:lnSpc>
              <a:buNone/>
            </a:pPr>
            <a:r>
              <a:rPr lang="en-US" sz="800" dirty="0">
                <a:solidFill>
                  <a:srgbClr val="FFFFFF"/>
                </a:solidFill>
                <a:latin typeface="Everyday Sans UI" pitchFamily="34" charset="0"/>
                <a:ea typeface="Everyday Sans UI" pitchFamily="34" charset="-122"/>
                <a:cs typeface="Everyday Sans UI" pitchFamily="34" charset="-120"/>
              </a:rPr>
              <a:t>solution, and use it as the first proof point for this approach.</a:t>
            </a:r>
            <a:endParaRPr lang="en-US" sz="800" dirty="0"/>
          </a:p>
        </p:txBody>
      </p:sp>
      <p:sp>
        <p:nvSpPr>
          <p:cNvPr id="11" name="Text 9"/>
          <p:cNvSpPr txBox="1"/>
          <p:nvPr/>
        </p:nvSpPr>
        <p:spPr>
          <a:xfrm>
            <a:off x="3810000" y="2598539"/>
            <a:ext cx="3291840" cy="95250"/>
          </a:xfrm>
          <a:prstGeom prst="rect">
            <a:avLst/>
          </a:prstGeom>
          <a:noFill/>
          <a:ln/>
        </p:spPr>
        <p:txBody>
          <a:bodyPr wrap="square" lIns="0" tIns="0" rIns="0" bIns="0" rtlCol="0" anchor="t"/>
          <a:lstStyle/>
          <a:p>
            <a:pPr algn="l" indent="0" marL="0">
              <a:lnSpc>
                <a:spcPts val="720"/>
              </a:lnSpc>
              <a:buNone/>
            </a:pPr>
            <a:r>
              <a:rPr lang="en-US" sz="600" spc="60" kern="0" dirty="0">
                <a:solidFill>
                  <a:srgbClr val="4DBDF5"/>
                </a:solidFill>
                <a:latin typeface="Everyday Sans UI Medium" pitchFamily="34" charset="0"/>
                <a:ea typeface="Everyday Sans UI Medium" pitchFamily="34" charset="-122"/>
                <a:cs typeface="Everyday Sans UI Medium" pitchFamily="34" charset="-120"/>
              </a:rPr>
              <a:t>STAFF</a:t>
            </a:r>
            <a:endParaRPr lang="en-US" sz="600" dirty="0"/>
          </a:p>
        </p:txBody>
      </p:sp>
      <p:sp>
        <p:nvSpPr>
          <p:cNvPr id="12" name="Text 10"/>
          <p:cNvSpPr txBox="1"/>
          <p:nvPr/>
        </p:nvSpPr>
        <p:spPr>
          <a:xfrm>
            <a:off x="3810000" y="2744589"/>
            <a:ext cx="3291840" cy="268089"/>
          </a:xfrm>
          <a:prstGeom prst="rect">
            <a:avLst/>
          </a:prstGeom>
          <a:noFill/>
          <a:ln/>
        </p:spPr>
        <p:txBody>
          <a:bodyPr wrap="square" lIns="0" tIns="0" rIns="0" bIns="0" rtlCol="0" anchor="t"/>
          <a:lstStyle/>
          <a:p>
            <a:pPr algn="l" indent="0" marL="0">
              <a:lnSpc>
                <a:spcPts val="1056"/>
              </a:lnSpc>
              <a:buNone/>
            </a:pPr>
            <a:r>
              <a:rPr lang="en-US" sz="800" dirty="0">
                <a:solidFill>
                  <a:srgbClr val="FFFFFF"/>
                </a:solidFill>
                <a:latin typeface="Everyday Sans UI" pitchFamily="34" charset="0"/>
                <a:ea typeface="Everyday Sans UI" pitchFamily="34" charset="-122"/>
                <a:cs typeface="Everyday Sans UI" pitchFamily="34" charset="-120"/>
              </a:rPr>
              <a:t>Stand up a joint diagnosis with Display Product, Sales and Media Insights,</a:t>
            </a:r>
            <a:endParaRPr lang="en-US" sz="800" dirty="0"/>
          </a:p>
          <a:p>
            <a:pPr algn="l" indent="0" marL="0">
              <a:lnSpc>
                <a:spcPts val="1056"/>
              </a:lnSpc>
              <a:buNone/>
            </a:pPr>
            <a:r>
              <a:rPr lang="en-US" sz="800" dirty="0">
                <a:solidFill>
                  <a:srgbClr val="FFFFFF"/>
                </a:solidFill>
                <a:latin typeface="Everyday Sans UI" pitchFamily="34" charset="0"/>
                <a:ea typeface="Everyday Sans UI" pitchFamily="34" charset="-122"/>
                <a:cs typeface="Everyday Sans UI" pitchFamily="34" charset="-120"/>
              </a:rPr>
              <a:t>with shared access to behavioral, setup and delivery data.</a:t>
            </a:r>
            <a:endParaRPr lang="en-US" sz="800" dirty="0"/>
          </a:p>
        </p:txBody>
      </p:sp>
      <p:sp>
        <p:nvSpPr>
          <p:cNvPr id="13" name="Text 11"/>
          <p:cNvSpPr txBox="1"/>
          <p:nvPr/>
        </p:nvSpPr>
        <p:spPr>
          <a:xfrm>
            <a:off x="7112000" y="2598539"/>
            <a:ext cx="3291840" cy="95250"/>
          </a:xfrm>
          <a:prstGeom prst="rect">
            <a:avLst/>
          </a:prstGeom>
          <a:noFill/>
          <a:ln/>
        </p:spPr>
        <p:txBody>
          <a:bodyPr wrap="square" lIns="0" tIns="0" rIns="0" bIns="0" rtlCol="0" anchor="t"/>
          <a:lstStyle/>
          <a:p>
            <a:pPr algn="l" indent="0" marL="0">
              <a:lnSpc>
                <a:spcPts val="720"/>
              </a:lnSpc>
              <a:buNone/>
            </a:pPr>
            <a:r>
              <a:rPr lang="en-US" sz="600" spc="60" kern="0" dirty="0">
                <a:solidFill>
                  <a:srgbClr val="4DBDF5"/>
                </a:solidFill>
                <a:latin typeface="Everyday Sans UI Medium" pitchFamily="34" charset="0"/>
                <a:ea typeface="Everyday Sans UI Medium" pitchFamily="34" charset="-122"/>
                <a:cs typeface="Everyday Sans UI Medium" pitchFamily="34" charset="-120"/>
              </a:rPr>
              <a:t>MEASURE</a:t>
            </a:r>
            <a:endParaRPr lang="en-US" sz="600" dirty="0"/>
          </a:p>
        </p:txBody>
      </p:sp>
      <p:sp>
        <p:nvSpPr>
          <p:cNvPr id="14" name="Text 12"/>
          <p:cNvSpPr txBox="1"/>
          <p:nvPr/>
        </p:nvSpPr>
        <p:spPr>
          <a:xfrm>
            <a:off x="7112000" y="2744589"/>
            <a:ext cx="3291840" cy="268089"/>
          </a:xfrm>
          <a:prstGeom prst="rect">
            <a:avLst/>
          </a:prstGeom>
          <a:noFill/>
          <a:ln/>
        </p:spPr>
        <p:txBody>
          <a:bodyPr wrap="square" lIns="0" tIns="0" rIns="0" bIns="0" rtlCol="0" anchor="t"/>
          <a:lstStyle/>
          <a:p>
            <a:pPr algn="l" indent="0" marL="0">
              <a:lnSpc>
                <a:spcPts val="1056"/>
              </a:lnSpc>
              <a:buNone/>
            </a:pPr>
            <a:r>
              <a:rPr lang="en-US" sz="800" dirty="0">
                <a:solidFill>
                  <a:srgbClr val="FFFFFF"/>
                </a:solidFill>
                <a:latin typeface="Everyday Sans UI" pitchFamily="34" charset="0"/>
                <a:ea typeface="Everyday Sans UI" pitchFamily="34" charset="-122"/>
                <a:cs typeface="Everyday Sans UI" pitchFamily="34" charset="-120"/>
              </a:rPr>
              <a:t>Agree the outcome measures for Goal-Based Buying, recommendations</a:t>
            </a:r>
            <a:endParaRPr lang="en-US" sz="800" dirty="0"/>
          </a:p>
          <a:p>
            <a:pPr algn="l" indent="0" marL="0">
              <a:lnSpc>
                <a:spcPts val="1056"/>
              </a:lnSpc>
              <a:buNone/>
            </a:pPr>
            <a:r>
              <a:rPr lang="en-US" sz="800" dirty="0">
                <a:solidFill>
                  <a:srgbClr val="FFFFFF"/>
                </a:solidFill>
                <a:latin typeface="Everyday Sans UI" pitchFamily="34" charset="0"/>
                <a:ea typeface="Everyday Sans UI" pitchFamily="34" charset="-122"/>
                <a:cs typeface="Everyday Sans UI" pitchFamily="34" charset="-120"/>
              </a:rPr>
              <a:t>and shared capabilities before any of them scale.</a:t>
            </a:r>
            <a:endParaRPr lang="en-US" sz="800" dirty="0"/>
          </a:p>
        </p:txBody>
      </p:sp>
      <p:pic>
        <p:nvPicPr>
          <p:cNvPr id="15"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16" name="Text 13"/>
          <p:cNvSpPr txBox="1"/>
          <p:nvPr/>
        </p:nvSpPr>
        <p:spPr>
          <a:xfrm>
            <a:off x="711200" y="6362700"/>
            <a:ext cx="1439366" cy="127000"/>
          </a:xfrm>
          <a:prstGeom prst="rect">
            <a:avLst/>
          </a:prstGeom>
          <a:noFill/>
          <a:ln/>
        </p:spPr>
        <p:txBody>
          <a:bodyPr wrap="square" lIns="0" tIns="0" rIns="0" bIns="0" rtlCol="0" anchor="ctr"/>
          <a:lstStyle/>
          <a:p>
            <a:pPr indent="0" marL="0">
              <a:buNone/>
            </a:pPr>
            <a:r>
              <a:rPr lang="en-US" sz="550" dirty="0">
                <a:solidFill>
                  <a:srgbClr val="FFFFFF"/>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17" name="Text 14"/>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D0D5DE"/>
                </a:solidFill>
                <a:latin typeface="Everyday Sans Mono" pitchFamily="34" charset="0"/>
                <a:ea typeface="Everyday Sans Mono" pitchFamily="34" charset="-122"/>
                <a:cs typeface="Everyday Sans Mono" pitchFamily="34" charset="-120"/>
              </a:rPr>
              <a:t>18 / 18</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Advertiser Experience Strategy</dc:title>
  <dc:subject>PptxGenJS Presentation</dc:subject>
  <dc:creator>Advertiser Experience</dc:creator>
  <cp:lastModifiedBy>Advertiser Experience</cp:lastModifiedBy>
  <cp:revision>1</cp:revision>
  <dcterms:created xsi:type="dcterms:W3CDTF">2026-09-28T19:33:06Z</dcterms:created>
  <dcterms:modified xsi:type="dcterms:W3CDTF">2026-09-28T19:33:06Z</dcterms:modified>
</cp:coreProperties>
</file>