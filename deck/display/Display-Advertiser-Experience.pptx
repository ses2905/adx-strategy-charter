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separate Display strategy. It is the Advertiser Experience strategy, told through the channel where the cracks are most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two-line thesis, then point at the middle layer. That is where advertisers feel both problems at once: what sits beneath it and what sits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46.2%. The behavioral numbers show struggle, not dissatisfaction alone. Land on the question: the problem is not only performance, it is not knowing what to do about it.
Footnote 1: Display behavioral analytics and Display survey feedback. Source, date range and denominators to confirm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from “Display problem” to “system problem.” Same five themes as the main strategy deck — say that out loud so nobody thinks this is new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gives Advertiser Experience a legitimate seat in the Display performance conversation without claiming the algorithm. We don’t own the first box. We own whether the next five are survivable.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protects the rest of the deck. Performance capabilities determine what the system can deliver. Advertiser Experience determines whether advertisers can understand, control and get value from them.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guardrail is the point of the slide. Say it plainly and move on — it applies to goal-based buying and dynamic display without naming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left side look repetitive — that’s the argument. Fifteen boxes doing four jobs. On the right, seven capabilities, built once, serving five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example on purpose. We could repeat this for audiences or recommendations, but one concrete case proves the model without turning the deck into roadmap bingo.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main strategy thesis: advertisers do not need more insights, they need fewer decisions. The bottom row is the capability that carries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protects against “unification means dumbing everything down.” Advanced users keep their depth. What they lose is having to relearn the platform in every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Hero slide. Read the right-hand column only. Then: this is the scorecard the roadmap should be held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walk the list. Point at the markers: a surprising amount of the Advertiser Experience roadmap is also a Display improvement roadmap. Display markers are a working read — confirm with the Display team before this goes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wheel once, starting at the top. The point is that it turns: stronger outcomes earn more adoption, which makes the next Display improvement worth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Display is an urgent proving ground for the experience we need to build everywhere. Do not claim the roadmap fixes Display performance — claim that it makes performance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508000" y="2791817"/>
            <a:ext cx="1675209" cy="127000"/>
          </a:xfrm>
          <a:prstGeom prst="roundRect">
            <a:avLst>
              <a:gd name="adj" fmla="val 360000"/>
            </a:avLst>
          </a:prstGeom>
          <a:solidFill>
            <a:srgbClr val="D7EEF9"/>
          </a:solidFill>
          <a:ln/>
        </p:spPr>
      </p:sp>
      <p:sp>
        <p:nvSpPr>
          <p:cNvPr id="3" name="Text 1"/>
          <p:cNvSpPr txBox="1"/>
          <p:nvPr/>
        </p:nvSpPr>
        <p:spPr>
          <a:xfrm>
            <a:off x="501650" y="2823567"/>
            <a:ext cx="168790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DISPLAY + ADVERTISER EXPERIENCE</a:t>
            </a:r>
            <a:endParaRPr lang="en-US" sz="500" dirty="0"/>
          </a:p>
        </p:txBody>
      </p:sp>
      <p:sp>
        <p:nvSpPr>
          <p:cNvPr id="4" name="Text 2"/>
          <p:cNvSpPr txBox="1"/>
          <p:nvPr/>
        </p:nvSpPr>
        <p:spPr>
          <a:xfrm>
            <a:off x="508000" y="3064867"/>
            <a:ext cx="8229600" cy="1152128"/>
          </a:xfrm>
          <a:prstGeom prst="rect">
            <a:avLst/>
          </a:prstGeom>
          <a:noFill/>
          <a:ln/>
        </p:spPr>
        <p:txBody>
          <a:bodyPr wrap="square" lIns="0" tIns="0" rIns="0" bIns="0" rtlCol="0" anchor="t"/>
          <a:lstStyle/>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Making Display easier to</a:t>
            </a:r>
            <a:endParaRPr lang="en-US" sz="3600" dirty="0"/>
          </a:p>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buy, understand and </a:t>
            </a:r>
            <a:pPr algn="l" indent="0" marL="0">
              <a:lnSpc>
                <a:spcPts val="4536"/>
              </a:lnSpc>
              <a:buNone/>
            </a:pPr>
            <a:r>
              <a:rPr lang="en-US" sz="3600" i="1" spc="-108" kern="0" dirty="0">
                <a:solidFill>
                  <a:srgbClr val="4DBDF5"/>
                </a:solidFill>
                <a:latin typeface="Everyday Sans Light" pitchFamily="34" charset="0"/>
                <a:ea typeface="Everyday Sans Light" pitchFamily="34" charset="-122"/>
                <a:cs typeface="Everyday Sans Light" pitchFamily="34" charset="-120"/>
              </a:rPr>
              <a:t>trust</a:t>
            </a:r>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a:t>
            </a:r>
            <a:endParaRPr lang="en-US" sz="3600" dirty="0"/>
          </a:p>
        </p:txBody>
      </p:sp>
      <p:sp>
        <p:nvSpPr>
          <p:cNvPr id="5" name="Text 3"/>
          <p:cNvSpPr txBox="1"/>
          <p:nvPr/>
        </p:nvSpPr>
        <p:spPr>
          <a:xfrm>
            <a:off x="508000" y="4318595"/>
            <a:ext cx="4215205" cy="230188"/>
          </a:xfrm>
          <a:prstGeom prst="rect">
            <a:avLst/>
          </a:prstGeom>
          <a:noFill/>
          <a:ln/>
        </p:spPr>
        <p:txBody>
          <a:bodyPr wrap="square" lIns="0" tIns="0" rIns="0" bIns="0" rtlCol="0" anchor="t"/>
          <a:lstStyle/>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A Display-forward view of the Advertiser Experience strategy.</a:t>
            </a:r>
            <a:endParaRPr lang="en-US" sz="1250" dirty="0"/>
          </a:p>
        </p:txBody>
      </p:sp>
      <p:pic>
        <p:nvPicPr>
          <p:cNvPr id="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7" name="Text 4"/>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FFFFFF"/>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8" name="Text 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D0D5DE"/>
                </a:solidFill>
                <a:latin typeface="Everyday Sans Mono" pitchFamily="34" charset="0"/>
                <a:ea typeface="Everyday Sans Mono" pitchFamily="34" charset="-122"/>
                <a:cs typeface="Everyday Sans Mono" pitchFamily="34" charset="-120"/>
              </a:rPr>
              <a:t>01 / 15</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75209" cy="127000"/>
          </a:xfrm>
          <a:prstGeom prst="roundRect">
            <a:avLst>
              <a:gd name="adj" fmla="val 360000"/>
            </a:avLst>
          </a:prstGeom>
          <a:solidFill>
            <a:srgbClr val="D7EEF9"/>
          </a:solidFill>
          <a:ln/>
        </p:spPr>
      </p:sp>
      <p:sp>
        <p:nvSpPr>
          <p:cNvPr id="3" name="Shape 1"/>
          <p:cNvSpPr/>
          <p:nvPr/>
        </p:nvSpPr>
        <p:spPr>
          <a:xfrm>
            <a:off x="508000" y="3582888"/>
            <a:ext cx="11176000" cy="0"/>
          </a:xfrm>
          <a:prstGeom prst="line">
            <a:avLst/>
          </a:prstGeom>
          <a:noFill/>
          <a:ln w="6350">
            <a:solidFill>
              <a:srgbClr val="E4E8EF"/>
            </a:solidFill>
            <a:prstDash val="solid"/>
          </a:ln>
        </p:spPr>
      </p:sp>
      <p:sp>
        <p:nvSpPr>
          <p:cNvPr id="4" name="Shape 2"/>
          <p:cNvSpPr/>
          <p:nvPr/>
        </p:nvSpPr>
        <p:spPr>
          <a:xfrm>
            <a:off x="508000" y="4221063"/>
            <a:ext cx="11176000" cy="0"/>
          </a:xfrm>
          <a:prstGeom prst="line">
            <a:avLst/>
          </a:prstGeom>
          <a:noFill/>
          <a:ln w="12700">
            <a:solidFill>
              <a:srgbClr val="0053E2"/>
            </a:solidFill>
            <a:prstDash val="solid"/>
          </a:ln>
        </p:spPr>
      </p:sp>
      <p:sp>
        <p:nvSpPr>
          <p:cNvPr id="5" name="Shape 3"/>
          <p:cNvSpPr/>
          <p:nvPr/>
        </p:nvSpPr>
        <p:spPr>
          <a:xfrm>
            <a:off x="508000" y="4862413"/>
            <a:ext cx="11176000" cy="0"/>
          </a:xfrm>
          <a:prstGeom prst="line">
            <a:avLst/>
          </a:prstGeom>
          <a:noFill/>
          <a:ln w="12700">
            <a:solidFill>
              <a:srgbClr val="0053E2"/>
            </a:solidFill>
            <a:prstDash val="solid"/>
          </a:ln>
        </p:spPr>
      </p:sp>
      <p:sp>
        <p:nvSpPr>
          <p:cNvPr id="6" name="Shape 4"/>
          <p:cNvSpPr/>
          <p:nvPr/>
        </p:nvSpPr>
        <p:spPr>
          <a:xfrm>
            <a:off x="508000" y="5500588"/>
            <a:ext cx="11176000" cy="0"/>
          </a:xfrm>
          <a:prstGeom prst="line">
            <a:avLst/>
          </a:prstGeom>
          <a:noFill/>
          <a:ln w="6350">
            <a:solidFill>
              <a:srgbClr val="E4E8EF"/>
            </a:solidFill>
            <a:prstDash val="solid"/>
          </a:ln>
        </p:spPr>
      </p:sp>
      <p:sp>
        <p:nvSpPr>
          <p:cNvPr id="7" name="Text 5"/>
          <p:cNvSpPr txBox="1"/>
          <p:nvPr/>
        </p:nvSpPr>
        <p:spPr>
          <a:xfrm>
            <a:off x="501650" y="971550"/>
            <a:ext cx="168790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DISPLAY + ADVERTISER EXPERIENCE</a:t>
            </a:r>
            <a:endParaRPr lang="en-US" sz="500" dirty="0"/>
          </a:p>
        </p:txBody>
      </p:sp>
      <p:sp>
        <p:nvSpPr>
          <p:cNvPr id="8" name="Text 6"/>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Improving Display requires more than fixing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Display</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9" name="Text 7"/>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The opportunity is to address the immediate friction hurting Display today while fixing the shared experience foundations that make every advertising workflow harder than it needs to be.</a:t>
            </a:r>
            <a:endParaRPr lang="en-US" sz="900" dirty="0"/>
          </a:p>
        </p:txBody>
      </p:sp>
      <p:sp>
        <p:nvSpPr>
          <p:cNvPr id="10" name="Text 8"/>
          <p:cNvSpPr txBox="1"/>
          <p:nvPr/>
        </p:nvSpPr>
        <p:spPr>
          <a:xfrm>
            <a:off x="508000" y="2716113"/>
            <a:ext cx="12070080" cy="609600"/>
          </a:xfrm>
          <a:prstGeom prst="rect">
            <a:avLst/>
          </a:prstGeom>
          <a:noFill/>
          <a:ln/>
        </p:spPr>
        <p:txBody>
          <a:bodyPr wrap="square" lIns="0" tIns="0" rIns="0" bIns="0" rtlCol="0" anchor="t"/>
          <a:lstStyle/>
          <a:p>
            <a:pPr algn="l" indent="0" marL="0">
              <a:lnSpc>
                <a:spcPts val="2400"/>
              </a:lnSpc>
              <a:buNone/>
            </a:pPr>
            <a:r>
              <a:rPr lang="en-US" sz="2000" spc="-60" kern="0" dirty="0">
                <a:solidFill>
                  <a:srgbClr val="001E60"/>
                </a:solidFill>
                <a:latin typeface="Everyday Sans Headline Light" pitchFamily="34" charset="0"/>
                <a:ea typeface="Everyday Sans Headline Light" pitchFamily="34" charset="-122"/>
                <a:cs typeface="Everyday Sans Headline Light" pitchFamily="34" charset="-120"/>
              </a:rPr>
              <a:t>Fix what is uniquely broken in Display.</a:t>
            </a:r>
            <a:endParaRPr lang="en-US" sz="2000" dirty="0"/>
          </a:p>
          <a:p>
            <a:pPr algn="l" indent="0" marL="0">
              <a:lnSpc>
                <a:spcPts val="2400"/>
              </a:lnSpc>
              <a:buNone/>
            </a:pPr>
            <a:r>
              <a:rPr lang="en-US" sz="2000" spc="-60" kern="0" dirty="0">
                <a:solidFill>
                  <a:srgbClr val="001E60"/>
                </a:solidFill>
                <a:latin typeface="Everyday Sans Headline Light" pitchFamily="34" charset="0"/>
                <a:ea typeface="Everyday Sans Headline Light" pitchFamily="34" charset="-122"/>
                <a:cs typeface="Everyday Sans Headline Light" pitchFamily="34" charset="-120"/>
              </a:rPr>
              <a:t>Build what should never have been unique to Display in the first place.</a:t>
            </a:r>
            <a:endParaRPr lang="en-US" sz="2000" dirty="0"/>
          </a:p>
        </p:txBody>
      </p:sp>
      <p:sp>
        <p:nvSpPr>
          <p:cNvPr id="11" name="Text 9"/>
          <p:cNvSpPr txBox="1"/>
          <p:nvPr/>
        </p:nvSpPr>
        <p:spPr>
          <a:xfrm>
            <a:off x="508000" y="3751163"/>
            <a:ext cx="288036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BUILT ONCE</a:t>
            </a:r>
            <a:endParaRPr lang="en-US" sz="550" dirty="0"/>
          </a:p>
        </p:txBody>
      </p:sp>
      <p:sp>
        <p:nvSpPr>
          <p:cNvPr id="12" name="Text 10"/>
          <p:cNvSpPr txBox="1"/>
          <p:nvPr/>
        </p:nvSpPr>
        <p:spPr>
          <a:xfrm>
            <a:off x="508000" y="3878163"/>
            <a:ext cx="288036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Shared advertiser experience</a:t>
            </a:r>
            <a:endParaRPr lang="en-US" sz="1400" dirty="0"/>
          </a:p>
        </p:txBody>
      </p:sp>
      <p:sp>
        <p:nvSpPr>
          <p:cNvPr id="13" name="Text 11"/>
          <p:cNvSpPr txBox="1"/>
          <p:nvPr/>
        </p:nvSpPr>
        <p:spPr>
          <a:xfrm>
            <a:off x="3378200" y="3700363"/>
            <a:ext cx="8970264" cy="160020"/>
          </a:xfrm>
          <a:prstGeom prst="rect">
            <a:avLst/>
          </a:prstGeom>
          <a:noFill/>
          <a:ln/>
        </p:spPr>
        <p:txBody>
          <a:bodyPr wrap="square" lIns="0" tIns="0" rIns="0" bIns="0" rtlCol="0" anchor="t"/>
          <a:lstStyle/>
          <a:p>
            <a:pPr algn="l" indent="0" marL="0">
              <a:lnSpc>
                <a:spcPts val="1260"/>
              </a:lnSpc>
              <a:buNone/>
            </a:pPr>
            <a:r>
              <a:rPr lang="en-US" sz="900" dirty="0">
                <a:solidFill>
                  <a:srgbClr val="3D4A63"/>
                </a:solidFill>
                <a:latin typeface="Everyday Sans UI" pitchFamily="34" charset="0"/>
                <a:ea typeface="Everyday Sans UI" pitchFamily="34" charset="-122"/>
                <a:cs typeface="Everyday Sans UI" pitchFamily="34" charset="-120"/>
              </a:rPr>
              <a:t>Navigation · Audiences · Creative · Reporting · Experimentation · Intelligence</a:t>
            </a:r>
            <a:endParaRPr lang="en-US" sz="900" dirty="0"/>
          </a:p>
        </p:txBody>
      </p:sp>
      <p:sp>
        <p:nvSpPr>
          <p:cNvPr id="14" name="Text 12"/>
          <p:cNvSpPr txBox="1"/>
          <p:nvPr/>
        </p:nvSpPr>
        <p:spPr>
          <a:xfrm>
            <a:off x="508000" y="4392513"/>
            <a:ext cx="288036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WHERE ADVERTISERS FEEL IT</a:t>
            </a:r>
            <a:endParaRPr lang="en-US" sz="550" dirty="0"/>
          </a:p>
        </p:txBody>
      </p:sp>
      <p:sp>
        <p:nvSpPr>
          <p:cNvPr id="15" name="Text 13"/>
          <p:cNvSpPr txBox="1"/>
          <p:nvPr/>
        </p:nvSpPr>
        <p:spPr>
          <a:xfrm>
            <a:off x="508000" y="4519513"/>
            <a:ext cx="288036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53E2"/>
                </a:solidFill>
                <a:latin typeface="Everyday Sans Headline Light" pitchFamily="34" charset="0"/>
                <a:ea typeface="Everyday Sans Headline Light" pitchFamily="34" charset="-122"/>
                <a:cs typeface="Everyday Sans Headline Light" pitchFamily="34" charset="-120"/>
              </a:rPr>
              <a:t>Display experience</a:t>
            </a:r>
            <a:endParaRPr lang="en-US" sz="1400" dirty="0"/>
          </a:p>
        </p:txBody>
      </p:sp>
      <p:sp>
        <p:nvSpPr>
          <p:cNvPr id="16" name="Text 14"/>
          <p:cNvSpPr txBox="1"/>
          <p:nvPr/>
        </p:nvSpPr>
        <p:spPr>
          <a:xfrm>
            <a:off x="3378200" y="4341713"/>
            <a:ext cx="8970264" cy="160020"/>
          </a:xfrm>
          <a:prstGeom prst="rect">
            <a:avLst/>
          </a:prstGeom>
          <a:noFill/>
          <a:ln/>
        </p:spPr>
        <p:txBody>
          <a:bodyPr wrap="square" lIns="0" tIns="0" rIns="0" bIns="0" rtlCol="0" anchor="t"/>
          <a:lstStyle/>
          <a:p>
            <a:pPr algn="l" indent="0" marL="0">
              <a:lnSpc>
                <a:spcPts val="1260"/>
              </a:lnSpc>
              <a:buNone/>
            </a:pPr>
            <a:r>
              <a:rPr lang="en-US" sz="900" dirty="0">
                <a:solidFill>
                  <a:srgbClr val="001E60"/>
                </a:solidFill>
                <a:latin typeface="Everyday Sans UI" pitchFamily="34" charset="0"/>
                <a:ea typeface="Everyday Sans UI" pitchFamily="34" charset="-122"/>
                <a:cs typeface="Everyday Sans UI" pitchFamily="34" charset="-120"/>
              </a:rPr>
              <a:t>Setup · Control · Diagnostics · Recommendations · Measurement</a:t>
            </a:r>
            <a:endParaRPr lang="en-US" sz="900" dirty="0"/>
          </a:p>
        </p:txBody>
      </p:sp>
      <p:sp>
        <p:nvSpPr>
          <p:cNvPr id="17" name="Text 15"/>
          <p:cNvSpPr txBox="1"/>
          <p:nvPr/>
        </p:nvSpPr>
        <p:spPr>
          <a:xfrm>
            <a:off x="508000" y="5033863"/>
            <a:ext cx="288036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DISPLAY-OWNED</a:t>
            </a:r>
            <a:endParaRPr lang="en-US" sz="550" dirty="0"/>
          </a:p>
        </p:txBody>
      </p:sp>
      <p:sp>
        <p:nvSpPr>
          <p:cNvPr id="18" name="Text 16"/>
          <p:cNvSpPr txBox="1"/>
          <p:nvPr/>
        </p:nvSpPr>
        <p:spPr>
          <a:xfrm>
            <a:off x="508000" y="5160863"/>
            <a:ext cx="288036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Display performance</a:t>
            </a:r>
            <a:endParaRPr lang="en-US" sz="1400" dirty="0"/>
          </a:p>
        </p:txBody>
      </p:sp>
      <p:sp>
        <p:nvSpPr>
          <p:cNvPr id="19" name="Text 17"/>
          <p:cNvSpPr txBox="1"/>
          <p:nvPr/>
        </p:nvSpPr>
        <p:spPr>
          <a:xfrm>
            <a:off x="3378200" y="4983063"/>
            <a:ext cx="8970264" cy="160020"/>
          </a:xfrm>
          <a:prstGeom prst="rect">
            <a:avLst/>
          </a:prstGeom>
          <a:noFill/>
          <a:ln/>
        </p:spPr>
        <p:txBody>
          <a:bodyPr wrap="square" lIns="0" tIns="0" rIns="0" bIns="0" rtlCol="0" anchor="t"/>
          <a:lstStyle/>
          <a:p>
            <a:pPr algn="l" indent="0" marL="0">
              <a:lnSpc>
                <a:spcPts val="1260"/>
              </a:lnSpc>
              <a:buNone/>
            </a:pPr>
            <a:r>
              <a:rPr lang="en-US" sz="900" dirty="0">
                <a:solidFill>
                  <a:srgbClr val="3D4A63"/>
                </a:solidFill>
                <a:latin typeface="Everyday Sans UI" pitchFamily="34" charset="0"/>
                <a:ea typeface="Everyday Sans UI" pitchFamily="34" charset="-122"/>
                <a:cs typeface="Everyday Sans UI" pitchFamily="34" charset="-120"/>
              </a:rPr>
              <a:t>Ad serving · Inventory · Viewability · Delivery · Optimization</a:t>
            </a:r>
            <a:endParaRPr lang="en-US" sz="900" dirty="0"/>
          </a:p>
        </p:txBody>
      </p:sp>
      <p:pic>
        <p:nvPicPr>
          <p:cNvPr id="2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1" name="Text 18"/>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22" name="Text 1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02 / 15</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130300" cy="127000"/>
          </a:xfrm>
          <a:prstGeom prst="roundRect">
            <a:avLst>
              <a:gd name="adj" fmla="val 360000"/>
            </a:avLst>
          </a:prstGeom>
          <a:solidFill>
            <a:srgbClr val="D7EEF9"/>
          </a:solidFill>
          <a:ln/>
        </p:spPr>
      </p:sp>
      <p:sp>
        <p:nvSpPr>
          <p:cNvPr id="3" name="Shape 1"/>
          <p:cNvSpPr/>
          <p:nvPr/>
        </p:nvSpPr>
        <p:spPr>
          <a:xfrm>
            <a:off x="508000" y="2701528"/>
            <a:ext cx="3962400" cy="0"/>
          </a:xfrm>
          <a:prstGeom prst="line">
            <a:avLst/>
          </a:prstGeom>
          <a:noFill/>
          <a:ln w="6350">
            <a:solidFill>
              <a:srgbClr val="0053E2"/>
            </a:solidFill>
            <a:prstDash val="solid"/>
          </a:ln>
        </p:spPr>
      </p:sp>
      <p:sp>
        <p:nvSpPr>
          <p:cNvPr id="4" name="Shape 2"/>
          <p:cNvSpPr/>
          <p:nvPr/>
        </p:nvSpPr>
        <p:spPr>
          <a:xfrm>
            <a:off x="4775200" y="2701528"/>
            <a:ext cx="3302000" cy="0"/>
          </a:xfrm>
          <a:prstGeom prst="line">
            <a:avLst/>
          </a:prstGeom>
          <a:noFill/>
          <a:ln w="6350">
            <a:solidFill>
              <a:srgbClr val="E4E8EF"/>
            </a:solidFill>
            <a:prstDash val="solid"/>
          </a:ln>
        </p:spPr>
      </p:sp>
      <p:sp>
        <p:nvSpPr>
          <p:cNvPr id="5" name="Shape 3"/>
          <p:cNvSpPr/>
          <p:nvPr/>
        </p:nvSpPr>
        <p:spPr>
          <a:xfrm>
            <a:off x="8382000" y="2701528"/>
            <a:ext cx="3302000" cy="0"/>
          </a:xfrm>
          <a:prstGeom prst="line">
            <a:avLst/>
          </a:prstGeom>
          <a:noFill/>
          <a:ln w="6350">
            <a:solidFill>
              <a:srgbClr val="E4E8EF"/>
            </a:solidFill>
            <a:prstDash val="solid"/>
          </a:ln>
        </p:spPr>
      </p:sp>
      <p:sp>
        <p:nvSpPr>
          <p:cNvPr id="6" name="Shape 4"/>
          <p:cNvSpPr/>
          <p:nvPr/>
        </p:nvSpPr>
        <p:spPr>
          <a:xfrm>
            <a:off x="4775200" y="3561854"/>
            <a:ext cx="3302000" cy="0"/>
          </a:xfrm>
          <a:prstGeom prst="line">
            <a:avLst/>
          </a:prstGeom>
          <a:noFill/>
          <a:ln w="6350">
            <a:solidFill>
              <a:srgbClr val="E4E8EF"/>
            </a:solidFill>
            <a:prstDash val="solid"/>
          </a:ln>
        </p:spPr>
      </p:sp>
      <p:sp>
        <p:nvSpPr>
          <p:cNvPr id="7" name="Shape 5"/>
          <p:cNvSpPr/>
          <p:nvPr/>
        </p:nvSpPr>
        <p:spPr>
          <a:xfrm>
            <a:off x="8382000" y="3561854"/>
            <a:ext cx="3302000" cy="0"/>
          </a:xfrm>
          <a:prstGeom prst="line">
            <a:avLst/>
          </a:prstGeom>
          <a:noFill/>
          <a:ln w="6350">
            <a:solidFill>
              <a:srgbClr val="E4E8EF"/>
            </a:solidFill>
            <a:prstDash val="solid"/>
          </a:ln>
        </p:spPr>
      </p:sp>
      <p:sp>
        <p:nvSpPr>
          <p:cNvPr id="8" name="Shape 6"/>
          <p:cNvSpPr/>
          <p:nvPr/>
        </p:nvSpPr>
        <p:spPr>
          <a:xfrm>
            <a:off x="1745952" y="4520605"/>
            <a:ext cx="925116" cy="203200"/>
          </a:xfrm>
          <a:prstGeom prst="rect">
            <a:avLst/>
          </a:prstGeom>
          <a:ln w="6350">
            <a:solidFill>
              <a:srgbClr val="E4E8EF"/>
            </a:solidFill>
            <a:prstDash val="solid"/>
          </a:ln>
        </p:spPr>
      </p:sp>
      <p:sp>
        <p:nvSpPr>
          <p:cNvPr id="9" name="Shape 7"/>
          <p:cNvSpPr/>
          <p:nvPr/>
        </p:nvSpPr>
        <p:spPr>
          <a:xfrm>
            <a:off x="2734568" y="4520605"/>
            <a:ext cx="735112" cy="203200"/>
          </a:xfrm>
          <a:prstGeom prst="rect">
            <a:avLst/>
          </a:prstGeom>
          <a:ln w="6350">
            <a:solidFill>
              <a:srgbClr val="E4E8EF"/>
            </a:solidFill>
            <a:prstDash val="solid"/>
          </a:ln>
        </p:spPr>
      </p:sp>
      <p:sp>
        <p:nvSpPr>
          <p:cNvPr id="10" name="Shape 8"/>
          <p:cNvSpPr/>
          <p:nvPr/>
        </p:nvSpPr>
        <p:spPr>
          <a:xfrm>
            <a:off x="3533180" y="4520605"/>
            <a:ext cx="877590" cy="203200"/>
          </a:xfrm>
          <a:prstGeom prst="rect">
            <a:avLst/>
          </a:prstGeom>
          <a:ln w="6350">
            <a:solidFill>
              <a:srgbClr val="E4E8EF"/>
            </a:solidFill>
            <a:prstDash val="solid"/>
          </a:ln>
        </p:spPr>
      </p:sp>
      <p:sp>
        <p:nvSpPr>
          <p:cNvPr id="11" name="Shape 9"/>
          <p:cNvSpPr/>
          <p:nvPr/>
        </p:nvSpPr>
        <p:spPr>
          <a:xfrm>
            <a:off x="4474270" y="4520605"/>
            <a:ext cx="1115120" cy="203200"/>
          </a:xfrm>
          <a:prstGeom prst="rect">
            <a:avLst/>
          </a:prstGeom>
          <a:ln w="6350">
            <a:solidFill>
              <a:srgbClr val="E4E8EF"/>
            </a:solidFill>
            <a:prstDash val="solid"/>
          </a:ln>
        </p:spPr>
      </p:sp>
      <p:sp>
        <p:nvSpPr>
          <p:cNvPr id="12" name="Shape 10"/>
          <p:cNvSpPr/>
          <p:nvPr/>
        </p:nvSpPr>
        <p:spPr>
          <a:xfrm>
            <a:off x="5652889" y="4520605"/>
            <a:ext cx="735112" cy="203200"/>
          </a:xfrm>
          <a:prstGeom prst="rect">
            <a:avLst/>
          </a:prstGeom>
          <a:ln w="6350">
            <a:solidFill>
              <a:srgbClr val="E4E8EF"/>
            </a:solidFill>
            <a:prstDash val="solid"/>
          </a:ln>
        </p:spPr>
      </p:sp>
      <p:sp>
        <p:nvSpPr>
          <p:cNvPr id="13" name="Shape 11"/>
          <p:cNvSpPr/>
          <p:nvPr/>
        </p:nvSpPr>
        <p:spPr>
          <a:xfrm>
            <a:off x="508000" y="4980980"/>
            <a:ext cx="11176000" cy="0"/>
          </a:xfrm>
          <a:prstGeom prst="line">
            <a:avLst/>
          </a:prstGeom>
          <a:noFill/>
          <a:ln w="6350">
            <a:solidFill>
              <a:srgbClr val="0053E2"/>
            </a:solidFill>
            <a:prstDash val="solid"/>
          </a:ln>
        </p:spPr>
      </p:sp>
      <p:sp>
        <p:nvSpPr>
          <p:cNvPr id="14" name="Text 12"/>
          <p:cNvSpPr txBox="1"/>
          <p:nvPr/>
        </p:nvSpPr>
        <p:spPr>
          <a:xfrm>
            <a:off x="501650" y="971550"/>
            <a:ext cx="11430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PRESSURE IS REAL</a:t>
            </a:r>
            <a:endParaRPr lang="en-US" sz="500" dirty="0"/>
          </a:p>
        </p:txBody>
      </p:sp>
      <p:sp>
        <p:nvSpPr>
          <p:cNvPr id="15" name="Text 13"/>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Display is where advertiser friction is hardest to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ignore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6" name="Text 14"/>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Sales feedback, behavioral data, support signals and advertiser research point to the same problem: Display is too difficult to navigate, operate and understand.</a:t>
            </a:r>
            <a:pPr algn="l" indent="0" marL="0">
              <a:lnSpc>
                <a:spcPts val="1305"/>
              </a:lnSpc>
              <a:buNone/>
            </a:pPr>
            <a:r>
              <a:rPr lang="en-US" sz="500" baseline="30000" spc="10" kern="0" dirty="0">
                <a:solidFill>
                  <a:srgbClr val="0053E2"/>
                </a:solidFill>
                <a:latin typeface="Everyday Sans Mono" pitchFamily="34" charset="0"/>
                <a:ea typeface="Everyday Sans Mono" pitchFamily="34" charset="-122"/>
                <a:cs typeface="Everyday Sans Mono" pitchFamily="34" charset="-120"/>
              </a:rPr>
              <a:t>1</a:t>
            </a:r>
            <a:endParaRPr lang="en-US" sz="900" dirty="0"/>
          </a:p>
        </p:txBody>
      </p:sp>
      <p:sp>
        <p:nvSpPr>
          <p:cNvPr id="17" name="Text 15"/>
          <p:cNvSpPr txBox="1"/>
          <p:nvPr/>
        </p:nvSpPr>
        <p:spPr>
          <a:xfrm>
            <a:off x="508000" y="2806303"/>
            <a:ext cx="4279392" cy="723900"/>
          </a:xfrm>
          <a:prstGeom prst="rect">
            <a:avLst/>
          </a:prstGeom>
          <a:noFill/>
          <a:ln/>
        </p:spPr>
        <p:txBody>
          <a:bodyPr wrap="square" lIns="0" tIns="0" rIns="0" bIns="0" rtlCol="0" anchor="t"/>
          <a:lstStyle/>
          <a:p>
            <a:pPr algn="l" indent="0" marL="0">
              <a:lnSpc>
                <a:spcPts val="5700"/>
              </a:lnSpc>
              <a:buNone/>
            </a:pPr>
            <a:r>
              <a:rPr lang="en-US" sz="6000" spc="-240" kern="0" dirty="0">
                <a:solidFill>
                  <a:srgbClr val="0053E2"/>
                </a:solidFill>
                <a:latin typeface="Everyday Sans Headline Light" pitchFamily="34" charset="0"/>
                <a:ea typeface="Everyday Sans Headline Light" pitchFamily="34" charset="-122"/>
                <a:cs typeface="Everyday Sans Headline Light" pitchFamily="34" charset="-120"/>
              </a:rPr>
              <a:t>46.2%</a:t>
            </a:r>
            <a:endParaRPr lang="en-US" sz="6000" dirty="0"/>
          </a:p>
        </p:txBody>
      </p:sp>
      <p:sp>
        <p:nvSpPr>
          <p:cNvPr id="18" name="Text 16"/>
          <p:cNvSpPr txBox="1"/>
          <p:nvPr/>
        </p:nvSpPr>
        <p:spPr>
          <a:xfrm>
            <a:off x="508000" y="3631803"/>
            <a:ext cx="4279392" cy="177800"/>
          </a:xfrm>
          <a:prstGeom prst="rect">
            <a:avLst/>
          </a:prstGeom>
          <a:noFill/>
          <a:ln/>
        </p:spPr>
        <p:txBody>
          <a:bodyPr wrap="square" lIns="0" tIns="0" rIns="0" bIns="0" rtlCol="0" anchor="t"/>
          <a:lstStyle/>
          <a:p>
            <a:pPr algn="l" indent="0" marL="0">
              <a:lnSpc>
                <a:spcPts val="1320"/>
              </a:lnSpc>
              <a:buNone/>
            </a:pPr>
            <a:r>
              <a:rPr lang="en-US" sz="1100" dirty="0">
                <a:solidFill>
                  <a:srgbClr val="001E60"/>
                </a:solidFill>
                <a:latin typeface="Everyday Sans UI Medium" pitchFamily="34" charset="0"/>
                <a:ea typeface="Everyday Sans UI Medium" pitchFamily="34" charset="-122"/>
                <a:cs typeface="Everyday Sans UI Medium" pitchFamily="34" charset="-120"/>
              </a:rPr>
              <a:t>Drop-off into Set Up</a:t>
            </a:r>
            <a:endParaRPr lang="en-US" sz="1100" dirty="0"/>
          </a:p>
        </p:txBody>
      </p:sp>
      <p:sp>
        <p:nvSpPr>
          <p:cNvPr id="19" name="Text 17"/>
          <p:cNvSpPr txBox="1"/>
          <p:nvPr/>
        </p:nvSpPr>
        <p:spPr>
          <a:xfrm>
            <a:off x="508000" y="3847703"/>
            <a:ext cx="2633472" cy="284361"/>
          </a:xfrm>
          <a:prstGeom prst="rect">
            <a:avLst/>
          </a:prstGeom>
          <a:noFill/>
          <a:ln/>
        </p:spPr>
        <p:txBody>
          <a:bodyPr wrap="square" lIns="0" tIns="0" rIns="0" bIns="0" rtlCol="0" anchor="t"/>
          <a:lstStyle/>
          <a:p>
            <a:pPr algn="l" indent="0" marL="0">
              <a:lnSpc>
                <a:spcPts val="1120"/>
              </a:lnSpc>
              <a:buNone/>
            </a:pPr>
            <a:r>
              <a:rPr lang="en-US" sz="800" dirty="0">
                <a:solidFill>
                  <a:srgbClr val="3D4A63"/>
                </a:solidFill>
                <a:latin typeface="Everyday Sans UI" pitchFamily="34" charset="0"/>
                <a:ea typeface="Everyday Sans UI" pitchFamily="34" charset="-122"/>
                <a:cs typeface="Everyday Sans UI" pitchFamily="34" charset="-120"/>
              </a:rPr>
              <a:t>Moving from Ad Group Create / Edit into Set Up — the step</a:t>
            </a:r>
            <a:endParaRPr lang="en-US" sz="800" dirty="0"/>
          </a:p>
          <a:p>
            <a:pPr algn="l" indent="0" marL="0">
              <a:lnSpc>
                <a:spcPts val="1120"/>
              </a:lnSpc>
              <a:buNone/>
            </a:pPr>
            <a:r>
              <a:rPr lang="en-US" sz="800" dirty="0">
                <a:solidFill>
                  <a:srgbClr val="3D4A63"/>
                </a:solidFill>
                <a:latin typeface="Everyday Sans UI" pitchFamily="34" charset="0"/>
                <a:ea typeface="Everyday Sans UI" pitchFamily="34" charset="-122"/>
                <a:cs typeface="Everyday Sans UI" pitchFamily="34" charset="-120"/>
              </a:rPr>
              <a:t>where campaigns become real.</a:t>
            </a:r>
            <a:endParaRPr lang="en-US" sz="800" dirty="0"/>
          </a:p>
        </p:txBody>
      </p:sp>
      <p:sp>
        <p:nvSpPr>
          <p:cNvPr id="20" name="Text 18"/>
          <p:cNvSpPr txBox="1"/>
          <p:nvPr/>
        </p:nvSpPr>
        <p:spPr>
          <a:xfrm>
            <a:off x="4775200" y="2793603"/>
            <a:ext cx="3566160" cy="289560"/>
          </a:xfrm>
          <a:prstGeom prst="rect">
            <a:avLst/>
          </a:prstGeom>
          <a:noFill/>
          <a:ln/>
        </p:spPr>
        <p:txBody>
          <a:bodyPr wrap="square" lIns="0" tIns="0" rIns="0" bIns="0" rtlCol="0" anchor="t"/>
          <a:lstStyle/>
          <a:p>
            <a:pPr algn="l" indent="0" marL="0">
              <a:lnSpc>
                <a:spcPts val="2280"/>
              </a:lnSpc>
              <a:buNone/>
            </a:pPr>
            <a:r>
              <a:rPr lang="en-US" sz="2400" spc="-96" kern="0" dirty="0">
                <a:solidFill>
                  <a:srgbClr val="0053E2"/>
                </a:solidFill>
                <a:latin typeface="Everyday Sans Headline Light" pitchFamily="34" charset="0"/>
                <a:ea typeface="Everyday Sans Headline Light" pitchFamily="34" charset="-122"/>
                <a:cs typeface="Everyday Sans Headline Light" pitchFamily="34" charset="-120"/>
              </a:rPr>
              <a:t>135K+</a:t>
            </a:r>
            <a:endParaRPr lang="en-US" sz="2400" dirty="0"/>
          </a:p>
        </p:txBody>
      </p:sp>
      <p:sp>
        <p:nvSpPr>
          <p:cNvPr id="21" name="Text 19"/>
          <p:cNvSpPr txBox="1"/>
          <p:nvPr/>
        </p:nvSpPr>
        <p:spPr>
          <a:xfrm>
            <a:off x="4775200" y="3133923"/>
            <a:ext cx="356616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Dead clicks</a:t>
            </a:r>
            <a:endParaRPr lang="en-US" sz="800" dirty="0"/>
          </a:p>
        </p:txBody>
      </p:sp>
      <p:sp>
        <p:nvSpPr>
          <p:cNvPr id="22" name="Text 20"/>
          <p:cNvSpPr txBox="1"/>
          <p:nvPr/>
        </p:nvSpPr>
        <p:spPr>
          <a:xfrm>
            <a:off x="4775200" y="3286323"/>
            <a:ext cx="3566160" cy="120015"/>
          </a:xfrm>
          <a:prstGeom prst="rect">
            <a:avLst/>
          </a:prstGeom>
          <a:noFill/>
          <a:ln/>
        </p:spPr>
        <p:txBody>
          <a:bodyPr wrap="square" lIns="0" tIns="0" rIns="0" bIns="0" rtlCol="0" anchor="t"/>
          <a:lstStyle/>
          <a:p>
            <a:pPr algn="l" indent="0" marL="0">
              <a:lnSpc>
                <a:spcPts val="945"/>
              </a:lnSpc>
              <a:buNone/>
            </a:pPr>
            <a:r>
              <a:rPr lang="en-US" sz="700" dirty="0">
                <a:solidFill>
                  <a:srgbClr val="3D4A63"/>
                </a:solidFill>
                <a:latin typeface="Everyday Sans UI" pitchFamily="34" charset="0"/>
                <a:ea typeface="Everyday Sans UI" pitchFamily="34" charset="-122"/>
                <a:cs typeface="Everyday Sans UI" pitchFamily="34" charset="-120"/>
              </a:rPr>
              <a:t>Clicks that do nothing.</a:t>
            </a:r>
            <a:endParaRPr lang="en-US" sz="700" dirty="0"/>
          </a:p>
        </p:txBody>
      </p:sp>
      <p:sp>
        <p:nvSpPr>
          <p:cNvPr id="23" name="Text 21"/>
          <p:cNvSpPr txBox="1"/>
          <p:nvPr/>
        </p:nvSpPr>
        <p:spPr>
          <a:xfrm>
            <a:off x="8382000" y="2793603"/>
            <a:ext cx="3566160" cy="289560"/>
          </a:xfrm>
          <a:prstGeom prst="rect">
            <a:avLst/>
          </a:prstGeom>
          <a:noFill/>
          <a:ln/>
        </p:spPr>
        <p:txBody>
          <a:bodyPr wrap="square" lIns="0" tIns="0" rIns="0" bIns="0" rtlCol="0" anchor="t"/>
          <a:lstStyle/>
          <a:p>
            <a:pPr algn="l" indent="0" marL="0">
              <a:lnSpc>
                <a:spcPts val="2280"/>
              </a:lnSpc>
              <a:buNone/>
            </a:pPr>
            <a:r>
              <a:rPr lang="en-US" sz="2400" spc="-96" kern="0" dirty="0">
                <a:solidFill>
                  <a:srgbClr val="0053E2"/>
                </a:solidFill>
                <a:latin typeface="Everyday Sans Headline Light" pitchFamily="34" charset="0"/>
                <a:ea typeface="Everyday Sans Headline Light" pitchFamily="34" charset="-122"/>
                <a:cs typeface="Everyday Sans Headline Light" pitchFamily="34" charset="-120"/>
              </a:rPr>
              <a:t>13.7K</a:t>
            </a:r>
            <a:endParaRPr lang="en-US" sz="2400" dirty="0"/>
          </a:p>
        </p:txBody>
      </p:sp>
      <p:sp>
        <p:nvSpPr>
          <p:cNvPr id="24" name="Text 22"/>
          <p:cNvSpPr txBox="1"/>
          <p:nvPr/>
        </p:nvSpPr>
        <p:spPr>
          <a:xfrm>
            <a:off x="8382000" y="3133923"/>
            <a:ext cx="356616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Rage clicks</a:t>
            </a:r>
            <a:endParaRPr lang="en-US" sz="800" dirty="0"/>
          </a:p>
        </p:txBody>
      </p:sp>
      <p:sp>
        <p:nvSpPr>
          <p:cNvPr id="25" name="Text 23"/>
          <p:cNvSpPr txBox="1"/>
          <p:nvPr/>
        </p:nvSpPr>
        <p:spPr>
          <a:xfrm>
            <a:off x="8382000" y="3286323"/>
            <a:ext cx="3566160" cy="120015"/>
          </a:xfrm>
          <a:prstGeom prst="rect">
            <a:avLst/>
          </a:prstGeom>
          <a:noFill/>
          <a:ln/>
        </p:spPr>
        <p:txBody>
          <a:bodyPr wrap="square" lIns="0" tIns="0" rIns="0" bIns="0" rtlCol="0" anchor="t"/>
          <a:lstStyle/>
          <a:p>
            <a:pPr algn="l" indent="0" marL="0">
              <a:lnSpc>
                <a:spcPts val="945"/>
              </a:lnSpc>
              <a:buNone/>
            </a:pPr>
            <a:r>
              <a:rPr lang="en-US" sz="700" dirty="0">
                <a:solidFill>
                  <a:srgbClr val="3D4A63"/>
                </a:solidFill>
                <a:latin typeface="Everyday Sans UI" pitchFamily="34" charset="0"/>
                <a:ea typeface="Everyday Sans UI" pitchFamily="34" charset="-122"/>
                <a:cs typeface="Everyday Sans UI" pitchFamily="34" charset="-120"/>
              </a:rPr>
              <a:t>Repeated clicks out of frustration.</a:t>
            </a:r>
            <a:endParaRPr lang="en-US" sz="700" dirty="0"/>
          </a:p>
        </p:txBody>
      </p:sp>
      <p:sp>
        <p:nvSpPr>
          <p:cNvPr id="26" name="Text 24"/>
          <p:cNvSpPr txBox="1"/>
          <p:nvPr/>
        </p:nvSpPr>
        <p:spPr>
          <a:xfrm>
            <a:off x="4775200" y="3653929"/>
            <a:ext cx="3566160" cy="289560"/>
          </a:xfrm>
          <a:prstGeom prst="rect">
            <a:avLst/>
          </a:prstGeom>
          <a:noFill/>
          <a:ln/>
        </p:spPr>
        <p:txBody>
          <a:bodyPr wrap="square" lIns="0" tIns="0" rIns="0" bIns="0" rtlCol="0" anchor="t"/>
          <a:lstStyle/>
          <a:p>
            <a:pPr algn="l" indent="0" marL="0">
              <a:lnSpc>
                <a:spcPts val="2280"/>
              </a:lnSpc>
              <a:buNone/>
            </a:pPr>
            <a:r>
              <a:rPr lang="en-US" sz="2400" spc="-96" kern="0" dirty="0">
                <a:solidFill>
                  <a:srgbClr val="0053E2"/>
                </a:solidFill>
                <a:latin typeface="Everyday Sans Headline Light" pitchFamily="34" charset="0"/>
                <a:ea typeface="Everyday Sans Headline Light" pitchFamily="34" charset="-122"/>
                <a:cs typeface="Everyday Sans Headline Light" pitchFamily="34" charset="-120"/>
              </a:rPr>
              <a:t>28K+</a:t>
            </a:r>
            <a:endParaRPr lang="en-US" sz="2400" dirty="0"/>
          </a:p>
        </p:txBody>
      </p:sp>
      <p:sp>
        <p:nvSpPr>
          <p:cNvPr id="27" name="Text 25"/>
          <p:cNvSpPr txBox="1"/>
          <p:nvPr/>
        </p:nvSpPr>
        <p:spPr>
          <a:xfrm>
            <a:off x="4775200" y="3994249"/>
            <a:ext cx="356616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U-turns</a:t>
            </a:r>
            <a:endParaRPr lang="en-US" sz="800" dirty="0"/>
          </a:p>
        </p:txBody>
      </p:sp>
      <p:sp>
        <p:nvSpPr>
          <p:cNvPr id="28" name="Text 26"/>
          <p:cNvSpPr txBox="1"/>
          <p:nvPr/>
        </p:nvSpPr>
        <p:spPr>
          <a:xfrm>
            <a:off x="4775200" y="4146649"/>
            <a:ext cx="3566160" cy="120015"/>
          </a:xfrm>
          <a:prstGeom prst="rect">
            <a:avLst/>
          </a:prstGeom>
          <a:noFill/>
          <a:ln/>
        </p:spPr>
        <p:txBody>
          <a:bodyPr wrap="square" lIns="0" tIns="0" rIns="0" bIns="0" rtlCol="0" anchor="t"/>
          <a:lstStyle/>
          <a:p>
            <a:pPr algn="l" indent="0" marL="0">
              <a:lnSpc>
                <a:spcPts val="945"/>
              </a:lnSpc>
              <a:buNone/>
            </a:pPr>
            <a:r>
              <a:rPr lang="en-US" sz="700" dirty="0">
                <a:solidFill>
                  <a:srgbClr val="3D4A63"/>
                </a:solidFill>
                <a:latin typeface="Everyday Sans UI" pitchFamily="34" charset="0"/>
                <a:ea typeface="Everyday Sans UI" pitchFamily="34" charset="-122"/>
                <a:cs typeface="Everyday Sans UI" pitchFamily="34" charset="-120"/>
              </a:rPr>
              <a:t>Leaving a page and coming straight back.</a:t>
            </a:r>
            <a:endParaRPr lang="en-US" sz="700" dirty="0"/>
          </a:p>
        </p:txBody>
      </p:sp>
      <p:sp>
        <p:nvSpPr>
          <p:cNvPr id="29" name="Text 27"/>
          <p:cNvSpPr txBox="1"/>
          <p:nvPr/>
        </p:nvSpPr>
        <p:spPr>
          <a:xfrm>
            <a:off x="8382000" y="3653929"/>
            <a:ext cx="3566160" cy="289560"/>
          </a:xfrm>
          <a:prstGeom prst="rect">
            <a:avLst/>
          </a:prstGeom>
          <a:noFill/>
          <a:ln/>
        </p:spPr>
        <p:txBody>
          <a:bodyPr wrap="square" lIns="0" tIns="0" rIns="0" bIns="0" rtlCol="0" anchor="t"/>
          <a:lstStyle/>
          <a:p>
            <a:pPr algn="l" indent="0" marL="0">
              <a:lnSpc>
                <a:spcPts val="2280"/>
              </a:lnSpc>
              <a:buNone/>
            </a:pPr>
            <a:r>
              <a:rPr lang="en-US" sz="2400" spc="-96" kern="0" dirty="0">
                <a:solidFill>
                  <a:srgbClr val="0053E2"/>
                </a:solidFill>
                <a:latin typeface="Everyday Sans Headline Light" pitchFamily="34" charset="0"/>
                <a:ea typeface="Everyday Sans Headline Light" pitchFamily="34" charset="-122"/>
                <a:cs typeface="Everyday Sans Headline Light" pitchFamily="34" charset="-120"/>
              </a:rPr>
              <a:t>~31%</a:t>
            </a:r>
            <a:endParaRPr lang="en-US" sz="2400" dirty="0"/>
          </a:p>
        </p:txBody>
      </p:sp>
      <p:sp>
        <p:nvSpPr>
          <p:cNvPr id="30" name="Text 28"/>
          <p:cNvSpPr txBox="1"/>
          <p:nvPr/>
        </p:nvSpPr>
        <p:spPr>
          <a:xfrm>
            <a:off x="8382000" y="3994249"/>
            <a:ext cx="356616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Detractors</a:t>
            </a:r>
            <a:endParaRPr lang="en-US" sz="800" dirty="0"/>
          </a:p>
        </p:txBody>
      </p:sp>
      <p:sp>
        <p:nvSpPr>
          <p:cNvPr id="31" name="Text 29"/>
          <p:cNvSpPr txBox="1"/>
          <p:nvPr/>
        </p:nvSpPr>
        <p:spPr>
          <a:xfrm>
            <a:off x="8382000" y="4146649"/>
            <a:ext cx="3566160" cy="120015"/>
          </a:xfrm>
          <a:prstGeom prst="rect">
            <a:avLst/>
          </a:prstGeom>
          <a:noFill/>
          <a:ln/>
        </p:spPr>
        <p:txBody>
          <a:bodyPr wrap="square" lIns="0" tIns="0" rIns="0" bIns="0" rtlCol="0" anchor="t"/>
          <a:lstStyle/>
          <a:p>
            <a:pPr algn="l" indent="0" marL="0">
              <a:lnSpc>
                <a:spcPts val="945"/>
              </a:lnSpc>
              <a:buNone/>
            </a:pPr>
            <a:r>
              <a:rPr lang="en-US" sz="700" dirty="0">
                <a:solidFill>
                  <a:srgbClr val="3D4A63"/>
                </a:solidFill>
                <a:latin typeface="Everyday Sans UI" pitchFamily="34" charset="0"/>
                <a:ea typeface="Everyday Sans UI" pitchFamily="34" charset="-122"/>
                <a:cs typeface="Everyday Sans UI" pitchFamily="34" charset="-120"/>
              </a:rPr>
              <a:t>In Display survey feedback.</a:t>
            </a:r>
            <a:endParaRPr lang="en-US" sz="700" dirty="0"/>
          </a:p>
        </p:txBody>
      </p:sp>
      <p:sp>
        <p:nvSpPr>
          <p:cNvPr id="32" name="Text 30"/>
          <p:cNvSpPr txBox="1"/>
          <p:nvPr/>
        </p:nvSpPr>
        <p:spPr>
          <a:xfrm>
            <a:off x="508000" y="4577755"/>
            <a:ext cx="123795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THEY KEEP SAYING</a:t>
            </a:r>
            <a:endParaRPr lang="en-US" sz="550" dirty="0"/>
          </a:p>
        </p:txBody>
      </p:sp>
      <p:sp>
        <p:nvSpPr>
          <p:cNvPr id="33" name="Text 31"/>
          <p:cNvSpPr txBox="1"/>
          <p:nvPr/>
        </p:nvSpPr>
        <p:spPr>
          <a:xfrm>
            <a:off x="1828502" y="4577755"/>
            <a:ext cx="91241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CLUNKY WORKFLOWS</a:t>
            </a:r>
            <a:endParaRPr lang="en-US" sz="550" dirty="0"/>
          </a:p>
        </p:txBody>
      </p:sp>
      <p:sp>
        <p:nvSpPr>
          <p:cNvPr id="34" name="Text 32"/>
          <p:cNvSpPr txBox="1"/>
          <p:nvPr/>
        </p:nvSpPr>
        <p:spPr>
          <a:xfrm>
            <a:off x="2817118" y="4577755"/>
            <a:ext cx="722412"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LIMITED DATA</a:t>
            </a:r>
            <a:endParaRPr lang="en-US" sz="550" dirty="0"/>
          </a:p>
        </p:txBody>
      </p:sp>
      <p:sp>
        <p:nvSpPr>
          <p:cNvPr id="35" name="Text 33"/>
          <p:cNvSpPr txBox="1"/>
          <p:nvPr/>
        </p:nvSpPr>
        <p:spPr>
          <a:xfrm>
            <a:off x="3615730" y="4577755"/>
            <a:ext cx="864890"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REPORTING TRUST</a:t>
            </a:r>
            <a:endParaRPr lang="en-US" sz="550" dirty="0"/>
          </a:p>
        </p:txBody>
      </p:sp>
      <p:sp>
        <p:nvSpPr>
          <p:cNvPr id="36" name="Text 34"/>
          <p:cNvSpPr txBox="1"/>
          <p:nvPr/>
        </p:nvSpPr>
        <p:spPr>
          <a:xfrm>
            <a:off x="4556820" y="4577755"/>
            <a:ext cx="1102420"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OPTIMIZATION CONTROL</a:t>
            </a:r>
            <a:endParaRPr lang="en-US" sz="550" dirty="0"/>
          </a:p>
        </p:txBody>
      </p:sp>
      <p:sp>
        <p:nvSpPr>
          <p:cNvPr id="37" name="Text 35"/>
          <p:cNvSpPr txBox="1"/>
          <p:nvPr/>
        </p:nvSpPr>
        <p:spPr>
          <a:xfrm>
            <a:off x="5735439" y="4577755"/>
            <a:ext cx="722412"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TRANSPARENCY</a:t>
            </a:r>
            <a:endParaRPr lang="en-US" sz="550" dirty="0"/>
          </a:p>
        </p:txBody>
      </p:sp>
      <p:sp>
        <p:nvSpPr>
          <p:cNvPr id="38" name="Text 36"/>
          <p:cNvSpPr txBox="1"/>
          <p:nvPr/>
        </p:nvSpPr>
        <p:spPr>
          <a:xfrm>
            <a:off x="508000" y="5200055"/>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REAL QUESTION</a:t>
            </a:r>
            <a:endParaRPr lang="en-US" sz="550" dirty="0"/>
          </a:p>
        </p:txBody>
      </p:sp>
      <p:sp>
        <p:nvSpPr>
          <p:cNvPr id="39" name="Text 37"/>
          <p:cNvSpPr txBox="1"/>
          <p:nvPr/>
        </p:nvSpPr>
        <p:spPr>
          <a:xfrm>
            <a:off x="2108200" y="5085755"/>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Advertisers aren’t just asking “Did my campaign perform?” They’re struggling to answer “What happened, why, and what</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should I do next?”</a:t>
            </a:r>
            <a:endParaRPr lang="en-US" sz="1400" dirty="0"/>
          </a:p>
        </p:txBody>
      </p:sp>
      <p:pic>
        <p:nvPicPr>
          <p:cNvPr id="4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1" name="Text 38"/>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42" name="Text 3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03 / 15</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477070" cy="127000"/>
          </a:xfrm>
          <a:prstGeom prst="roundRect">
            <a:avLst>
              <a:gd name="adj" fmla="val 360000"/>
            </a:avLst>
          </a:prstGeom>
          <a:solidFill>
            <a:srgbClr val="D7EEF9"/>
          </a:solidFill>
          <a:ln/>
        </p:spPr>
      </p:sp>
      <p:sp>
        <p:nvSpPr>
          <p:cNvPr id="3" name="Shape 1"/>
          <p:cNvSpPr/>
          <p:nvPr/>
        </p:nvSpPr>
        <p:spPr>
          <a:xfrm>
            <a:off x="508000" y="3284141"/>
            <a:ext cx="2072580" cy="0"/>
          </a:xfrm>
          <a:prstGeom prst="line">
            <a:avLst/>
          </a:prstGeom>
          <a:noFill/>
          <a:ln w="6350">
            <a:solidFill>
              <a:srgbClr val="0053E2"/>
            </a:solidFill>
            <a:prstDash val="solid"/>
          </a:ln>
        </p:spPr>
      </p:sp>
      <p:sp>
        <p:nvSpPr>
          <p:cNvPr id="4" name="Shape 2"/>
          <p:cNvSpPr/>
          <p:nvPr/>
        </p:nvSpPr>
        <p:spPr>
          <a:xfrm>
            <a:off x="2783780" y="3284141"/>
            <a:ext cx="2072680" cy="0"/>
          </a:xfrm>
          <a:prstGeom prst="line">
            <a:avLst/>
          </a:prstGeom>
          <a:noFill/>
          <a:ln w="6350">
            <a:solidFill>
              <a:srgbClr val="0053E2"/>
            </a:solidFill>
            <a:prstDash val="solid"/>
          </a:ln>
        </p:spPr>
      </p:sp>
      <p:sp>
        <p:nvSpPr>
          <p:cNvPr id="5" name="Shape 3"/>
          <p:cNvSpPr/>
          <p:nvPr/>
        </p:nvSpPr>
        <p:spPr>
          <a:xfrm>
            <a:off x="5059660" y="3284141"/>
            <a:ext cx="2072580" cy="0"/>
          </a:xfrm>
          <a:prstGeom prst="line">
            <a:avLst/>
          </a:prstGeom>
          <a:noFill/>
          <a:ln w="6350">
            <a:solidFill>
              <a:srgbClr val="0053E2"/>
            </a:solidFill>
            <a:prstDash val="solid"/>
          </a:ln>
        </p:spPr>
      </p:sp>
      <p:sp>
        <p:nvSpPr>
          <p:cNvPr id="6" name="Shape 4"/>
          <p:cNvSpPr/>
          <p:nvPr/>
        </p:nvSpPr>
        <p:spPr>
          <a:xfrm>
            <a:off x="7335441" y="3284141"/>
            <a:ext cx="2072680" cy="0"/>
          </a:xfrm>
          <a:prstGeom prst="line">
            <a:avLst/>
          </a:prstGeom>
          <a:noFill/>
          <a:ln w="6350">
            <a:solidFill>
              <a:srgbClr val="0053E2"/>
            </a:solidFill>
            <a:prstDash val="solid"/>
          </a:ln>
        </p:spPr>
      </p:sp>
      <p:sp>
        <p:nvSpPr>
          <p:cNvPr id="7" name="Shape 5"/>
          <p:cNvSpPr/>
          <p:nvPr/>
        </p:nvSpPr>
        <p:spPr>
          <a:xfrm>
            <a:off x="9611320" y="3284141"/>
            <a:ext cx="2072580" cy="0"/>
          </a:xfrm>
          <a:prstGeom prst="line">
            <a:avLst/>
          </a:prstGeom>
          <a:noFill/>
          <a:ln w="6350">
            <a:solidFill>
              <a:srgbClr val="0053E2"/>
            </a:solidFill>
            <a:prstDash val="solid"/>
          </a:ln>
        </p:spPr>
      </p:sp>
      <p:sp>
        <p:nvSpPr>
          <p:cNvPr id="8" name="Shape 6"/>
          <p:cNvSpPr/>
          <p:nvPr/>
        </p:nvSpPr>
        <p:spPr>
          <a:xfrm>
            <a:off x="508000" y="4329311"/>
            <a:ext cx="11176000" cy="0"/>
          </a:xfrm>
          <a:prstGeom prst="line">
            <a:avLst/>
          </a:prstGeom>
          <a:noFill/>
          <a:ln w="6350">
            <a:solidFill>
              <a:srgbClr val="E4E8EF"/>
            </a:solidFill>
            <a:prstDash val="solid"/>
          </a:ln>
        </p:spPr>
      </p:sp>
      <p:sp>
        <p:nvSpPr>
          <p:cNvPr id="9" name="Text 7"/>
          <p:cNvSpPr txBox="1"/>
          <p:nvPr/>
        </p:nvSpPr>
        <p:spPr>
          <a:xfrm>
            <a:off x="501650" y="971550"/>
            <a:ext cx="148977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THIS IS BIGGER THAN DISPLAY</a:t>
            </a:r>
            <a:endParaRPr lang="en-US" sz="500" dirty="0"/>
          </a:p>
        </p:txBody>
      </p:sp>
      <p:sp>
        <p:nvSpPr>
          <p:cNvPr id="10" name="Text 8"/>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Display amplifies problems advertisers experience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everywhere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1" name="Text 9"/>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Our research consistently points to five core experience problems. Display does not create all of them, but its complexity makes them especially visible.</a:t>
            </a:r>
            <a:endParaRPr lang="en-US" sz="900" dirty="0"/>
          </a:p>
        </p:txBody>
      </p:sp>
      <p:sp>
        <p:nvSpPr>
          <p:cNvPr id="12" name="Text 10"/>
          <p:cNvSpPr txBox="1"/>
          <p:nvPr/>
        </p:nvSpPr>
        <p:spPr>
          <a:xfrm>
            <a:off x="508000" y="3414316"/>
            <a:ext cx="2238387"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Time-consuming</a:t>
            </a:r>
            <a:endParaRPr lang="en-US" sz="2000" dirty="0"/>
          </a:p>
        </p:txBody>
      </p:sp>
      <p:sp>
        <p:nvSpPr>
          <p:cNvPr id="13" name="Text 11"/>
          <p:cNvSpPr txBox="1"/>
          <p:nvPr/>
        </p:nvSpPr>
        <p:spPr>
          <a:xfrm>
            <a:off x="508000" y="3769916"/>
            <a:ext cx="2238387" cy="15113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Too much effort to accomplish routine jobs.</a:t>
            </a:r>
            <a:endParaRPr lang="en-US" sz="850" dirty="0"/>
          </a:p>
        </p:txBody>
      </p:sp>
      <p:sp>
        <p:nvSpPr>
          <p:cNvPr id="14" name="Text 12"/>
          <p:cNvSpPr txBox="1"/>
          <p:nvPr/>
        </p:nvSpPr>
        <p:spPr>
          <a:xfrm>
            <a:off x="2783780" y="3414316"/>
            <a:ext cx="2238494"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Inconsistent</a:t>
            </a:r>
            <a:endParaRPr lang="en-US" sz="2000" dirty="0"/>
          </a:p>
        </p:txBody>
      </p:sp>
      <p:sp>
        <p:nvSpPr>
          <p:cNvPr id="15" name="Text 13"/>
          <p:cNvSpPr txBox="1"/>
          <p:nvPr/>
        </p:nvSpPr>
        <p:spPr>
          <a:xfrm>
            <a:off x="2783780" y="3769916"/>
            <a:ext cx="2238494"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Similar tasks behave differently across</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products and platforms.</a:t>
            </a:r>
            <a:endParaRPr lang="en-US" sz="850" dirty="0"/>
          </a:p>
        </p:txBody>
      </p:sp>
      <p:sp>
        <p:nvSpPr>
          <p:cNvPr id="16" name="Text 14"/>
          <p:cNvSpPr txBox="1"/>
          <p:nvPr/>
        </p:nvSpPr>
        <p:spPr>
          <a:xfrm>
            <a:off x="5059660" y="3414316"/>
            <a:ext cx="2238387"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Fragmented</a:t>
            </a:r>
            <a:endParaRPr lang="en-US" sz="2000" dirty="0"/>
          </a:p>
        </p:txBody>
      </p:sp>
      <p:sp>
        <p:nvSpPr>
          <p:cNvPr id="17" name="Text 15"/>
          <p:cNvSpPr txBox="1"/>
          <p:nvPr/>
        </p:nvSpPr>
        <p:spPr>
          <a:xfrm>
            <a:off x="5059660" y="3769916"/>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Advertisers move between disconnected tools,</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workflows and destinations.</a:t>
            </a:r>
            <a:endParaRPr lang="en-US" sz="850" dirty="0"/>
          </a:p>
        </p:txBody>
      </p:sp>
      <p:sp>
        <p:nvSpPr>
          <p:cNvPr id="18" name="Text 16"/>
          <p:cNvSpPr txBox="1"/>
          <p:nvPr/>
        </p:nvSpPr>
        <p:spPr>
          <a:xfrm>
            <a:off x="7335441" y="3414316"/>
            <a:ext cx="2238494"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Complex</a:t>
            </a:r>
            <a:endParaRPr lang="en-US" sz="2000" dirty="0"/>
          </a:p>
        </p:txBody>
      </p:sp>
      <p:sp>
        <p:nvSpPr>
          <p:cNvPr id="19" name="Text 17"/>
          <p:cNvSpPr txBox="1"/>
          <p:nvPr/>
        </p:nvSpPr>
        <p:spPr>
          <a:xfrm>
            <a:off x="7335441" y="3769916"/>
            <a:ext cx="2238494"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The experience exposes too much internal</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product complexity.</a:t>
            </a:r>
            <a:endParaRPr lang="en-US" sz="850" dirty="0"/>
          </a:p>
        </p:txBody>
      </p:sp>
      <p:sp>
        <p:nvSpPr>
          <p:cNvPr id="20" name="Text 18"/>
          <p:cNvSpPr txBox="1"/>
          <p:nvPr/>
        </p:nvSpPr>
        <p:spPr>
          <a:xfrm>
            <a:off x="9611320" y="3414316"/>
            <a:ext cx="2238387" cy="266700"/>
          </a:xfrm>
          <a:prstGeom prst="rect">
            <a:avLst/>
          </a:prstGeom>
          <a:noFill/>
          <a:ln/>
        </p:spPr>
        <p:txBody>
          <a:bodyPr wrap="square" lIns="0" tIns="0" rIns="0" bIns="0" rtlCol="0" anchor="t"/>
          <a:lstStyle/>
          <a:p>
            <a:pPr algn="l" indent="0" marL="0">
              <a:lnSpc>
                <a:spcPts val="2100"/>
              </a:lnSpc>
              <a:buNone/>
            </a:pPr>
            <a:r>
              <a:rPr lang="en-US" sz="2000" spc="-70" kern="0" dirty="0">
                <a:solidFill>
                  <a:srgbClr val="0053E2"/>
                </a:solidFill>
                <a:latin typeface="Everyday Sans Headline Light" pitchFamily="34" charset="0"/>
                <a:ea typeface="Everyday Sans Headline Light" pitchFamily="34" charset="-122"/>
                <a:cs typeface="Everyday Sans Headline Light" pitchFamily="34" charset="-120"/>
              </a:rPr>
              <a:t>Unclear</a:t>
            </a:r>
            <a:endParaRPr lang="en-US" sz="2000" dirty="0"/>
          </a:p>
        </p:txBody>
      </p:sp>
      <p:sp>
        <p:nvSpPr>
          <p:cNvPr id="21" name="Text 19"/>
          <p:cNvSpPr txBox="1"/>
          <p:nvPr/>
        </p:nvSpPr>
        <p:spPr>
          <a:xfrm>
            <a:off x="9611320" y="3769916"/>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Advertisers lack confidence in what happened,</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why, and what to do next.</a:t>
            </a:r>
            <a:endParaRPr lang="en-US" sz="850" dirty="0"/>
          </a:p>
        </p:txBody>
      </p:sp>
      <p:sp>
        <p:nvSpPr>
          <p:cNvPr id="22" name="Text 20"/>
          <p:cNvSpPr txBox="1"/>
          <p:nvPr/>
        </p:nvSpPr>
        <p:spPr>
          <a:xfrm>
            <a:off x="508000" y="4542036"/>
            <a:ext cx="824409"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EVIDENCE BASE</a:t>
            </a:r>
            <a:endParaRPr lang="en-US" sz="550" dirty="0"/>
          </a:p>
        </p:txBody>
      </p:sp>
      <p:sp>
        <p:nvSpPr>
          <p:cNvPr id="23" name="Text 21"/>
          <p:cNvSpPr txBox="1"/>
          <p:nvPr/>
        </p:nvSpPr>
        <p:spPr>
          <a:xfrm>
            <a:off x="1434009" y="4434086"/>
            <a:ext cx="715367" cy="222250"/>
          </a:xfrm>
          <a:prstGeom prst="rect">
            <a:avLst/>
          </a:prstGeom>
          <a:noFill/>
          <a:ln/>
        </p:spPr>
        <p:txBody>
          <a:bodyPr wrap="square" lIns="0" tIns="0" rIns="0" bIns="0" rtlCol="0" anchor="t"/>
          <a:lstStyle/>
          <a:p>
            <a:pPr algn="l" indent="0" marL="0">
              <a:lnSpc>
                <a:spcPts val="96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23</a:t>
            </a:r>
            <a:pPr algn="l" indent="0" marL="0">
              <a:lnSpc>
                <a:spcPts val="960"/>
              </a:lnSpc>
              <a:buNone/>
            </a:pPr>
            <a:r>
              <a:rPr lang="en-US" sz="800" dirty="0">
                <a:solidFill>
                  <a:srgbClr val="3D4A63"/>
                </a:solidFill>
                <a:latin typeface="Everyday Sans UI" pitchFamily="34" charset="0"/>
                <a:ea typeface="Everyday Sans UI" pitchFamily="34" charset="-122"/>
                <a:cs typeface="Everyday Sans UI" pitchFamily="34" charset="-120"/>
              </a:rPr>
              <a:t> sources</a:t>
            </a:r>
            <a:endParaRPr lang="en-US" sz="1400" dirty="0"/>
          </a:p>
        </p:txBody>
      </p:sp>
      <p:sp>
        <p:nvSpPr>
          <p:cNvPr id="24" name="Text 22"/>
          <p:cNvSpPr txBox="1"/>
          <p:nvPr/>
        </p:nvSpPr>
        <p:spPr>
          <a:xfrm>
            <a:off x="2250976" y="4434086"/>
            <a:ext cx="670620" cy="222250"/>
          </a:xfrm>
          <a:prstGeom prst="rect">
            <a:avLst/>
          </a:prstGeom>
          <a:noFill/>
          <a:ln/>
        </p:spPr>
        <p:txBody>
          <a:bodyPr wrap="square" lIns="0" tIns="0" rIns="0" bIns="0" rtlCol="0" anchor="t"/>
          <a:lstStyle/>
          <a:p>
            <a:pPr algn="l" indent="0" marL="0">
              <a:lnSpc>
                <a:spcPts val="96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18</a:t>
            </a:r>
            <a:pPr algn="l" indent="0" marL="0">
              <a:lnSpc>
                <a:spcPts val="960"/>
              </a:lnSpc>
              <a:buNone/>
            </a:pPr>
            <a:r>
              <a:rPr lang="en-US" sz="800" dirty="0">
                <a:solidFill>
                  <a:srgbClr val="3D4A63"/>
                </a:solidFill>
                <a:latin typeface="Everyday Sans UI" pitchFamily="34" charset="0"/>
                <a:ea typeface="Everyday Sans UI" pitchFamily="34" charset="-122"/>
                <a:cs typeface="Everyday Sans UI" pitchFamily="34" charset="-120"/>
              </a:rPr>
              <a:t> studies</a:t>
            </a:r>
            <a:endParaRPr lang="en-US" sz="1400" dirty="0"/>
          </a:p>
        </p:txBody>
      </p:sp>
      <p:sp>
        <p:nvSpPr>
          <p:cNvPr id="25" name="Text 23"/>
          <p:cNvSpPr txBox="1"/>
          <p:nvPr/>
        </p:nvSpPr>
        <p:spPr>
          <a:xfrm>
            <a:off x="3023195" y="4434086"/>
            <a:ext cx="1236663" cy="222250"/>
          </a:xfrm>
          <a:prstGeom prst="rect">
            <a:avLst/>
          </a:prstGeom>
          <a:noFill/>
          <a:ln/>
        </p:spPr>
        <p:txBody>
          <a:bodyPr wrap="square" lIns="0" tIns="0" rIns="0" bIns="0" rtlCol="0" anchor="t"/>
          <a:lstStyle/>
          <a:p>
            <a:pPr algn="l" indent="0" marL="0">
              <a:lnSpc>
                <a:spcPts val="96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28K+</a:t>
            </a:r>
            <a:pPr algn="l" indent="0" marL="0">
              <a:lnSpc>
                <a:spcPts val="960"/>
              </a:lnSpc>
              <a:buNone/>
            </a:pPr>
            <a:r>
              <a:rPr lang="en-US" sz="800" dirty="0">
                <a:solidFill>
                  <a:srgbClr val="3D4A63"/>
                </a:solidFill>
                <a:latin typeface="Everyday Sans UI" pitchFamily="34" charset="0"/>
                <a:ea typeface="Everyday Sans UI" pitchFamily="34" charset="-122"/>
                <a:cs typeface="Everyday Sans UI" pitchFamily="34" charset="-120"/>
              </a:rPr>
              <a:t> support tickets</a:t>
            </a:r>
            <a:endParaRPr lang="en-US" sz="1400" dirty="0"/>
          </a:p>
        </p:txBody>
      </p:sp>
      <p:sp>
        <p:nvSpPr>
          <p:cNvPr id="26" name="Text 24"/>
          <p:cNvSpPr txBox="1"/>
          <p:nvPr/>
        </p:nvSpPr>
        <p:spPr>
          <a:xfrm>
            <a:off x="4361458" y="4434086"/>
            <a:ext cx="839589" cy="222250"/>
          </a:xfrm>
          <a:prstGeom prst="rect">
            <a:avLst/>
          </a:prstGeom>
          <a:noFill/>
          <a:ln/>
        </p:spPr>
        <p:txBody>
          <a:bodyPr wrap="square" lIns="0" tIns="0" rIns="0" bIns="0" rtlCol="0" anchor="t"/>
          <a:lstStyle/>
          <a:p>
            <a:pPr algn="l" indent="0" marL="0">
              <a:lnSpc>
                <a:spcPts val="96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20</a:t>
            </a:r>
            <a:pPr algn="l" indent="0" marL="0">
              <a:lnSpc>
                <a:spcPts val="960"/>
              </a:lnSpc>
              <a:buNone/>
            </a:pPr>
            <a:r>
              <a:rPr lang="en-US" sz="800" dirty="0">
                <a:solidFill>
                  <a:srgbClr val="3D4A63"/>
                </a:solidFill>
                <a:latin typeface="Everyday Sans UI" pitchFamily="34" charset="0"/>
                <a:ea typeface="Everyday Sans UI" pitchFamily="34" charset="-122"/>
                <a:cs typeface="Everyday Sans UI" pitchFamily="34" charset="-120"/>
              </a:rPr>
              <a:t> interviews</a:t>
            </a:r>
            <a:endParaRPr lang="en-US" sz="1400" dirty="0"/>
          </a:p>
        </p:txBody>
      </p:sp>
      <p:pic>
        <p:nvPicPr>
          <p:cNvPr id="2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8" name="Text 25"/>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29" name="Text 2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04 / 15</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2517180" cy="127000"/>
          </a:xfrm>
          <a:prstGeom prst="roundRect">
            <a:avLst>
              <a:gd name="adj" fmla="val 360000"/>
            </a:avLst>
          </a:prstGeom>
          <a:solidFill>
            <a:srgbClr val="D7EEF9"/>
          </a:solidFill>
          <a:ln/>
        </p:spPr>
      </p:sp>
      <p:sp>
        <p:nvSpPr>
          <p:cNvPr id="3" name="Shape 1"/>
          <p:cNvSpPr/>
          <p:nvPr/>
        </p:nvSpPr>
        <p:spPr>
          <a:xfrm>
            <a:off x="508000" y="3575447"/>
            <a:ext cx="11176000" cy="6350"/>
          </a:xfrm>
          <a:prstGeom prst="rect">
            <a:avLst/>
          </a:prstGeom>
          <a:solidFill>
            <a:srgbClr val="0053E2"/>
          </a:solidFill>
          <a:ln/>
        </p:spPr>
      </p:sp>
      <p:sp>
        <p:nvSpPr>
          <p:cNvPr id="4" name="Shape 2"/>
          <p:cNvSpPr/>
          <p:nvPr/>
        </p:nvSpPr>
        <p:spPr>
          <a:xfrm>
            <a:off x="508000" y="3537347"/>
            <a:ext cx="82550" cy="82550"/>
          </a:xfrm>
          <a:prstGeom prst="ellipse">
            <a:avLst/>
          </a:prstGeom>
          <a:solidFill>
            <a:srgbClr val="F5F6F8"/>
          </a:solidFill>
          <a:ln w="6350">
            <a:solidFill>
              <a:srgbClr val="0053E2"/>
            </a:solidFill>
            <a:prstDash val="solid"/>
          </a:ln>
        </p:spPr>
      </p:sp>
      <p:sp>
        <p:nvSpPr>
          <p:cNvPr id="5" name="Shape 3"/>
          <p:cNvSpPr/>
          <p:nvPr/>
        </p:nvSpPr>
        <p:spPr>
          <a:xfrm>
            <a:off x="2400300" y="3537347"/>
            <a:ext cx="82550" cy="82550"/>
          </a:xfrm>
          <a:prstGeom prst="ellipse">
            <a:avLst/>
          </a:prstGeom>
          <a:solidFill>
            <a:srgbClr val="F5F6F8"/>
          </a:solidFill>
          <a:ln w="6350">
            <a:solidFill>
              <a:srgbClr val="0053E2"/>
            </a:solidFill>
            <a:prstDash val="solid"/>
          </a:ln>
        </p:spPr>
      </p:sp>
      <p:sp>
        <p:nvSpPr>
          <p:cNvPr id="6" name="Shape 4"/>
          <p:cNvSpPr/>
          <p:nvPr/>
        </p:nvSpPr>
        <p:spPr>
          <a:xfrm>
            <a:off x="4292600" y="3537347"/>
            <a:ext cx="82550" cy="82550"/>
          </a:xfrm>
          <a:prstGeom prst="ellipse">
            <a:avLst/>
          </a:prstGeom>
          <a:solidFill>
            <a:srgbClr val="F5F6F8"/>
          </a:solidFill>
          <a:ln w="6350">
            <a:solidFill>
              <a:srgbClr val="0053E2"/>
            </a:solidFill>
            <a:prstDash val="solid"/>
          </a:ln>
        </p:spPr>
      </p:sp>
      <p:sp>
        <p:nvSpPr>
          <p:cNvPr id="7" name="Shape 5"/>
          <p:cNvSpPr/>
          <p:nvPr/>
        </p:nvSpPr>
        <p:spPr>
          <a:xfrm>
            <a:off x="6184900" y="3537347"/>
            <a:ext cx="82550" cy="82550"/>
          </a:xfrm>
          <a:prstGeom prst="ellipse">
            <a:avLst/>
          </a:prstGeom>
          <a:solidFill>
            <a:srgbClr val="F5F6F8"/>
          </a:solidFill>
          <a:ln w="6350">
            <a:solidFill>
              <a:srgbClr val="0053E2"/>
            </a:solidFill>
            <a:prstDash val="solid"/>
          </a:ln>
        </p:spPr>
      </p:sp>
      <p:sp>
        <p:nvSpPr>
          <p:cNvPr id="8" name="Shape 6"/>
          <p:cNvSpPr/>
          <p:nvPr/>
        </p:nvSpPr>
        <p:spPr>
          <a:xfrm>
            <a:off x="8077200" y="3537347"/>
            <a:ext cx="82550" cy="82550"/>
          </a:xfrm>
          <a:prstGeom prst="ellipse">
            <a:avLst/>
          </a:prstGeom>
          <a:solidFill>
            <a:srgbClr val="F5F6F8"/>
          </a:solidFill>
          <a:ln w="6350">
            <a:solidFill>
              <a:srgbClr val="0053E2"/>
            </a:solidFill>
            <a:prstDash val="solid"/>
          </a:ln>
        </p:spPr>
      </p:sp>
      <p:sp>
        <p:nvSpPr>
          <p:cNvPr id="9" name="Shape 7"/>
          <p:cNvSpPr/>
          <p:nvPr/>
        </p:nvSpPr>
        <p:spPr>
          <a:xfrm>
            <a:off x="9969500" y="3537347"/>
            <a:ext cx="82550" cy="82550"/>
          </a:xfrm>
          <a:prstGeom prst="ellipse">
            <a:avLst/>
          </a:prstGeom>
          <a:solidFill>
            <a:srgbClr val="F5F6F8"/>
          </a:solidFill>
          <a:ln w="6350">
            <a:solidFill>
              <a:srgbClr val="0053E2"/>
            </a:solidFill>
            <a:prstDash val="solid"/>
          </a:ln>
        </p:spPr>
      </p:sp>
      <p:sp>
        <p:nvSpPr>
          <p:cNvPr id="10" name="Shape 8"/>
          <p:cNvSpPr/>
          <p:nvPr/>
        </p:nvSpPr>
        <p:spPr>
          <a:xfrm>
            <a:off x="508000" y="4558903"/>
            <a:ext cx="11176000" cy="0"/>
          </a:xfrm>
          <a:prstGeom prst="line">
            <a:avLst/>
          </a:prstGeom>
          <a:noFill/>
          <a:ln w="6350">
            <a:solidFill>
              <a:srgbClr val="0053E2"/>
            </a:solidFill>
            <a:prstDash val="solid"/>
          </a:ln>
        </p:spPr>
      </p:sp>
      <p:sp>
        <p:nvSpPr>
          <p:cNvPr id="11" name="Text 9"/>
          <p:cNvSpPr txBox="1"/>
          <p:nvPr/>
        </p:nvSpPr>
        <p:spPr>
          <a:xfrm>
            <a:off x="482751" y="971550"/>
            <a:ext cx="2567678"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EXPERIENCE COMPOUNDS THE PERFORMANCE PROBLEM</a:t>
            </a:r>
            <a:endParaRPr lang="en-US" sz="500" dirty="0"/>
          </a:p>
        </p:txBody>
      </p:sp>
      <p:sp>
        <p:nvSpPr>
          <p:cNvPr id="12" name="Text 10"/>
          <p:cNvSpPr txBox="1"/>
          <p:nvPr/>
        </p:nvSpPr>
        <p:spPr>
          <a:xfrm>
            <a:off x="508000" y="1212850"/>
            <a:ext cx="12070080" cy="767953"/>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When performance is hard to understand,</a:t>
            </a:r>
            <a:endParaRPr lang="en-US" sz="2400" dirty="0"/>
          </a:p>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experience becomes part of the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problem</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2082403"/>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Even when the issue begins with delivery or performance, fragmented workflows make it harder for advertisers to diagnose the cause, understand their options and take action.</a:t>
            </a:r>
            <a:endParaRPr lang="en-US" sz="900" dirty="0"/>
          </a:p>
        </p:txBody>
      </p:sp>
      <p:sp>
        <p:nvSpPr>
          <p:cNvPr id="14" name="Text 12"/>
          <p:cNvSpPr txBox="1"/>
          <p:nvPr/>
        </p:nvSpPr>
        <p:spPr>
          <a:xfrm>
            <a:off x="508000" y="3715147"/>
            <a:ext cx="18669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SIGNAL</a:t>
            </a:r>
            <a:endParaRPr lang="en-US" sz="550" dirty="0"/>
          </a:p>
        </p:txBody>
      </p:sp>
      <p:sp>
        <p:nvSpPr>
          <p:cNvPr id="15" name="Text 13"/>
          <p:cNvSpPr txBox="1"/>
          <p:nvPr/>
        </p:nvSpPr>
        <p:spPr>
          <a:xfrm>
            <a:off x="508000" y="3867547"/>
            <a:ext cx="1866900"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Campaign</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underdelivers</a:t>
            </a:r>
            <a:endParaRPr lang="en-US" sz="1300" dirty="0"/>
          </a:p>
        </p:txBody>
      </p:sp>
      <p:sp>
        <p:nvSpPr>
          <p:cNvPr id="16" name="Text 14"/>
          <p:cNvSpPr txBox="1"/>
          <p:nvPr/>
        </p:nvSpPr>
        <p:spPr>
          <a:xfrm>
            <a:off x="2400300" y="3715147"/>
            <a:ext cx="18669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DIAGNOSIS</a:t>
            </a:r>
            <a:endParaRPr lang="en-US" sz="550" dirty="0"/>
          </a:p>
        </p:txBody>
      </p:sp>
      <p:sp>
        <p:nvSpPr>
          <p:cNvPr id="17" name="Text 15"/>
          <p:cNvSpPr txBox="1"/>
          <p:nvPr/>
        </p:nvSpPr>
        <p:spPr>
          <a:xfrm>
            <a:off x="2400300" y="3867547"/>
            <a:ext cx="1866900"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Where do I find the</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right information?</a:t>
            </a:r>
            <a:endParaRPr lang="en-US" sz="1300" dirty="0"/>
          </a:p>
        </p:txBody>
      </p:sp>
      <p:sp>
        <p:nvSpPr>
          <p:cNvPr id="18" name="Text 16"/>
          <p:cNvSpPr txBox="1"/>
          <p:nvPr/>
        </p:nvSpPr>
        <p:spPr>
          <a:xfrm>
            <a:off x="4292600" y="3715147"/>
            <a:ext cx="18669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UNDERSTANDING</a:t>
            </a:r>
            <a:endParaRPr lang="en-US" sz="550" dirty="0"/>
          </a:p>
        </p:txBody>
      </p:sp>
      <p:sp>
        <p:nvSpPr>
          <p:cNvPr id="19" name="Text 17"/>
          <p:cNvSpPr txBox="1"/>
          <p:nvPr/>
        </p:nvSpPr>
        <p:spPr>
          <a:xfrm>
            <a:off x="4292600" y="3867547"/>
            <a:ext cx="1866900"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Why is this happening?</a:t>
            </a:r>
            <a:endParaRPr lang="en-US" sz="1300" dirty="0"/>
          </a:p>
        </p:txBody>
      </p:sp>
      <p:sp>
        <p:nvSpPr>
          <p:cNvPr id="20" name="Text 18"/>
          <p:cNvSpPr txBox="1"/>
          <p:nvPr/>
        </p:nvSpPr>
        <p:spPr>
          <a:xfrm>
            <a:off x="6184900" y="3715147"/>
            <a:ext cx="18669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DECISION</a:t>
            </a:r>
            <a:endParaRPr lang="en-US" sz="550" dirty="0"/>
          </a:p>
        </p:txBody>
      </p:sp>
      <p:sp>
        <p:nvSpPr>
          <p:cNvPr id="21" name="Text 19"/>
          <p:cNvSpPr txBox="1"/>
          <p:nvPr/>
        </p:nvSpPr>
        <p:spPr>
          <a:xfrm>
            <a:off x="6184900" y="3867547"/>
            <a:ext cx="1866900"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What can I change?</a:t>
            </a:r>
            <a:endParaRPr lang="en-US" sz="1300" dirty="0"/>
          </a:p>
        </p:txBody>
      </p:sp>
      <p:sp>
        <p:nvSpPr>
          <p:cNvPr id="22" name="Text 20"/>
          <p:cNvSpPr txBox="1"/>
          <p:nvPr/>
        </p:nvSpPr>
        <p:spPr>
          <a:xfrm>
            <a:off x="8077200" y="3715147"/>
            <a:ext cx="18669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ACTION</a:t>
            </a:r>
            <a:endParaRPr lang="en-US" sz="550" dirty="0"/>
          </a:p>
        </p:txBody>
      </p:sp>
      <p:sp>
        <p:nvSpPr>
          <p:cNvPr id="23" name="Text 21"/>
          <p:cNvSpPr txBox="1"/>
          <p:nvPr/>
        </p:nvSpPr>
        <p:spPr>
          <a:xfrm>
            <a:off x="8077200" y="3867547"/>
            <a:ext cx="1866900"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Where do I make the</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change?</a:t>
            </a:r>
            <a:endParaRPr lang="en-US" sz="1300" dirty="0"/>
          </a:p>
        </p:txBody>
      </p:sp>
      <p:sp>
        <p:nvSpPr>
          <p:cNvPr id="24" name="Text 22"/>
          <p:cNvSpPr txBox="1"/>
          <p:nvPr/>
        </p:nvSpPr>
        <p:spPr>
          <a:xfrm>
            <a:off x="9969500" y="3715147"/>
            <a:ext cx="18669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VALIDATION</a:t>
            </a:r>
            <a:endParaRPr lang="en-US" sz="550" dirty="0"/>
          </a:p>
        </p:txBody>
      </p:sp>
      <p:sp>
        <p:nvSpPr>
          <p:cNvPr id="25" name="Text 23"/>
          <p:cNvSpPr txBox="1"/>
          <p:nvPr/>
        </p:nvSpPr>
        <p:spPr>
          <a:xfrm>
            <a:off x="9969500" y="3867547"/>
            <a:ext cx="1866900"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Did it work?</a:t>
            </a:r>
            <a:endParaRPr lang="en-US" sz="1300" dirty="0"/>
          </a:p>
        </p:txBody>
      </p:sp>
      <p:sp>
        <p:nvSpPr>
          <p:cNvPr id="26" name="Text 24"/>
          <p:cNvSpPr txBox="1"/>
          <p:nvPr/>
        </p:nvSpPr>
        <p:spPr>
          <a:xfrm>
            <a:off x="508000" y="477797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a:t>
            </a:r>
            <a:endParaRPr lang="en-US" sz="550" dirty="0"/>
          </a:p>
        </p:txBody>
      </p:sp>
      <p:sp>
        <p:nvSpPr>
          <p:cNvPr id="27" name="Text 25"/>
          <p:cNvSpPr txBox="1"/>
          <p:nvPr/>
        </p:nvSpPr>
        <p:spPr>
          <a:xfrm>
            <a:off x="2108200" y="466367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Every handoff adds friction, uncertainty and time.</a:t>
            </a:r>
            <a:endParaRPr lang="en-US" sz="1400" dirty="0"/>
          </a:p>
        </p:txBody>
      </p:sp>
      <p:pic>
        <p:nvPicPr>
          <p:cNvPr id="28"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9" name="Text 26"/>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30" name="Text 27"/>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05 / 15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75209" cy="127000"/>
          </a:xfrm>
          <a:prstGeom prst="roundRect">
            <a:avLst>
              <a:gd name="adj" fmla="val 360000"/>
            </a:avLst>
          </a:prstGeom>
          <a:solidFill>
            <a:srgbClr val="D7EEF9"/>
          </a:solidFill>
          <a:ln/>
        </p:spPr>
      </p:sp>
      <p:sp>
        <p:nvSpPr>
          <p:cNvPr id="3" name="Shape 1"/>
          <p:cNvSpPr/>
          <p:nvPr/>
        </p:nvSpPr>
        <p:spPr>
          <a:xfrm>
            <a:off x="508000" y="2965946"/>
            <a:ext cx="4307780" cy="0"/>
          </a:xfrm>
          <a:prstGeom prst="line">
            <a:avLst/>
          </a:prstGeom>
          <a:noFill/>
          <a:ln w="6350">
            <a:solidFill>
              <a:srgbClr val="0053E2"/>
            </a:solidFill>
            <a:prstDash val="solid"/>
          </a:ln>
        </p:spPr>
      </p:sp>
      <p:sp>
        <p:nvSpPr>
          <p:cNvPr id="4" name="Shape 2"/>
          <p:cNvSpPr/>
          <p:nvPr/>
        </p:nvSpPr>
        <p:spPr>
          <a:xfrm>
            <a:off x="508000" y="3537446"/>
            <a:ext cx="2064941" cy="0"/>
          </a:xfrm>
          <a:prstGeom prst="line">
            <a:avLst/>
          </a:prstGeom>
          <a:noFill/>
          <a:ln w="6350">
            <a:solidFill>
              <a:srgbClr val="E4E8EF"/>
            </a:solidFill>
            <a:prstDash val="solid"/>
          </a:ln>
        </p:spPr>
      </p:sp>
      <p:sp>
        <p:nvSpPr>
          <p:cNvPr id="5" name="Shape 3"/>
          <p:cNvSpPr/>
          <p:nvPr/>
        </p:nvSpPr>
        <p:spPr>
          <a:xfrm>
            <a:off x="508000" y="3795216"/>
            <a:ext cx="2064941" cy="0"/>
          </a:xfrm>
          <a:prstGeom prst="line">
            <a:avLst/>
          </a:prstGeom>
          <a:noFill/>
          <a:ln w="6350">
            <a:solidFill>
              <a:srgbClr val="E4E8EF"/>
            </a:solidFill>
            <a:prstDash val="solid"/>
          </a:ln>
        </p:spPr>
      </p:sp>
      <p:sp>
        <p:nvSpPr>
          <p:cNvPr id="6" name="Shape 4"/>
          <p:cNvSpPr/>
          <p:nvPr/>
        </p:nvSpPr>
        <p:spPr>
          <a:xfrm>
            <a:off x="508000" y="4052987"/>
            <a:ext cx="2064941" cy="0"/>
          </a:xfrm>
          <a:prstGeom prst="line">
            <a:avLst/>
          </a:prstGeom>
          <a:noFill/>
          <a:ln w="6350">
            <a:solidFill>
              <a:srgbClr val="E4E8EF"/>
            </a:solidFill>
            <a:prstDash val="solid"/>
          </a:ln>
        </p:spPr>
      </p:sp>
      <p:sp>
        <p:nvSpPr>
          <p:cNvPr id="7" name="Shape 5"/>
          <p:cNvSpPr/>
          <p:nvPr/>
        </p:nvSpPr>
        <p:spPr>
          <a:xfrm>
            <a:off x="508000" y="4310757"/>
            <a:ext cx="2064941" cy="0"/>
          </a:xfrm>
          <a:prstGeom prst="line">
            <a:avLst/>
          </a:prstGeom>
          <a:noFill/>
          <a:ln w="6350">
            <a:solidFill>
              <a:srgbClr val="E4E8EF"/>
            </a:solidFill>
            <a:prstDash val="solid"/>
          </a:ln>
        </p:spPr>
      </p:sp>
      <p:sp>
        <p:nvSpPr>
          <p:cNvPr id="8" name="Shape 6"/>
          <p:cNvSpPr/>
          <p:nvPr/>
        </p:nvSpPr>
        <p:spPr>
          <a:xfrm>
            <a:off x="2750741" y="3537446"/>
            <a:ext cx="2065040" cy="0"/>
          </a:xfrm>
          <a:prstGeom prst="line">
            <a:avLst/>
          </a:prstGeom>
          <a:noFill/>
          <a:ln w="6350">
            <a:solidFill>
              <a:srgbClr val="E4E8EF"/>
            </a:solidFill>
            <a:prstDash val="solid"/>
          </a:ln>
        </p:spPr>
      </p:sp>
      <p:sp>
        <p:nvSpPr>
          <p:cNvPr id="9" name="Shape 7"/>
          <p:cNvSpPr/>
          <p:nvPr/>
        </p:nvSpPr>
        <p:spPr>
          <a:xfrm>
            <a:off x="2750741" y="3795216"/>
            <a:ext cx="2065040" cy="0"/>
          </a:xfrm>
          <a:prstGeom prst="line">
            <a:avLst/>
          </a:prstGeom>
          <a:noFill/>
          <a:ln w="6350">
            <a:solidFill>
              <a:srgbClr val="E4E8EF"/>
            </a:solidFill>
            <a:prstDash val="solid"/>
          </a:ln>
        </p:spPr>
      </p:sp>
      <p:sp>
        <p:nvSpPr>
          <p:cNvPr id="10" name="Shape 8"/>
          <p:cNvSpPr/>
          <p:nvPr/>
        </p:nvSpPr>
        <p:spPr>
          <a:xfrm>
            <a:off x="2750741" y="4052987"/>
            <a:ext cx="2065040" cy="0"/>
          </a:xfrm>
          <a:prstGeom prst="line">
            <a:avLst/>
          </a:prstGeom>
          <a:noFill/>
          <a:ln w="6350">
            <a:solidFill>
              <a:srgbClr val="E4E8EF"/>
            </a:solidFill>
            <a:prstDash val="solid"/>
          </a:ln>
        </p:spPr>
      </p:sp>
      <p:sp>
        <p:nvSpPr>
          <p:cNvPr id="11" name="Shape 9"/>
          <p:cNvSpPr/>
          <p:nvPr/>
        </p:nvSpPr>
        <p:spPr>
          <a:xfrm>
            <a:off x="2750741" y="4310757"/>
            <a:ext cx="2065040" cy="0"/>
          </a:xfrm>
          <a:prstGeom prst="line">
            <a:avLst/>
          </a:prstGeom>
          <a:noFill/>
          <a:ln w="6350">
            <a:solidFill>
              <a:srgbClr val="E4E8EF"/>
            </a:solidFill>
            <a:prstDash val="solid"/>
          </a:ln>
        </p:spPr>
      </p:sp>
      <p:sp>
        <p:nvSpPr>
          <p:cNvPr id="12" name="Shape 10"/>
          <p:cNvSpPr/>
          <p:nvPr/>
        </p:nvSpPr>
        <p:spPr>
          <a:xfrm>
            <a:off x="5222180" y="2965946"/>
            <a:ext cx="6461820" cy="0"/>
          </a:xfrm>
          <a:prstGeom prst="line">
            <a:avLst/>
          </a:prstGeom>
          <a:noFill/>
          <a:ln w="6350">
            <a:solidFill>
              <a:srgbClr val="0053E2"/>
            </a:solidFill>
            <a:prstDash val="solid"/>
          </a:ln>
        </p:spPr>
      </p:sp>
      <p:sp>
        <p:nvSpPr>
          <p:cNvPr id="13" name="Shape 11"/>
          <p:cNvSpPr/>
          <p:nvPr/>
        </p:nvSpPr>
        <p:spPr>
          <a:xfrm>
            <a:off x="5222180" y="3537446"/>
            <a:ext cx="2035373" cy="0"/>
          </a:xfrm>
          <a:prstGeom prst="line">
            <a:avLst/>
          </a:prstGeom>
          <a:noFill/>
          <a:ln w="6350">
            <a:solidFill>
              <a:srgbClr val="E4E8EF"/>
            </a:solidFill>
            <a:prstDash val="solid"/>
          </a:ln>
        </p:spPr>
      </p:sp>
      <p:sp>
        <p:nvSpPr>
          <p:cNvPr id="14" name="Shape 12"/>
          <p:cNvSpPr/>
          <p:nvPr/>
        </p:nvSpPr>
        <p:spPr>
          <a:xfrm>
            <a:off x="5222180" y="3795216"/>
            <a:ext cx="2035373" cy="0"/>
          </a:xfrm>
          <a:prstGeom prst="line">
            <a:avLst/>
          </a:prstGeom>
          <a:noFill/>
          <a:ln w="6350">
            <a:solidFill>
              <a:srgbClr val="E4E8EF"/>
            </a:solidFill>
            <a:prstDash val="solid"/>
          </a:ln>
        </p:spPr>
      </p:sp>
      <p:sp>
        <p:nvSpPr>
          <p:cNvPr id="15" name="Shape 13"/>
          <p:cNvSpPr/>
          <p:nvPr/>
        </p:nvSpPr>
        <p:spPr>
          <a:xfrm>
            <a:off x="5222180" y="4052987"/>
            <a:ext cx="2035373" cy="0"/>
          </a:xfrm>
          <a:prstGeom prst="line">
            <a:avLst/>
          </a:prstGeom>
          <a:noFill/>
          <a:ln w="6350">
            <a:solidFill>
              <a:srgbClr val="E4E8EF"/>
            </a:solidFill>
            <a:prstDash val="solid"/>
          </a:ln>
        </p:spPr>
      </p:sp>
      <p:sp>
        <p:nvSpPr>
          <p:cNvPr id="16" name="Shape 14"/>
          <p:cNvSpPr/>
          <p:nvPr/>
        </p:nvSpPr>
        <p:spPr>
          <a:xfrm>
            <a:off x="5222180" y="4310757"/>
            <a:ext cx="2035373" cy="0"/>
          </a:xfrm>
          <a:prstGeom prst="line">
            <a:avLst/>
          </a:prstGeom>
          <a:noFill/>
          <a:ln w="6350">
            <a:solidFill>
              <a:srgbClr val="E4E8EF"/>
            </a:solidFill>
            <a:prstDash val="solid"/>
          </a:ln>
        </p:spPr>
      </p:sp>
      <p:sp>
        <p:nvSpPr>
          <p:cNvPr id="17" name="Shape 15"/>
          <p:cNvSpPr/>
          <p:nvPr/>
        </p:nvSpPr>
        <p:spPr>
          <a:xfrm>
            <a:off x="7435354" y="3537446"/>
            <a:ext cx="2035373" cy="0"/>
          </a:xfrm>
          <a:prstGeom prst="line">
            <a:avLst/>
          </a:prstGeom>
          <a:noFill/>
          <a:ln w="6350">
            <a:solidFill>
              <a:srgbClr val="E4E8EF"/>
            </a:solidFill>
            <a:prstDash val="solid"/>
          </a:ln>
        </p:spPr>
      </p:sp>
      <p:sp>
        <p:nvSpPr>
          <p:cNvPr id="18" name="Shape 16"/>
          <p:cNvSpPr/>
          <p:nvPr/>
        </p:nvSpPr>
        <p:spPr>
          <a:xfrm>
            <a:off x="7435354" y="3795216"/>
            <a:ext cx="2035373" cy="0"/>
          </a:xfrm>
          <a:prstGeom prst="line">
            <a:avLst/>
          </a:prstGeom>
          <a:noFill/>
          <a:ln w="6350">
            <a:solidFill>
              <a:srgbClr val="E4E8EF"/>
            </a:solidFill>
            <a:prstDash val="solid"/>
          </a:ln>
        </p:spPr>
      </p:sp>
      <p:sp>
        <p:nvSpPr>
          <p:cNvPr id="19" name="Shape 17"/>
          <p:cNvSpPr/>
          <p:nvPr/>
        </p:nvSpPr>
        <p:spPr>
          <a:xfrm>
            <a:off x="7435354" y="4052987"/>
            <a:ext cx="2035373" cy="0"/>
          </a:xfrm>
          <a:prstGeom prst="line">
            <a:avLst/>
          </a:prstGeom>
          <a:noFill/>
          <a:ln w="6350">
            <a:solidFill>
              <a:srgbClr val="E4E8EF"/>
            </a:solidFill>
            <a:prstDash val="solid"/>
          </a:ln>
        </p:spPr>
      </p:sp>
      <p:sp>
        <p:nvSpPr>
          <p:cNvPr id="20" name="Shape 18"/>
          <p:cNvSpPr/>
          <p:nvPr/>
        </p:nvSpPr>
        <p:spPr>
          <a:xfrm>
            <a:off x="7435354" y="4310757"/>
            <a:ext cx="2035373" cy="0"/>
          </a:xfrm>
          <a:prstGeom prst="line">
            <a:avLst/>
          </a:prstGeom>
          <a:noFill/>
          <a:ln w="6350">
            <a:solidFill>
              <a:srgbClr val="E4E8EF"/>
            </a:solidFill>
            <a:prstDash val="solid"/>
          </a:ln>
        </p:spPr>
      </p:sp>
      <p:sp>
        <p:nvSpPr>
          <p:cNvPr id="21" name="Shape 19"/>
          <p:cNvSpPr/>
          <p:nvPr/>
        </p:nvSpPr>
        <p:spPr>
          <a:xfrm>
            <a:off x="9648527" y="3537446"/>
            <a:ext cx="2035473" cy="0"/>
          </a:xfrm>
          <a:prstGeom prst="line">
            <a:avLst/>
          </a:prstGeom>
          <a:noFill/>
          <a:ln w="6350">
            <a:solidFill>
              <a:srgbClr val="E4E8EF"/>
            </a:solidFill>
            <a:prstDash val="solid"/>
          </a:ln>
        </p:spPr>
      </p:sp>
      <p:sp>
        <p:nvSpPr>
          <p:cNvPr id="22" name="Shape 20"/>
          <p:cNvSpPr/>
          <p:nvPr/>
        </p:nvSpPr>
        <p:spPr>
          <a:xfrm>
            <a:off x="9648527" y="3795216"/>
            <a:ext cx="2035473" cy="0"/>
          </a:xfrm>
          <a:prstGeom prst="line">
            <a:avLst/>
          </a:prstGeom>
          <a:noFill/>
          <a:ln w="6350">
            <a:solidFill>
              <a:srgbClr val="E4E8EF"/>
            </a:solidFill>
            <a:prstDash val="solid"/>
          </a:ln>
        </p:spPr>
      </p:sp>
      <p:sp>
        <p:nvSpPr>
          <p:cNvPr id="23" name="Shape 21"/>
          <p:cNvSpPr/>
          <p:nvPr/>
        </p:nvSpPr>
        <p:spPr>
          <a:xfrm>
            <a:off x="9648527" y="4052987"/>
            <a:ext cx="2035473" cy="0"/>
          </a:xfrm>
          <a:prstGeom prst="line">
            <a:avLst/>
          </a:prstGeom>
          <a:noFill/>
          <a:ln w="6350">
            <a:solidFill>
              <a:srgbClr val="E4E8EF"/>
            </a:solidFill>
            <a:prstDash val="solid"/>
          </a:ln>
        </p:spPr>
      </p:sp>
      <p:sp>
        <p:nvSpPr>
          <p:cNvPr id="24" name="Shape 22"/>
          <p:cNvSpPr/>
          <p:nvPr/>
        </p:nvSpPr>
        <p:spPr>
          <a:xfrm>
            <a:off x="9648527" y="4310757"/>
            <a:ext cx="2035473" cy="0"/>
          </a:xfrm>
          <a:prstGeom prst="line">
            <a:avLst/>
          </a:prstGeom>
          <a:noFill/>
          <a:ln w="6350">
            <a:solidFill>
              <a:srgbClr val="E4E8EF"/>
            </a:solidFill>
            <a:prstDash val="solid"/>
          </a:ln>
        </p:spPr>
      </p:sp>
      <p:sp>
        <p:nvSpPr>
          <p:cNvPr id="25" name="Shape 23"/>
          <p:cNvSpPr/>
          <p:nvPr/>
        </p:nvSpPr>
        <p:spPr>
          <a:xfrm>
            <a:off x="508000" y="4822527"/>
            <a:ext cx="11176000" cy="0"/>
          </a:xfrm>
          <a:prstGeom prst="line">
            <a:avLst/>
          </a:prstGeom>
          <a:noFill/>
          <a:ln w="6350">
            <a:solidFill>
              <a:srgbClr val="0053E2"/>
            </a:solidFill>
            <a:prstDash val="solid"/>
          </a:ln>
        </p:spPr>
      </p:sp>
      <p:sp>
        <p:nvSpPr>
          <p:cNvPr id="26" name="Text 24"/>
          <p:cNvSpPr txBox="1"/>
          <p:nvPr/>
        </p:nvSpPr>
        <p:spPr>
          <a:xfrm>
            <a:off x="501650" y="971550"/>
            <a:ext cx="168790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TWO PROBLEMS, TWO TYPES OF WORK</a:t>
            </a:r>
            <a:endParaRPr lang="en-US" sz="500" dirty="0"/>
          </a:p>
        </p:txBody>
      </p:sp>
      <p:sp>
        <p:nvSpPr>
          <p:cNvPr id="27" name="Text 25"/>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Separate Display-specific problems from shared experience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problems</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8" name="Text 26"/>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Not every Display issue should become a platform initiative, and not every experience problem should be solved independently inside Display.</a:t>
            </a:r>
            <a:endParaRPr lang="en-US" sz="900" dirty="0"/>
          </a:p>
        </p:txBody>
      </p:sp>
      <p:sp>
        <p:nvSpPr>
          <p:cNvPr id="29" name="Text 27"/>
          <p:cNvSpPr txBox="1"/>
          <p:nvPr/>
        </p:nvSpPr>
        <p:spPr>
          <a:xfrm>
            <a:off x="508000" y="3070721"/>
            <a:ext cx="4652403"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SOLVE WITHIN DISPLAY</a:t>
            </a:r>
            <a:endParaRPr lang="en-US" sz="550" dirty="0"/>
          </a:p>
        </p:txBody>
      </p:sp>
      <p:sp>
        <p:nvSpPr>
          <p:cNvPr id="30" name="Text 28"/>
          <p:cNvSpPr txBox="1"/>
          <p:nvPr/>
        </p:nvSpPr>
        <p:spPr>
          <a:xfrm>
            <a:off x="508000" y="3210421"/>
            <a:ext cx="4652403"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The capabilities that make Display perform</a:t>
            </a:r>
            <a:endParaRPr lang="en-US" sz="1400" dirty="0"/>
          </a:p>
        </p:txBody>
      </p:sp>
      <p:sp>
        <p:nvSpPr>
          <p:cNvPr id="31" name="Text 29"/>
          <p:cNvSpPr txBox="1"/>
          <p:nvPr/>
        </p:nvSpPr>
        <p:spPr>
          <a:xfrm>
            <a:off x="508000" y="3597771"/>
            <a:ext cx="2230136"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Ad serving and delivery</a:t>
            </a:r>
            <a:endParaRPr lang="en-US" sz="800" dirty="0"/>
          </a:p>
        </p:txBody>
      </p:sp>
      <p:sp>
        <p:nvSpPr>
          <p:cNvPr id="32" name="Text 30"/>
          <p:cNvSpPr txBox="1"/>
          <p:nvPr/>
        </p:nvSpPr>
        <p:spPr>
          <a:xfrm>
            <a:off x="508000" y="3855541"/>
            <a:ext cx="2230136"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Viewability</a:t>
            </a:r>
            <a:endParaRPr lang="en-US" sz="800" dirty="0"/>
          </a:p>
        </p:txBody>
      </p:sp>
      <p:sp>
        <p:nvSpPr>
          <p:cNvPr id="33" name="Text 31"/>
          <p:cNvSpPr txBox="1"/>
          <p:nvPr/>
        </p:nvSpPr>
        <p:spPr>
          <a:xfrm>
            <a:off x="508000" y="4113312"/>
            <a:ext cx="2230136"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Inventory availability</a:t>
            </a:r>
            <a:endParaRPr lang="en-US" sz="800" dirty="0"/>
          </a:p>
        </p:txBody>
      </p:sp>
      <p:sp>
        <p:nvSpPr>
          <p:cNvPr id="34" name="Text 32"/>
          <p:cNvSpPr txBox="1"/>
          <p:nvPr/>
        </p:nvSpPr>
        <p:spPr>
          <a:xfrm>
            <a:off x="508000" y="4371082"/>
            <a:ext cx="2230136"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Display-specific optimization logic</a:t>
            </a:r>
            <a:endParaRPr lang="en-US" sz="800" dirty="0"/>
          </a:p>
        </p:txBody>
      </p:sp>
      <p:sp>
        <p:nvSpPr>
          <p:cNvPr id="35" name="Text 33"/>
          <p:cNvSpPr txBox="1"/>
          <p:nvPr/>
        </p:nvSpPr>
        <p:spPr>
          <a:xfrm>
            <a:off x="2750741" y="3597771"/>
            <a:ext cx="223024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Goal-based buying</a:t>
            </a:r>
            <a:endParaRPr lang="en-US" sz="800" dirty="0"/>
          </a:p>
        </p:txBody>
      </p:sp>
      <p:sp>
        <p:nvSpPr>
          <p:cNvPr id="36" name="Text 34"/>
          <p:cNvSpPr txBox="1"/>
          <p:nvPr/>
        </p:nvSpPr>
        <p:spPr>
          <a:xfrm>
            <a:off x="2750741" y="3855541"/>
            <a:ext cx="223024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Display-specific forecasting</a:t>
            </a:r>
            <a:endParaRPr lang="en-US" sz="800" dirty="0"/>
          </a:p>
        </p:txBody>
      </p:sp>
      <p:sp>
        <p:nvSpPr>
          <p:cNvPr id="37" name="Text 35"/>
          <p:cNvSpPr txBox="1"/>
          <p:nvPr/>
        </p:nvSpPr>
        <p:spPr>
          <a:xfrm>
            <a:off x="2750741" y="4113312"/>
            <a:ext cx="223024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Format-specific requirements</a:t>
            </a:r>
            <a:endParaRPr lang="en-US" sz="800" dirty="0"/>
          </a:p>
        </p:txBody>
      </p:sp>
      <p:sp>
        <p:nvSpPr>
          <p:cNvPr id="38" name="Text 36"/>
          <p:cNvSpPr txBox="1"/>
          <p:nvPr/>
        </p:nvSpPr>
        <p:spPr>
          <a:xfrm>
            <a:off x="2750741" y="4371082"/>
            <a:ext cx="223024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Performance model improvements</a:t>
            </a:r>
            <a:endParaRPr lang="en-US" sz="800" dirty="0"/>
          </a:p>
        </p:txBody>
      </p:sp>
      <p:sp>
        <p:nvSpPr>
          <p:cNvPr id="39" name="Text 37"/>
          <p:cNvSpPr txBox="1"/>
          <p:nvPr/>
        </p:nvSpPr>
        <p:spPr>
          <a:xfrm>
            <a:off x="5222180" y="3070721"/>
            <a:ext cx="6978765"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SOLVE ONCE ACROSS ADVERTISER EXPERIENCE</a:t>
            </a:r>
            <a:endParaRPr lang="en-US" sz="550" dirty="0"/>
          </a:p>
        </p:txBody>
      </p:sp>
      <p:sp>
        <p:nvSpPr>
          <p:cNvPr id="40" name="Text 38"/>
          <p:cNvSpPr txBox="1"/>
          <p:nvPr/>
        </p:nvSpPr>
        <p:spPr>
          <a:xfrm>
            <a:off x="5222180" y="3210421"/>
            <a:ext cx="6978765"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The connective tissue that makes them usable</a:t>
            </a:r>
            <a:endParaRPr lang="en-US" sz="1400" dirty="0"/>
          </a:p>
        </p:txBody>
      </p:sp>
      <p:sp>
        <p:nvSpPr>
          <p:cNvPr id="41" name="Text 39"/>
          <p:cNvSpPr txBox="1"/>
          <p:nvPr/>
        </p:nvSpPr>
        <p:spPr>
          <a:xfrm>
            <a:off x="5222180" y="3597771"/>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Navigation and IA</a:t>
            </a:r>
            <a:endParaRPr lang="en-US" sz="800" dirty="0"/>
          </a:p>
        </p:txBody>
      </p:sp>
      <p:sp>
        <p:nvSpPr>
          <p:cNvPr id="42" name="Text 40"/>
          <p:cNvSpPr txBox="1"/>
          <p:nvPr/>
        </p:nvSpPr>
        <p:spPr>
          <a:xfrm>
            <a:off x="5222180" y="3855541"/>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Campaign management patterns</a:t>
            </a:r>
            <a:endParaRPr lang="en-US" sz="800" dirty="0"/>
          </a:p>
        </p:txBody>
      </p:sp>
      <p:sp>
        <p:nvSpPr>
          <p:cNvPr id="43" name="Text 41"/>
          <p:cNvSpPr txBox="1"/>
          <p:nvPr/>
        </p:nvSpPr>
        <p:spPr>
          <a:xfrm>
            <a:off x="5222180" y="4113312"/>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Measurement and reporting</a:t>
            </a:r>
            <a:endParaRPr lang="en-US" sz="800" dirty="0"/>
          </a:p>
        </p:txBody>
      </p:sp>
      <p:sp>
        <p:nvSpPr>
          <p:cNvPr id="44" name="Text 42"/>
          <p:cNvSpPr txBox="1"/>
          <p:nvPr/>
        </p:nvSpPr>
        <p:spPr>
          <a:xfrm>
            <a:off x="5222180" y="4371082"/>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Audiences</a:t>
            </a:r>
            <a:endParaRPr lang="en-US" sz="800" dirty="0"/>
          </a:p>
        </p:txBody>
      </p:sp>
      <p:sp>
        <p:nvSpPr>
          <p:cNvPr id="45" name="Text 43"/>
          <p:cNvSpPr txBox="1"/>
          <p:nvPr/>
        </p:nvSpPr>
        <p:spPr>
          <a:xfrm>
            <a:off x="7435354" y="3597771"/>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Creative and assets</a:t>
            </a:r>
            <a:endParaRPr lang="en-US" sz="800" dirty="0"/>
          </a:p>
        </p:txBody>
      </p:sp>
      <p:sp>
        <p:nvSpPr>
          <p:cNvPr id="46" name="Text 44"/>
          <p:cNvSpPr txBox="1"/>
          <p:nvPr/>
        </p:nvSpPr>
        <p:spPr>
          <a:xfrm>
            <a:off x="7435354" y="3855541"/>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Recommendations</a:t>
            </a:r>
            <a:endParaRPr lang="en-US" sz="800" dirty="0"/>
          </a:p>
        </p:txBody>
      </p:sp>
      <p:sp>
        <p:nvSpPr>
          <p:cNvPr id="47" name="Text 45"/>
          <p:cNvSpPr txBox="1"/>
          <p:nvPr/>
        </p:nvSpPr>
        <p:spPr>
          <a:xfrm>
            <a:off x="7435354" y="4113312"/>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Experimentation</a:t>
            </a:r>
            <a:endParaRPr lang="en-US" sz="800" dirty="0"/>
          </a:p>
        </p:txBody>
      </p:sp>
      <p:sp>
        <p:nvSpPr>
          <p:cNvPr id="48" name="Text 46"/>
          <p:cNvSpPr txBox="1"/>
          <p:nvPr/>
        </p:nvSpPr>
        <p:spPr>
          <a:xfrm>
            <a:off x="7435354" y="4371082"/>
            <a:ext cx="2198203"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Diagnostics</a:t>
            </a:r>
            <a:endParaRPr lang="en-US" sz="800" dirty="0"/>
          </a:p>
        </p:txBody>
      </p:sp>
      <p:sp>
        <p:nvSpPr>
          <p:cNvPr id="49" name="Text 47"/>
          <p:cNvSpPr txBox="1"/>
          <p:nvPr/>
        </p:nvSpPr>
        <p:spPr>
          <a:xfrm>
            <a:off x="9648527" y="3597771"/>
            <a:ext cx="219831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Notifications</a:t>
            </a:r>
            <a:endParaRPr lang="en-US" sz="800" dirty="0"/>
          </a:p>
        </p:txBody>
      </p:sp>
      <p:sp>
        <p:nvSpPr>
          <p:cNvPr id="50" name="Text 48"/>
          <p:cNvSpPr txBox="1"/>
          <p:nvPr/>
        </p:nvSpPr>
        <p:spPr>
          <a:xfrm>
            <a:off x="9648527" y="3855541"/>
            <a:ext cx="219831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Forecasting patterns</a:t>
            </a:r>
            <a:endParaRPr lang="en-US" sz="800" dirty="0"/>
          </a:p>
        </p:txBody>
      </p:sp>
      <p:sp>
        <p:nvSpPr>
          <p:cNvPr id="51" name="Text 49"/>
          <p:cNvSpPr txBox="1"/>
          <p:nvPr/>
        </p:nvSpPr>
        <p:spPr>
          <a:xfrm>
            <a:off x="9648527" y="4113312"/>
            <a:ext cx="219831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Terminology</a:t>
            </a:r>
            <a:endParaRPr lang="en-US" sz="800" dirty="0"/>
          </a:p>
        </p:txBody>
      </p:sp>
      <p:sp>
        <p:nvSpPr>
          <p:cNvPr id="52" name="Text 50"/>
          <p:cNvSpPr txBox="1"/>
          <p:nvPr/>
        </p:nvSpPr>
        <p:spPr>
          <a:xfrm>
            <a:off x="9648527" y="4371082"/>
            <a:ext cx="219831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Controls and transparency</a:t>
            </a:r>
            <a:endParaRPr lang="en-US" sz="800" dirty="0"/>
          </a:p>
        </p:txBody>
      </p:sp>
      <p:sp>
        <p:nvSpPr>
          <p:cNvPr id="53" name="Text 51"/>
          <p:cNvSpPr txBox="1"/>
          <p:nvPr/>
        </p:nvSpPr>
        <p:spPr>
          <a:xfrm>
            <a:off x="508000" y="4927302"/>
            <a:ext cx="4652403" cy="206375"/>
          </a:xfrm>
          <a:prstGeom prst="rect">
            <a:avLst/>
          </a:prstGeom>
          <a:noFill/>
          <a:ln/>
        </p:spPr>
        <p:txBody>
          <a:bodyPr wrap="square" lIns="0" tIns="0" rIns="0" bIns="0" rtlCol="0" anchor="t"/>
          <a:lstStyle/>
          <a:p>
            <a:pPr algn="l" indent="0" marL="0">
              <a:lnSpc>
                <a:spcPts val="1625"/>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Display owns the capabilities that make Display perform.</a:t>
            </a:r>
            <a:endParaRPr lang="en-US" sz="1300" dirty="0"/>
          </a:p>
        </p:txBody>
      </p:sp>
      <p:sp>
        <p:nvSpPr>
          <p:cNvPr id="54" name="Text 52"/>
          <p:cNvSpPr txBox="1"/>
          <p:nvPr/>
        </p:nvSpPr>
        <p:spPr>
          <a:xfrm>
            <a:off x="5222180" y="4927302"/>
            <a:ext cx="6978765" cy="206375"/>
          </a:xfrm>
          <a:prstGeom prst="rect">
            <a:avLst/>
          </a:prstGeom>
          <a:noFill/>
          <a:ln/>
        </p:spPr>
        <p:txBody>
          <a:bodyPr wrap="square" lIns="0" tIns="0" rIns="0" bIns="0" rtlCol="0" anchor="t"/>
          <a:lstStyle/>
          <a:p>
            <a:pPr algn="l" indent="0" marL="0">
              <a:lnSpc>
                <a:spcPts val="1625"/>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Advertiser Experience owns the connective tissue that makes those capabilities usable.</a:t>
            </a:r>
            <a:endParaRPr lang="en-US" sz="1300" dirty="0"/>
          </a:p>
        </p:txBody>
      </p:sp>
      <p:pic>
        <p:nvPicPr>
          <p:cNvPr id="5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56" name="Text 53"/>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57" name="Text 5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06 / 15</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278930" cy="127000"/>
          </a:xfrm>
          <a:prstGeom prst="roundRect">
            <a:avLst>
              <a:gd name="adj" fmla="val 360000"/>
            </a:avLst>
          </a:prstGeom>
          <a:solidFill>
            <a:srgbClr val="D7EEF9"/>
          </a:solidFill>
          <a:ln/>
        </p:spPr>
      </p:sp>
      <p:sp>
        <p:nvSpPr>
          <p:cNvPr id="3" name="Shape 1"/>
          <p:cNvSpPr/>
          <p:nvPr/>
        </p:nvSpPr>
        <p:spPr>
          <a:xfrm>
            <a:off x="508000" y="2788642"/>
            <a:ext cx="3589834" cy="0"/>
          </a:xfrm>
          <a:prstGeom prst="line">
            <a:avLst/>
          </a:prstGeom>
          <a:noFill/>
          <a:ln w="6350">
            <a:solidFill>
              <a:srgbClr val="0053E2"/>
            </a:solidFill>
            <a:prstDash val="solid"/>
          </a:ln>
        </p:spPr>
      </p:sp>
      <p:sp>
        <p:nvSpPr>
          <p:cNvPr id="4" name="Shape 2"/>
          <p:cNvSpPr/>
          <p:nvPr/>
        </p:nvSpPr>
        <p:spPr>
          <a:xfrm>
            <a:off x="508000" y="3328392"/>
            <a:ext cx="3589834" cy="0"/>
          </a:xfrm>
          <a:prstGeom prst="line">
            <a:avLst/>
          </a:prstGeom>
          <a:noFill/>
          <a:ln w="6350">
            <a:solidFill>
              <a:srgbClr val="E4E8EF"/>
            </a:solidFill>
            <a:prstDash val="solid"/>
          </a:ln>
        </p:spPr>
      </p:sp>
      <p:sp>
        <p:nvSpPr>
          <p:cNvPr id="5" name="Shape 3"/>
          <p:cNvSpPr/>
          <p:nvPr/>
        </p:nvSpPr>
        <p:spPr>
          <a:xfrm>
            <a:off x="508000" y="3581995"/>
            <a:ext cx="3589834" cy="0"/>
          </a:xfrm>
          <a:prstGeom prst="line">
            <a:avLst/>
          </a:prstGeom>
          <a:noFill/>
          <a:ln w="6350">
            <a:solidFill>
              <a:srgbClr val="E4E8EF"/>
            </a:solidFill>
            <a:prstDash val="solid"/>
          </a:ln>
        </p:spPr>
      </p:sp>
      <p:sp>
        <p:nvSpPr>
          <p:cNvPr id="6" name="Shape 4"/>
          <p:cNvSpPr/>
          <p:nvPr/>
        </p:nvSpPr>
        <p:spPr>
          <a:xfrm>
            <a:off x="508000" y="3835598"/>
            <a:ext cx="3589834" cy="0"/>
          </a:xfrm>
          <a:prstGeom prst="line">
            <a:avLst/>
          </a:prstGeom>
          <a:noFill/>
          <a:ln w="6350">
            <a:solidFill>
              <a:srgbClr val="E4E8EF"/>
            </a:solidFill>
            <a:prstDash val="solid"/>
          </a:ln>
        </p:spPr>
      </p:sp>
      <p:sp>
        <p:nvSpPr>
          <p:cNvPr id="7" name="Shape 5"/>
          <p:cNvSpPr/>
          <p:nvPr/>
        </p:nvSpPr>
        <p:spPr>
          <a:xfrm>
            <a:off x="508000" y="4089202"/>
            <a:ext cx="3589834" cy="0"/>
          </a:xfrm>
          <a:prstGeom prst="line">
            <a:avLst/>
          </a:prstGeom>
          <a:noFill/>
          <a:ln w="6350">
            <a:solidFill>
              <a:srgbClr val="E4E8EF"/>
            </a:solidFill>
            <a:prstDash val="solid"/>
          </a:ln>
        </p:spPr>
      </p:sp>
      <p:sp>
        <p:nvSpPr>
          <p:cNvPr id="8" name="Shape 6"/>
          <p:cNvSpPr/>
          <p:nvPr/>
        </p:nvSpPr>
        <p:spPr>
          <a:xfrm>
            <a:off x="508000" y="4342805"/>
            <a:ext cx="3589834" cy="0"/>
          </a:xfrm>
          <a:prstGeom prst="line">
            <a:avLst/>
          </a:prstGeom>
          <a:noFill/>
          <a:ln w="6350">
            <a:solidFill>
              <a:srgbClr val="E4E8EF"/>
            </a:solidFill>
            <a:prstDash val="solid"/>
          </a:ln>
        </p:spPr>
      </p:sp>
      <p:sp>
        <p:nvSpPr>
          <p:cNvPr id="9" name="Shape 7"/>
          <p:cNvSpPr/>
          <p:nvPr/>
        </p:nvSpPr>
        <p:spPr>
          <a:xfrm>
            <a:off x="4301034" y="2788642"/>
            <a:ext cx="3589834" cy="0"/>
          </a:xfrm>
          <a:prstGeom prst="line">
            <a:avLst/>
          </a:prstGeom>
          <a:noFill/>
          <a:ln w="6350">
            <a:solidFill>
              <a:srgbClr val="0053E2"/>
            </a:solidFill>
            <a:prstDash val="solid"/>
          </a:ln>
        </p:spPr>
      </p:sp>
      <p:sp>
        <p:nvSpPr>
          <p:cNvPr id="10" name="Shape 8"/>
          <p:cNvSpPr/>
          <p:nvPr/>
        </p:nvSpPr>
        <p:spPr>
          <a:xfrm>
            <a:off x="4301034" y="3328392"/>
            <a:ext cx="3589834" cy="0"/>
          </a:xfrm>
          <a:prstGeom prst="line">
            <a:avLst/>
          </a:prstGeom>
          <a:noFill/>
          <a:ln w="6350">
            <a:solidFill>
              <a:srgbClr val="E4E8EF"/>
            </a:solidFill>
            <a:prstDash val="solid"/>
          </a:ln>
        </p:spPr>
      </p:sp>
      <p:sp>
        <p:nvSpPr>
          <p:cNvPr id="11" name="Shape 9"/>
          <p:cNvSpPr/>
          <p:nvPr/>
        </p:nvSpPr>
        <p:spPr>
          <a:xfrm>
            <a:off x="4301034" y="3581995"/>
            <a:ext cx="3589834" cy="0"/>
          </a:xfrm>
          <a:prstGeom prst="line">
            <a:avLst/>
          </a:prstGeom>
          <a:noFill/>
          <a:ln w="6350">
            <a:solidFill>
              <a:srgbClr val="E4E8EF"/>
            </a:solidFill>
            <a:prstDash val="solid"/>
          </a:ln>
        </p:spPr>
      </p:sp>
      <p:sp>
        <p:nvSpPr>
          <p:cNvPr id="12" name="Shape 10"/>
          <p:cNvSpPr/>
          <p:nvPr/>
        </p:nvSpPr>
        <p:spPr>
          <a:xfrm>
            <a:off x="4301034" y="3835598"/>
            <a:ext cx="3589834" cy="0"/>
          </a:xfrm>
          <a:prstGeom prst="line">
            <a:avLst/>
          </a:prstGeom>
          <a:noFill/>
          <a:ln w="6350">
            <a:solidFill>
              <a:srgbClr val="E4E8EF"/>
            </a:solidFill>
            <a:prstDash val="solid"/>
          </a:ln>
        </p:spPr>
      </p:sp>
      <p:sp>
        <p:nvSpPr>
          <p:cNvPr id="13" name="Shape 11"/>
          <p:cNvSpPr/>
          <p:nvPr/>
        </p:nvSpPr>
        <p:spPr>
          <a:xfrm>
            <a:off x="4301034" y="4089202"/>
            <a:ext cx="3589834" cy="0"/>
          </a:xfrm>
          <a:prstGeom prst="line">
            <a:avLst/>
          </a:prstGeom>
          <a:noFill/>
          <a:ln w="6350">
            <a:solidFill>
              <a:srgbClr val="E4E8EF"/>
            </a:solidFill>
            <a:prstDash val="solid"/>
          </a:ln>
        </p:spPr>
      </p:sp>
      <p:sp>
        <p:nvSpPr>
          <p:cNvPr id="14" name="Shape 12"/>
          <p:cNvSpPr/>
          <p:nvPr/>
        </p:nvSpPr>
        <p:spPr>
          <a:xfrm>
            <a:off x="8094067" y="2788642"/>
            <a:ext cx="3589834" cy="0"/>
          </a:xfrm>
          <a:prstGeom prst="line">
            <a:avLst/>
          </a:prstGeom>
          <a:noFill/>
          <a:ln w="6350">
            <a:solidFill>
              <a:srgbClr val="0053E2"/>
            </a:solidFill>
            <a:prstDash val="solid"/>
          </a:ln>
        </p:spPr>
      </p:sp>
      <p:sp>
        <p:nvSpPr>
          <p:cNvPr id="15" name="Shape 13"/>
          <p:cNvSpPr/>
          <p:nvPr/>
        </p:nvSpPr>
        <p:spPr>
          <a:xfrm>
            <a:off x="8094067" y="3328392"/>
            <a:ext cx="3589834" cy="0"/>
          </a:xfrm>
          <a:prstGeom prst="line">
            <a:avLst/>
          </a:prstGeom>
          <a:noFill/>
          <a:ln w="6350">
            <a:solidFill>
              <a:srgbClr val="E4E8EF"/>
            </a:solidFill>
            <a:prstDash val="solid"/>
          </a:ln>
        </p:spPr>
      </p:sp>
      <p:sp>
        <p:nvSpPr>
          <p:cNvPr id="16" name="Shape 14"/>
          <p:cNvSpPr/>
          <p:nvPr/>
        </p:nvSpPr>
        <p:spPr>
          <a:xfrm>
            <a:off x="8094067" y="3581995"/>
            <a:ext cx="3589834" cy="0"/>
          </a:xfrm>
          <a:prstGeom prst="line">
            <a:avLst/>
          </a:prstGeom>
          <a:noFill/>
          <a:ln w="6350">
            <a:solidFill>
              <a:srgbClr val="E4E8EF"/>
            </a:solidFill>
            <a:prstDash val="solid"/>
          </a:ln>
        </p:spPr>
      </p:sp>
      <p:sp>
        <p:nvSpPr>
          <p:cNvPr id="17" name="Shape 15"/>
          <p:cNvSpPr/>
          <p:nvPr/>
        </p:nvSpPr>
        <p:spPr>
          <a:xfrm>
            <a:off x="8094067" y="3835598"/>
            <a:ext cx="3589834" cy="0"/>
          </a:xfrm>
          <a:prstGeom prst="line">
            <a:avLst/>
          </a:prstGeom>
          <a:noFill/>
          <a:ln w="6350">
            <a:solidFill>
              <a:srgbClr val="E4E8EF"/>
            </a:solidFill>
            <a:prstDash val="solid"/>
          </a:ln>
        </p:spPr>
      </p:sp>
      <p:sp>
        <p:nvSpPr>
          <p:cNvPr id="18" name="Shape 16"/>
          <p:cNvSpPr/>
          <p:nvPr/>
        </p:nvSpPr>
        <p:spPr>
          <a:xfrm>
            <a:off x="8094067" y="4089202"/>
            <a:ext cx="3589834" cy="0"/>
          </a:xfrm>
          <a:prstGeom prst="line">
            <a:avLst/>
          </a:prstGeom>
          <a:noFill/>
          <a:ln w="6350">
            <a:solidFill>
              <a:srgbClr val="E4E8EF"/>
            </a:solidFill>
            <a:prstDash val="solid"/>
          </a:ln>
        </p:spPr>
      </p:sp>
      <p:sp>
        <p:nvSpPr>
          <p:cNvPr id="19" name="Shape 17"/>
          <p:cNvSpPr/>
          <p:nvPr/>
        </p:nvSpPr>
        <p:spPr>
          <a:xfrm>
            <a:off x="8094067" y="4342805"/>
            <a:ext cx="3589834" cy="0"/>
          </a:xfrm>
          <a:prstGeom prst="line">
            <a:avLst/>
          </a:prstGeom>
          <a:noFill/>
          <a:ln w="6350">
            <a:solidFill>
              <a:srgbClr val="E4E8EF"/>
            </a:solidFill>
            <a:prstDash val="solid"/>
          </a:ln>
        </p:spPr>
      </p:sp>
      <p:sp>
        <p:nvSpPr>
          <p:cNvPr id="20" name="Shape 18"/>
          <p:cNvSpPr/>
          <p:nvPr/>
        </p:nvSpPr>
        <p:spPr>
          <a:xfrm>
            <a:off x="508000" y="4850408"/>
            <a:ext cx="11176000" cy="0"/>
          </a:xfrm>
          <a:prstGeom prst="line">
            <a:avLst/>
          </a:prstGeom>
          <a:noFill/>
          <a:ln w="6350">
            <a:solidFill>
              <a:srgbClr val="0053E2"/>
            </a:solidFill>
            <a:prstDash val="solid"/>
          </a:ln>
        </p:spPr>
      </p:sp>
      <p:sp>
        <p:nvSpPr>
          <p:cNvPr id="21" name="Text 19"/>
          <p:cNvSpPr txBox="1"/>
          <p:nvPr/>
        </p:nvSpPr>
        <p:spPr>
          <a:xfrm>
            <a:off x="501650" y="971550"/>
            <a:ext cx="129163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NEAR-TERM DISPLAY RESET</a:t>
            </a:r>
            <a:endParaRPr lang="en-US" sz="500" dirty="0"/>
          </a:p>
        </p:txBody>
      </p:sp>
      <p:sp>
        <p:nvSpPr>
          <p:cNvPr id="22" name="Text 2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First, remove the friction we already know is hurting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Display</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3" name="Text 2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We do not need to wait for the future platform to improve today’s experience.</a:t>
            </a:r>
            <a:endParaRPr lang="en-US" sz="900" dirty="0"/>
          </a:p>
        </p:txBody>
      </p:sp>
      <p:sp>
        <p:nvSpPr>
          <p:cNvPr id="24" name="Text 22"/>
          <p:cNvSpPr txBox="1"/>
          <p:nvPr/>
        </p:nvSpPr>
        <p:spPr>
          <a:xfrm>
            <a:off x="508000" y="289341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01</a:t>
            </a:r>
            <a:endParaRPr lang="en-US" sz="550" dirty="0"/>
          </a:p>
        </p:txBody>
      </p:sp>
      <p:sp>
        <p:nvSpPr>
          <p:cNvPr id="25" name="Text 23"/>
          <p:cNvSpPr txBox="1"/>
          <p:nvPr/>
        </p:nvSpPr>
        <p:spPr>
          <a:xfrm>
            <a:off x="508000" y="3020417"/>
            <a:ext cx="387702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001E60"/>
                </a:solidFill>
                <a:latin typeface="Everyday Sans Headline Light" pitchFamily="34" charset="0"/>
                <a:ea typeface="Everyday Sans Headline Light" pitchFamily="34" charset="-122"/>
                <a:cs typeface="Everyday Sans Headline Light" pitchFamily="34" charset="-120"/>
              </a:rPr>
              <a:t>Simplify</a:t>
            </a:r>
            <a:endParaRPr lang="en-US" sz="1600" dirty="0"/>
          </a:p>
        </p:txBody>
      </p:sp>
      <p:sp>
        <p:nvSpPr>
          <p:cNvPr id="26" name="Text 24"/>
          <p:cNvSpPr txBox="1"/>
          <p:nvPr/>
        </p:nvSpPr>
        <p:spPr>
          <a:xfrm>
            <a:off x="508000" y="3382367"/>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Address known workflow friction</a:t>
            </a:r>
            <a:endParaRPr lang="en-US" sz="850" dirty="0"/>
          </a:p>
        </p:txBody>
      </p:sp>
      <p:sp>
        <p:nvSpPr>
          <p:cNvPr id="27" name="Text 25"/>
          <p:cNvSpPr txBox="1"/>
          <p:nvPr/>
        </p:nvSpPr>
        <p:spPr>
          <a:xfrm>
            <a:off x="508000" y="3635970"/>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Modernize campaign creation</a:t>
            </a:r>
            <a:endParaRPr lang="en-US" sz="850" dirty="0"/>
          </a:p>
        </p:txBody>
      </p:sp>
      <p:sp>
        <p:nvSpPr>
          <p:cNvPr id="28" name="Text 26"/>
          <p:cNvSpPr txBox="1"/>
          <p:nvPr/>
        </p:nvSpPr>
        <p:spPr>
          <a:xfrm>
            <a:off x="508000" y="3889573"/>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Resolve “Lost in the Shuffle” improvements</a:t>
            </a:r>
            <a:endParaRPr lang="en-US" sz="850" dirty="0"/>
          </a:p>
        </p:txBody>
      </p:sp>
      <p:sp>
        <p:nvSpPr>
          <p:cNvPr id="29" name="Text 27"/>
          <p:cNvSpPr txBox="1"/>
          <p:nvPr/>
        </p:nvSpPr>
        <p:spPr>
          <a:xfrm>
            <a:off x="508000" y="4143177"/>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Improve tables, editing and management</a:t>
            </a:r>
            <a:endParaRPr lang="en-US" sz="850" dirty="0"/>
          </a:p>
        </p:txBody>
      </p:sp>
      <p:sp>
        <p:nvSpPr>
          <p:cNvPr id="30" name="Text 28"/>
          <p:cNvSpPr txBox="1"/>
          <p:nvPr/>
        </p:nvSpPr>
        <p:spPr>
          <a:xfrm>
            <a:off x="508000" y="4396780"/>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Reduce unnecessary steps</a:t>
            </a:r>
            <a:endParaRPr lang="en-US" sz="850" dirty="0"/>
          </a:p>
        </p:txBody>
      </p:sp>
      <p:sp>
        <p:nvSpPr>
          <p:cNvPr id="31" name="Text 29"/>
          <p:cNvSpPr txBox="1"/>
          <p:nvPr/>
        </p:nvSpPr>
        <p:spPr>
          <a:xfrm>
            <a:off x="4301034" y="289341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02</a:t>
            </a:r>
            <a:endParaRPr lang="en-US" sz="550" dirty="0"/>
          </a:p>
        </p:txBody>
      </p:sp>
      <p:sp>
        <p:nvSpPr>
          <p:cNvPr id="32" name="Text 30"/>
          <p:cNvSpPr txBox="1"/>
          <p:nvPr/>
        </p:nvSpPr>
        <p:spPr>
          <a:xfrm>
            <a:off x="4301034" y="3020417"/>
            <a:ext cx="387702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001E60"/>
                </a:solidFill>
                <a:latin typeface="Everyday Sans Headline Light" pitchFamily="34" charset="0"/>
                <a:ea typeface="Everyday Sans Headline Light" pitchFamily="34" charset="-122"/>
                <a:cs typeface="Everyday Sans Headline Light" pitchFamily="34" charset="-120"/>
              </a:rPr>
              <a:t>Clarify</a:t>
            </a:r>
            <a:endParaRPr lang="en-US" sz="1600" dirty="0"/>
          </a:p>
        </p:txBody>
      </p:sp>
      <p:sp>
        <p:nvSpPr>
          <p:cNvPr id="33" name="Text 31"/>
          <p:cNvSpPr txBox="1"/>
          <p:nvPr/>
        </p:nvSpPr>
        <p:spPr>
          <a:xfrm>
            <a:off x="4301034" y="3382367"/>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Separate Offsite from Onsite Display</a:t>
            </a:r>
            <a:endParaRPr lang="en-US" sz="850" dirty="0"/>
          </a:p>
        </p:txBody>
      </p:sp>
      <p:sp>
        <p:nvSpPr>
          <p:cNvPr id="34" name="Text 32"/>
          <p:cNvSpPr txBox="1"/>
          <p:nvPr/>
        </p:nvSpPr>
        <p:spPr>
          <a:xfrm>
            <a:off x="4301034" y="3635970"/>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Simplify campaign goals and setup</a:t>
            </a:r>
            <a:endParaRPr lang="en-US" sz="850" dirty="0"/>
          </a:p>
        </p:txBody>
      </p:sp>
      <p:sp>
        <p:nvSpPr>
          <p:cNvPr id="35" name="Text 33"/>
          <p:cNvSpPr txBox="1"/>
          <p:nvPr/>
        </p:nvSpPr>
        <p:spPr>
          <a:xfrm>
            <a:off x="4301034" y="3889573"/>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Improve terminology</a:t>
            </a:r>
            <a:endParaRPr lang="en-US" sz="850" dirty="0"/>
          </a:p>
        </p:txBody>
      </p:sp>
      <p:sp>
        <p:nvSpPr>
          <p:cNvPr id="36" name="Text 34"/>
          <p:cNvSpPr txBox="1"/>
          <p:nvPr/>
        </p:nvSpPr>
        <p:spPr>
          <a:xfrm>
            <a:off x="4301034" y="4143177"/>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Make controls and automation clearer</a:t>
            </a:r>
            <a:endParaRPr lang="en-US" sz="850" dirty="0"/>
          </a:p>
        </p:txBody>
      </p:sp>
      <p:sp>
        <p:nvSpPr>
          <p:cNvPr id="37" name="Text 35"/>
          <p:cNvSpPr txBox="1"/>
          <p:nvPr/>
        </p:nvSpPr>
        <p:spPr>
          <a:xfrm>
            <a:off x="8094067" y="289341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03</a:t>
            </a:r>
            <a:endParaRPr lang="en-US" sz="550" dirty="0"/>
          </a:p>
        </p:txBody>
      </p:sp>
      <p:sp>
        <p:nvSpPr>
          <p:cNvPr id="38" name="Text 36"/>
          <p:cNvSpPr txBox="1"/>
          <p:nvPr/>
        </p:nvSpPr>
        <p:spPr>
          <a:xfrm>
            <a:off x="8094067" y="3020417"/>
            <a:ext cx="387702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001E60"/>
                </a:solidFill>
                <a:latin typeface="Everyday Sans Headline Light" pitchFamily="34" charset="0"/>
                <a:ea typeface="Everyday Sans Headline Light" pitchFamily="34" charset="-122"/>
                <a:cs typeface="Everyday Sans Headline Light" pitchFamily="34" charset="-120"/>
              </a:rPr>
              <a:t>Strengthen</a:t>
            </a:r>
            <a:endParaRPr lang="en-US" sz="1600" dirty="0"/>
          </a:p>
        </p:txBody>
      </p:sp>
      <p:sp>
        <p:nvSpPr>
          <p:cNvPr id="39" name="Text 37"/>
          <p:cNvSpPr txBox="1"/>
          <p:nvPr/>
        </p:nvSpPr>
        <p:spPr>
          <a:xfrm>
            <a:off x="8094067" y="3382367"/>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Goal-based buying</a:t>
            </a:r>
            <a:endParaRPr lang="en-US" sz="850" dirty="0"/>
          </a:p>
        </p:txBody>
      </p:sp>
      <p:sp>
        <p:nvSpPr>
          <p:cNvPr id="40" name="Text 38"/>
          <p:cNvSpPr txBox="1"/>
          <p:nvPr/>
        </p:nvSpPr>
        <p:spPr>
          <a:xfrm>
            <a:off x="8094067" y="3635970"/>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Better forecasting</a:t>
            </a:r>
            <a:endParaRPr lang="en-US" sz="850" dirty="0"/>
          </a:p>
        </p:txBody>
      </p:sp>
      <p:sp>
        <p:nvSpPr>
          <p:cNvPr id="41" name="Text 39"/>
          <p:cNvSpPr txBox="1"/>
          <p:nvPr/>
        </p:nvSpPr>
        <p:spPr>
          <a:xfrm>
            <a:off x="8094067" y="3889573"/>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More actionable recommendations</a:t>
            </a:r>
            <a:endParaRPr lang="en-US" sz="850" dirty="0"/>
          </a:p>
        </p:txBody>
      </p:sp>
      <p:sp>
        <p:nvSpPr>
          <p:cNvPr id="42" name="Text 40"/>
          <p:cNvSpPr txBox="1"/>
          <p:nvPr/>
        </p:nvSpPr>
        <p:spPr>
          <a:xfrm>
            <a:off x="8094067" y="4143177"/>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Stronger diagnostics</a:t>
            </a:r>
            <a:endParaRPr lang="en-US" sz="850" dirty="0"/>
          </a:p>
        </p:txBody>
      </p:sp>
      <p:sp>
        <p:nvSpPr>
          <p:cNvPr id="43" name="Text 41"/>
          <p:cNvSpPr txBox="1"/>
          <p:nvPr/>
        </p:nvSpPr>
        <p:spPr>
          <a:xfrm>
            <a:off x="8094067" y="4396780"/>
            <a:ext cx="3877020" cy="145733"/>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Clearer performance insights</a:t>
            </a:r>
            <a:endParaRPr lang="en-US" sz="850" dirty="0"/>
          </a:p>
        </p:txBody>
      </p:sp>
      <p:sp>
        <p:nvSpPr>
          <p:cNvPr id="44" name="Text 42"/>
          <p:cNvSpPr txBox="1"/>
          <p:nvPr/>
        </p:nvSpPr>
        <p:spPr>
          <a:xfrm>
            <a:off x="508000" y="5069483"/>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GUARDRAIL</a:t>
            </a:r>
            <a:endParaRPr lang="en-US" sz="550" dirty="0"/>
          </a:p>
        </p:txBody>
      </p:sp>
      <p:sp>
        <p:nvSpPr>
          <p:cNvPr id="45" name="Text 43"/>
          <p:cNvSpPr txBox="1"/>
          <p:nvPr/>
        </p:nvSpPr>
        <p:spPr>
          <a:xfrm>
            <a:off x="2108200" y="4955183"/>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Immediate improvements should reduce friction without creating another Display-specific experience we later have</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to unwind.</a:t>
            </a:r>
            <a:endParaRPr lang="en-US" sz="1400" dirty="0"/>
          </a:p>
        </p:txBody>
      </p:sp>
      <p:pic>
        <p:nvPicPr>
          <p:cNvPr id="4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7" name="Text 44"/>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48" name="Text 4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07 / 15</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585490" cy="127000"/>
          </a:xfrm>
          <a:prstGeom prst="roundRect">
            <a:avLst>
              <a:gd name="adj" fmla="val 360000"/>
            </a:avLst>
          </a:prstGeom>
          <a:solidFill>
            <a:srgbClr val="D7EEF9"/>
          </a:solidFill>
          <a:ln/>
        </p:spPr>
      </p:sp>
      <p:sp>
        <p:nvSpPr>
          <p:cNvPr id="3" name="Shape 1"/>
          <p:cNvSpPr/>
          <p:nvPr/>
        </p:nvSpPr>
        <p:spPr>
          <a:xfrm>
            <a:off x="1257300" y="3328194"/>
            <a:ext cx="1108075" cy="215900"/>
          </a:xfrm>
          <a:prstGeom prst="rect">
            <a:avLst/>
          </a:prstGeom>
          <a:solidFill>
            <a:srgbClr val="FFFFFF"/>
          </a:solidFill>
          <a:ln w="6350">
            <a:solidFill>
              <a:srgbClr val="E4E8EF"/>
            </a:solidFill>
            <a:prstDash val="solid"/>
          </a:ln>
        </p:spPr>
      </p:sp>
      <p:sp>
        <p:nvSpPr>
          <p:cNvPr id="4" name="Shape 2"/>
          <p:cNvSpPr/>
          <p:nvPr/>
        </p:nvSpPr>
        <p:spPr>
          <a:xfrm>
            <a:off x="2416175" y="3328194"/>
            <a:ext cx="1108075" cy="215900"/>
          </a:xfrm>
          <a:prstGeom prst="rect">
            <a:avLst/>
          </a:prstGeom>
          <a:solidFill>
            <a:srgbClr val="FFFFFF"/>
          </a:solidFill>
          <a:ln w="6350">
            <a:solidFill>
              <a:srgbClr val="E4E8EF"/>
            </a:solidFill>
            <a:prstDash val="solid"/>
          </a:ln>
        </p:spPr>
      </p:sp>
      <p:sp>
        <p:nvSpPr>
          <p:cNvPr id="5" name="Shape 3"/>
          <p:cNvSpPr/>
          <p:nvPr/>
        </p:nvSpPr>
        <p:spPr>
          <a:xfrm>
            <a:off x="3575050" y="3328194"/>
            <a:ext cx="1108075" cy="215900"/>
          </a:xfrm>
          <a:prstGeom prst="rect">
            <a:avLst/>
          </a:prstGeom>
          <a:solidFill>
            <a:srgbClr val="FFFFFF"/>
          </a:solidFill>
          <a:ln w="6350">
            <a:solidFill>
              <a:srgbClr val="E4E8EF"/>
            </a:solidFill>
            <a:prstDash val="solid"/>
          </a:ln>
        </p:spPr>
      </p:sp>
      <p:sp>
        <p:nvSpPr>
          <p:cNvPr id="6" name="Shape 4"/>
          <p:cNvSpPr/>
          <p:nvPr/>
        </p:nvSpPr>
        <p:spPr>
          <a:xfrm>
            <a:off x="4733925" y="3328194"/>
            <a:ext cx="1108075" cy="215900"/>
          </a:xfrm>
          <a:prstGeom prst="rect">
            <a:avLst/>
          </a:prstGeom>
          <a:solidFill>
            <a:srgbClr val="FFFFFF"/>
          </a:solidFill>
          <a:ln w="6350">
            <a:solidFill>
              <a:srgbClr val="E4E8EF"/>
            </a:solidFill>
            <a:prstDash val="solid"/>
          </a:ln>
        </p:spPr>
      </p:sp>
      <p:sp>
        <p:nvSpPr>
          <p:cNvPr id="7" name="Shape 5"/>
          <p:cNvSpPr/>
          <p:nvPr/>
        </p:nvSpPr>
        <p:spPr>
          <a:xfrm>
            <a:off x="1257300" y="3594894"/>
            <a:ext cx="1108075" cy="215900"/>
          </a:xfrm>
          <a:prstGeom prst="rect">
            <a:avLst/>
          </a:prstGeom>
          <a:solidFill>
            <a:srgbClr val="FFFFFF"/>
          </a:solidFill>
          <a:ln w="6350">
            <a:solidFill>
              <a:srgbClr val="E4E8EF"/>
            </a:solidFill>
            <a:prstDash val="solid"/>
          </a:ln>
        </p:spPr>
      </p:sp>
      <p:sp>
        <p:nvSpPr>
          <p:cNvPr id="8" name="Shape 6"/>
          <p:cNvSpPr/>
          <p:nvPr/>
        </p:nvSpPr>
        <p:spPr>
          <a:xfrm>
            <a:off x="2416175" y="3594894"/>
            <a:ext cx="1108075" cy="215900"/>
          </a:xfrm>
          <a:prstGeom prst="rect">
            <a:avLst/>
          </a:prstGeom>
          <a:solidFill>
            <a:srgbClr val="FFFFFF"/>
          </a:solidFill>
          <a:ln w="6350">
            <a:solidFill>
              <a:srgbClr val="E4E8EF"/>
            </a:solidFill>
            <a:prstDash val="solid"/>
          </a:ln>
        </p:spPr>
      </p:sp>
      <p:sp>
        <p:nvSpPr>
          <p:cNvPr id="9" name="Shape 7"/>
          <p:cNvSpPr/>
          <p:nvPr/>
        </p:nvSpPr>
        <p:spPr>
          <a:xfrm>
            <a:off x="3575050" y="3594894"/>
            <a:ext cx="1108075" cy="215900"/>
          </a:xfrm>
          <a:prstGeom prst="rect">
            <a:avLst/>
          </a:prstGeom>
          <a:solidFill>
            <a:srgbClr val="FFFFFF"/>
          </a:solidFill>
          <a:ln w="6350">
            <a:solidFill>
              <a:srgbClr val="E4E8EF"/>
            </a:solidFill>
            <a:prstDash val="solid"/>
          </a:ln>
        </p:spPr>
      </p:sp>
      <p:sp>
        <p:nvSpPr>
          <p:cNvPr id="10" name="Shape 8"/>
          <p:cNvSpPr/>
          <p:nvPr/>
        </p:nvSpPr>
        <p:spPr>
          <a:xfrm>
            <a:off x="4733925" y="3594894"/>
            <a:ext cx="1108075" cy="215900"/>
          </a:xfrm>
          <a:prstGeom prst="rect">
            <a:avLst/>
          </a:prstGeom>
          <a:solidFill>
            <a:srgbClr val="FFFFFF"/>
          </a:solidFill>
          <a:ln w="6350">
            <a:solidFill>
              <a:srgbClr val="E4E8EF"/>
            </a:solidFill>
            <a:prstDash val="solid"/>
          </a:ln>
        </p:spPr>
      </p:sp>
      <p:sp>
        <p:nvSpPr>
          <p:cNvPr id="11" name="Shape 9"/>
          <p:cNvSpPr/>
          <p:nvPr/>
        </p:nvSpPr>
        <p:spPr>
          <a:xfrm>
            <a:off x="1257300" y="3861594"/>
            <a:ext cx="1108075" cy="215900"/>
          </a:xfrm>
          <a:prstGeom prst="rect">
            <a:avLst/>
          </a:prstGeom>
          <a:solidFill>
            <a:srgbClr val="FFFFFF"/>
          </a:solidFill>
          <a:ln w="6350">
            <a:solidFill>
              <a:srgbClr val="E4E8EF"/>
            </a:solidFill>
            <a:prstDash val="solid"/>
          </a:ln>
        </p:spPr>
      </p:sp>
      <p:sp>
        <p:nvSpPr>
          <p:cNvPr id="12" name="Shape 10"/>
          <p:cNvSpPr/>
          <p:nvPr/>
        </p:nvSpPr>
        <p:spPr>
          <a:xfrm>
            <a:off x="2416175" y="3861594"/>
            <a:ext cx="1108075" cy="215900"/>
          </a:xfrm>
          <a:prstGeom prst="rect">
            <a:avLst/>
          </a:prstGeom>
          <a:solidFill>
            <a:srgbClr val="FFFFFF"/>
          </a:solidFill>
          <a:ln w="6350">
            <a:solidFill>
              <a:srgbClr val="E4E8EF"/>
            </a:solidFill>
            <a:prstDash val="solid"/>
          </a:ln>
        </p:spPr>
      </p:sp>
      <p:sp>
        <p:nvSpPr>
          <p:cNvPr id="13" name="Shape 11"/>
          <p:cNvSpPr/>
          <p:nvPr/>
        </p:nvSpPr>
        <p:spPr>
          <a:xfrm>
            <a:off x="3575050" y="3861594"/>
            <a:ext cx="1108075" cy="215900"/>
          </a:xfrm>
          <a:prstGeom prst="rect">
            <a:avLst/>
          </a:prstGeom>
          <a:solidFill>
            <a:srgbClr val="FFFFFF"/>
          </a:solidFill>
          <a:ln w="6350">
            <a:solidFill>
              <a:srgbClr val="E4E8EF"/>
            </a:solidFill>
            <a:prstDash val="solid"/>
          </a:ln>
        </p:spPr>
      </p:sp>
      <p:sp>
        <p:nvSpPr>
          <p:cNvPr id="14" name="Shape 12"/>
          <p:cNvSpPr/>
          <p:nvPr/>
        </p:nvSpPr>
        <p:spPr>
          <a:xfrm>
            <a:off x="4733925" y="3861594"/>
            <a:ext cx="1108075" cy="215900"/>
          </a:xfrm>
          <a:prstGeom prst="rect">
            <a:avLst/>
          </a:prstGeom>
          <a:solidFill>
            <a:srgbClr val="FFFFFF"/>
          </a:solidFill>
          <a:ln w="6350">
            <a:solidFill>
              <a:srgbClr val="E4E8EF"/>
            </a:solidFill>
            <a:prstDash val="solid"/>
          </a:ln>
        </p:spPr>
      </p:sp>
      <p:sp>
        <p:nvSpPr>
          <p:cNvPr id="15" name="Shape 13"/>
          <p:cNvSpPr/>
          <p:nvPr/>
        </p:nvSpPr>
        <p:spPr>
          <a:xfrm>
            <a:off x="1257300" y="4128294"/>
            <a:ext cx="1108075" cy="215900"/>
          </a:xfrm>
          <a:prstGeom prst="rect">
            <a:avLst/>
          </a:prstGeom>
          <a:solidFill>
            <a:srgbClr val="FFFFFF"/>
          </a:solidFill>
          <a:ln w="6350">
            <a:solidFill>
              <a:srgbClr val="E4E8EF"/>
            </a:solidFill>
            <a:prstDash val="solid"/>
          </a:ln>
        </p:spPr>
      </p:sp>
      <p:sp>
        <p:nvSpPr>
          <p:cNvPr id="16" name="Shape 14"/>
          <p:cNvSpPr/>
          <p:nvPr/>
        </p:nvSpPr>
        <p:spPr>
          <a:xfrm>
            <a:off x="2416175" y="4128294"/>
            <a:ext cx="1108075" cy="215900"/>
          </a:xfrm>
          <a:prstGeom prst="rect">
            <a:avLst/>
          </a:prstGeom>
          <a:solidFill>
            <a:srgbClr val="FFFFFF"/>
          </a:solidFill>
          <a:ln w="6350">
            <a:solidFill>
              <a:srgbClr val="E4E8EF"/>
            </a:solidFill>
            <a:prstDash val="solid"/>
          </a:ln>
        </p:spPr>
      </p:sp>
      <p:sp>
        <p:nvSpPr>
          <p:cNvPr id="17" name="Shape 15"/>
          <p:cNvSpPr/>
          <p:nvPr/>
        </p:nvSpPr>
        <p:spPr>
          <a:xfrm>
            <a:off x="3575050" y="4128294"/>
            <a:ext cx="1108075" cy="215900"/>
          </a:xfrm>
          <a:prstGeom prst="rect">
            <a:avLst/>
          </a:prstGeom>
          <a:solidFill>
            <a:srgbClr val="FFFFFF"/>
          </a:solidFill>
          <a:ln w="6350">
            <a:solidFill>
              <a:srgbClr val="E4E8EF"/>
            </a:solidFill>
            <a:prstDash val="solid"/>
          </a:ln>
        </p:spPr>
      </p:sp>
      <p:sp>
        <p:nvSpPr>
          <p:cNvPr id="18" name="Shape 16"/>
          <p:cNvSpPr/>
          <p:nvPr/>
        </p:nvSpPr>
        <p:spPr>
          <a:xfrm>
            <a:off x="6350000" y="3277394"/>
            <a:ext cx="5334000" cy="762000"/>
          </a:xfrm>
          <a:prstGeom prst="rect">
            <a:avLst/>
          </a:prstGeom>
          <a:solidFill>
            <a:srgbClr val="0053E2">
              <a:alpha val="5000"/>
            </a:srgbClr>
          </a:solidFill>
          <a:ln/>
        </p:spPr>
      </p:sp>
      <p:sp>
        <p:nvSpPr>
          <p:cNvPr id="19" name="Shape 17"/>
          <p:cNvSpPr/>
          <p:nvPr/>
        </p:nvSpPr>
        <p:spPr>
          <a:xfrm>
            <a:off x="6350000" y="3283744"/>
            <a:ext cx="5334000" cy="0"/>
          </a:xfrm>
          <a:prstGeom prst="line">
            <a:avLst/>
          </a:prstGeom>
          <a:noFill/>
          <a:ln w="12700">
            <a:solidFill>
              <a:srgbClr val="0053E2"/>
            </a:solidFill>
            <a:prstDash val="solid"/>
          </a:ln>
        </p:spPr>
      </p:sp>
      <p:sp>
        <p:nvSpPr>
          <p:cNvPr id="20" name="Shape 18"/>
          <p:cNvSpPr/>
          <p:nvPr/>
        </p:nvSpPr>
        <p:spPr>
          <a:xfrm>
            <a:off x="6464300" y="3404394"/>
            <a:ext cx="1110655" cy="234950"/>
          </a:xfrm>
          <a:prstGeom prst="rect">
            <a:avLst/>
          </a:prstGeom>
          <a:solidFill>
            <a:srgbClr val="FFFFFF"/>
          </a:solidFill>
          <a:ln w="6350">
            <a:solidFill>
              <a:srgbClr val="0053E2">
                <a:alpha val="35000"/>
              </a:srgbClr>
            </a:solidFill>
            <a:prstDash val="solid"/>
          </a:ln>
        </p:spPr>
      </p:sp>
      <p:sp>
        <p:nvSpPr>
          <p:cNvPr id="21" name="Shape 19"/>
          <p:cNvSpPr/>
          <p:nvPr/>
        </p:nvSpPr>
        <p:spPr>
          <a:xfrm>
            <a:off x="7625755" y="3404394"/>
            <a:ext cx="579537" cy="234950"/>
          </a:xfrm>
          <a:prstGeom prst="rect">
            <a:avLst/>
          </a:prstGeom>
          <a:solidFill>
            <a:srgbClr val="FFFFFF"/>
          </a:solidFill>
          <a:ln w="6350">
            <a:solidFill>
              <a:srgbClr val="0053E2">
                <a:alpha val="35000"/>
              </a:srgbClr>
            </a:solidFill>
            <a:prstDash val="solid"/>
          </a:ln>
        </p:spPr>
      </p:sp>
      <p:sp>
        <p:nvSpPr>
          <p:cNvPr id="22" name="Shape 20"/>
          <p:cNvSpPr/>
          <p:nvPr/>
        </p:nvSpPr>
        <p:spPr>
          <a:xfrm>
            <a:off x="8256091" y="3404394"/>
            <a:ext cx="1177826" cy="234950"/>
          </a:xfrm>
          <a:prstGeom prst="rect">
            <a:avLst/>
          </a:prstGeom>
          <a:solidFill>
            <a:srgbClr val="FFFFFF"/>
          </a:solidFill>
          <a:ln w="6350">
            <a:solidFill>
              <a:srgbClr val="0053E2">
                <a:alpha val="35000"/>
              </a:srgbClr>
            </a:solidFill>
            <a:prstDash val="solid"/>
          </a:ln>
        </p:spPr>
      </p:sp>
      <p:sp>
        <p:nvSpPr>
          <p:cNvPr id="23" name="Shape 21"/>
          <p:cNvSpPr/>
          <p:nvPr/>
        </p:nvSpPr>
        <p:spPr>
          <a:xfrm>
            <a:off x="9484717" y="3404394"/>
            <a:ext cx="825897" cy="234950"/>
          </a:xfrm>
          <a:prstGeom prst="rect">
            <a:avLst/>
          </a:prstGeom>
          <a:solidFill>
            <a:srgbClr val="FFFFFF"/>
          </a:solidFill>
          <a:ln w="6350">
            <a:solidFill>
              <a:srgbClr val="0053E2">
                <a:alpha val="35000"/>
              </a:srgbClr>
            </a:solidFill>
            <a:prstDash val="solid"/>
          </a:ln>
        </p:spPr>
      </p:sp>
      <p:sp>
        <p:nvSpPr>
          <p:cNvPr id="24" name="Shape 22"/>
          <p:cNvSpPr/>
          <p:nvPr/>
        </p:nvSpPr>
        <p:spPr>
          <a:xfrm>
            <a:off x="10361414" y="3404394"/>
            <a:ext cx="829965" cy="234950"/>
          </a:xfrm>
          <a:prstGeom prst="rect">
            <a:avLst/>
          </a:prstGeom>
          <a:solidFill>
            <a:srgbClr val="FFFFFF"/>
          </a:solidFill>
          <a:ln w="6350">
            <a:solidFill>
              <a:srgbClr val="0053E2">
                <a:alpha val="35000"/>
              </a:srgbClr>
            </a:solidFill>
            <a:prstDash val="solid"/>
          </a:ln>
        </p:spPr>
      </p:sp>
      <p:sp>
        <p:nvSpPr>
          <p:cNvPr id="25" name="Shape 23"/>
          <p:cNvSpPr/>
          <p:nvPr/>
        </p:nvSpPr>
        <p:spPr>
          <a:xfrm>
            <a:off x="6464300" y="3690144"/>
            <a:ext cx="634305" cy="234950"/>
          </a:xfrm>
          <a:prstGeom prst="rect">
            <a:avLst/>
          </a:prstGeom>
          <a:solidFill>
            <a:srgbClr val="FFFFFF"/>
          </a:solidFill>
          <a:ln w="6350">
            <a:solidFill>
              <a:srgbClr val="0053E2">
                <a:alpha val="35000"/>
              </a:srgbClr>
            </a:solidFill>
            <a:prstDash val="solid"/>
          </a:ln>
        </p:spPr>
      </p:sp>
      <p:sp>
        <p:nvSpPr>
          <p:cNvPr id="26" name="Shape 24"/>
          <p:cNvSpPr/>
          <p:nvPr/>
        </p:nvSpPr>
        <p:spPr>
          <a:xfrm>
            <a:off x="7149405" y="3690144"/>
            <a:ext cx="1462187" cy="234950"/>
          </a:xfrm>
          <a:prstGeom prst="rect">
            <a:avLst/>
          </a:prstGeom>
          <a:solidFill>
            <a:srgbClr val="FFFFFF"/>
          </a:solidFill>
          <a:ln w="6350">
            <a:solidFill>
              <a:srgbClr val="0053E2">
                <a:alpha val="35000"/>
              </a:srgbClr>
            </a:solidFill>
            <a:prstDash val="solid"/>
          </a:ln>
        </p:spPr>
      </p:sp>
      <p:sp>
        <p:nvSpPr>
          <p:cNvPr id="27" name="Shape 25"/>
          <p:cNvSpPr/>
          <p:nvPr/>
        </p:nvSpPr>
        <p:spPr>
          <a:xfrm>
            <a:off x="6350000" y="4118769"/>
            <a:ext cx="1026120" cy="0"/>
          </a:xfrm>
          <a:prstGeom prst="line">
            <a:avLst/>
          </a:prstGeom>
          <a:noFill/>
          <a:ln w="6350">
            <a:solidFill>
              <a:srgbClr val="E4E8EF"/>
            </a:solidFill>
            <a:prstDash val="solid"/>
          </a:ln>
        </p:spPr>
      </p:sp>
      <p:sp>
        <p:nvSpPr>
          <p:cNvPr id="28" name="Shape 26"/>
          <p:cNvSpPr/>
          <p:nvPr/>
        </p:nvSpPr>
        <p:spPr>
          <a:xfrm>
            <a:off x="7426920" y="4118769"/>
            <a:ext cx="1026120" cy="0"/>
          </a:xfrm>
          <a:prstGeom prst="line">
            <a:avLst/>
          </a:prstGeom>
          <a:noFill/>
          <a:ln w="6350">
            <a:solidFill>
              <a:srgbClr val="E4E8EF"/>
            </a:solidFill>
            <a:prstDash val="solid"/>
          </a:ln>
        </p:spPr>
      </p:sp>
      <p:sp>
        <p:nvSpPr>
          <p:cNvPr id="29" name="Shape 27"/>
          <p:cNvSpPr/>
          <p:nvPr/>
        </p:nvSpPr>
        <p:spPr>
          <a:xfrm>
            <a:off x="8503841" y="4118769"/>
            <a:ext cx="1026120" cy="0"/>
          </a:xfrm>
          <a:prstGeom prst="line">
            <a:avLst/>
          </a:prstGeom>
          <a:noFill/>
          <a:ln w="6350">
            <a:solidFill>
              <a:srgbClr val="E4E8EF"/>
            </a:solidFill>
            <a:prstDash val="solid"/>
          </a:ln>
        </p:spPr>
      </p:sp>
      <p:sp>
        <p:nvSpPr>
          <p:cNvPr id="30" name="Shape 28"/>
          <p:cNvSpPr/>
          <p:nvPr/>
        </p:nvSpPr>
        <p:spPr>
          <a:xfrm>
            <a:off x="9580761" y="4118769"/>
            <a:ext cx="1026120" cy="0"/>
          </a:xfrm>
          <a:prstGeom prst="line">
            <a:avLst/>
          </a:prstGeom>
          <a:noFill/>
          <a:ln w="6350">
            <a:solidFill>
              <a:srgbClr val="E4E8EF"/>
            </a:solidFill>
            <a:prstDash val="solid"/>
          </a:ln>
        </p:spPr>
      </p:sp>
      <p:sp>
        <p:nvSpPr>
          <p:cNvPr id="31" name="Shape 29"/>
          <p:cNvSpPr/>
          <p:nvPr/>
        </p:nvSpPr>
        <p:spPr>
          <a:xfrm>
            <a:off x="10657681" y="4118769"/>
            <a:ext cx="1026120" cy="0"/>
          </a:xfrm>
          <a:prstGeom prst="line">
            <a:avLst/>
          </a:prstGeom>
          <a:noFill/>
          <a:ln w="6350">
            <a:solidFill>
              <a:srgbClr val="E4E8EF"/>
            </a:solidFill>
            <a:prstDash val="solid"/>
          </a:ln>
        </p:spPr>
      </p:sp>
      <p:sp>
        <p:nvSpPr>
          <p:cNvPr id="32" name="Shape 30"/>
          <p:cNvSpPr/>
          <p:nvPr/>
        </p:nvSpPr>
        <p:spPr>
          <a:xfrm>
            <a:off x="508000" y="4601369"/>
            <a:ext cx="11176000" cy="0"/>
          </a:xfrm>
          <a:prstGeom prst="line">
            <a:avLst/>
          </a:prstGeom>
          <a:noFill/>
          <a:ln w="6350">
            <a:solidFill>
              <a:srgbClr val="0053E2"/>
            </a:solidFill>
            <a:prstDash val="solid"/>
          </a:ln>
        </p:spPr>
      </p:sp>
      <p:sp>
        <p:nvSpPr>
          <p:cNvPr id="33" name="Text 31"/>
          <p:cNvSpPr txBox="1"/>
          <p:nvPr/>
        </p:nvSpPr>
        <p:spPr>
          <a:xfrm>
            <a:off x="501650" y="971550"/>
            <a:ext cx="59819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SHIFT</a:t>
            </a:r>
            <a:endParaRPr lang="en-US" sz="500" dirty="0"/>
          </a:p>
        </p:txBody>
      </p:sp>
      <p:sp>
        <p:nvSpPr>
          <p:cNvPr id="34" name="Text 32"/>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Then we stop rebuilding the same capabilities channel by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channel</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35" name="Text 33"/>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Many of the capabilities Display needs are the same capabilities Sponsored, Offsite, Marketplace and future channels need.</a:t>
            </a:r>
            <a:endParaRPr lang="en-US" sz="900" dirty="0"/>
          </a:p>
        </p:txBody>
      </p:sp>
      <p:sp>
        <p:nvSpPr>
          <p:cNvPr id="36" name="Text 34"/>
          <p:cNvSpPr txBox="1"/>
          <p:nvPr/>
        </p:nvSpPr>
        <p:spPr>
          <a:xfrm>
            <a:off x="508000" y="3099594"/>
            <a:ext cx="57607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 · CHANNEL-CENTRIC</a:t>
            </a:r>
            <a:endParaRPr lang="en-US" sz="550" dirty="0"/>
          </a:p>
        </p:txBody>
      </p:sp>
      <p:sp>
        <p:nvSpPr>
          <p:cNvPr id="37" name="Text 35"/>
          <p:cNvSpPr txBox="1"/>
          <p:nvPr/>
        </p:nvSpPr>
        <p:spPr>
          <a:xfrm>
            <a:off x="508000" y="3375819"/>
            <a:ext cx="850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Sponsored</a:t>
            </a:r>
            <a:endParaRPr lang="en-US" sz="750" dirty="0"/>
          </a:p>
        </p:txBody>
      </p:sp>
      <p:sp>
        <p:nvSpPr>
          <p:cNvPr id="38" name="Text 36"/>
          <p:cNvSpPr txBox="1"/>
          <p:nvPr/>
        </p:nvSpPr>
        <p:spPr>
          <a:xfrm>
            <a:off x="1250950" y="33853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Campaigns</a:t>
            </a:r>
            <a:endParaRPr lang="en-US" sz="650" dirty="0"/>
          </a:p>
        </p:txBody>
      </p:sp>
      <p:sp>
        <p:nvSpPr>
          <p:cNvPr id="39" name="Text 37"/>
          <p:cNvSpPr txBox="1"/>
          <p:nvPr/>
        </p:nvSpPr>
        <p:spPr>
          <a:xfrm>
            <a:off x="2409825" y="33853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Audiences</a:t>
            </a:r>
            <a:endParaRPr lang="en-US" sz="650" dirty="0"/>
          </a:p>
        </p:txBody>
      </p:sp>
      <p:sp>
        <p:nvSpPr>
          <p:cNvPr id="40" name="Text 38"/>
          <p:cNvSpPr txBox="1"/>
          <p:nvPr/>
        </p:nvSpPr>
        <p:spPr>
          <a:xfrm>
            <a:off x="3568700" y="33853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Reporting</a:t>
            </a:r>
            <a:endParaRPr lang="en-US" sz="650" dirty="0"/>
          </a:p>
        </p:txBody>
      </p:sp>
      <p:sp>
        <p:nvSpPr>
          <p:cNvPr id="41" name="Text 39"/>
          <p:cNvSpPr txBox="1"/>
          <p:nvPr/>
        </p:nvSpPr>
        <p:spPr>
          <a:xfrm>
            <a:off x="4727575" y="33853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Recommendations</a:t>
            </a:r>
            <a:endParaRPr lang="en-US" sz="650" dirty="0"/>
          </a:p>
        </p:txBody>
      </p:sp>
      <p:sp>
        <p:nvSpPr>
          <p:cNvPr id="42" name="Text 40"/>
          <p:cNvSpPr txBox="1"/>
          <p:nvPr/>
        </p:nvSpPr>
        <p:spPr>
          <a:xfrm>
            <a:off x="508000" y="3642519"/>
            <a:ext cx="850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Display</a:t>
            </a:r>
            <a:endParaRPr lang="en-US" sz="750" dirty="0"/>
          </a:p>
        </p:txBody>
      </p:sp>
      <p:sp>
        <p:nvSpPr>
          <p:cNvPr id="43" name="Text 41"/>
          <p:cNvSpPr txBox="1"/>
          <p:nvPr/>
        </p:nvSpPr>
        <p:spPr>
          <a:xfrm>
            <a:off x="1250950" y="36520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Campaigns</a:t>
            </a:r>
            <a:endParaRPr lang="en-US" sz="650" dirty="0"/>
          </a:p>
        </p:txBody>
      </p:sp>
      <p:sp>
        <p:nvSpPr>
          <p:cNvPr id="44" name="Text 42"/>
          <p:cNvSpPr txBox="1"/>
          <p:nvPr/>
        </p:nvSpPr>
        <p:spPr>
          <a:xfrm>
            <a:off x="2409825" y="36520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Audiences</a:t>
            </a:r>
            <a:endParaRPr lang="en-US" sz="650" dirty="0"/>
          </a:p>
        </p:txBody>
      </p:sp>
      <p:sp>
        <p:nvSpPr>
          <p:cNvPr id="45" name="Text 43"/>
          <p:cNvSpPr txBox="1"/>
          <p:nvPr/>
        </p:nvSpPr>
        <p:spPr>
          <a:xfrm>
            <a:off x="3568700" y="36520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Reporting</a:t>
            </a:r>
            <a:endParaRPr lang="en-US" sz="650" dirty="0"/>
          </a:p>
        </p:txBody>
      </p:sp>
      <p:sp>
        <p:nvSpPr>
          <p:cNvPr id="46" name="Text 44"/>
          <p:cNvSpPr txBox="1"/>
          <p:nvPr/>
        </p:nvSpPr>
        <p:spPr>
          <a:xfrm>
            <a:off x="4727575" y="36520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Recommendations</a:t>
            </a:r>
            <a:endParaRPr lang="en-US" sz="650" dirty="0"/>
          </a:p>
        </p:txBody>
      </p:sp>
      <p:sp>
        <p:nvSpPr>
          <p:cNvPr id="47" name="Text 45"/>
          <p:cNvSpPr txBox="1"/>
          <p:nvPr/>
        </p:nvSpPr>
        <p:spPr>
          <a:xfrm>
            <a:off x="508000" y="3909219"/>
            <a:ext cx="850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Offsite</a:t>
            </a:r>
            <a:endParaRPr lang="en-US" sz="750" dirty="0"/>
          </a:p>
        </p:txBody>
      </p:sp>
      <p:sp>
        <p:nvSpPr>
          <p:cNvPr id="48" name="Text 46"/>
          <p:cNvSpPr txBox="1"/>
          <p:nvPr/>
        </p:nvSpPr>
        <p:spPr>
          <a:xfrm>
            <a:off x="1250950" y="39187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Campaigns</a:t>
            </a:r>
            <a:endParaRPr lang="en-US" sz="650" dirty="0"/>
          </a:p>
        </p:txBody>
      </p:sp>
      <p:sp>
        <p:nvSpPr>
          <p:cNvPr id="49" name="Text 47"/>
          <p:cNvSpPr txBox="1"/>
          <p:nvPr/>
        </p:nvSpPr>
        <p:spPr>
          <a:xfrm>
            <a:off x="2409825" y="39187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Audiences</a:t>
            </a:r>
            <a:endParaRPr lang="en-US" sz="650" dirty="0"/>
          </a:p>
        </p:txBody>
      </p:sp>
      <p:sp>
        <p:nvSpPr>
          <p:cNvPr id="50" name="Text 48"/>
          <p:cNvSpPr txBox="1"/>
          <p:nvPr/>
        </p:nvSpPr>
        <p:spPr>
          <a:xfrm>
            <a:off x="3568700" y="39187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Reporting</a:t>
            </a:r>
            <a:endParaRPr lang="en-US" sz="650" dirty="0"/>
          </a:p>
        </p:txBody>
      </p:sp>
      <p:sp>
        <p:nvSpPr>
          <p:cNvPr id="51" name="Text 49"/>
          <p:cNvSpPr txBox="1"/>
          <p:nvPr/>
        </p:nvSpPr>
        <p:spPr>
          <a:xfrm>
            <a:off x="4727575" y="39187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Recommendations</a:t>
            </a:r>
            <a:endParaRPr lang="en-US" sz="650" dirty="0"/>
          </a:p>
        </p:txBody>
      </p:sp>
      <p:sp>
        <p:nvSpPr>
          <p:cNvPr id="52" name="Text 50"/>
          <p:cNvSpPr txBox="1"/>
          <p:nvPr/>
        </p:nvSpPr>
        <p:spPr>
          <a:xfrm>
            <a:off x="508000" y="4175919"/>
            <a:ext cx="850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Seller</a:t>
            </a:r>
            <a:endParaRPr lang="en-US" sz="750" dirty="0"/>
          </a:p>
        </p:txBody>
      </p:sp>
      <p:sp>
        <p:nvSpPr>
          <p:cNvPr id="53" name="Text 51"/>
          <p:cNvSpPr txBox="1"/>
          <p:nvPr/>
        </p:nvSpPr>
        <p:spPr>
          <a:xfrm>
            <a:off x="1250950" y="41854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Campaigns</a:t>
            </a:r>
            <a:endParaRPr lang="en-US" sz="650" dirty="0"/>
          </a:p>
        </p:txBody>
      </p:sp>
      <p:sp>
        <p:nvSpPr>
          <p:cNvPr id="54" name="Text 52"/>
          <p:cNvSpPr txBox="1"/>
          <p:nvPr/>
        </p:nvSpPr>
        <p:spPr>
          <a:xfrm>
            <a:off x="2409825" y="41854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Reporting</a:t>
            </a:r>
            <a:endParaRPr lang="en-US" sz="650" dirty="0"/>
          </a:p>
        </p:txBody>
      </p:sp>
      <p:sp>
        <p:nvSpPr>
          <p:cNvPr id="55" name="Text 53"/>
          <p:cNvSpPr txBox="1"/>
          <p:nvPr/>
        </p:nvSpPr>
        <p:spPr>
          <a:xfrm>
            <a:off x="3568700" y="4185444"/>
            <a:ext cx="1120775" cy="101600"/>
          </a:xfrm>
          <a:prstGeom prst="rect">
            <a:avLst/>
          </a:prstGeom>
          <a:noFill/>
          <a:ln/>
        </p:spPr>
        <p:txBody>
          <a:bodyPr wrap="square" lIns="0" tIns="0" rIns="0" bIns="0" rtlCol="0" anchor="t"/>
          <a:lstStyle/>
          <a:p>
            <a:pPr algn="ctr" indent="0" marL="0">
              <a:lnSpc>
                <a:spcPts val="780"/>
              </a:lnSpc>
              <a:buNone/>
            </a:pPr>
            <a:r>
              <a:rPr lang="en-US" sz="650" dirty="0">
                <a:solidFill>
                  <a:srgbClr val="3D4A63"/>
                </a:solidFill>
                <a:latin typeface="Everyday Sans UI" pitchFamily="34" charset="0"/>
                <a:ea typeface="Everyday Sans UI" pitchFamily="34" charset="-122"/>
                <a:cs typeface="Everyday Sans UI" pitchFamily="34" charset="-120"/>
              </a:rPr>
              <a:t>Recommendations</a:t>
            </a:r>
            <a:endParaRPr lang="en-US" sz="650" dirty="0"/>
          </a:p>
        </p:txBody>
      </p:sp>
      <p:sp>
        <p:nvSpPr>
          <p:cNvPr id="56" name="Text 54"/>
          <p:cNvSpPr txBox="1"/>
          <p:nvPr/>
        </p:nvSpPr>
        <p:spPr>
          <a:xfrm>
            <a:off x="6350000" y="3099594"/>
            <a:ext cx="57607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 SHARED EXPERIENCE FOUNDATION</a:t>
            </a:r>
            <a:endParaRPr lang="en-US" sz="550" dirty="0"/>
          </a:p>
        </p:txBody>
      </p:sp>
      <p:sp>
        <p:nvSpPr>
          <p:cNvPr id="57" name="Text 55"/>
          <p:cNvSpPr txBox="1"/>
          <p:nvPr/>
        </p:nvSpPr>
        <p:spPr>
          <a:xfrm>
            <a:off x="6546850" y="3461544"/>
            <a:ext cx="1097955"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Campaign management</a:t>
            </a:r>
            <a:endParaRPr lang="en-US" sz="750" dirty="0"/>
          </a:p>
        </p:txBody>
      </p:sp>
      <p:sp>
        <p:nvSpPr>
          <p:cNvPr id="58" name="Text 56"/>
          <p:cNvSpPr txBox="1"/>
          <p:nvPr/>
        </p:nvSpPr>
        <p:spPr>
          <a:xfrm>
            <a:off x="7708305" y="3461544"/>
            <a:ext cx="566837"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Audiences</a:t>
            </a:r>
            <a:endParaRPr lang="en-US" sz="750" dirty="0"/>
          </a:p>
        </p:txBody>
      </p:sp>
      <p:sp>
        <p:nvSpPr>
          <p:cNvPr id="59" name="Text 57"/>
          <p:cNvSpPr txBox="1"/>
          <p:nvPr/>
        </p:nvSpPr>
        <p:spPr>
          <a:xfrm>
            <a:off x="8338641" y="3461544"/>
            <a:ext cx="1165126"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Measurement + reporting</a:t>
            </a:r>
            <a:endParaRPr lang="en-US" sz="750" dirty="0"/>
          </a:p>
        </p:txBody>
      </p:sp>
      <p:sp>
        <p:nvSpPr>
          <p:cNvPr id="60" name="Text 58"/>
          <p:cNvSpPr txBox="1"/>
          <p:nvPr/>
        </p:nvSpPr>
        <p:spPr>
          <a:xfrm>
            <a:off x="9567267" y="3461544"/>
            <a:ext cx="813197"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Creative + assets</a:t>
            </a:r>
            <a:endParaRPr lang="en-US" sz="750" dirty="0"/>
          </a:p>
        </p:txBody>
      </p:sp>
      <p:sp>
        <p:nvSpPr>
          <p:cNvPr id="61" name="Text 59"/>
          <p:cNvSpPr txBox="1"/>
          <p:nvPr/>
        </p:nvSpPr>
        <p:spPr>
          <a:xfrm>
            <a:off x="10443964" y="3461544"/>
            <a:ext cx="817265"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Experimentation</a:t>
            </a:r>
            <a:endParaRPr lang="en-US" sz="750" dirty="0"/>
          </a:p>
        </p:txBody>
      </p:sp>
      <p:sp>
        <p:nvSpPr>
          <p:cNvPr id="62" name="Text 60"/>
          <p:cNvSpPr txBox="1"/>
          <p:nvPr/>
        </p:nvSpPr>
        <p:spPr>
          <a:xfrm>
            <a:off x="6546850" y="3747294"/>
            <a:ext cx="621605"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Forecasting</a:t>
            </a:r>
            <a:endParaRPr lang="en-US" sz="750" dirty="0"/>
          </a:p>
        </p:txBody>
      </p:sp>
      <p:sp>
        <p:nvSpPr>
          <p:cNvPr id="63" name="Text 61"/>
          <p:cNvSpPr txBox="1"/>
          <p:nvPr/>
        </p:nvSpPr>
        <p:spPr>
          <a:xfrm>
            <a:off x="7231955" y="3747294"/>
            <a:ext cx="1449487" cy="120650"/>
          </a:xfrm>
          <a:prstGeom prst="rect">
            <a:avLst/>
          </a:prstGeom>
          <a:noFill/>
          <a:ln/>
        </p:spPr>
        <p:txBody>
          <a:bodyPr wrap="square" lIns="0" tIns="0" rIns="0" bIns="0" rtlCol="0" anchor="t"/>
          <a:lstStyle/>
          <a:p>
            <a:pPr algn="l" indent="0" marL="0">
              <a:lnSpc>
                <a:spcPts val="900"/>
              </a:lnSpc>
              <a:buNone/>
            </a:pPr>
            <a:r>
              <a:rPr lang="en-US" sz="750" dirty="0">
                <a:solidFill>
                  <a:srgbClr val="0053E2"/>
                </a:solidFill>
                <a:latin typeface="Everyday Sans UI Medium" pitchFamily="34" charset="0"/>
                <a:ea typeface="Everyday Sans UI Medium" pitchFamily="34" charset="-122"/>
                <a:cs typeface="Everyday Sans UI Medium" pitchFamily="34" charset="-120"/>
              </a:rPr>
              <a:t>Recommendations + intelligence</a:t>
            </a:r>
            <a:endParaRPr lang="en-US" sz="750" dirty="0"/>
          </a:p>
        </p:txBody>
      </p:sp>
      <p:sp>
        <p:nvSpPr>
          <p:cNvPr id="64" name="Text 62"/>
          <p:cNvSpPr txBox="1"/>
          <p:nvPr/>
        </p:nvSpPr>
        <p:spPr>
          <a:xfrm>
            <a:off x="6350000" y="4185444"/>
            <a:ext cx="117852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Sponsored</a:t>
            </a:r>
            <a:endParaRPr lang="en-US" sz="750" dirty="0"/>
          </a:p>
        </p:txBody>
      </p:sp>
      <p:sp>
        <p:nvSpPr>
          <p:cNvPr id="65" name="Text 63"/>
          <p:cNvSpPr txBox="1"/>
          <p:nvPr/>
        </p:nvSpPr>
        <p:spPr>
          <a:xfrm>
            <a:off x="7426920" y="4185444"/>
            <a:ext cx="117852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Display</a:t>
            </a:r>
            <a:endParaRPr lang="en-US" sz="750" dirty="0"/>
          </a:p>
        </p:txBody>
      </p:sp>
      <p:sp>
        <p:nvSpPr>
          <p:cNvPr id="66" name="Text 64"/>
          <p:cNvSpPr txBox="1"/>
          <p:nvPr/>
        </p:nvSpPr>
        <p:spPr>
          <a:xfrm>
            <a:off x="8503841" y="4185444"/>
            <a:ext cx="117852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Offsite</a:t>
            </a:r>
            <a:endParaRPr lang="en-US" sz="750" dirty="0"/>
          </a:p>
        </p:txBody>
      </p:sp>
      <p:sp>
        <p:nvSpPr>
          <p:cNvPr id="67" name="Text 65"/>
          <p:cNvSpPr txBox="1"/>
          <p:nvPr/>
        </p:nvSpPr>
        <p:spPr>
          <a:xfrm>
            <a:off x="9580761" y="4185444"/>
            <a:ext cx="117852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Marketplace</a:t>
            </a:r>
            <a:endParaRPr lang="en-US" sz="750" dirty="0"/>
          </a:p>
        </p:txBody>
      </p:sp>
      <p:sp>
        <p:nvSpPr>
          <p:cNvPr id="68" name="Text 66"/>
          <p:cNvSpPr txBox="1"/>
          <p:nvPr/>
        </p:nvSpPr>
        <p:spPr>
          <a:xfrm>
            <a:off x="10657681" y="4185444"/>
            <a:ext cx="117852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Future channels</a:t>
            </a:r>
            <a:endParaRPr lang="en-US" sz="750" dirty="0"/>
          </a:p>
        </p:txBody>
      </p:sp>
      <p:sp>
        <p:nvSpPr>
          <p:cNvPr id="69" name="Text 67"/>
          <p:cNvSpPr txBox="1"/>
          <p:nvPr/>
        </p:nvSpPr>
        <p:spPr>
          <a:xfrm>
            <a:off x="508000" y="4820444"/>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PRINCIPLE</a:t>
            </a:r>
            <a:endParaRPr lang="en-US" sz="550" dirty="0"/>
          </a:p>
        </p:txBody>
      </p:sp>
      <p:sp>
        <p:nvSpPr>
          <p:cNvPr id="70" name="Text 68"/>
          <p:cNvSpPr txBox="1"/>
          <p:nvPr/>
        </p:nvSpPr>
        <p:spPr>
          <a:xfrm>
            <a:off x="2108200" y="4706144"/>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Build the common job once. Adapt it where the channel genuinely requires it.</a:t>
            </a:r>
            <a:endParaRPr lang="en-US" sz="1400" dirty="0"/>
          </a:p>
        </p:txBody>
      </p:sp>
      <p:pic>
        <p:nvPicPr>
          <p:cNvPr id="71"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72" name="Text 69"/>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73" name="Text 70"/>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08 / 15</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28440" cy="127000"/>
          </a:xfrm>
          <a:prstGeom prst="roundRect">
            <a:avLst>
              <a:gd name="adj" fmla="val 360000"/>
            </a:avLst>
          </a:prstGeom>
          <a:solidFill>
            <a:srgbClr val="D7EEF9"/>
          </a:solidFill>
          <a:ln/>
        </p:spPr>
      </p:sp>
      <p:sp>
        <p:nvSpPr>
          <p:cNvPr id="3" name="Shape 1"/>
          <p:cNvSpPr/>
          <p:nvPr/>
        </p:nvSpPr>
        <p:spPr>
          <a:xfrm>
            <a:off x="508000" y="3293070"/>
            <a:ext cx="1524000" cy="0"/>
          </a:xfrm>
          <a:prstGeom prst="line">
            <a:avLst/>
          </a:prstGeom>
          <a:noFill/>
          <a:ln w="6350">
            <a:solidFill>
              <a:srgbClr val="E4E8EF"/>
            </a:solidFill>
            <a:prstDash val="solid"/>
          </a:ln>
        </p:spPr>
      </p:sp>
      <p:sp>
        <p:nvSpPr>
          <p:cNvPr id="4" name="Shape 2"/>
          <p:cNvSpPr/>
          <p:nvPr/>
        </p:nvSpPr>
        <p:spPr>
          <a:xfrm>
            <a:off x="2133600" y="3293070"/>
            <a:ext cx="1524000" cy="0"/>
          </a:xfrm>
          <a:prstGeom prst="line">
            <a:avLst/>
          </a:prstGeom>
          <a:noFill/>
          <a:ln w="6350">
            <a:solidFill>
              <a:srgbClr val="E4E8EF"/>
            </a:solidFill>
            <a:prstDash val="solid"/>
          </a:ln>
        </p:spPr>
      </p:sp>
      <p:sp>
        <p:nvSpPr>
          <p:cNvPr id="5" name="Shape 3"/>
          <p:cNvSpPr/>
          <p:nvPr/>
        </p:nvSpPr>
        <p:spPr>
          <a:xfrm>
            <a:off x="3759200" y="3293070"/>
            <a:ext cx="1524000" cy="0"/>
          </a:xfrm>
          <a:prstGeom prst="line">
            <a:avLst/>
          </a:prstGeom>
          <a:noFill/>
          <a:ln w="6350">
            <a:solidFill>
              <a:srgbClr val="E4E8EF"/>
            </a:solidFill>
            <a:prstDash val="solid"/>
          </a:ln>
        </p:spPr>
      </p:sp>
      <p:sp>
        <p:nvSpPr>
          <p:cNvPr id="6" name="Shape 4"/>
          <p:cNvSpPr/>
          <p:nvPr/>
        </p:nvSpPr>
        <p:spPr>
          <a:xfrm>
            <a:off x="5384800" y="3293070"/>
            <a:ext cx="1524000" cy="0"/>
          </a:xfrm>
          <a:prstGeom prst="line">
            <a:avLst/>
          </a:prstGeom>
          <a:noFill/>
          <a:ln w="6350">
            <a:solidFill>
              <a:srgbClr val="E4E8EF"/>
            </a:solidFill>
            <a:prstDash val="solid"/>
          </a:ln>
        </p:spPr>
      </p:sp>
      <p:sp>
        <p:nvSpPr>
          <p:cNvPr id="7" name="Shape 5"/>
          <p:cNvSpPr/>
          <p:nvPr/>
        </p:nvSpPr>
        <p:spPr>
          <a:xfrm>
            <a:off x="7010400" y="3293070"/>
            <a:ext cx="1524000" cy="0"/>
          </a:xfrm>
          <a:prstGeom prst="line">
            <a:avLst/>
          </a:prstGeom>
          <a:noFill/>
          <a:ln w="6350">
            <a:solidFill>
              <a:srgbClr val="E4E8EF"/>
            </a:solidFill>
            <a:prstDash val="solid"/>
          </a:ln>
        </p:spPr>
      </p:sp>
      <p:sp>
        <p:nvSpPr>
          <p:cNvPr id="8" name="Shape 6"/>
          <p:cNvSpPr/>
          <p:nvPr/>
        </p:nvSpPr>
        <p:spPr>
          <a:xfrm>
            <a:off x="8636000" y="3293070"/>
            <a:ext cx="1524000" cy="0"/>
          </a:xfrm>
          <a:prstGeom prst="line">
            <a:avLst/>
          </a:prstGeom>
          <a:noFill/>
          <a:ln w="6350">
            <a:solidFill>
              <a:srgbClr val="E4E8EF"/>
            </a:solidFill>
            <a:prstDash val="solid"/>
          </a:ln>
        </p:spPr>
      </p:sp>
      <p:sp>
        <p:nvSpPr>
          <p:cNvPr id="9" name="Shape 7"/>
          <p:cNvSpPr/>
          <p:nvPr/>
        </p:nvSpPr>
        <p:spPr>
          <a:xfrm>
            <a:off x="508000" y="4270970"/>
            <a:ext cx="2336800" cy="0"/>
          </a:xfrm>
          <a:prstGeom prst="line">
            <a:avLst/>
          </a:prstGeom>
          <a:noFill/>
          <a:ln w="6350">
            <a:solidFill>
              <a:srgbClr val="0053E2"/>
            </a:solidFill>
            <a:prstDash val="solid"/>
          </a:ln>
        </p:spPr>
      </p:sp>
      <p:sp>
        <p:nvSpPr>
          <p:cNvPr id="10" name="Shape 8"/>
          <p:cNvSpPr/>
          <p:nvPr/>
        </p:nvSpPr>
        <p:spPr>
          <a:xfrm>
            <a:off x="2946400" y="4270970"/>
            <a:ext cx="2336800" cy="0"/>
          </a:xfrm>
          <a:prstGeom prst="line">
            <a:avLst/>
          </a:prstGeom>
          <a:noFill/>
          <a:ln w="6350">
            <a:solidFill>
              <a:srgbClr val="0053E2"/>
            </a:solidFill>
            <a:prstDash val="solid"/>
          </a:ln>
        </p:spPr>
      </p:sp>
      <p:sp>
        <p:nvSpPr>
          <p:cNvPr id="11" name="Shape 9"/>
          <p:cNvSpPr/>
          <p:nvPr/>
        </p:nvSpPr>
        <p:spPr>
          <a:xfrm>
            <a:off x="5384800" y="4270970"/>
            <a:ext cx="2336800" cy="0"/>
          </a:xfrm>
          <a:prstGeom prst="line">
            <a:avLst/>
          </a:prstGeom>
          <a:noFill/>
          <a:ln w="6350">
            <a:solidFill>
              <a:srgbClr val="0053E2"/>
            </a:solidFill>
            <a:prstDash val="solid"/>
          </a:ln>
        </p:spPr>
      </p:sp>
      <p:sp>
        <p:nvSpPr>
          <p:cNvPr id="12" name="Shape 10"/>
          <p:cNvSpPr/>
          <p:nvPr/>
        </p:nvSpPr>
        <p:spPr>
          <a:xfrm>
            <a:off x="7823200" y="4270970"/>
            <a:ext cx="2336800" cy="0"/>
          </a:xfrm>
          <a:prstGeom prst="line">
            <a:avLst/>
          </a:prstGeom>
          <a:noFill/>
          <a:ln w="6350">
            <a:solidFill>
              <a:srgbClr val="0053E2"/>
            </a:solidFill>
            <a:prstDash val="solid"/>
          </a:ln>
        </p:spPr>
      </p:sp>
      <p:sp>
        <p:nvSpPr>
          <p:cNvPr id="13" name="Shape 11"/>
          <p:cNvSpPr/>
          <p:nvPr/>
        </p:nvSpPr>
        <p:spPr>
          <a:xfrm>
            <a:off x="508000" y="4893270"/>
            <a:ext cx="5384800" cy="0"/>
          </a:xfrm>
          <a:prstGeom prst="line">
            <a:avLst/>
          </a:prstGeom>
          <a:noFill/>
          <a:ln w="6350">
            <a:solidFill>
              <a:srgbClr val="E4E8EF"/>
            </a:solidFill>
            <a:prstDash val="solid"/>
          </a:ln>
        </p:spPr>
      </p:sp>
      <p:sp>
        <p:nvSpPr>
          <p:cNvPr id="14" name="Shape 12"/>
          <p:cNvSpPr/>
          <p:nvPr/>
        </p:nvSpPr>
        <p:spPr>
          <a:xfrm>
            <a:off x="6299200" y="4893270"/>
            <a:ext cx="5384800" cy="0"/>
          </a:xfrm>
          <a:prstGeom prst="line">
            <a:avLst/>
          </a:prstGeom>
          <a:noFill/>
          <a:ln w="6350">
            <a:solidFill>
              <a:srgbClr val="E4E8EF"/>
            </a:solidFill>
            <a:prstDash val="solid"/>
          </a:ln>
        </p:spPr>
      </p:sp>
      <p:sp>
        <p:nvSpPr>
          <p:cNvPr id="15" name="Text 13"/>
          <p:cNvSpPr txBox="1"/>
          <p:nvPr/>
        </p:nvSpPr>
        <p:spPr>
          <a:xfrm>
            <a:off x="501650" y="971550"/>
            <a:ext cx="134114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ONE EXAMPLE: MEASUREMENT</a:t>
            </a:r>
            <a:endParaRPr lang="en-US" sz="500" dirty="0"/>
          </a:p>
        </p:txBody>
      </p:sp>
      <p:sp>
        <p:nvSpPr>
          <p:cNvPr id="16" name="Text 1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Advertisers shouldn’t have to learn where Walmart put the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answer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7" name="Text 1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Measurement is a clear example of how a shared capability improves Display immediately while eliminating fragmentation across the portfolio.</a:t>
            </a:r>
            <a:endParaRPr lang="en-US" sz="900" dirty="0"/>
          </a:p>
        </p:txBody>
      </p:sp>
      <p:sp>
        <p:nvSpPr>
          <p:cNvPr id="18" name="Text 16"/>
          <p:cNvSpPr txBox="1"/>
          <p:nvPr/>
        </p:nvSpPr>
        <p:spPr>
          <a:xfrm>
            <a:off x="508000" y="2858095"/>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 · FIND THE ANSWER FIRST</a:t>
            </a:r>
            <a:endParaRPr lang="en-US" sz="550" dirty="0"/>
          </a:p>
        </p:txBody>
      </p:sp>
      <p:sp>
        <p:nvSpPr>
          <p:cNvPr id="19" name="Text 17"/>
          <p:cNvSpPr txBox="1"/>
          <p:nvPr/>
        </p:nvSpPr>
        <p:spPr>
          <a:xfrm>
            <a:off x="1925834" y="33406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0" name="Text 18"/>
          <p:cNvSpPr txBox="1"/>
          <p:nvPr/>
        </p:nvSpPr>
        <p:spPr>
          <a:xfrm>
            <a:off x="508000" y="3385145"/>
            <a:ext cx="149860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Campaign</a:t>
            </a:r>
            <a:endParaRPr lang="en-US" sz="900" dirty="0"/>
          </a:p>
        </p:txBody>
      </p:sp>
      <p:sp>
        <p:nvSpPr>
          <p:cNvPr id="21" name="Text 19"/>
          <p:cNvSpPr txBox="1"/>
          <p:nvPr/>
        </p:nvSpPr>
        <p:spPr>
          <a:xfrm>
            <a:off x="3551434" y="33406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2" name="Text 20"/>
          <p:cNvSpPr txBox="1"/>
          <p:nvPr/>
        </p:nvSpPr>
        <p:spPr>
          <a:xfrm>
            <a:off x="2133600" y="3385145"/>
            <a:ext cx="149860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Channel</a:t>
            </a:r>
            <a:endParaRPr lang="en-US" sz="900" dirty="0"/>
          </a:p>
        </p:txBody>
      </p:sp>
      <p:sp>
        <p:nvSpPr>
          <p:cNvPr id="23" name="Text 21"/>
          <p:cNvSpPr txBox="1"/>
          <p:nvPr/>
        </p:nvSpPr>
        <p:spPr>
          <a:xfrm>
            <a:off x="5177034" y="33406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4" name="Text 22"/>
          <p:cNvSpPr txBox="1"/>
          <p:nvPr/>
        </p:nvSpPr>
        <p:spPr>
          <a:xfrm>
            <a:off x="3759200" y="3385145"/>
            <a:ext cx="149860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Reporting destination</a:t>
            </a:r>
            <a:endParaRPr lang="en-US" sz="900" dirty="0"/>
          </a:p>
        </p:txBody>
      </p:sp>
      <p:sp>
        <p:nvSpPr>
          <p:cNvPr id="25" name="Text 23"/>
          <p:cNvSpPr txBox="1"/>
          <p:nvPr/>
        </p:nvSpPr>
        <p:spPr>
          <a:xfrm>
            <a:off x="6802634" y="33406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6" name="Text 24"/>
          <p:cNvSpPr txBox="1"/>
          <p:nvPr/>
        </p:nvSpPr>
        <p:spPr>
          <a:xfrm>
            <a:off x="5384800" y="3385145"/>
            <a:ext cx="149860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Metric</a:t>
            </a:r>
            <a:endParaRPr lang="en-US" sz="900" dirty="0"/>
          </a:p>
        </p:txBody>
      </p:sp>
      <p:sp>
        <p:nvSpPr>
          <p:cNvPr id="27" name="Text 25"/>
          <p:cNvSpPr txBox="1"/>
          <p:nvPr/>
        </p:nvSpPr>
        <p:spPr>
          <a:xfrm>
            <a:off x="8428234" y="33406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8" name="Text 26"/>
          <p:cNvSpPr txBox="1"/>
          <p:nvPr/>
        </p:nvSpPr>
        <p:spPr>
          <a:xfrm>
            <a:off x="7010400" y="3385145"/>
            <a:ext cx="149860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Interpretation</a:t>
            </a:r>
            <a:endParaRPr lang="en-US" sz="900" dirty="0"/>
          </a:p>
        </p:txBody>
      </p:sp>
      <p:sp>
        <p:nvSpPr>
          <p:cNvPr id="29" name="Text 27"/>
          <p:cNvSpPr txBox="1"/>
          <p:nvPr/>
        </p:nvSpPr>
        <p:spPr>
          <a:xfrm>
            <a:off x="8636000" y="3385145"/>
            <a:ext cx="149860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Action</a:t>
            </a:r>
            <a:endParaRPr lang="en-US" sz="900" dirty="0"/>
          </a:p>
        </p:txBody>
      </p:sp>
      <p:sp>
        <p:nvSpPr>
          <p:cNvPr id="30" name="Text 28"/>
          <p:cNvSpPr txBox="1"/>
          <p:nvPr/>
        </p:nvSpPr>
        <p:spPr>
          <a:xfrm>
            <a:off x="508000" y="3835995"/>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 UNIFIED MEASUREMENT + REPORTING HUB</a:t>
            </a:r>
            <a:endParaRPr lang="en-US" sz="550" dirty="0"/>
          </a:p>
        </p:txBody>
      </p:sp>
      <p:sp>
        <p:nvSpPr>
          <p:cNvPr id="31" name="Text 29"/>
          <p:cNvSpPr txBox="1"/>
          <p:nvPr/>
        </p:nvSpPr>
        <p:spPr>
          <a:xfrm>
            <a:off x="2738634" y="43185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2" name="Text 30"/>
          <p:cNvSpPr txBox="1"/>
          <p:nvPr/>
        </p:nvSpPr>
        <p:spPr>
          <a:xfrm>
            <a:off x="508000" y="4363045"/>
            <a:ext cx="233172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53E2"/>
                </a:solidFill>
                <a:latin typeface="Everyday Sans Headline Light" pitchFamily="34" charset="0"/>
                <a:ea typeface="Everyday Sans Headline Light" pitchFamily="34" charset="-122"/>
                <a:cs typeface="Everyday Sans Headline Light" pitchFamily="34" charset="-120"/>
              </a:rPr>
              <a:t>What happened?</a:t>
            </a:r>
            <a:endParaRPr lang="en-US" sz="1400" dirty="0"/>
          </a:p>
        </p:txBody>
      </p:sp>
      <p:sp>
        <p:nvSpPr>
          <p:cNvPr id="33" name="Text 31"/>
          <p:cNvSpPr txBox="1"/>
          <p:nvPr/>
        </p:nvSpPr>
        <p:spPr>
          <a:xfrm>
            <a:off x="5177034" y="43185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4" name="Text 32"/>
          <p:cNvSpPr txBox="1"/>
          <p:nvPr/>
        </p:nvSpPr>
        <p:spPr>
          <a:xfrm>
            <a:off x="2946400" y="4363045"/>
            <a:ext cx="233172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53E2"/>
                </a:solidFill>
                <a:latin typeface="Everyday Sans Headline Light" pitchFamily="34" charset="0"/>
                <a:ea typeface="Everyday Sans Headline Light" pitchFamily="34" charset="-122"/>
                <a:cs typeface="Everyday Sans Headline Light" pitchFamily="34" charset="-120"/>
              </a:rPr>
              <a:t>Why?</a:t>
            </a:r>
            <a:endParaRPr lang="en-US" sz="1400" dirty="0"/>
          </a:p>
        </p:txBody>
      </p:sp>
      <p:sp>
        <p:nvSpPr>
          <p:cNvPr id="35" name="Text 33"/>
          <p:cNvSpPr txBox="1"/>
          <p:nvPr/>
        </p:nvSpPr>
        <p:spPr>
          <a:xfrm>
            <a:off x="7615434" y="431859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6" name="Text 34"/>
          <p:cNvSpPr txBox="1"/>
          <p:nvPr/>
        </p:nvSpPr>
        <p:spPr>
          <a:xfrm>
            <a:off x="5384800" y="4363045"/>
            <a:ext cx="233172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53E2"/>
                </a:solidFill>
                <a:latin typeface="Everyday Sans Headline Light" pitchFamily="34" charset="0"/>
                <a:ea typeface="Everyday Sans Headline Light" pitchFamily="34" charset="-122"/>
                <a:cs typeface="Everyday Sans Headline Light" pitchFamily="34" charset="-120"/>
              </a:rPr>
              <a:t>What should I do?</a:t>
            </a:r>
            <a:endParaRPr lang="en-US" sz="1400" dirty="0"/>
          </a:p>
        </p:txBody>
      </p:sp>
      <p:sp>
        <p:nvSpPr>
          <p:cNvPr id="37" name="Text 35"/>
          <p:cNvSpPr txBox="1"/>
          <p:nvPr/>
        </p:nvSpPr>
        <p:spPr>
          <a:xfrm>
            <a:off x="7823200" y="4363045"/>
            <a:ext cx="2331720" cy="222250"/>
          </a:xfrm>
          <a:prstGeom prst="rect">
            <a:avLst/>
          </a:prstGeom>
          <a:noFill/>
          <a:ln/>
        </p:spPr>
        <p:txBody>
          <a:bodyPr wrap="square" lIns="0" tIns="0" rIns="0" bIns="0" rtlCol="0" anchor="t"/>
          <a:lstStyle/>
          <a:p>
            <a:pPr algn="l" indent="0" marL="0">
              <a:lnSpc>
                <a:spcPts val="1680"/>
              </a:lnSpc>
              <a:buNone/>
            </a:pPr>
            <a:r>
              <a:rPr lang="en-US" sz="1400" spc="-42" kern="0" dirty="0">
                <a:solidFill>
                  <a:srgbClr val="0053E2"/>
                </a:solidFill>
                <a:latin typeface="Everyday Sans Headline Light" pitchFamily="34" charset="0"/>
                <a:ea typeface="Everyday Sans Headline Light" pitchFamily="34" charset="-122"/>
                <a:cs typeface="Everyday Sans Headline Light" pitchFamily="34" charset="-120"/>
              </a:rPr>
              <a:t>Take action</a:t>
            </a:r>
            <a:endParaRPr lang="en-US" sz="1400" dirty="0"/>
          </a:p>
        </p:txBody>
      </p:sp>
      <p:sp>
        <p:nvSpPr>
          <p:cNvPr id="38" name="Text 36"/>
          <p:cNvSpPr txBox="1"/>
          <p:nvPr/>
        </p:nvSpPr>
        <p:spPr>
          <a:xfrm>
            <a:off x="508000" y="498534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FOR DISPLAY</a:t>
            </a:r>
            <a:endParaRPr lang="en-US" sz="550" dirty="0"/>
          </a:p>
        </p:txBody>
      </p:sp>
      <p:sp>
        <p:nvSpPr>
          <p:cNvPr id="39" name="Text 37"/>
          <p:cNvSpPr txBox="1"/>
          <p:nvPr/>
        </p:nvSpPr>
        <p:spPr>
          <a:xfrm>
            <a:off x="508000" y="5125045"/>
            <a:ext cx="5815584"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Diagnose underdelivery · Understand performance drivers · Compare outcomes · Connect reporting to action</a:t>
            </a:r>
            <a:endParaRPr lang="en-US" sz="900" dirty="0"/>
          </a:p>
        </p:txBody>
      </p:sp>
      <p:sp>
        <p:nvSpPr>
          <p:cNvPr id="40" name="Text 38"/>
          <p:cNvSpPr txBox="1"/>
          <p:nvPr/>
        </p:nvSpPr>
        <p:spPr>
          <a:xfrm>
            <a:off x="6299200" y="498534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FOR EVERY CHANNEL</a:t>
            </a:r>
            <a:endParaRPr lang="en-US" sz="550" dirty="0"/>
          </a:p>
        </p:txBody>
      </p:sp>
      <p:sp>
        <p:nvSpPr>
          <p:cNvPr id="41" name="Text 39"/>
          <p:cNvSpPr txBox="1"/>
          <p:nvPr/>
        </p:nvSpPr>
        <p:spPr>
          <a:xfrm>
            <a:off x="6299200" y="5125045"/>
            <a:ext cx="5815584"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Consistent metrics · Shared reporting patterns · Cross-channel visibility · Less navigation · Greater trust</a:t>
            </a:r>
            <a:endParaRPr lang="en-US" sz="900" dirty="0"/>
          </a:p>
        </p:txBody>
      </p:sp>
      <p:pic>
        <p:nvPicPr>
          <p:cNvPr id="42"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3" name="Text 40"/>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44" name="Text 41"/>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09 / 15</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229420" cy="127000"/>
          </a:xfrm>
          <a:prstGeom prst="roundRect">
            <a:avLst>
              <a:gd name="adj" fmla="val 360000"/>
            </a:avLst>
          </a:prstGeom>
          <a:solidFill>
            <a:srgbClr val="D7EEF9"/>
          </a:solidFill>
          <a:ln/>
        </p:spPr>
      </p:sp>
      <p:sp>
        <p:nvSpPr>
          <p:cNvPr id="3" name="Shape 1"/>
          <p:cNvSpPr/>
          <p:nvPr/>
        </p:nvSpPr>
        <p:spPr>
          <a:xfrm>
            <a:off x="508000" y="3090466"/>
            <a:ext cx="11176000" cy="6350"/>
          </a:xfrm>
          <a:prstGeom prst="rect">
            <a:avLst/>
          </a:prstGeom>
          <a:solidFill>
            <a:srgbClr val="0053E2"/>
          </a:solidFill>
          <a:ln/>
        </p:spPr>
      </p:sp>
      <p:sp>
        <p:nvSpPr>
          <p:cNvPr id="4" name="Shape 2"/>
          <p:cNvSpPr/>
          <p:nvPr/>
        </p:nvSpPr>
        <p:spPr>
          <a:xfrm>
            <a:off x="508000" y="3052366"/>
            <a:ext cx="82550" cy="82550"/>
          </a:xfrm>
          <a:prstGeom prst="ellipse">
            <a:avLst/>
          </a:prstGeom>
          <a:solidFill>
            <a:srgbClr val="F5F6F8"/>
          </a:solidFill>
          <a:ln w="6350">
            <a:solidFill>
              <a:srgbClr val="0053E2"/>
            </a:solidFill>
            <a:prstDash val="solid"/>
          </a:ln>
        </p:spPr>
      </p:sp>
      <p:sp>
        <p:nvSpPr>
          <p:cNvPr id="5" name="Shape 3"/>
          <p:cNvSpPr/>
          <p:nvPr/>
        </p:nvSpPr>
        <p:spPr>
          <a:xfrm>
            <a:off x="508000" y="4014391"/>
            <a:ext cx="2603500" cy="0"/>
          </a:xfrm>
          <a:prstGeom prst="line">
            <a:avLst/>
          </a:prstGeom>
          <a:noFill/>
          <a:ln w="6350">
            <a:solidFill>
              <a:srgbClr val="E4E8EF"/>
            </a:solidFill>
            <a:prstDash val="solid"/>
          </a:ln>
        </p:spPr>
      </p:sp>
      <p:sp>
        <p:nvSpPr>
          <p:cNvPr id="6" name="Shape 4"/>
          <p:cNvSpPr/>
          <p:nvPr/>
        </p:nvSpPr>
        <p:spPr>
          <a:xfrm>
            <a:off x="3365500" y="3052366"/>
            <a:ext cx="82550" cy="82550"/>
          </a:xfrm>
          <a:prstGeom prst="ellipse">
            <a:avLst/>
          </a:prstGeom>
          <a:solidFill>
            <a:srgbClr val="F5F6F8"/>
          </a:solidFill>
          <a:ln w="6350">
            <a:solidFill>
              <a:srgbClr val="0053E2"/>
            </a:solidFill>
            <a:prstDash val="solid"/>
          </a:ln>
        </p:spPr>
      </p:sp>
      <p:sp>
        <p:nvSpPr>
          <p:cNvPr id="7" name="Shape 5"/>
          <p:cNvSpPr/>
          <p:nvPr/>
        </p:nvSpPr>
        <p:spPr>
          <a:xfrm>
            <a:off x="3365500" y="4014391"/>
            <a:ext cx="2603500" cy="0"/>
          </a:xfrm>
          <a:prstGeom prst="line">
            <a:avLst/>
          </a:prstGeom>
          <a:noFill/>
          <a:ln w="6350">
            <a:solidFill>
              <a:srgbClr val="E4E8EF"/>
            </a:solidFill>
            <a:prstDash val="solid"/>
          </a:ln>
        </p:spPr>
      </p:sp>
      <p:sp>
        <p:nvSpPr>
          <p:cNvPr id="8" name="Shape 6"/>
          <p:cNvSpPr/>
          <p:nvPr/>
        </p:nvSpPr>
        <p:spPr>
          <a:xfrm>
            <a:off x="6223000" y="3052366"/>
            <a:ext cx="82550" cy="82550"/>
          </a:xfrm>
          <a:prstGeom prst="ellipse">
            <a:avLst/>
          </a:prstGeom>
          <a:solidFill>
            <a:srgbClr val="F5F6F8"/>
          </a:solidFill>
          <a:ln w="6350">
            <a:solidFill>
              <a:srgbClr val="0053E2"/>
            </a:solidFill>
            <a:prstDash val="solid"/>
          </a:ln>
        </p:spPr>
      </p:sp>
      <p:sp>
        <p:nvSpPr>
          <p:cNvPr id="9" name="Shape 7"/>
          <p:cNvSpPr/>
          <p:nvPr/>
        </p:nvSpPr>
        <p:spPr>
          <a:xfrm>
            <a:off x="6223000" y="4014391"/>
            <a:ext cx="2603500" cy="0"/>
          </a:xfrm>
          <a:prstGeom prst="line">
            <a:avLst/>
          </a:prstGeom>
          <a:noFill/>
          <a:ln w="6350">
            <a:solidFill>
              <a:srgbClr val="E4E8EF"/>
            </a:solidFill>
            <a:prstDash val="solid"/>
          </a:ln>
        </p:spPr>
      </p:sp>
      <p:sp>
        <p:nvSpPr>
          <p:cNvPr id="10" name="Shape 8"/>
          <p:cNvSpPr/>
          <p:nvPr/>
        </p:nvSpPr>
        <p:spPr>
          <a:xfrm>
            <a:off x="9080500" y="3052366"/>
            <a:ext cx="82550" cy="82550"/>
          </a:xfrm>
          <a:prstGeom prst="ellipse">
            <a:avLst/>
          </a:prstGeom>
          <a:solidFill>
            <a:srgbClr val="F5F6F8"/>
          </a:solidFill>
          <a:ln w="6350">
            <a:solidFill>
              <a:srgbClr val="0053E2"/>
            </a:solidFill>
            <a:prstDash val="solid"/>
          </a:ln>
        </p:spPr>
      </p:sp>
      <p:sp>
        <p:nvSpPr>
          <p:cNvPr id="11" name="Shape 9"/>
          <p:cNvSpPr/>
          <p:nvPr/>
        </p:nvSpPr>
        <p:spPr>
          <a:xfrm>
            <a:off x="9080500" y="4014391"/>
            <a:ext cx="2603500" cy="0"/>
          </a:xfrm>
          <a:prstGeom prst="line">
            <a:avLst/>
          </a:prstGeom>
          <a:noFill/>
          <a:ln w="6350">
            <a:solidFill>
              <a:srgbClr val="E4E8EF"/>
            </a:solidFill>
            <a:prstDash val="solid"/>
          </a:ln>
        </p:spPr>
      </p:sp>
      <p:sp>
        <p:nvSpPr>
          <p:cNvPr id="12" name="Shape 10"/>
          <p:cNvSpPr/>
          <p:nvPr/>
        </p:nvSpPr>
        <p:spPr>
          <a:xfrm>
            <a:off x="508000" y="4488061"/>
            <a:ext cx="11176000" cy="0"/>
          </a:xfrm>
          <a:prstGeom prst="line">
            <a:avLst/>
          </a:prstGeom>
          <a:noFill/>
          <a:ln w="6350">
            <a:solidFill>
              <a:srgbClr val="0053E2"/>
            </a:solidFill>
            <a:prstDash val="solid"/>
          </a:ln>
        </p:spPr>
      </p:sp>
      <p:sp>
        <p:nvSpPr>
          <p:cNvPr id="13" name="Text 11"/>
          <p:cNvSpPr txBox="1"/>
          <p:nvPr/>
        </p:nvSpPr>
        <p:spPr>
          <a:xfrm>
            <a:off x="501650" y="971550"/>
            <a:ext cx="124212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FROM DATA TO DECISIONS</a:t>
            </a:r>
            <a:endParaRPr lang="en-US" sz="500" dirty="0"/>
          </a:p>
        </p:txBody>
      </p:sp>
      <p:sp>
        <p:nvSpPr>
          <p:cNvPr id="14" name="Text 12"/>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Transparency is the bridge between performance and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trust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5" name="Text 13"/>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More data alone does not make an advertiser feel in control. The experience must explain what is happening, why it is happening and what they can do about it.</a:t>
            </a:r>
            <a:endParaRPr lang="en-US" sz="900" dirty="0"/>
          </a:p>
        </p:txBody>
      </p:sp>
      <p:sp>
        <p:nvSpPr>
          <p:cNvPr id="16" name="Text 14"/>
          <p:cNvSpPr txBox="1"/>
          <p:nvPr/>
        </p:nvSpPr>
        <p:spPr>
          <a:xfrm>
            <a:off x="508000" y="3230166"/>
            <a:ext cx="2811780" cy="95250"/>
          </a:xfrm>
          <a:prstGeom prst="rect">
            <a:avLst/>
          </a:prstGeom>
          <a:noFill/>
          <a:ln/>
        </p:spPr>
        <p:txBody>
          <a:bodyPr wrap="square" lIns="0" tIns="0" rIns="0" bIns="0" rtlCol="0" anchor="t"/>
          <a:lstStyle/>
          <a:p>
            <a:pPr algn="l" indent="0" marL="0">
              <a:lnSpc>
                <a:spcPts val="720"/>
              </a:lnSpc>
              <a:buNone/>
            </a:pPr>
            <a:r>
              <a:rPr lang="en-US" sz="600" spc="96" kern="0" dirty="0">
                <a:solidFill>
                  <a:srgbClr val="0053E2"/>
                </a:solidFill>
                <a:latin typeface="Everyday Sans Mono" pitchFamily="34" charset="0"/>
                <a:ea typeface="Everyday Sans Mono" pitchFamily="34" charset="-122"/>
                <a:cs typeface="Everyday Sans Mono" pitchFamily="34" charset="-120"/>
              </a:rPr>
              <a:t>SEE</a:t>
            </a:r>
            <a:endParaRPr lang="en-US" sz="600" dirty="0"/>
          </a:p>
        </p:txBody>
      </p:sp>
      <p:sp>
        <p:nvSpPr>
          <p:cNvPr id="17" name="Text 15"/>
          <p:cNvSpPr txBox="1"/>
          <p:nvPr/>
        </p:nvSpPr>
        <p:spPr>
          <a:xfrm>
            <a:off x="508000" y="3376216"/>
            <a:ext cx="2811780" cy="4572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What is happening?</a:t>
            </a:r>
            <a:endParaRPr lang="en-US" sz="1500" dirty="0"/>
          </a:p>
        </p:txBody>
      </p:sp>
      <p:sp>
        <p:nvSpPr>
          <p:cNvPr id="18" name="Text 16"/>
          <p:cNvSpPr txBox="1"/>
          <p:nvPr/>
        </p:nvSpPr>
        <p:spPr>
          <a:xfrm>
            <a:off x="508000" y="4093766"/>
            <a:ext cx="281178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Reporting</a:t>
            </a:r>
            <a:endParaRPr lang="en-US" sz="800" dirty="0"/>
          </a:p>
        </p:txBody>
      </p:sp>
      <p:sp>
        <p:nvSpPr>
          <p:cNvPr id="19" name="Text 17"/>
          <p:cNvSpPr txBox="1"/>
          <p:nvPr/>
        </p:nvSpPr>
        <p:spPr>
          <a:xfrm>
            <a:off x="3365500" y="3230166"/>
            <a:ext cx="2811780" cy="95250"/>
          </a:xfrm>
          <a:prstGeom prst="rect">
            <a:avLst/>
          </a:prstGeom>
          <a:noFill/>
          <a:ln/>
        </p:spPr>
        <p:txBody>
          <a:bodyPr wrap="square" lIns="0" tIns="0" rIns="0" bIns="0" rtlCol="0" anchor="t"/>
          <a:lstStyle/>
          <a:p>
            <a:pPr algn="l" indent="0" marL="0">
              <a:lnSpc>
                <a:spcPts val="720"/>
              </a:lnSpc>
              <a:buNone/>
            </a:pPr>
            <a:r>
              <a:rPr lang="en-US" sz="600" spc="96" kern="0" dirty="0">
                <a:solidFill>
                  <a:srgbClr val="0053E2"/>
                </a:solidFill>
                <a:latin typeface="Everyday Sans Mono" pitchFamily="34" charset="0"/>
                <a:ea typeface="Everyday Sans Mono" pitchFamily="34" charset="-122"/>
                <a:cs typeface="Everyday Sans Mono" pitchFamily="34" charset="-120"/>
              </a:rPr>
              <a:t>UNDERSTAND</a:t>
            </a:r>
            <a:endParaRPr lang="en-US" sz="600" dirty="0"/>
          </a:p>
        </p:txBody>
      </p:sp>
      <p:sp>
        <p:nvSpPr>
          <p:cNvPr id="20" name="Text 18"/>
          <p:cNvSpPr txBox="1"/>
          <p:nvPr/>
        </p:nvSpPr>
        <p:spPr>
          <a:xfrm>
            <a:off x="3365500" y="3376216"/>
            <a:ext cx="2811780" cy="4572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Why is it happening?</a:t>
            </a:r>
            <a:endParaRPr lang="en-US" sz="1500" dirty="0"/>
          </a:p>
        </p:txBody>
      </p:sp>
      <p:sp>
        <p:nvSpPr>
          <p:cNvPr id="21" name="Text 19"/>
          <p:cNvSpPr txBox="1"/>
          <p:nvPr/>
        </p:nvSpPr>
        <p:spPr>
          <a:xfrm>
            <a:off x="3365500" y="4093766"/>
            <a:ext cx="281178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Diagnostics</a:t>
            </a:r>
            <a:endParaRPr lang="en-US" sz="800" dirty="0"/>
          </a:p>
        </p:txBody>
      </p:sp>
      <p:sp>
        <p:nvSpPr>
          <p:cNvPr id="22" name="Text 20"/>
          <p:cNvSpPr txBox="1"/>
          <p:nvPr/>
        </p:nvSpPr>
        <p:spPr>
          <a:xfrm>
            <a:off x="6223000" y="3230166"/>
            <a:ext cx="2811780" cy="95250"/>
          </a:xfrm>
          <a:prstGeom prst="rect">
            <a:avLst/>
          </a:prstGeom>
          <a:noFill/>
          <a:ln/>
        </p:spPr>
        <p:txBody>
          <a:bodyPr wrap="square" lIns="0" tIns="0" rIns="0" bIns="0" rtlCol="0" anchor="t"/>
          <a:lstStyle/>
          <a:p>
            <a:pPr algn="l" indent="0" marL="0">
              <a:lnSpc>
                <a:spcPts val="720"/>
              </a:lnSpc>
              <a:buNone/>
            </a:pPr>
            <a:r>
              <a:rPr lang="en-US" sz="600" spc="96" kern="0" dirty="0">
                <a:solidFill>
                  <a:srgbClr val="0053E2"/>
                </a:solidFill>
                <a:latin typeface="Everyday Sans Mono" pitchFamily="34" charset="0"/>
                <a:ea typeface="Everyday Sans Mono" pitchFamily="34" charset="-122"/>
                <a:cs typeface="Everyday Sans Mono" pitchFamily="34" charset="-120"/>
              </a:rPr>
              <a:t>ACT</a:t>
            </a:r>
            <a:endParaRPr lang="en-US" sz="600" dirty="0"/>
          </a:p>
        </p:txBody>
      </p:sp>
      <p:sp>
        <p:nvSpPr>
          <p:cNvPr id="23" name="Text 21"/>
          <p:cNvSpPr txBox="1"/>
          <p:nvPr/>
        </p:nvSpPr>
        <p:spPr>
          <a:xfrm>
            <a:off x="6223000" y="3376216"/>
            <a:ext cx="2811780" cy="4572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What can I do?</a:t>
            </a:r>
            <a:endParaRPr lang="en-US" sz="1500" dirty="0"/>
          </a:p>
        </p:txBody>
      </p:sp>
      <p:sp>
        <p:nvSpPr>
          <p:cNvPr id="24" name="Text 22"/>
          <p:cNvSpPr txBox="1"/>
          <p:nvPr/>
        </p:nvSpPr>
        <p:spPr>
          <a:xfrm>
            <a:off x="6223000" y="4093766"/>
            <a:ext cx="281178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Recommendations + controls</a:t>
            </a:r>
            <a:endParaRPr lang="en-US" sz="800" dirty="0"/>
          </a:p>
        </p:txBody>
      </p:sp>
      <p:sp>
        <p:nvSpPr>
          <p:cNvPr id="25" name="Text 23"/>
          <p:cNvSpPr txBox="1"/>
          <p:nvPr/>
        </p:nvSpPr>
        <p:spPr>
          <a:xfrm>
            <a:off x="9080500" y="3230166"/>
            <a:ext cx="2811780" cy="95250"/>
          </a:xfrm>
          <a:prstGeom prst="rect">
            <a:avLst/>
          </a:prstGeom>
          <a:noFill/>
          <a:ln/>
        </p:spPr>
        <p:txBody>
          <a:bodyPr wrap="square" lIns="0" tIns="0" rIns="0" bIns="0" rtlCol="0" anchor="t"/>
          <a:lstStyle/>
          <a:p>
            <a:pPr algn="l" indent="0" marL="0">
              <a:lnSpc>
                <a:spcPts val="720"/>
              </a:lnSpc>
              <a:buNone/>
            </a:pPr>
            <a:r>
              <a:rPr lang="en-US" sz="600" spc="96" kern="0" dirty="0">
                <a:solidFill>
                  <a:srgbClr val="0053E2"/>
                </a:solidFill>
                <a:latin typeface="Everyday Sans Mono" pitchFamily="34" charset="0"/>
                <a:ea typeface="Everyday Sans Mono" pitchFamily="34" charset="-122"/>
                <a:cs typeface="Everyday Sans Mono" pitchFamily="34" charset="-120"/>
              </a:rPr>
              <a:t>LEARN</a:t>
            </a:r>
            <a:endParaRPr lang="en-US" sz="600" dirty="0"/>
          </a:p>
        </p:txBody>
      </p:sp>
      <p:sp>
        <p:nvSpPr>
          <p:cNvPr id="26" name="Text 24"/>
          <p:cNvSpPr txBox="1"/>
          <p:nvPr/>
        </p:nvSpPr>
        <p:spPr>
          <a:xfrm>
            <a:off x="9080500" y="3376216"/>
            <a:ext cx="2811780" cy="4572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Did the change improve the</a:t>
            </a:r>
            <a:endParaRPr lang="en-US" sz="1500" dirty="0"/>
          </a:p>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outcome?</a:t>
            </a:r>
            <a:endParaRPr lang="en-US" sz="1500" dirty="0"/>
          </a:p>
        </p:txBody>
      </p:sp>
      <p:sp>
        <p:nvSpPr>
          <p:cNvPr id="27" name="Text 25"/>
          <p:cNvSpPr txBox="1"/>
          <p:nvPr/>
        </p:nvSpPr>
        <p:spPr>
          <a:xfrm>
            <a:off x="9080500" y="4093766"/>
            <a:ext cx="281178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Experimentation</a:t>
            </a:r>
            <a:endParaRPr lang="en-US" sz="800" dirty="0"/>
          </a:p>
        </p:txBody>
      </p:sp>
      <p:sp>
        <p:nvSpPr>
          <p:cNvPr id="28" name="Text 26"/>
          <p:cNvSpPr txBox="1"/>
          <p:nvPr/>
        </p:nvSpPr>
        <p:spPr>
          <a:xfrm>
            <a:off x="508000" y="4707136"/>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EXPERIENCE LAYER</a:t>
            </a:r>
            <a:endParaRPr lang="en-US" sz="550" dirty="0"/>
          </a:p>
        </p:txBody>
      </p:sp>
      <p:sp>
        <p:nvSpPr>
          <p:cNvPr id="29" name="Text 27"/>
          <p:cNvSpPr txBox="1"/>
          <p:nvPr/>
        </p:nvSpPr>
        <p:spPr>
          <a:xfrm>
            <a:off x="2108200" y="4592836"/>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This is what turns performance signals into advertiser decisions. Advertisers don’t need more insights. They need fewer,</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clearer decisions.</a:t>
            </a:r>
            <a:endParaRPr lang="en-US" sz="1400" dirty="0"/>
          </a:p>
        </p:txBody>
      </p:sp>
      <p:pic>
        <p:nvPicPr>
          <p:cNvPr id="3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1" name="Text 28"/>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32" name="Text 2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10 / 15</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130300" cy="127000"/>
          </a:xfrm>
          <a:prstGeom prst="roundRect">
            <a:avLst>
              <a:gd name="adj" fmla="val 360000"/>
            </a:avLst>
          </a:prstGeom>
          <a:solidFill>
            <a:srgbClr val="D7EEF9"/>
          </a:solidFill>
          <a:ln/>
        </p:spPr>
      </p:sp>
      <p:sp>
        <p:nvSpPr>
          <p:cNvPr id="3" name="Shape 1"/>
          <p:cNvSpPr/>
          <p:nvPr/>
        </p:nvSpPr>
        <p:spPr>
          <a:xfrm>
            <a:off x="508000" y="3112691"/>
            <a:ext cx="3556000" cy="0"/>
          </a:xfrm>
          <a:prstGeom prst="line">
            <a:avLst/>
          </a:prstGeom>
          <a:noFill/>
          <a:ln w="6350">
            <a:solidFill>
              <a:srgbClr val="E4E8EF"/>
            </a:solidFill>
            <a:prstDash val="solid"/>
          </a:ln>
        </p:spPr>
      </p:sp>
      <p:sp>
        <p:nvSpPr>
          <p:cNvPr id="4" name="Shape 2"/>
          <p:cNvSpPr/>
          <p:nvPr/>
        </p:nvSpPr>
        <p:spPr>
          <a:xfrm>
            <a:off x="4318000" y="3112691"/>
            <a:ext cx="3556000" cy="0"/>
          </a:xfrm>
          <a:prstGeom prst="line">
            <a:avLst/>
          </a:prstGeom>
          <a:noFill/>
          <a:ln w="6350">
            <a:solidFill>
              <a:srgbClr val="E4E8EF"/>
            </a:solidFill>
            <a:prstDash val="solid"/>
          </a:ln>
        </p:spPr>
      </p:sp>
      <p:sp>
        <p:nvSpPr>
          <p:cNvPr id="5" name="Shape 3"/>
          <p:cNvSpPr/>
          <p:nvPr/>
        </p:nvSpPr>
        <p:spPr>
          <a:xfrm>
            <a:off x="8128000" y="3112691"/>
            <a:ext cx="3556000" cy="0"/>
          </a:xfrm>
          <a:prstGeom prst="line">
            <a:avLst/>
          </a:prstGeom>
          <a:noFill/>
          <a:ln w="6350">
            <a:solidFill>
              <a:srgbClr val="E4E8EF"/>
            </a:solidFill>
            <a:prstDash val="solid"/>
          </a:ln>
        </p:spPr>
      </p:sp>
      <p:sp>
        <p:nvSpPr>
          <p:cNvPr id="6" name="Shape 4"/>
          <p:cNvSpPr/>
          <p:nvPr/>
        </p:nvSpPr>
        <p:spPr>
          <a:xfrm>
            <a:off x="508000" y="3902869"/>
            <a:ext cx="11176000" cy="693341"/>
          </a:xfrm>
          <a:prstGeom prst="rect">
            <a:avLst/>
          </a:prstGeom>
          <a:solidFill>
            <a:srgbClr val="0053E2">
              <a:alpha val="5000"/>
            </a:srgbClr>
          </a:solidFill>
          <a:ln/>
        </p:spPr>
      </p:sp>
      <p:sp>
        <p:nvSpPr>
          <p:cNvPr id="7" name="Shape 5"/>
          <p:cNvSpPr/>
          <p:nvPr/>
        </p:nvSpPr>
        <p:spPr>
          <a:xfrm>
            <a:off x="508000" y="3909219"/>
            <a:ext cx="11176000" cy="0"/>
          </a:xfrm>
          <a:prstGeom prst="line">
            <a:avLst/>
          </a:prstGeom>
          <a:noFill/>
          <a:ln w="12700">
            <a:solidFill>
              <a:srgbClr val="0053E2"/>
            </a:solidFill>
            <a:prstDash val="solid"/>
          </a:ln>
        </p:spPr>
      </p:sp>
      <p:sp>
        <p:nvSpPr>
          <p:cNvPr id="8" name="Shape 6"/>
          <p:cNvSpPr/>
          <p:nvPr/>
        </p:nvSpPr>
        <p:spPr>
          <a:xfrm>
            <a:off x="1447800" y="4726384"/>
            <a:ext cx="2520950" cy="0"/>
          </a:xfrm>
          <a:prstGeom prst="line">
            <a:avLst/>
          </a:prstGeom>
          <a:noFill/>
          <a:ln w="6350">
            <a:solidFill>
              <a:srgbClr val="E4E8EF"/>
            </a:solidFill>
            <a:prstDash val="solid"/>
          </a:ln>
        </p:spPr>
      </p:sp>
      <p:sp>
        <p:nvSpPr>
          <p:cNvPr id="9" name="Shape 7"/>
          <p:cNvSpPr/>
          <p:nvPr/>
        </p:nvSpPr>
        <p:spPr>
          <a:xfrm>
            <a:off x="4019550" y="4726384"/>
            <a:ext cx="2520950" cy="0"/>
          </a:xfrm>
          <a:prstGeom prst="line">
            <a:avLst/>
          </a:prstGeom>
          <a:noFill/>
          <a:ln w="6350">
            <a:solidFill>
              <a:srgbClr val="E4E8EF"/>
            </a:solidFill>
            <a:prstDash val="solid"/>
          </a:ln>
        </p:spPr>
      </p:sp>
      <p:sp>
        <p:nvSpPr>
          <p:cNvPr id="10" name="Shape 8"/>
          <p:cNvSpPr/>
          <p:nvPr/>
        </p:nvSpPr>
        <p:spPr>
          <a:xfrm>
            <a:off x="6591300" y="4726384"/>
            <a:ext cx="2520950" cy="0"/>
          </a:xfrm>
          <a:prstGeom prst="line">
            <a:avLst/>
          </a:prstGeom>
          <a:noFill/>
          <a:ln w="6350">
            <a:solidFill>
              <a:srgbClr val="E4E8EF"/>
            </a:solidFill>
            <a:prstDash val="solid"/>
          </a:ln>
        </p:spPr>
      </p:sp>
      <p:sp>
        <p:nvSpPr>
          <p:cNvPr id="11" name="Shape 9"/>
          <p:cNvSpPr/>
          <p:nvPr/>
        </p:nvSpPr>
        <p:spPr>
          <a:xfrm>
            <a:off x="9163050" y="4726384"/>
            <a:ext cx="2520950" cy="0"/>
          </a:xfrm>
          <a:prstGeom prst="line">
            <a:avLst/>
          </a:prstGeom>
          <a:noFill/>
          <a:ln w="6350">
            <a:solidFill>
              <a:srgbClr val="E4E8EF"/>
            </a:solidFill>
            <a:prstDash val="solid"/>
          </a:ln>
        </p:spPr>
      </p:sp>
      <p:sp>
        <p:nvSpPr>
          <p:cNvPr id="12" name="Text 10"/>
          <p:cNvSpPr txBox="1"/>
          <p:nvPr/>
        </p:nvSpPr>
        <p:spPr>
          <a:xfrm>
            <a:off x="501650" y="971550"/>
            <a:ext cx="11430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EXPERIENCE MODEL</a:t>
            </a:r>
            <a:endParaRPr lang="en-US" sz="500" dirty="0"/>
          </a:p>
        </p:txBody>
      </p:sp>
      <p:sp>
        <p:nvSpPr>
          <p:cNvPr id="13" name="Text 11"/>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The goal is not one giant workflow. It’s one coherent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system</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4" name="Text 12"/>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Advertisers have different jobs, sophistication levels and channel needs. Consistency should reduce cognitive load without removing the flexibility sophisticated advertisers require.</a:t>
            </a:r>
            <a:endParaRPr lang="en-US" sz="900" dirty="0"/>
          </a:p>
        </p:txBody>
      </p:sp>
      <p:sp>
        <p:nvSpPr>
          <p:cNvPr id="15" name="Text 13"/>
          <p:cNvSpPr txBox="1"/>
          <p:nvPr/>
        </p:nvSpPr>
        <p:spPr>
          <a:xfrm>
            <a:off x="508000" y="3217466"/>
            <a:ext cx="3840480" cy="285750"/>
          </a:xfrm>
          <a:prstGeom prst="rect">
            <a:avLst/>
          </a:prstGeom>
          <a:noFill/>
          <a:ln/>
        </p:spPr>
        <p:txBody>
          <a:bodyPr wrap="square" lIns="0" tIns="0" rIns="0" bIns="0" rtlCol="0" anchor="t"/>
          <a:lstStyle/>
          <a:p>
            <a:pPr algn="l" indent="0" marL="0">
              <a:lnSpc>
                <a:spcPts val="2160"/>
              </a:lnSpc>
              <a:buNone/>
            </a:pPr>
            <a:r>
              <a:rPr lang="en-US" sz="1800" spc="-54" kern="0" dirty="0">
                <a:solidFill>
                  <a:srgbClr val="001E60"/>
                </a:solidFill>
                <a:latin typeface="Everyday Sans Headline Light" pitchFamily="34" charset="0"/>
                <a:ea typeface="Everyday Sans Headline Light" pitchFamily="34" charset="-122"/>
                <a:cs typeface="Everyday Sans Headline Light" pitchFamily="34" charset="-120"/>
              </a:rPr>
              <a:t>Guided</a:t>
            </a:r>
            <a:endParaRPr lang="en-US" sz="1800" dirty="0"/>
          </a:p>
        </p:txBody>
      </p:sp>
      <p:sp>
        <p:nvSpPr>
          <p:cNvPr id="16" name="Text 14"/>
          <p:cNvSpPr txBox="1"/>
          <p:nvPr/>
        </p:nvSpPr>
        <p:spPr>
          <a:xfrm>
            <a:off x="508000" y="3554016"/>
            <a:ext cx="3840480" cy="145733"/>
          </a:xfrm>
          <a:prstGeom prst="rect">
            <a:avLst/>
          </a:prstGeom>
          <a:noFill/>
          <a:ln/>
        </p:spPr>
        <p:txBody>
          <a:bodyPr wrap="square" lIns="0" tIns="0" rIns="0" bIns="0" rtlCol="0" anchor="t"/>
          <a:lstStyle/>
          <a:p>
            <a:pPr algn="l" indent="0" marL="0">
              <a:lnSpc>
                <a:spcPts val="1148"/>
              </a:lnSpc>
              <a:buNone/>
            </a:pPr>
            <a:r>
              <a:rPr lang="en-US" sz="850" dirty="0">
                <a:solidFill>
                  <a:srgbClr val="3D4A63"/>
                </a:solidFill>
                <a:latin typeface="Everyday Sans UI" pitchFamily="34" charset="0"/>
                <a:ea typeface="Everyday Sans UI" pitchFamily="34" charset="-122"/>
                <a:cs typeface="Everyday Sans UI" pitchFamily="34" charset="-120"/>
              </a:rPr>
              <a:t>Quick-start, goal-based setup, recommendations, automation</a:t>
            </a:r>
            <a:endParaRPr lang="en-US" sz="850" dirty="0"/>
          </a:p>
        </p:txBody>
      </p:sp>
      <p:sp>
        <p:nvSpPr>
          <p:cNvPr id="17" name="Text 15"/>
          <p:cNvSpPr txBox="1"/>
          <p:nvPr/>
        </p:nvSpPr>
        <p:spPr>
          <a:xfrm>
            <a:off x="4318000" y="3217466"/>
            <a:ext cx="3840480" cy="285750"/>
          </a:xfrm>
          <a:prstGeom prst="rect">
            <a:avLst/>
          </a:prstGeom>
          <a:noFill/>
          <a:ln/>
        </p:spPr>
        <p:txBody>
          <a:bodyPr wrap="square" lIns="0" tIns="0" rIns="0" bIns="0" rtlCol="0" anchor="t"/>
          <a:lstStyle/>
          <a:p>
            <a:pPr algn="l" indent="0" marL="0">
              <a:lnSpc>
                <a:spcPts val="2160"/>
              </a:lnSpc>
              <a:buNone/>
            </a:pPr>
            <a:r>
              <a:rPr lang="en-US" sz="1800" spc="-54" kern="0" dirty="0">
                <a:solidFill>
                  <a:srgbClr val="001E60"/>
                </a:solidFill>
                <a:latin typeface="Everyday Sans Headline Light" pitchFamily="34" charset="0"/>
                <a:ea typeface="Everyday Sans Headline Light" pitchFamily="34" charset="-122"/>
                <a:cs typeface="Everyday Sans Headline Light" pitchFamily="34" charset="-120"/>
              </a:rPr>
              <a:t>Flexible</a:t>
            </a:r>
            <a:endParaRPr lang="en-US" sz="1800" dirty="0"/>
          </a:p>
        </p:txBody>
      </p:sp>
      <p:sp>
        <p:nvSpPr>
          <p:cNvPr id="18" name="Text 16"/>
          <p:cNvSpPr txBox="1"/>
          <p:nvPr/>
        </p:nvSpPr>
        <p:spPr>
          <a:xfrm>
            <a:off x="4318000" y="3554016"/>
            <a:ext cx="3840480" cy="145733"/>
          </a:xfrm>
          <a:prstGeom prst="rect">
            <a:avLst/>
          </a:prstGeom>
          <a:noFill/>
          <a:ln/>
        </p:spPr>
        <p:txBody>
          <a:bodyPr wrap="square" lIns="0" tIns="0" rIns="0" bIns="0" rtlCol="0" anchor="t"/>
          <a:lstStyle/>
          <a:p>
            <a:pPr algn="l" indent="0" marL="0">
              <a:lnSpc>
                <a:spcPts val="1148"/>
              </a:lnSpc>
              <a:buNone/>
            </a:pPr>
            <a:r>
              <a:rPr lang="en-US" sz="850" dirty="0">
                <a:solidFill>
                  <a:srgbClr val="3D4A63"/>
                </a:solidFill>
                <a:latin typeface="Everyday Sans UI" pitchFamily="34" charset="0"/>
                <a:ea typeface="Everyday Sans UI" pitchFamily="34" charset="-122"/>
                <a:cs typeface="Everyday Sans UI" pitchFamily="34" charset="-120"/>
              </a:rPr>
              <a:t>Configurable workflows, reusable assets and audiences, controls</a:t>
            </a:r>
            <a:endParaRPr lang="en-US" sz="850" dirty="0"/>
          </a:p>
        </p:txBody>
      </p:sp>
      <p:sp>
        <p:nvSpPr>
          <p:cNvPr id="19" name="Text 17"/>
          <p:cNvSpPr txBox="1"/>
          <p:nvPr/>
        </p:nvSpPr>
        <p:spPr>
          <a:xfrm>
            <a:off x="8128000" y="3217466"/>
            <a:ext cx="3840480" cy="285750"/>
          </a:xfrm>
          <a:prstGeom prst="rect">
            <a:avLst/>
          </a:prstGeom>
          <a:noFill/>
          <a:ln/>
        </p:spPr>
        <p:txBody>
          <a:bodyPr wrap="square" lIns="0" tIns="0" rIns="0" bIns="0" rtlCol="0" anchor="t"/>
          <a:lstStyle/>
          <a:p>
            <a:pPr algn="l" indent="0" marL="0">
              <a:lnSpc>
                <a:spcPts val="2160"/>
              </a:lnSpc>
              <a:buNone/>
            </a:pPr>
            <a:r>
              <a:rPr lang="en-US" sz="1800" spc="-54" kern="0" dirty="0">
                <a:solidFill>
                  <a:srgbClr val="001E60"/>
                </a:solidFill>
                <a:latin typeface="Everyday Sans Headline Light" pitchFamily="34" charset="0"/>
                <a:ea typeface="Everyday Sans Headline Light" pitchFamily="34" charset="-122"/>
                <a:cs typeface="Everyday Sans Headline Light" pitchFamily="34" charset="-120"/>
              </a:rPr>
              <a:t>Advanced</a:t>
            </a:r>
            <a:endParaRPr lang="en-US" sz="1800" dirty="0"/>
          </a:p>
        </p:txBody>
      </p:sp>
      <p:sp>
        <p:nvSpPr>
          <p:cNvPr id="20" name="Text 18"/>
          <p:cNvSpPr txBox="1"/>
          <p:nvPr/>
        </p:nvSpPr>
        <p:spPr>
          <a:xfrm>
            <a:off x="8128000" y="3554016"/>
            <a:ext cx="3840480" cy="145733"/>
          </a:xfrm>
          <a:prstGeom prst="rect">
            <a:avLst/>
          </a:prstGeom>
          <a:noFill/>
          <a:ln/>
        </p:spPr>
        <p:txBody>
          <a:bodyPr wrap="square" lIns="0" tIns="0" rIns="0" bIns="0" rtlCol="0" anchor="t"/>
          <a:lstStyle/>
          <a:p>
            <a:pPr algn="l" indent="0" marL="0">
              <a:lnSpc>
                <a:spcPts val="1148"/>
              </a:lnSpc>
              <a:buNone/>
            </a:pPr>
            <a:r>
              <a:rPr lang="en-US" sz="850" dirty="0">
                <a:solidFill>
                  <a:srgbClr val="3D4A63"/>
                </a:solidFill>
                <a:latin typeface="Everyday Sans UI" pitchFamily="34" charset="0"/>
                <a:ea typeface="Everyday Sans UI" pitchFamily="34" charset="-122"/>
                <a:cs typeface="Everyday Sans UI" pitchFamily="34" charset="-120"/>
              </a:rPr>
              <a:t>Granular controls, experimentation, diagnostics, APIs</a:t>
            </a:r>
            <a:endParaRPr lang="en-US" sz="850" dirty="0"/>
          </a:p>
        </p:txBody>
      </p:sp>
      <p:sp>
        <p:nvSpPr>
          <p:cNvPr id="21" name="Text 19"/>
          <p:cNvSpPr txBox="1"/>
          <p:nvPr/>
        </p:nvSpPr>
        <p:spPr>
          <a:xfrm>
            <a:off x="660400" y="4042569"/>
            <a:ext cx="11740896" cy="190500"/>
          </a:xfrm>
          <a:prstGeom prst="rect">
            <a:avLst/>
          </a:prstGeom>
          <a:noFill/>
          <a:ln/>
        </p:spPr>
        <p:txBody>
          <a:bodyPr wrap="square" lIns="0" tIns="0" rIns="0" bIns="0" rtlCol="0" anchor="t"/>
          <a:lstStyle/>
          <a:p>
            <a:pPr algn="l" indent="0" marL="0">
              <a:lnSpc>
                <a:spcPts val="1440"/>
              </a:lnSpc>
              <a:buNone/>
            </a:pPr>
            <a:r>
              <a:rPr lang="en-US" sz="1200" spc="-36" kern="0" dirty="0">
                <a:solidFill>
                  <a:srgbClr val="001E60"/>
                </a:solidFill>
                <a:latin typeface="Everyday Sans Headline Light" pitchFamily="34" charset="0"/>
                <a:ea typeface="Everyday Sans Headline Light" pitchFamily="34" charset="-122"/>
                <a:cs typeface="Everyday Sans Headline Light" pitchFamily="34" charset="-120"/>
              </a:rPr>
              <a:t>One shared foundation</a:t>
            </a:r>
            <a:endParaRPr lang="en-US" sz="1200" dirty="0"/>
          </a:p>
        </p:txBody>
      </p:sp>
      <p:sp>
        <p:nvSpPr>
          <p:cNvPr id="22" name="Text 20"/>
          <p:cNvSpPr txBox="1"/>
          <p:nvPr/>
        </p:nvSpPr>
        <p:spPr>
          <a:xfrm>
            <a:off x="660400" y="4309269"/>
            <a:ext cx="6419088" cy="160020"/>
          </a:xfrm>
          <a:prstGeom prst="rect">
            <a:avLst/>
          </a:prstGeom>
          <a:noFill/>
          <a:ln/>
        </p:spPr>
        <p:txBody>
          <a:bodyPr wrap="square" lIns="0" tIns="0" rIns="0" bIns="0" rtlCol="0" anchor="t"/>
          <a:lstStyle/>
          <a:p>
            <a:pPr algn="l" indent="0" marL="0">
              <a:lnSpc>
                <a:spcPts val="1260"/>
              </a:lnSpc>
              <a:buNone/>
            </a:pPr>
            <a:r>
              <a:rPr lang="en-US" sz="900" dirty="0">
                <a:solidFill>
                  <a:srgbClr val="001E60"/>
                </a:solidFill>
                <a:latin typeface="Everyday Sans UI" pitchFamily="34" charset="0"/>
                <a:ea typeface="Everyday Sans UI" pitchFamily="34" charset="-122"/>
                <a:cs typeface="Everyday Sans UI" pitchFamily="34" charset="-120"/>
              </a:rPr>
              <a:t>Shared navigation · Shared terminology · Shared capabilities · Shared intelligence · Shared measurement</a:t>
            </a:r>
            <a:endParaRPr lang="en-US" sz="900" dirty="0"/>
          </a:p>
        </p:txBody>
      </p:sp>
      <p:sp>
        <p:nvSpPr>
          <p:cNvPr id="23" name="Text 21"/>
          <p:cNvSpPr txBox="1"/>
          <p:nvPr/>
        </p:nvSpPr>
        <p:spPr>
          <a:xfrm>
            <a:off x="508000" y="4799409"/>
            <a:ext cx="1041400" cy="1143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SERVING</a:t>
            </a:r>
            <a:endParaRPr lang="en-US" sz="550" dirty="0"/>
          </a:p>
        </p:txBody>
      </p:sp>
      <p:sp>
        <p:nvSpPr>
          <p:cNvPr id="24" name="Text 22"/>
          <p:cNvSpPr txBox="1"/>
          <p:nvPr/>
        </p:nvSpPr>
        <p:spPr>
          <a:xfrm>
            <a:off x="1447800" y="4793059"/>
            <a:ext cx="2722626"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Sponsored</a:t>
            </a:r>
            <a:endParaRPr lang="en-US" sz="750" dirty="0"/>
          </a:p>
        </p:txBody>
      </p:sp>
      <p:sp>
        <p:nvSpPr>
          <p:cNvPr id="25" name="Text 23"/>
          <p:cNvSpPr txBox="1"/>
          <p:nvPr/>
        </p:nvSpPr>
        <p:spPr>
          <a:xfrm>
            <a:off x="4019550" y="4793059"/>
            <a:ext cx="2722626"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Display</a:t>
            </a:r>
            <a:endParaRPr lang="en-US" sz="750" dirty="0"/>
          </a:p>
        </p:txBody>
      </p:sp>
      <p:sp>
        <p:nvSpPr>
          <p:cNvPr id="26" name="Text 24"/>
          <p:cNvSpPr txBox="1"/>
          <p:nvPr/>
        </p:nvSpPr>
        <p:spPr>
          <a:xfrm>
            <a:off x="6591300" y="4793059"/>
            <a:ext cx="2722626"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Offsite</a:t>
            </a:r>
            <a:endParaRPr lang="en-US" sz="750" dirty="0"/>
          </a:p>
        </p:txBody>
      </p:sp>
      <p:sp>
        <p:nvSpPr>
          <p:cNvPr id="27" name="Text 25"/>
          <p:cNvSpPr txBox="1"/>
          <p:nvPr/>
        </p:nvSpPr>
        <p:spPr>
          <a:xfrm>
            <a:off x="9163050" y="4793059"/>
            <a:ext cx="2722626"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Marketplace</a:t>
            </a:r>
            <a:endParaRPr lang="en-US" sz="750" dirty="0"/>
          </a:p>
        </p:txBody>
      </p:sp>
      <p:pic>
        <p:nvPicPr>
          <p:cNvPr id="28"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9" name="Text 26"/>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30" name="Text 27"/>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11 / 15</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179909" cy="127000"/>
          </a:xfrm>
          <a:prstGeom prst="roundRect">
            <a:avLst>
              <a:gd name="adj" fmla="val 360000"/>
            </a:avLst>
          </a:prstGeom>
          <a:solidFill>
            <a:srgbClr val="D7EEF9"/>
          </a:solidFill>
          <a:ln/>
        </p:spPr>
      </p:sp>
      <p:sp>
        <p:nvSpPr>
          <p:cNvPr id="3" name="Shape 1"/>
          <p:cNvSpPr/>
          <p:nvPr/>
        </p:nvSpPr>
        <p:spPr>
          <a:xfrm>
            <a:off x="508000" y="2767310"/>
            <a:ext cx="6985000" cy="0"/>
          </a:xfrm>
          <a:prstGeom prst="line">
            <a:avLst/>
          </a:prstGeom>
          <a:noFill/>
          <a:ln w="6350">
            <a:solidFill>
              <a:srgbClr val="E4E8EF"/>
            </a:solidFill>
            <a:prstDash val="solid"/>
          </a:ln>
        </p:spPr>
      </p:sp>
      <p:sp>
        <p:nvSpPr>
          <p:cNvPr id="4" name="Shape 2"/>
          <p:cNvSpPr/>
          <p:nvPr/>
        </p:nvSpPr>
        <p:spPr>
          <a:xfrm>
            <a:off x="508000" y="3218160"/>
            <a:ext cx="6985000" cy="0"/>
          </a:xfrm>
          <a:prstGeom prst="line">
            <a:avLst/>
          </a:prstGeom>
          <a:noFill/>
          <a:ln w="6350">
            <a:solidFill>
              <a:srgbClr val="E4E8EF"/>
            </a:solidFill>
            <a:prstDash val="solid"/>
          </a:ln>
        </p:spPr>
      </p:sp>
      <p:sp>
        <p:nvSpPr>
          <p:cNvPr id="5" name="Shape 3"/>
          <p:cNvSpPr/>
          <p:nvPr/>
        </p:nvSpPr>
        <p:spPr>
          <a:xfrm>
            <a:off x="508000" y="3669010"/>
            <a:ext cx="6985000" cy="0"/>
          </a:xfrm>
          <a:prstGeom prst="line">
            <a:avLst/>
          </a:prstGeom>
          <a:noFill/>
          <a:ln w="6350">
            <a:solidFill>
              <a:srgbClr val="E4E8EF"/>
            </a:solidFill>
            <a:prstDash val="solid"/>
          </a:ln>
        </p:spPr>
      </p:sp>
      <p:sp>
        <p:nvSpPr>
          <p:cNvPr id="6" name="Shape 4"/>
          <p:cNvSpPr/>
          <p:nvPr/>
        </p:nvSpPr>
        <p:spPr>
          <a:xfrm>
            <a:off x="508000" y="4119860"/>
            <a:ext cx="6985000" cy="0"/>
          </a:xfrm>
          <a:prstGeom prst="line">
            <a:avLst/>
          </a:prstGeom>
          <a:noFill/>
          <a:ln w="6350">
            <a:solidFill>
              <a:srgbClr val="E4E8EF"/>
            </a:solidFill>
            <a:prstDash val="solid"/>
          </a:ln>
        </p:spPr>
      </p:sp>
      <p:sp>
        <p:nvSpPr>
          <p:cNvPr id="7" name="Shape 5"/>
          <p:cNvSpPr/>
          <p:nvPr/>
        </p:nvSpPr>
        <p:spPr>
          <a:xfrm>
            <a:off x="508000" y="4570710"/>
            <a:ext cx="6985000" cy="0"/>
          </a:xfrm>
          <a:prstGeom prst="line">
            <a:avLst/>
          </a:prstGeom>
          <a:noFill/>
          <a:ln w="6350">
            <a:solidFill>
              <a:srgbClr val="E4E8EF"/>
            </a:solidFill>
            <a:prstDash val="solid"/>
          </a:ln>
        </p:spPr>
      </p:sp>
      <p:sp>
        <p:nvSpPr>
          <p:cNvPr id="8" name="Shape 6"/>
          <p:cNvSpPr/>
          <p:nvPr/>
        </p:nvSpPr>
        <p:spPr>
          <a:xfrm>
            <a:off x="508000" y="5021560"/>
            <a:ext cx="6985000" cy="0"/>
          </a:xfrm>
          <a:prstGeom prst="line">
            <a:avLst/>
          </a:prstGeom>
          <a:noFill/>
          <a:ln w="6350">
            <a:solidFill>
              <a:srgbClr val="E4E8EF"/>
            </a:solidFill>
            <a:prstDash val="solid"/>
          </a:ln>
        </p:spPr>
      </p:sp>
      <p:sp>
        <p:nvSpPr>
          <p:cNvPr id="9" name="Shape 7"/>
          <p:cNvSpPr/>
          <p:nvPr/>
        </p:nvSpPr>
        <p:spPr>
          <a:xfrm>
            <a:off x="508000" y="5281910"/>
            <a:ext cx="5384800" cy="0"/>
          </a:xfrm>
          <a:prstGeom prst="line">
            <a:avLst/>
          </a:prstGeom>
          <a:noFill/>
          <a:ln w="6350">
            <a:solidFill>
              <a:srgbClr val="E4E8EF"/>
            </a:solidFill>
            <a:prstDash val="solid"/>
          </a:ln>
        </p:spPr>
      </p:sp>
      <p:sp>
        <p:nvSpPr>
          <p:cNvPr id="10" name="Shape 8"/>
          <p:cNvSpPr/>
          <p:nvPr/>
        </p:nvSpPr>
        <p:spPr>
          <a:xfrm>
            <a:off x="6299200" y="5281910"/>
            <a:ext cx="5384800" cy="0"/>
          </a:xfrm>
          <a:prstGeom prst="line">
            <a:avLst/>
          </a:prstGeom>
          <a:noFill/>
          <a:ln w="6350">
            <a:solidFill>
              <a:srgbClr val="E4E8EF"/>
            </a:solidFill>
            <a:prstDash val="solid"/>
          </a:ln>
        </p:spPr>
      </p:sp>
      <p:sp>
        <p:nvSpPr>
          <p:cNvPr id="11" name="Text 9"/>
          <p:cNvSpPr txBox="1"/>
          <p:nvPr/>
        </p:nvSpPr>
        <p:spPr>
          <a:xfrm>
            <a:off x="501650" y="971550"/>
            <a:ext cx="119260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ADVERTISER IMPACT</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Five structural problems become five experience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commitments</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Our roadmap should be judged by whether it materially reduces the friction advertisers experience today.</a:t>
            </a:r>
            <a:endParaRPr lang="en-US" sz="900" dirty="0"/>
          </a:p>
        </p:txBody>
      </p:sp>
      <p:sp>
        <p:nvSpPr>
          <p:cNvPr id="14" name="Text 12"/>
          <p:cNvSpPr txBox="1"/>
          <p:nvPr/>
        </p:nvSpPr>
        <p:spPr>
          <a:xfrm>
            <a:off x="508000" y="2599035"/>
            <a:ext cx="34975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5" name="Text 13"/>
          <p:cNvSpPr txBox="1"/>
          <p:nvPr/>
        </p:nvSpPr>
        <p:spPr>
          <a:xfrm>
            <a:off x="4254500" y="2599035"/>
            <a:ext cx="34975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COMMITMENT</a:t>
            </a:r>
            <a:endParaRPr lang="en-US" sz="550" dirty="0"/>
          </a:p>
        </p:txBody>
      </p:sp>
      <p:sp>
        <p:nvSpPr>
          <p:cNvPr id="16" name="Text 14"/>
          <p:cNvSpPr txBox="1"/>
          <p:nvPr/>
        </p:nvSpPr>
        <p:spPr>
          <a:xfrm>
            <a:off x="508000" y="2865735"/>
            <a:ext cx="349758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3D4A63"/>
                </a:solidFill>
                <a:latin typeface="Everyday Sans Headline Light" pitchFamily="34" charset="0"/>
                <a:ea typeface="Everyday Sans Headline Light" pitchFamily="34" charset="-122"/>
                <a:cs typeface="Everyday Sans Headline Light" pitchFamily="34" charset="-120"/>
              </a:rPr>
              <a:t>Time-consuming</a:t>
            </a:r>
            <a:endParaRPr lang="en-US" sz="1600" dirty="0"/>
          </a:p>
        </p:txBody>
      </p:sp>
      <p:sp>
        <p:nvSpPr>
          <p:cNvPr id="17" name="Text 15"/>
          <p:cNvSpPr txBox="1"/>
          <p:nvPr/>
        </p:nvSpPr>
        <p:spPr>
          <a:xfrm>
            <a:off x="3771900" y="2897485"/>
            <a:ext cx="457200" cy="190500"/>
          </a:xfrm>
          <a:prstGeom prst="rect">
            <a:avLst/>
          </a:prstGeom>
          <a:noFill/>
          <a:ln/>
        </p:spPr>
        <p:txBody>
          <a:bodyPr wrap="square" lIns="0" tIns="0" rIns="0" bIns="0" rtlCol="0" anchor="t"/>
          <a:lstStyle/>
          <a:p>
            <a:pPr algn="ctr" indent="0" marL="0">
              <a:lnSpc>
                <a:spcPts val="1440"/>
              </a:lnSpc>
              <a:buNone/>
            </a:pPr>
            <a:r>
              <a:rPr lang="en-US" sz="1200" dirty="0">
                <a:solidFill>
                  <a:srgbClr val="0053E2"/>
                </a:solidFill>
                <a:latin typeface="Everyday Sans UI" pitchFamily="34" charset="0"/>
                <a:ea typeface="Everyday Sans UI" pitchFamily="34" charset="-122"/>
                <a:cs typeface="Everyday Sans UI" pitchFamily="34" charset="-120"/>
              </a:rPr>
              <a:t>→</a:t>
            </a:r>
            <a:endParaRPr lang="en-US" sz="1200" dirty="0"/>
          </a:p>
        </p:txBody>
      </p:sp>
      <p:sp>
        <p:nvSpPr>
          <p:cNvPr id="18" name="Text 16"/>
          <p:cNvSpPr txBox="1"/>
          <p:nvPr/>
        </p:nvSpPr>
        <p:spPr>
          <a:xfrm>
            <a:off x="4254500" y="2833985"/>
            <a:ext cx="3497580" cy="317500"/>
          </a:xfrm>
          <a:prstGeom prst="rect">
            <a:avLst/>
          </a:prstGeom>
          <a:noFill/>
          <a:ln/>
        </p:spPr>
        <p:txBody>
          <a:bodyPr wrap="square" lIns="0" tIns="0" rIns="0" bIns="0" rtlCol="0" anchor="t"/>
          <a:lstStyle/>
          <a:p>
            <a:pPr algn="l" indent="0" marL="0">
              <a:lnSpc>
                <a:spcPts val="2400"/>
              </a:lnSpc>
              <a:buNone/>
            </a:pPr>
            <a:r>
              <a:rPr lang="en-US" sz="2000" spc="-60" kern="0" dirty="0">
                <a:solidFill>
                  <a:srgbClr val="0053E2"/>
                </a:solidFill>
                <a:latin typeface="Everyday Sans Headline Light" pitchFamily="34" charset="0"/>
                <a:ea typeface="Everyday Sans Headline Light" pitchFamily="34" charset="-122"/>
                <a:cs typeface="Everyday Sans Headline Light" pitchFamily="34" charset="-120"/>
              </a:rPr>
              <a:t>Efficient</a:t>
            </a:r>
            <a:endParaRPr lang="en-US" sz="2000" dirty="0"/>
          </a:p>
        </p:txBody>
      </p:sp>
      <p:sp>
        <p:nvSpPr>
          <p:cNvPr id="19" name="Text 17"/>
          <p:cNvSpPr txBox="1"/>
          <p:nvPr/>
        </p:nvSpPr>
        <p:spPr>
          <a:xfrm>
            <a:off x="508000" y="3316585"/>
            <a:ext cx="349758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3D4A63"/>
                </a:solidFill>
                <a:latin typeface="Everyday Sans Headline Light" pitchFamily="34" charset="0"/>
                <a:ea typeface="Everyday Sans Headline Light" pitchFamily="34" charset="-122"/>
                <a:cs typeface="Everyday Sans Headline Light" pitchFamily="34" charset="-120"/>
              </a:rPr>
              <a:t>Inconsistent</a:t>
            </a:r>
            <a:endParaRPr lang="en-US" sz="1600" dirty="0"/>
          </a:p>
        </p:txBody>
      </p:sp>
      <p:sp>
        <p:nvSpPr>
          <p:cNvPr id="20" name="Text 18"/>
          <p:cNvSpPr txBox="1"/>
          <p:nvPr/>
        </p:nvSpPr>
        <p:spPr>
          <a:xfrm>
            <a:off x="3771900" y="3348335"/>
            <a:ext cx="457200" cy="190500"/>
          </a:xfrm>
          <a:prstGeom prst="rect">
            <a:avLst/>
          </a:prstGeom>
          <a:noFill/>
          <a:ln/>
        </p:spPr>
        <p:txBody>
          <a:bodyPr wrap="square" lIns="0" tIns="0" rIns="0" bIns="0" rtlCol="0" anchor="t"/>
          <a:lstStyle/>
          <a:p>
            <a:pPr algn="ctr" indent="0" marL="0">
              <a:lnSpc>
                <a:spcPts val="1440"/>
              </a:lnSpc>
              <a:buNone/>
            </a:pPr>
            <a:r>
              <a:rPr lang="en-US" sz="1200" dirty="0">
                <a:solidFill>
                  <a:srgbClr val="0053E2"/>
                </a:solidFill>
                <a:latin typeface="Everyday Sans UI" pitchFamily="34" charset="0"/>
                <a:ea typeface="Everyday Sans UI" pitchFamily="34" charset="-122"/>
                <a:cs typeface="Everyday Sans UI" pitchFamily="34" charset="-120"/>
              </a:rPr>
              <a:t>→</a:t>
            </a:r>
            <a:endParaRPr lang="en-US" sz="1200" dirty="0"/>
          </a:p>
        </p:txBody>
      </p:sp>
      <p:sp>
        <p:nvSpPr>
          <p:cNvPr id="21" name="Text 19"/>
          <p:cNvSpPr txBox="1"/>
          <p:nvPr/>
        </p:nvSpPr>
        <p:spPr>
          <a:xfrm>
            <a:off x="4254500" y="3284835"/>
            <a:ext cx="3497580" cy="317500"/>
          </a:xfrm>
          <a:prstGeom prst="rect">
            <a:avLst/>
          </a:prstGeom>
          <a:noFill/>
          <a:ln/>
        </p:spPr>
        <p:txBody>
          <a:bodyPr wrap="square" lIns="0" tIns="0" rIns="0" bIns="0" rtlCol="0" anchor="t"/>
          <a:lstStyle/>
          <a:p>
            <a:pPr algn="l" indent="0" marL="0">
              <a:lnSpc>
                <a:spcPts val="2400"/>
              </a:lnSpc>
              <a:buNone/>
            </a:pPr>
            <a:r>
              <a:rPr lang="en-US" sz="2000" spc="-60" kern="0" dirty="0">
                <a:solidFill>
                  <a:srgbClr val="0053E2"/>
                </a:solidFill>
                <a:latin typeface="Everyday Sans Headline Light" pitchFamily="34" charset="0"/>
                <a:ea typeface="Everyday Sans Headline Light" pitchFamily="34" charset="-122"/>
                <a:cs typeface="Everyday Sans Headline Light" pitchFamily="34" charset="-120"/>
              </a:rPr>
              <a:t>Predictable</a:t>
            </a:r>
            <a:endParaRPr lang="en-US" sz="2000" dirty="0"/>
          </a:p>
        </p:txBody>
      </p:sp>
      <p:sp>
        <p:nvSpPr>
          <p:cNvPr id="22" name="Text 20"/>
          <p:cNvSpPr txBox="1"/>
          <p:nvPr/>
        </p:nvSpPr>
        <p:spPr>
          <a:xfrm>
            <a:off x="508000" y="3767435"/>
            <a:ext cx="349758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3D4A63"/>
                </a:solidFill>
                <a:latin typeface="Everyday Sans Headline Light" pitchFamily="34" charset="0"/>
                <a:ea typeface="Everyday Sans Headline Light" pitchFamily="34" charset="-122"/>
                <a:cs typeface="Everyday Sans Headline Light" pitchFamily="34" charset="-120"/>
              </a:rPr>
              <a:t>Fragmented</a:t>
            </a:r>
            <a:endParaRPr lang="en-US" sz="1600" dirty="0"/>
          </a:p>
        </p:txBody>
      </p:sp>
      <p:sp>
        <p:nvSpPr>
          <p:cNvPr id="23" name="Text 21"/>
          <p:cNvSpPr txBox="1"/>
          <p:nvPr/>
        </p:nvSpPr>
        <p:spPr>
          <a:xfrm>
            <a:off x="3771900" y="3799185"/>
            <a:ext cx="457200" cy="190500"/>
          </a:xfrm>
          <a:prstGeom prst="rect">
            <a:avLst/>
          </a:prstGeom>
          <a:noFill/>
          <a:ln/>
        </p:spPr>
        <p:txBody>
          <a:bodyPr wrap="square" lIns="0" tIns="0" rIns="0" bIns="0" rtlCol="0" anchor="t"/>
          <a:lstStyle/>
          <a:p>
            <a:pPr algn="ctr" indent="0" marL="0">
              <a:lnSpc>
                <a:spcPts val="1440"/>
              </a:lnSpc>
              <a:buNone/>
            </a:pPr>
            <a:r>
              <a:rPr lang="en-US" sz="1200" dirty="0">
                <a:solidFill>
                  <a:srgbClr val="0053E2"/>
                </a:solidFill>
                <a:latin typeface="Everyday Sans UI" pitchFamily="34" charset="0"/>
                <a:ea typeface="Everyday Sans UI" pitchFamily="34" charset="-122"/>
                <a:cs typeface="Everyday Sans UI" pitchFamily="34" charset="-120"/>
              </a:rPr>
              <a:t>→</a:t>
            </a:r>
            <a:endParaRPr lang="en-US" sz="1200" dirty="0"/>
          </a:p>
        </p:txBody>
      </p:sp>
      <p:sp>
        <p:nvSpPr>
          <p:cNvPr id="24" name="Text 22"/>
          <p:cNvSpPr txBox="1"/>
          <p:nvPr/>
        </p:nvSpPr>
        <p:spPr>
          <a:xfrm>
            <a:off x="4254500" y="3735685"/>
            <a:ext cx="3497580" cy="317500"/>
          </a:xfrm>
          <a:prstGeom prst="rect">
            <a:avLst/>
          </a:prstGeom>
          <a:noFill/>
          <a:ln/>
        </p:spPr>
        <p:txBody>
          <a:bodyPr wrap="square" lIns="0" tIns="0" rIns="0" bIns="0" rtlCol="0" anchor="t"/>
          <a:lstStyle/>
          <a:p>
            <a:pPr algn="l" indent="0" marL="0">
              <a:lnSpc>
                <a:spcPts val="2400"/>
              </a:lnSpc>
              <a:buNone/>
            </a:pPr>
            <a:r>
              <a:rPr lang="en-US" sz="2000" spc="-60" kern="0" dirty="0">
                <a:solidFill>
                  <a:srgbClr val="0053E2"/>
                </a:solidFill>
                <a:latin typeface="Everyday Sans Headline Light" pitchFamily="34" charset="0"/>
                <a:ea typeface="Everyday Sans Headline Light" pitchFamily="34" charset="-122"/>
                <a:cs typeface="Everyday Sans Headline Light" pitchFamily="34" charset="-120"/>
              </a:rPr>
              <a:t>Connected</a:t>
            </a:r>
            <a:endParaRPr lang="en-US" sz="2000" dirty="0"/>
          </a:p>
        </p:txBody>
      </p:sp>
      <p:sp>
        <p:nvSpPr>
          <p:cNvPr id="25" name="Text 23"/>
          <p:cNvSpPr txBox="1"/>
          <p:nvPr/>
        </p:nvSpPr>
        <p:spPr>
          <a:xfrm>
            <a:off x="508000" y="4218285"/>
            <a:ext cx="349758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3D4A63"/>
                </a:solidFill>
                <a:latin typeface="Everyday Sans Headline Light" pitchFamily="34" charset="0"/>
                <a:ea typeface="Everyday Sans Headline Light" pitchFamily="34" charset="-122"/>
                <a:cs typeface="Everyday Sans Headline Light" pitchFamily="34" charset="-120"/>
              </a:rPr>
              <a:t>Complex</a:t>
            </a:r>
            <a:endParaRPr lang="en-US" sz="1600" dirty="0"/>
          </a:p>
        </p:txBody>
      </p:sp>
      <p:sp>
        <p:nvSpPr>
          <p:cNvPr id="26" name="Text 24"/>
          <p:cNvSpPr txBox="1"/>
          <p:nvPr/>
        </p:nvSpPr>
        <p:spPr>
          <a:xfrm>
            <a:off x="3771900" y="4250035"/>
            <a:ext cx="457200" cy="190500"/>
          </a:xfrm>
          <a:prstGeom prst="rect">
            <a:avLst/>
          </a:prstGeom>
          <a:noFill/>
          <a:ln/>
        </p:spPr>
        <p:txBody>
          <a:bodyPr wrap="square" lIns="0" tIns="0" rIns="0" bIns="0" rtlCol="0" anchor="t"/>
          <a:lstStyle/>
          <a:p>
            <a:pPr algn="ctr" indent="0" marL="0">
              <a:lnSpc>
                <a:spcPts val="1440"/>
              </a:lnSpc>
              <a:buNone/>
            </a:pPr>
            <a:r>
              <a:rPr lang="en-US" sz="1200" dirty="0">
                <a:solidFill>
                  <a:srgbClr val="0053E2"/>
                </a:solidFill>
                <a:latin typeface="Everyday Sans UI" pitchFamily="34" charset="0"/>
                <a:ea typeface="Everyday Sans UI" pitchFamily="34" charset="-122"/>
                <a:cs typeface="Everyday Sans UI" pitchFamily="34" charset="-120"/>
              </a:rPr>
              <a:t>→</a:t>
            </a:r>
            <a:endParaRPr lang="en-US" sz="1200" dirty="0"/>
          </a:p>
        </p:txBody>
      </p:sp>
      <p:sp>
        <p:nvSpPr>
          <p:cNvPr id="27" name="Text 25"/>
          <p:cNvSpPr txBox="1"/>
          <p:nvPr/>
        </p:nvSpPr>
        <p:spPr>
          <a:xfrm>
            <a:off x="4254500" y="4186535"/>
            <a:ext cx="3497580" cy="317500"/>
          </a:xfrm>
          <a:prstGeom prst="rect">
            <a:avLst/>
          </a:prstGeom>
          <a:noFill/>
          <a:ln/>
        </p:spPr>
        <p:txBody>
          <a:bodyPr wrap="square" lIns="0" tIns="0" rIns="0" bIns="0" rtlCol="0" anchor="t"/>
          <a:lstStyle/>
          <a:p>
            <a:pPr algn="l" indent="0" marL="0">
              <a:lnSpc>
                <a:spcPts val="2400"/>
              </a:lnSpc>
              <a:buNone/>
            </a:pPr>
            <a:r>
              <a:rPr lang="en-US" sz="2000" spc="-60" kern="0" dirty="0">
                <a:solidFill>
                  <a:srgbClr val="0053E2"/>
                </a:solidFill>
                <a:latin typeface="Everyday Sans Headline Light" pitchFamily="34" charset="0"/>
                <a:ea typeface="Everyday Sans Headline Light" pitchFamily="34" charset="-122"/>
                <a:cs typeface="Everyday Sans Headline Light" pitchFamily="34" charset="-120"/>
              </a:rPr>
              <a:t>Intuitive</a:t>
            </a:r>
            <a:endParaRPr lang="en-US" sz="2000" dirty="0"/>
          </a:p>
        </p:txBody>
      </p:sp>
      <p:sp>
        <p:nvSpPr>
          <p:cNvPr id="28" name="Text 26"/>
          <p:cNvSpPr txBox="1"/>
          <p:nvPr/>
        </p:nvSpPr>
        <p:spPr>
          <a:xfrm>
            <a:off x="508000" y="4669135"/>
            <a:ext cx="3497580" cy="254000"/>
          </a:xfrm>
          <a:prstGeom prst="rect">
            <a:avLst/>
          </a:prstGeom>
          <a:noFill/>
          <a:ln/>
        </p:spPr>
        <p:txBody>
          <a:bodyPr wrap="square" lIns="0" tIns="0" rIns="0" bIns="0" rtlCol="0" anchor="t"/>
          <a:lstStyle/>
          <a:p>
            <a:pPr algn="l" indent="0" marL="0">
              <a:lnSpc>
                <a:spcPts val="1920"/>
              </a:lnSpc>
              <a:buNone/>
            </a:pPr>
            <a:r>
              <a:rPr lang="en-US" sz="1600" spc="-48" kern="0" dirty="0">
                <a:solidFill>
                  <a:srgbClr val="3D4A63"/>
                </a:solidFill>
                <a:latin typeface="Everyday Sans Headline Light" pitchFamily="34" charset="0"/>
                <a:ea typeface="Everyday Sans Headline Light" pitchFamily="34" charset="-122"/>
                <a:cs typeface="Everyday Sans Headline Light" pitchFamily="34" charset="-120"/>
              </a:rPr>
              <a:t>Unclear</a:t>
            </a:r>
            <a:endParaRPr lang="en-US" sz="1600" dirty="0"/>
          </a:p>
        </p:txBody>
      </p:sp>
      <p:sp>
        <p:nvSpPr>
          <p:cNvPr id="29" name="Text 27"/>
          <p:cNvSpPr txBox="1"/>
          <p:nvPr/>
        </p:nvSpPr>
        <p:spPr>
          <a:xfrm>
            <a:off x="3771900" y="4700885"/>
            <a:ext cx="457200" cy="190500"/>
          </a:xfrm>
          <a:prstGeom prst="rect">
            <a:avLst/>
          </a:prstGeom>
          <a:noFill/>
          <a:ln/>
        </p:spPr>
        <p:txBody>
          <a:bodyPr wrap="square" lIns="0" tIns="0" rIns="0" bIns="0" rtlCol="0" anchor="t"/>
          <a:lstStyle/>
          <a:p>
            <a:pPr algn="ctr" indent="0" marL="0">
              <a:lnSpc>
                <a:spcPts val="1440"/>
              </a:lnSpc>
              <a:buNone/>
            </a:pPr>
            <a:r>
              <a:rPr lang="en-US" sz="1200" dirty="0">
                <a:solidFill>
                  <a:srgbClr val="0053E2"/>
                </a:solidFill>
                <a:latin typeface="Everyday Sans UI" pitchFamily="34" charset="0"/>
                <a:ea typeface="Everyday Sans UI" pitchFamily="34" charset="-122"/>
                <a:cs typeface="Everyday Sans UI" pitchFamily="34" charset="-120"/>
              </a:rPr>
              <a:t>→</a:t>
            </a:r>
            <a:endParaRPr lang="en-US" sz="1200" dirty="0"/>
          </a:p>
        </p:txBody>
      </p:sp>
      <p:sp>
        <p:nvSpPr>
          <p:cNvPr id="30" name="Text 28"/>
          <p:cNvSpPr txBox="1"/>
          <p:nvPr/>
        </p:nvSpPr>
        <p:spPr>
          <a:xfrm>
            <a:off x="4254500" y="4637385"/>
            <a:ext cx="3497580" cy="317500"/>
          </a:xfrm>
          <a:prstGeom prst="rect">
            <a:avLst/>
          </a:prstGeom>
          <a:noFill/>
          <a:ln/>
        </p:spPr>
        <p:txBody>
          <a:bodyPr wrap="square" lIns="0" tIns="0" rIns="0" bIns="0" rtlCol="0" anchor="t"/>
          <a:lstStyle/>
          <a:p>
            <a:pPr algn="l" indent="0" marL="0">
              <a:lnSpc>
                <a:spcPts val="2400"/>
              </a:lnSpc>
              <a:buNone/>
            </a:pPr>
            <a:r>
              <a:rPr lang="en-US" sz="2000" spc="-60" kern="0" dirty="0">
                <a:solidFill>
                  <a:srgbClr val="0053E2"/>
                </a:solidFill>
                <a:latin typeface="Everyday Sans Headline Light" pitchFamily="34" charset="0"/>
                <a:ea typeface="Everyday Sans Headline Light" pitchFamily="34" charset="-122"/>
                <a:cs typeface="Everyday Sans Headline Light" pitchFamily="34" charset="-120"/>
              </a:rPr>
              <a:t>Transparent</a:t>
            </a:r>
            <a:endParaRPr lang="en-US" sz="2000" dirty="0"/>
          </a:p>
        </p:txBody>
      </p:sp>
      <p:sp>
        <p:nvSpPr>
          <p:cNvPr id="31" name="Text 29"/>
          <p:cNvSpPr txBox="1"/>
          <p:nvPr/>
        </p:nvSpPr>
        <p:spPr>
          <a:xfrm>
            <a:off x="508000" y="537398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FOR DISPLAY</a:t>
            </a:r>
            <a:endParaRPr lang="en-US" sz="550" dirty="0"/>
          </a:p>
        </p:txBody>
      </p:sp>
      <p:sp>
        <p:nvSpPr>
          <p:cNvPr id="32" name="Text 30"/>
          <p:cNvSpPr txBox="1"/>
          <p:nvPr/>
        </p:nvSpPr>
        <p:spPr>
          <a:xfrm>
            <a:off x="508000" y="5513685"/>
            <a:ext cx="5815584"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Easier setup, clearer controls, faster diagnosis and more actionable optimization.</a:t>
            </a:r>
            <a:endParaRPr lang="en-US" sz="900" dirty="0"/>
          </a:p>
        </p:txBody>
      </p:sp>
      <p:sp>
        <p:nvSpPr>
          <p:cNvPr id="33" name="Text 31"/>
          <p:cNvSpPr txBox="1"/>
          <p:nvPr/>
        </p:nvSpPr>
        <p:spPr>
          <a:xfrm>
            <a:off x="6299200" y="537398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FOR EVERY CHANNEL</a:t>
            </a:r>
            <a:endParaRPr lang="en-US" sz="550" dirty="0"/>
          </a:p>
        </p:txBody>
      </p:sp>
      <p:sp>
        <p:nvSpPr>
          <p:cNvPr id="34" name="Text 32"/>
          <p:cNvSpPr txBox="1"/>
          <p:nvPr/>
        </p:nvSpPr>
        <p:spPr>
          <a:xfrm>
            <a:off x="6299200" y="5513685"/>
            <a:ext cx="5815584"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Familiar patterns, reusable capabilities, consistent measurement and fewer systems to learn.</a:t>
            </a:r>
            <a:endParaRPr lang="en-US" sz="900" dirty="0"/>
          </a:p>
        </p:txBody>
      </p:sp>
      <p:pic>
        <p:nvPicPr>
          <p:cNvPr id="3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6" name="Text 33"/>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37" name="Text 3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12 / 15</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486470" cy="127000"/>
          </a:xfrm>
          <a:prstGeom prst="roundRect">
            <a:avLst>
              <a:gd name="adj" fmla="val 360000"/>
            </a:avLst>
          </a:prstGeom>
          <a:solidFill>
            <a:srgbClr val="D7EEF9"/>
          </a:solidFill>
          <a:ln/>
        </p:spPr>
      </p:sp>
      <p:sp>
        <p:nvSpPr>
          <p:cNvPr id="3" name="Shape 1"/>
          <p:cNvSpPr/>
          <p:nvPr/>
        </p:nvSpPr>
        <p:spPr>
          <a:xfrm>
            <a:off x="508000" y="3016548"/>
            <a:ext cx="2603500" cy="0"/>
          </a:xfrm>
          <a:prstGeom prst="line">
            <a:avLst/>
          </a:prstGeom>
          <a:noFill/>
          <a:ln w="6350">
            <a:solidFill>
              <a:srgbClr val="0053E2"/>
            </a:solidFill>
            <a:prstDash val="solid"/>
          </a:ln>
        </p:spPr>
      </p:sp>
      <p:sp>
        <p:nvSpPr>
          <p:cNvPr id="4" name="Shape 2"/>
          <p:cNvSpPr/>
          <p:nvPr/>
        </p:nvSpPr>
        <p:spPr>
          <a:xfrm>
            <a:off x="508000" y="3365798"/>
            <a:ext cx="2603500" cy="0"/>
          </a:xfrm>
          <a:prstGeom prst="line">
            <a:avLst/>
          </a:prstGeom>
          <a:noFill/>
          <a:ln w="6350">
            <a:solidFill>
              <a:srgbClr val="E4E8EF"/>
            </a:solidFill>
            <a:prstDash val="solid"/>
          </a:ln>
        </p:spPr>
      </p:sp>
      <p:sp>
        <p:nvSpPr>
          <p:cNvPr id="5" name="Shape 3"/>
          <p:cNvSpPr/>
          <p:nvPr/>
        </p:nvSpPr>
        <p:spPr>
          <a:xfrm>
            <a:off x="508000" y="3457873"/>
            <a:ext cx="50800" cy="50800"/>
          </a:xfrm>
          <a:prstGeom prst="ellipse">
            <a:avLst/>
          </a:prstGeom>
          <a:solidFill>
            <a:srgbClr val="0053E2"/>
          </a:solidFill>
          <a:ln/>
        </p:spPr>
      </p:sp>
      <p:sp>
        <p:nvSpPr>
          <p:cNvPr id="6" name="Shape 4"/>
          <p:cNvSpPr/>
          <p:nvPr/>
        </p:nvSpPr>
        <p:spPr>
          <a:xfrm>
            <a:off x="508000" y="3610868"/>
            <a:ext cx="2603500" cy="0"/>
          </a:xfrm>
          <a:prstGeom prst="line">
            <a:avLst/>
          </a:prstGeom>
          <a:noFill/>
          <a:ln w="6350">
            <a:solidFill>
              <a:srgbClr val="E4E8EF"/>
            </a:solidFill>
            <a:prstDash val="solid"/>
          </a:ln>
        </p:spPr>
      </p:sp>
      <p:sp>
        <p:nvSpPr>
          <p:cNvPr id="7" name="Shape 5"/>
          <p:cNvSpPr/>
          <p:nvPr/>
        </p:nvSpPr>
        <p:spPr>
          <a:xfrm>
            <a:off x="508000" y="3702943"/>
            <a:ext cx="50800" cy="50800"/>
          </a:xfrm>
          <a:prstGeom prst="ellipse">
            <a:avLst/>
          </a:prstGeom>
          <a:solidFill>
            <a:srgbClr val="0053E2"/>
          </a:solidFill>
          <a:ln/>
        </p:spPr>
      </p:sp>
      <p:sp>
        <p:nvSpPr>
          <p:cNvPr id="8" name="Shape 6"/>
          <p:cNvSpPr/>
          <p:nvPr/>
        </p:nvSpPr>
        <p:spPr>
          <a:xfrm>
            <a:off x="508000" y="3855938"/>
            <a:ext cx="2603500" cy="0"/>
          </a:xfrm>
          <a:prstGeom prst="line">
            <a:avLst/>
          </a:prstGeom>
          <a:noFill/>
          <a:ln w="6350">
            <a:solidFill>
              <a:srgbClr val="E4E8EF"/>
            </a:solidFill>
            <a:prstDash val="solid"/>
          </a:ln>
        </p:spPr>
      </p:sp>
      <p:sp>
        <p:nvSpPr>
          <p:cNvPr id="9" name="Shape 7"/>
          <p:cNvSpPr/>
          <p:nvPr/>
        </p:nvSpPr>
        <p:spPr>
          <a:xfrm>
            <a:off x="508000" y="3948013"/>
            <a:ext cx="50800" cy="50800"/>
          </a:xfrm>
          <a:prstGeom prst="ellipse">
            <a:avLst/>
          </a:prstGeom>
          <a:solidFill>
            <a:srgbClr val="0053E2"/>
          </a:solidFill>
          <a:ln/>
        </p:spPr>
      </p:sp>
      <p:sp>
        <p:nvSpPr>
          <p:cNvPr id="10" name="Shape 8"/>
          <p:cNvSpPr/>
          <p:nvPr/>
        </p:nvSpPr>
        <p:spPr>
          <a:xfrm>
            <a:off x="3365500" y="3016548"/>
            <a:ext cx="2603500" cy="0"/>
          </a:xfrm>
          <a:prstGeom prst="line">
            <a:avLst/>
          </a:prstGeom>
          <a:noFill/>
          <a:ln w="6350">
            <a:solidFill>
              <a:srgbClr val="0053E2"/>
            </a:solidFill>
            <a:prstDash val="solid"/>
          </a:ln>
        </p:spPr>
      </p:sp>
      <p:sp>
        <p:nvSpPr>
          <p:cNvPr id="11" name="Shape 9"/>
          <p:cNvSpPr/>
          <p:nvPr/>
        </p:nvSpPr>
        <p:spPr>
          <a:xfrm>
            <a:off x="3365500" y="3365798"/>
            <a:ext cx="2603500" cy="0"/>
          </a:xfrm>
          <a:prstGeom prst="line">
            <a:avLst/>
          </a:prstGeom>
          <a:noFill/>
          <a:ln w="6350">
            <a:solidFill>
              <a:srgbClr val="E4E8EF"/>
            </a:solidFill>
            <a:prstDash val="solid"/>
          </a:ln>
        </p:spPr>
      </p:sp>
      <p:sp>
        <p:nvSpPr>
          <p:cNvPr id="12" name="Shape 10"/>
          <p:cNvSpPr/>
          <p:nvPr/>
        </p:nvSpPr>
        <p:spPr>
          <a:xfrm>
            <a:off x="3365500" y="3457873"/>
            <a:ext cx="50800" cy="50800"/>
          </a:xfrm>
          <a:prstGeom prst="ellipse">
            <a:avLst/>
          </a:prstGeom>
          <a:solidFill>
            <a:srgbClr val="0053E2"/>
          </a:solidFill>
          <a:ln/>
        </p:spPr>
      </p:sp>
      <p:sp>
        <p:nvSpPr>
          <p:cNvPr id="13" name="Shape 11"/>
          <p:cNvSpPr/>
          <p:nvPr/>
        </p:nvSpPr>
        <p:spPr>
          <a:xfrm>
            <a:off x="3365500" y="3610868"/>
            <a:ext cx="2603500" cy="0"/>
          </a:xfrm>
          <a:prstGeom prst="line">
            <a:avLst/>
          </a:prstGeom>
          <a:noFill/>
          <a:ln w="6350">
            <a:solidFill>
              <a:srgbClr val="E4E8EF"/>
            </a:solidFill>
            <a:prstDash val="solid"/>
          </a:ln>
        </p:spPr>
      </p:sp>
      <p:sp>
        <p:nvSpPr>
          <p:cNvPr id="14" name="Shape 12"/>
          <p:cNvSpPr/>
          <p:nvPr/>
        </p:nvSpPr>
        <p:spPr>
          <a:xfrm>
            <a:off x="3365500" y="3855938"/>
            <a:ext cx="2603500" cy="0"/>
          </a:xfrm>
          <a:prstGeom prst="line">
            <a:avLst/>
          </a:prstGeom>
          <a:noFill/>
          <a:ln w="6350">
            <a:solidFill>
              <a:srgbClr val="E4E8EF"/>
            </a:solidFill>
            <a:prstDash val="solid"/>
          </a:ln>
        </p:spPr>
      </p:sp>
      <p:sp>
        <p:nvSpPr>
          <p:cNvPr id="15" name="Shape 13"/>
          <p:cNvSpPr/>
          <p:nvPr/>
        </p:nvSpPr>
        <p:spPr>
          <a:xfrm>
            <a:off x="3365500" y="3948013"/>
            <a:ext cx="50800" cy="50800"/>
          </a:xfrm>
          <a:prstGeom prst="ellipse">
            <a:avLst/>
          </a:prstGeom>
          <a:solidFill>
            <a:srgbClr val="0053E2"/>
          </a:solidFill>
          <a:ln/>
        </p:spPr>
      </p:sp>
      <p:sp>
        <p:nvSpPr>
          <p:cNvPr id="16" name="Shape 14"/>
          <p:cNvSpPr/>
          <p:nvPr/>
        </p:nvSpPr>
        <p:spPr>
          <a:xfrm>
            <a:off x="3365500" y="4101009"/>
            <a:ext cx="2603500" cy="0"/>
          </a:xfrm>
          <a:prstGeom prst="line">
            <a:avLst/>
          </a:prstGeom>
          <a:noFill/>
          <a:ln w="6350">
            <a:solidFill>
              <a:srgbClr val="E4E8EF"/>
            </a:solidFill>
            <a:prstDash val="solid"/>
          </a:ln>
        </p:spPr>
      </p:sp>
      <p:sp>
        <p:nvSpPr>
          <p:cNvPr id="17" name="Shape 15"/>
          <p:cNvSpPr/>
          <p:nvPr/>
        </p:nvSpPr>
        <p:spPr>
          <a:xfrm>
            <a:off x="3365500" y="4193084"/>
            <a:ext cx="50800" cy="50800"/>
          </a:xfrm>
          <a:prstGeom prst="ellipse">
            <a:avLst/>
          </a:prstGeom>
          <a:solidFill>
            <a:srgbClr val="0053E2"/>
          </a:solidFill>
          <a:ln/>
        </p:spPr>
      </p:sp>
      <p:sp>
        <p:nvSpPr>
          <p:cNvPr id="18" name="Shape 16"/>
          <p:cNvSpPr/>
          <p:nvPr/>
        </p:nvSpPr>
        <p:spPr>
          <a:xfrm>
            <a:off x="3365500" y="4346079"/>
            <a:ext cx="2603500" cy="0"/>
          </a:xfrm>
          <a:prstGeom prst="line">
            <a:avLst/>
          </a:prstGeom>
          <a:noFill/>
          <a:ln w="6350">
            <a:solidFill>
              <a:srgbClr val="E4E8EF"/>
            </a:solidFill>
            <a:prstDash val="solid"/>
          </a:ln>
        </p:spPr>
      </p:sp>
      <p:sp>
        <p:nvSpPr>
          <p:cNvPr id="19" name="Shape 17"/>
          <p:cNvSpPr/>
          <p:nvPr/>
        </p:nvSpPr>
        <p:spPr>
          <a:xfrm>
            <a:off x="3365500" y="4438154"/>
            <a:ext cx="50800" cy="50800"/>
          </a:xfrm>
          <a:prstGeom prst="ellipse">
            <a:avLst/>
          </a:prstGeom>
          <a:solidFill>
            <a:srgbClr val="0053E2"/>
          </a:solidFill>
          <a:ln/>
        </p:spPr>
      </p:sp>
      <p:sp>
        <p:nvSpPr>
          <p:cNvPr id="20" name="Shape 18"/>
          <p:cNvSpPr/>
          <p:nvPr/>
        </p:nvSpPr>
        <p:spPr>
          <a:xfrm>
            <a:off x="6223000" y="3016548"/>
            <a:ext cx="2603500" cy="0"/>
          </a:xfrm>
          <a:prstGeom prst="line">
            <a:avLst/>
          </a:prstGeom>
          <a:noFill/>
          <a:ln w="6350">
            <a:solidFill>
              <a:srgbClr val="0053E2"/>
            </a:solidFill>
            <a:prstDash val="solid"/>
          </a:ln>
        </p:spPr>
      </p:sp>
      <p:sp>
        <p:nvSpPr>
          <p:cNvPr id="21" name="Shape 19"/>
          <p:cNvSpPr/>
          <p:nvPr/>
        </p:nvSpPr>
        <p:spPr>
          <a:xfrm>
            <a:off x="6223000" y="3365798"/>
            <a:ext cx="2603500" cy="0"/>
          </a:xfrm>
          <a:prstGeom prst="line">
            <a:avLst/>
          </a:prstGeom>
          <a:noFill/>
          <a:ln w="6350">
            <a:solidFill>
              <a:srgbClr val="E4E8EF"/>
            </a:solidFill>
            <a:prstDash val="solid"/>
          </a:ln>
        </p:spPr>
      </p:sp>
      <p:sp>
        <p:nvSpPr>
          <p:cNvPr id="22" name="Shape 20"/>
          <p:cNvSpPr/>
          <p:nvPr/>
        </p:nvSpPr>
        <p:spPr>
          <a:xfrm>
            <a:off x="6223000" y="3457873"/>
            <a:ext cx="50800" cy="50800"/>
          </a:xfrm>
          <a:prstGeom prst="ellipse">
            <a:avLst/>
          </a:prstGeom>
          <a:solidFill>
            <a:srgbClr val="0053E2"/>
          </a:solidFill>
          <a:ln/>
        </p:spPr>
      </p:sp>
      <p:sp>
        <p:nvSpPr>
          <p:cNvPr id="23" name="Shape 21"/>
          <p:cNvSpPr/>
          <p:nvPr/>
        </p:nvSpPr>
        <p:spPr>
          <a:xfrm>
            <a:off x="6223000" y="3610868"/>
            <a:ext cx="2603500" cy="0"/>
          </a:xfrm>
          <a:prstGeom prst="line">
            <a:avLst/>
          </a:prstGeom>
          <a:noFill/>
          <a:ln w="6350">
            <a:solidFill>
              <a:srgbClr val="E4E8EF"/>
            </a:solidFill>
            <a:prstDash val="solid"/>
          </a:ln>
        </p:spPr>
      </p:sp>
      <p:sp>
        <p:nvSpPr>
          <p:cNvPr id="24" name="Shape 22"/>
          <p:cNvSpPr/>
          <p:nvPr/>
        </p:nvSpPr>
        <p:spPr>
          <a:xfrm>
            <a:off x="6223000" y="3702943"/>
            <a:ext cx="50800" cy="50800"/>
          </a:xfrm>
          <a:prstGeom prst="ellipse">
            <a:avLst/>
          </a:prstGeom>
          <a:solidFill>
            <a:srgbClr val="0053E2"/>
          </a:solidFill>
          <a:ln/>
        </p:spPr>
      </p:sp>
      <p:sp>
        <p:nvSpPr>
          <p:cNvPr id="25" name="Shape 23"/>
          <p:cNvSpPr/>
          <p:nvPr/>
        </p:nvSpPr>
        <p:spPr>
          <a:xfrm>
            <a:off x="6223000" y="3855938"/>
            <a:ext cx="2603500" cy="0"/>
          </a:xfrm>
          <a:prstGeom prst="line">
            <a:avLst/>
          </a:prstGeom>
          <a:noFill/>
          <a:ln w="6350">
            <a:solidFill>
              <a:srgbClr val="E4E8EF"/>
            </a:solidFill>
            <a:prstDash val="solid"/>
          </a:ln>
        </p:spPr>
      </p:sp>
      <p:sp>
        <p:nvSpPr>
          <p:cNvPr id="26" name="Shape 24"/>
          <p:cNvSpPr/>
          <p:nvPr/>
        </p:nvSpPr>
        <p:spPr>
          <a:xfrm>
            <a:off x="6223000" y="4101009"/>
            <a:ext cx="2603500" cy="0"/>
          </a:xfrm>
          <a:prstGeom prst="line">
            <a:avLst/>
          </a:prstGeom>
          <a:noFill/>
          <a:ln w="6350">
            <a:solidFill>
              <a:srgbClr val="E4E8EF"/>
            </a:solidFill>
            <a:prstDash val="solid"/>
          </a:ln>
        </p:spPr>
      </p:sp>
      <p:sp>
        <p:nvSpPr>
          <p:cNvPr id="27" name="Shape 25"/>
          <p:cNvSpPr/>
          <p:nvPr/>
        </p:nvSpPr>
        <p:spPr>
          <a:xfrm>
            <a:off x="6223000" y="4193084"/>
            <a:ext cx="50800" cy="50800"/>
          </a:xfrm>
          <a:prstGeom prst="ellipse">
            <a:avLst/>
          </a:prstGeom>
          <a:solidFill>
            <a:srgbClr val="0053E2"/>
          </a:solidFill>
          <a:ln/>
        </p:spPr>
      </p:sp>
      <p:sp>
        <p:nvSpPr>
          <p:cNvPr id="28" name="Shape 26"/>
          <p:cNvSpPr/>
          <p:nvPr/>
        </p:nvSpPr>
        <p:spPr>
          <a:xfrm>
            <a:off x="6223000" y="4346079"/>
            <a:ext cx="2603500" cy="0"/>
          </a:xfrm>
          <a:prstGeom prst="line">
            <a:avLst/>
          </a:prstGeom>
          <a:noFill/>
          <a:ln w="6350">
            <a:solidFill>
              <a:srgbClr val="E4E8EF"/>
            </a:solidFill>
            <a:prstDash val="solid"/>
          </a:ln>
        </p:spPr>
      </p:sp>
      <p:sp>
        <p:nvSpPr>
          <p:cNvPr id="29" name="Shape 27"/>
          <p:cNvSpPr/>
          <p:nvPr/>
        </p:nvSpPr>
        <p:spPr>
          <a:xfrm>
            <a:off x="6223000" y="4438154"/>
            <a:ext cx="50800" cy="50800"/>
          </a:xfrm>
          <a:prstGeom prst="ellipse">
            <a:avLst/>
          </a:prstGeom>
          <a:solidFill>
            <a:srgbClr val="0053E2"/>
          </a:solidFill>
          <a:ln/>
        </p:spPr>
      </p:sp>
      <p:sp>
        <p:nvSpPr>
          <p:cNvPr id="30" name="Shape 28"/>
          <p:cNvSpPr/>
          <p:nvPr/>
        </p:nvSpPr>
        <p:spPr>
          <a:xfrm>
            <a:off x="9080500" y="3016548"/>
            <a:ext cx="2603500" cy="0"/>
          </a:xfrm>
          <a:prstGeom prst="line">
            <a:avLst/>
          </a:prstGeom>
          <a:noFill/>
          <a:ln w="6350">
            <a:solidFill>
              <a:srgbClr val="0053E2"/>
            </a:solidFill>
            <a:prstDash val="solid"/>
          </a:ln>
        </p:spPr>
      </p:sp>
      <p:sp>
        <p:nvSpPr>
          <p:cNvPr id="31" name="Shape 29"/>
          <p:cNvSpPr/>
          <p:nvPr/>
        </p:nvSpPr>
        <p:spPr>
          <a:xfrm>
            <a:off x="9080500" y="3365798"/>
            <a:ext cx="2603500" cy="0"/>
          </a:xfrm>
          <a:prstGeom prst="line">
            <a:avLst/>
          </a:prstGeom>
          <a:noFill/>
          <a:ln w="6350">
            <a:solidFill>
              <a:srgbClr val="E4E8EF"/>
            </a:solidFill>
            <a:prstDash val="solid"/>
          </a:ln>
        </p:spPr>
      </p:sp>
      <p:sp>
        <p:nvSpPr>
          <p:cNvPr id="32" name="Shape 30"/>
          <p:cNvSpPr/>
          <p:nvPr/>
        </p:nvSpPr>
        <p:spPr>
          <a:xfrm>
            <a:off x="9080500" y="3457873"/>
            <a:ext cx="50800" cy="50800"/>
          </a:xfrm>
          <a:prstGeom prst="ellipse">
            <a:avLst/>
          </a:prstGeom>
          <a:solidFill>
            <a:srgbClr val="0053E2"/>
          </a:solidFill>
          <a:ln/>
        </p:spPr>
      </p:sp>
      <p:sp>
        <p:nvSpPr>
          <p:cNvPr id="33" name="Shape 31"/>
          <p:cNvSpPr/>
          <p:nvPr/>
        </p:nvSpPr>
        <p:spPr>
          <a:xfrm>
            <a:off x="9080500" y="3610868"/>
            <a:ext cx="2603500" cy="0"/>
          </a:xfrm>
          <a:prstGeom prst="line">
            <a:avLst/>
          </a:prstGeom>
          <a:noFill/>
          <a:ln w="6350">
            <a:solidFill>
              <a:srgbClr val="E4E8EF"/>
            </a:solidFill>
            <a:prstDash val="solid"/>
          </a:ln>
        </p:spPr>
      </p:sp>
      <p:sp>
        <p:nvSpPr>
          <p:cNvPr id="34" name="Shape 32"/>
          <p:cNvSpPr/>
          <p:nvPr/>
        </p:nvSpPr>
        <p:spPr>
          <a:xfrm>
            <a:off x="9080500" y="3702943"/>
            <a:ext cx="50800" cy="50800"/>
          </a:xfrm>
          <a:prstGeom prst="ellipse">
            <a:avLst/>
          </a:prstGeom>
          <a:solidFill>
            <a:srgbClr val="0053E2"/>
          </a:solidFill>
          <a:ln/>
        </p:spPr>
      </p:sp>
      <p:sp>
        <p:nvSpPr>
          <p:cNvPr id="35" name="Shape 33"/>
          <p:cNvSpPr/>
          <p:nvPr/>
        </p:nvSpPr>
        <p:spPr>
          <a:xfrm>
            <a:off x="9080500" y="3855938"/>
            <a:ext cx="2603500" cy="0"/>
          </a:xfrm>
          <a:prstGeom prst="line">
            <a:avLst/>
          </a:prstGeom>
          <a:noFill/>
          <a:ln w="6350">
            <a:solidFill>
              <a:srgbClr val="E4E8EF"/>
            </a:solidFill>
            <a:prstDash val="solid"/>
          </a:ln>
        </p:spPr>
      </p:sp>
      <p:sp>
        <p:nvSpPr>
          <p:cNvPr id="36" name="Shape 34"/>
          <p:cNvSpPr/>
          <p:nvPr/>
        </p:nvSpPr>
        <p:spPr>
          <a:xfrm>
            <a:off x="9080500" y="3948013"/>
            <a:ext cx="50800" cy="50800"/>
          </a:xfrm>
          <a:prstGeom prst="ellipse">
            <a:avLst/>
          </a:prstGeom>
          <a:solidFill>
            <a:srgbClr val="0053E2"/>
          </a:solidFill>
          <a:ln/>
        </p:spPr>
      </p:sp>
      <p:sp>
        <p:nvSpPr>
          <p:cNvPr id="37" name="Shape 35"/>
          <p:cNvSpPr/>
          <p:nvPr/>
        </p:nvSpPr>
        <p:spPr>
          <a:xfrm>
            <a:off x="9080500" y="4101009"/>
            <a:ext cx="2603500" cy="0"/>
          </a:xfrm>
          <a:prstGeom prst="line">
            <a:avLst/>
          </a:prstGeom>
          <a:noFill/>
          <a:ln w="6350">
            <a:solidFill>
              <a:srgbClr val="E4E8EF"/>
            </a:solidFill>
            <a:prstDash val="solid"/>
          </a:ln>
        </p:spPr>
      </p:sp>
      <p:sp>
        <p:nvSpPr>
          <p:cNvPr id="38" name="Shape 36"/>
          <p:cNvSpPr/>
          <p:nvPr/>
        </p:nvSpPr>
        <p:spPr>
          <a:xfrm>
            <a:off x="9080500" y="4193084"/>
            <a:ext cx="50800" cy="50800"/>
          </a:xfrm>
          <a:prstGeom prst="ellipse">
            <a:avLst/>
          </a:prstGeom>
          <a:solidFill>
            <a:srgbClr val="0053E2"/>
          </a:solidFill>
          <a:ln/>
        </p:spPr>
      </p:sp>
      <p:sp>
        <p:nvSpPr>
          <p:cNvPr id="39" name="Shape 37"/>
          <p:cNvSpPr/>
          <p:nvPr/>
        </p:nvSpPr>
        <p:spPr>
          <a:xfrm>
            <a:off x="9080500" y="4346079"/>
            <a:ext cx="2603500" cy="0"/>
          </a:xfrm>
          <a:prstGeom prst="line">
            <a:avLst/>
          </a:prstGeom>
          <a:noFill/>
          <a:ln w="6350">
            <a:solidFill>
              <a:srgbClr val="E4E8EF"/>
            </a:solidFill>
            <a:prstDash val="solid"/>
          </a:ln>
        </p:spPr>
      </p:sp>
      <p:sp>
        <p:nvSpPr>
          <p:cNvPr id="40" name="Shape 38"/>
          <p:cNvSpPr/>
          <p:nvPr/>
        </p:nvSpPr>
        <p:spPr>
          <a:xfrm>
            <a:off x="9080500" y="4438154"/>
            <a:ext cx="50800" cy="50800"/>
          </a:xfrm>
          <a:prstGeom prst="ellipse">
            <a:avLst/>
          </a:prstGeom>
          <a:solidFill>
            <a:srgbClr val="0053E2"/>
          </a:solidFill>
          <a:ln/>
        </p:spPr>
      </p:sp>
      <p:sp>
        <p:nvSpPr>
          <p:cNvPr id="41" name="Shape 39"/>
          <p:cNvSpPr/>
          <p:nvPr/>
        </p:nvSpPr>
        <p:spPr>
          <a:xfrm>
            <a:off x="508000" y="4845149"/>
            <a:ext cx="11176000" cy="0"/>
          </a:xfrm>
          <a:prstGeom prst="line">
            <a:avLst/>
          </a:prstGeom>
          <a:noFill/>
          <a:ln w="6350">
            <a:solidFill>
              <a:srgbClr val="E4E8EF"/>
            </a:solidFill>
            <a:prstDash val="solid"/>
          </a:ln>
        </p:spPr>
      </p:sp>
      <p:sp>
        <p:nvSpPr>
          <p:cNvPr id="42" name="Shape 40"/>
          <p:cNvSpPr/>
          <p:nvPr/>
        </p:nvSpPr>
        <p:spPr>
          <a:xfrm>
            <a:off x="508000" y="4972149"/>
            <a:ext cx="50800" cy="50800"/>
          </a:xfrm>
          <a:prstGeom prst="ellipse">
            <a:avLst/>
          </a:prstGeom>
          <a:solidFill>
            <a:srgbClr val="0053E2"/>
          </a:solidFill>
          <a:ln/>
        </p:spPr>
      </p:sp>
      <p:sp>
        <p:nvSpPr>
          <p:cNvPr id="43" name="Text 41"/>
          <p:cNvSpPr txBox="1"/>
          <p:nvPr/>
        </p:nvSpPr>
        <p:spPr>
          <a:xfrm>
            <a:off x="501650" y="971550"/>
            <a:ext cx="49917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ROADMAP</a:t>
            </a:r>
            <a:endParaRPr lang="en-US" sz="500" dirty="0"/>
          </a:p>
        </p:txBody>
      </p:sp>
      <p:sp>
        <p:nvSpPr>
          <p:cNvPr id="44" name="Text 42"/>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The work already underway starts building this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future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45" name="Text 43"/>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The strategy does not require starting over. It requires sequencing today’s work so individual initiatives compound into a coherent advertiser experience.</a:t>
            </a:r>
            <a:endParaRPr lang="en-US" sz="900" dirty="0"/>
          </a:p>
        </p:txBody>
      </p:sp>
      <p:sp>
        <p:nvSpPr>
          <p:cNvPr id="46" name="Text 44"/>
          <p:cNvSpPr txBox="1"/>
          <p:nvPr/>
        </p:nvSpPr>
        <p:spPr>
          <a:xfrm>
            <a:off x="508000" y="3121323"/>
            <a:ext cx="2811780" cy="190500"/>
          </a:xfrm>
          <a:prstGeom prst="rect">
            <a:avLst/>
          </a:prstGeom>
          <a:noFill/>
          <a:ln/>
        </p:spPr>
        <p:txBody>
          <a:bodyPr wrap="square" lIns="0" tIns="0" rIns="0" bIns="0" rtlCol="0" anchor="t"/>
          <a:lstStyle/>
          <a:p>
            <a:pPr algn="l" indent="0" marL="0">
              <a:lnSpc>
                <a:spcPts val="1440"/>
              </a:lnSpc>
              <a:buNone/>
            </a:pPr>
            <a:r>
              <a:rPr lang="en-US" sz="1200" spc="-36" kern="0" dirty="0">
                <a:solidFill>
                  <a:srgbClr val="001E60"/>
                </a:solidFill>
                <a:latin typeface="Everyday Sans Headline Light" pitchFamily="34" charset="0"/>
                <a:ea typeface="Everyday Sans Headline Light" pitchFamily="34" charset="-122"/>
                <a:cs typeface="Everyday Sans Headline Light" pitchFamily="34" charset="-120"/>
              </a:rPr>
              <a:t>Understand + diagnose</a:t>
            </a:r>
            <a:endParaRPr lang="en-US" sz="1200" dirty="0"/>
          </a:p>
        </p:txBody>
      </p:sp>
      <p:sp>
        <p:nvSpPr>
          <p:cNvPr id="47" name="Text 45"/>
          <p:cNvSpPr txBox="1"/>
          <p:nvPr/>
        </p:nvSpPr>
        <p:spPr>
          <a:xfrm>
            <a:off x="635000" y="341977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Advertiser Experience Health + Intelligence</a:t>
            </a:r>
            <a:endParaRPr lang="en-US" sz="800" dirty="0"/>
          </a:p>
        </p:txBody>
      </p:sp>
      <p:sp>
        <p:nvSpPr>
          <p:cNvPr id="48" name="Text 46"/>
          <p:cNvSpPr txBox="1"/>
          <p:nvPr/>
        </p:nvSpPr>
        <p:spPr>
          <a:xfrm>
            <a:off x="635000" y="366484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Unified Measurement + Reporting</a:t>
            </a:r>
            <a:endParaRPr lang="en-US" sz="800" dirty="0"/>
          </a:p>
        </p:txBody>
      </p:sp>
      <p:sp>
        <p:nvSpPr>
          <p:cNvPr id="49" name="Text 47"/>
          <p:cNvSpPr txBox="1"/>
          <p:nvPr/>
        </p:nvSpPr>
        <p:spPr>
          <a:xfrm>
            <a:off x="635000" y="390991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Experimentation infrastructure</a:t>
            </a:r>
            <a:endParaRPr lang="en-US" sz="800" dirty="0"/>
          </a:p>
        </p:txBody>
      </p:sp>
      <p:sp>
        <p:nvSpPr>
          <p:cNvPr id="50" name="Text 48"/>
          <p:cNvSpPr txBox="1"/>
          <p:nvPr/>
        </p:nvSpPr>
        <p:spPr>
          <a:xfrm>
            <a:off x="3365500" y="3121323"/>
            <a:ext cx="2811780" cy="190500"/>
          </a:xfrm>
          <a:prstGeom prst="rect">
            <a:avLst/>
          </a:prstGeom>
          <a:noFill/>
          <a:ln/>
        </p:spPr>
        <p:txBody>
          <a:bodyPr wrap="square" lIns="0" tIns="0" rIns="0" bIns="0" rtlCol="0" anchor="t"/>
          <a:lstStyle/>
          <a:p>
            <a:pPr algn="l" indent="0" marL="0">
              <a:lnSpc>
                <a:spcPts val="1440"/>
              </a:lnSpc>
              <a:buNone/>
            </a:pPr>
            <a:r>
              <a:rPr lang="en-US" sz="1200" spc="-36" kern="0" dirty="0">
                <a:solidFill>
                  <a:srgbClr val="001E60"/>
                </a:solidFill>
                <a:latin typeface="Everyday Sans Headline Light" pitchFamily="34" charset="0"/>
                <a:ea typeface="Everyday Sans Headline Light" pitchFamily="34" charset="-122"/>
                <a:cs typeface="Everyday Sans Headline Light" pitchFamily="34" charset="-120"/>
              </a:rPr>
              <a:t>Simplify + modernize</a:t>
            </a:r>
            <a:endParaRPr lang="en-US" sz="1200" dirty="0"/>
          </a:p>
        </p:txBody>
      </p:sp>
      <p:sp>
        <p:nvSpPr>
          <p:cNvPr id="51" name="Text 49"/>
          <p:cNvSpPr txBox="1"/>
          <p:nvPr/>
        </p:nvSpPr>
        <p:spPr>
          <a:xfrm>
            <a:off x="3492500" y="341977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Display campaign redesign</a:t>
            </a:r>
            <a:endParaRPr lang="en-US" sz="800" dirty="0"/>
          </a:p>
        </p:txBody>
      </p:sp>
      <p:sp>
        <p:nvSpPr>
          <p:cNvPr id="52" name="Text 50"/>
          <p:cNvSpPr txBox="1"/>
          <p:nvPr/>
        </p:nvSpPr>
        <p:spPr>
          <a:xfrm>
            <a:off x="3492500" y="366484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Sponsored campaign redesign</a:t>
            </a:r>
            <a:endParaRPr lang="en-US" sz="800" dirty="0"/>
          </a:p>
        </p:txBody>
      </p:sp>
      <p:sp>
        <p:nvSpPr>
          <p:cNvPr id="53" name="Text 51"/>
          <p:cNvSpPr txBox="1"/>
          <p:nvPr/>
        </p:nvSpPr>
        <p:spPr>
          <a:xfrm>
            <a:off x="3492500" y="390991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Lost in the Shuffle</a:t>
            </a:r>
            <a:endParaRPr lang="en-US" sz="800" dirty="0"/>
          </a:p>
        </p:txBody>
      </p:sp>
      <p:sp>
        <p:nvSpPr>
          <p:cNvPr id="54" name="Text 52"/>
          <p:cNvSpPr txBox="1"/>
          <p:nvPr/>
        </p:nvSpPr>
        <p:spPr>
          <a:xfrm>
            <a:off x="3492500" y="4154984"/>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Living Design 3.5</a:t>
            </a:r>
            <a:endParaRPr lang="en-US" sz="800" dirty="0"/>
          </a:p>
        </p:txBody>
      </p:sp>
      <p:sp>
        <p:nvSpPr>
          <p:cNvPr id="55" name="Text 53"/>
          <p:cNvSpPr txBox="1"/>
          <p:nvPr/>
        </p:nvSpPr>
        <p:spPr>
          <a:xfrm>
            <a:off x="3492500" y="4400054"/>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Standardized campaign tables</a:t>
            </a:r>
            <a:endParaRPr lang="en-US" sz="800" dirty="0"/>
          </a:p>
        </p:txBody>
      </p:sp>
      <p:sp>
        <p:nvSpPr>
          <p:cNvPr id="56" name="Text 54"/>
          <p:cNvSpPr txBox="1"/>
          <p:nvPr/>
        </p:nvSpPr>
        <p:spPr>
          <a:xfrm>
            <a:off x="6223000" y="3121323"/>
            <a:ext cx="2811780" cy="190500"/>
          </a:xfrm>
          <a:prstGeom prst="rect">
            <a:avLst/>
          </a:prstGeom>
          <a:noFill/>
          <a:ln/>
        </p:spPr>
        <p:txBody>
          <a:bodyPr wrap="square" lIns="0" tIns="0" rIns="0" bIns="0" rtlCol="0" anchor="t"/>
          <a:lstStyle/>
          <a:p>
            <a:pPr algn="l" indent="0" marL="0">
              <a:lnSpc>
                <a:spcPts val="1440"/>
              </a:lnSpc>
              <a:buNone/>
            </a:pPr>
            <a:r>
              <a:rPr lang="en-US" sz="1200" spc="-36" kern="0" dirty="0">
                <a:solidFill>
                  <a:srgbClr val="001E60"/>
                </a:solidFill>
                <a:latin typeface="Everyday Sans Headline Light" pitchFamily="34" charset="0"/>
                <a:ea typeface="Everyday Sans Headline Light" pitchFamily="34" charset="-122"/>
                <a:cs typeface="Everyday Sans Headline Light" pitchFamily="34" charset="-120"/>
              </a:rPr>
              <a:t>Connect</a:t>
            </a:r>
            <a:endParaRPr lang="en-US" sz="1200" dirty="0"/>
          </a:p>
        </p:txBody>
      </p:sp>
      <p:sp>
        <p:nvSpPr>
          <p:cNvPr id="57" name="Text 55"/>
          <p:cNvSpPr txBox="1"/>
          <p:nvPr/>
        </p:nvSpPr>
        <p:spPr>
          <a:xfrm>
            <a:off x="6350000" y="341977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Global IA</a:t>
            </a:r>
            <a:endParaRPr lang="en-US" sz="800" dirty="0"/>
          </a:p>
        </p:txBody>
      </p:sp>
      <p:sp>
        <p:nvSpPr>
          <p:cNvPr id="58" name="Text 56"/>
          <p:cNvSpPr txBox="1"/>
          <p:nvPr/>
        </p:nvSpPr>
        <p:spPr>
          <a:xfrm>
            <a:off x="6350000" y="366484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Unified navigation</a:t>
            </a:r>
            <a:endParaRPr lang="en-US" sz="800" dirty="0"/>
          </a:p>
        </p:txBody>
      </p:sp>
      <p:sp>
        <p:nvSpPr>
          <p:cNvPr id="59" name="Text 57"/>
          <p:cNvSpPr txBox="1"/>
          <p:nvPr/>
        </p:nvSpPr>
        <p:spPr>
          <a:xfrm>
            <a:off x="6350000" y="390991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Shared Apps framework</a:t>
            </a:r>
            <a:endParaRPr lang="en-US" sz="800" dirty="0"/>
          </a:p>
        </p:txBody>
      </p:sp>
      <p:sp>
        <p:nvSpPr>
          <p:cNvPr id="60" name="Text 58"/>
          <p:cNvSpPr txBox="1"/>
          <p:nvPr/>
        </p:nvSpPr>
        <p:spPr>
          <a:xfrm>
            <a:off x="6350000" y="4154984"/>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Unified Audience Library</a:t>
            </a:r>
            <a:endParaRPr lang="en-US" sz="800" dirty="0"/>
          </a:p>
        </p:txBody>
      </p:sp>
      <p:sp>
        <p:nvSpPr>
          <p:cNvPr id="61" name="Text 59"/>
          <p:cNvSpPr txBox="1"/>
          <p:nvPr/>
        </p:nvSpPr>
        <p:spPr>
          <a:xfrm>
            <a:off x="6350000" y="4400054"/>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Dedicated Offsite experience</a:t>
            </a:r>
            <a:endParaRPr lang="en-US" sz="800" dirty="0"/>
          </a:p>
        </p:txBody>
      </p:sp>
      <p:sp>
        <p:nvSpPr>
          <p:cNvPr id="62" name="Text 60"/>
          <p:cNvSpPr txBox="1"/>
          <p:nvPr/>
        </p:nvSpPr>
        <p:spPr>
          <a:xfrm>
            <a:off x="9080500" y="3121323"/>
            <a:ext cx="2811780" cy="190500"/>
          </a:xfrm>
          <a:prstGeom prst="rect">
            <a:avLst/>
          </a:prstGeom>
          <a:noFill/>
          <a:ln/>
        </p:spPr>
        <p:txBody>
          <a:bodyPr wrap="square" lIns="0" tIns="0" rIns="0" bIns="0" rtlCol="0" anchor="t"/>
          <a:lstStyle/>
          <a:p>
            <a:pPr algn="l" indent="0" marL="0">
              <a:lnSpc>
                <a:spcPts val="1440"/>
              </a:lnSpc>
              <a:buNone/>
            </a:pPr>
            <a:r>
              <a:rPr lang="en-US" sz="1200" spc="-36" kern="0" dirty="0">
                <a:solidFill>
                  <a:srgbClr val="001E60"/>
                </a:solidFill>
                <a:latin typeface="Everyday Sans Headline Light" pitchFamily="34" charset="0"/>
                <a:ea typeface="Everyday Sans Headline Light" pitchFamily="34" charset="-122"/>
                <a:cs typeface="Everyday Sans Headline Light" pitchFamily="34" charset="-120"/>
              </a:rPr>
              <a:t>Guide + optimize</a:t>
            </a:r>
            <a:endParaRPr lang="en-US" sz="1200" dirty="0"/>
          </a:p>
        </p:txBody>
      </p:sp>
      <p:sp>
        <p:nvSpPr>
          <p:cNvPr id="63" name="Text 61"/>
          <p:cNvSpPr txBox="1"/>
          <p:nvPr/>
        </p:nvSpPr>
        <p:spPr>
          <a:xfrm>
            <a:off x="9207500" y="341977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Recommendation Experience Framework</a:t>
            </a:r>
            <a:endParaRPr lang="en-US" sz="800" dirty="0"/>
          </a:p>
        </p:txBody>
      </p:sp>
      <p:sp>
        <p:nvSpPr>
          <p:cNvPr id="64" name="Text 62"/>
          <p:cNvSpPr txBox="1"/>
          <p:nvPr/>
        </p:nvSpPr>
        <p:spPr>
          <a:xfrm>
            <a:off x="9207500" y="366484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Campaign Automation + Guided Setup</a:t>
            </a:r>
            <a:endParaRPr lang="en-US" sz="800" dirty="0"/>
          </a:p>
        </p:txBody>
      </p:sp>
      <p:sp>
        <p:nvSpPr>
          <p:cNvPr id="65" name="Text 63"/>
          <p:cNvSpPr txBox="1"/>
          <p:nvPr/>
        </p:nvSpPr>
        <p:spPr>
          <a:xfrm>
            <a:off x="9207500" y="3909913"/>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Forecasting</a:t>
            </a:r>
            <a:endParaRPr lang="en-US" sz="800" dirty="0"/>
          </a:p>
        </p:txBody>
      </p:sp>
      <p:sp>
        <p:nvSpPr>
          <p:cNvPr id="66" name="Text 64"/>
          <p:cNvSpPr txBox="1"/>
          <p:nvPr/>
        </p:nvSpPr>
        <p:spPr>
          <a:xfrm>
            <a:off x="9207500" y="4154984"/>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Budget controls</a:t>
            </a:r>
            <a:endParaRPr lang="en-US" sz="800" dirty="0"/>
          </a:p>
        </p:txBody>
      </p:sp>
      <p:sp>
        <p:nvSpPr>
          <p:cNvPr id="67" name="Text 65"/>
          <p:cNvSpPr txBox="1"/>
          <p:nvPr/>
        </p:nvSpPr>
        <p:spPr>
          <a:xfrm>
            <a:off x="9207500" y="4400054"/>
            <a:ext cx="2674620" cy="137160"/>
          </a:xfrm>
          <a:prstGeom prst="rect">
            <a:avLst/>
          </a:prstGeom>
          <a:noFill/>
          <a:ln/>
        </p:spPr>
        <p:txBody>
          <a:bodyPr wrap="square" lIns="0" tIns="0" rIns="0" bIns="0" rtlCol="0" anchor="t"/>
          <a:lstStyle/>
          <a:p>
            <a:pPr algn="l" indent="0" marL="0">
              <a:lnSpc>
                <a:spcPts val="1080"/>
              </a:lnSpc>
              <a:buNone/>
            </a:pPr>
            <a:r>
              <a:rPr lang="en-US" sz="800" dirty="0">
                <a:solidFill>
                  <a:srgbClr val="001E60"/>
                </a:solidFill>
                <a:latin typeface="Everyday Sans UI" pitchFamily="34" charset="0"/>
                <a:ea typeface="Everyday Sans UI" pitchFamily="34" charset="-122"/>
                <a:cs typeface="Everyday Sans UI" pitchFamily="34" charset="-120"/>
              </a:rPr>
              <a:t>Notifications</a:t>
            </a:r>
            <a:endParaRPr lang="en-US" sz="800" dirty="0"/>
          </a:p>
        </p:txBody>
      </p:sp>
      <p:sp>
        <p:nvSpPr>
          <p:cNvPr id="68" name="Text 66"/>
          <p:cNvSpPr txBox="1"/>
          <p:nvPr/>
        </p:nvSpPr>
        <p:spPr>
          <a:xfrm>
            <a:off x="622300" y="4937224"/>
            <a:ext cx="11946636" cy="120650"/>
          </a:xfrm>
          <a:prstGeom prst="rect">
            <a:avLst/>
          </a:prstGeom>
          <a:noFill/>
          <a:ln/>
        </p:spPr>
        <p:txBody>
          <a:bodyPr wrap="square" lIns="0" tIns="0" rIns="0" bIns="0" rtlCol="0" anchor="ctr"/>
          <a:lstStyle/>
          <a:p>
            <a:pPr algn="l" indent="0" marL="0">
              <a:lnSpc>
                <a:spcPts val="900"/>
              </a:lnSpc>
              <a:buNone/>
            </a:pPr>
            <a:r>
              <a:rPr lang="en-US" sz="750" dirty="0">
                <a:solidFill>
                  <a:srgbClr val="001E60"/>
                </a:solidFill>
                <a:latin typeface="Everyday Sans UI" pitchFamily="34" charset="0"/>
                <a:ea typeface="Everyday Sans UI" pitchFamily="34" charset="-122"/>
                <a:cs typeface="Everyday Sans UI" pitchFamily="34" charset="-120"/>
              </a:rPr>
              <a:t>Directly improves Display</a:t>
            </a:r>
            <a:endParaRPr lang="en-US" sz="750" dirty="0"/>
          </a:p>
        </p:txBody>
      </p:sp>
      <p:sp>
        <p:nvSpPr>
          <p:cNvPr id="69" name="Text 67"/>
          <p:cNvSpPr txBox="1"/>
          <p:nvPr/>
        </p:nvSpPr>
        <p:spPr>
          <a:xfrm>
            <a:off x="9223077" y="4937224"/>
            <a:ext cx="2657796" cy="120650"/>
          </a:xfrm>
          <a:prstGeom prst="rect">
            <a:avLst/>
          </a:prstGeom>
          <a:noFill/>
          <a:ln/>
        </p:spPr>
        <p:txBody>
          <a:bodyPr wrap="square" lIns="0" tIns="0" rIns="0" bIns="0" rtlCol="0" anchor="t"/>
          <a:lstStyle/>
          <a:p>
            <a:pPr algn="l" indent="0" marL="0">
              <a:lnSpc>
                <a:spcPts val="900"/>
              </a:lnSpc>
              <a:buNone/>
            </a:pPr>
            <a:r>
              <a:rPr lang="en-US" sz="750" dirty="0">
                <a:solidFill>
                  <a:srgbClr val="3D4A63"/>
                </a:solidFill>
                <a:latin typeface="Everyday Sans UI" pitchFamily="34" charset="0"/>
                <a:ea typeface="Everyday Sans UI" pitchFamily="34" charset="-122"/>
                <a:cs typeface="Everyday Sans UI" pitchFamily="34" charset="-120"/>
              </a:rPr>
              <a:t>Grouped by the advertiser job each initiative serves, not by date.</a:t>
            </a:r>
            <a:endParaRPr lang="en-US" sz="750" dirty="0"/>
          </a:p>
        </p:txBody>
      </p:sp>
      <p:pic>
        <p:nvPicPr>
          <p:cNvPr id="7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71" name="Text 68"/>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72" name="Text 6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13 / 15</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635000" cy="127000"/>
          </a:xfrm>
          <a:prstGeom prst="roundRect">
            <a:avLst>
              <a:gd name="adj" fmla="val 360000"/>
            </a:avLst>
          </a:prstGeom>
          <a:solidFill>
            <a:srgbClr val="D7EEF9"/>
          </a:solidFill>
          <a:ln/>
        </p:spPr>
      </p:sp>
      <p:sp>
        <p:nvSpPr>
          <p:cNvPr id="3" name="Shape 1"/>
          <p:cNvSpPr/>
          <p:nvPr/>
        </p:nvSpPr>
        <p:spPr>
          <a:xfrm>
            <a:off x="1714500" y="3132634"/>
            <a:ext cx="2159000" cy="2159000"/>
          </a:xfrm>
          <a:prstGeom prst="ellipse">
            <a:avLst/>
          </a:prstGeom>
          <a:ln w="6350">
            <a:solidFill>
              <a:srgbClr val="0053E2"/>
            </a:solidFill>
            <a:prstDash val="solid"/>
          </a:ln>
        </p:spPr>
      </p:sp>
      <p:sp>
        <p:nvSpPr>
          <p:cNvPr id="4" name="Shape 2"/>
          <p:cNvSpPr/>
          <p:nvPr/>
        </p:nvSpPr>
        <p:spPr>
          <a:xfrm>
            <a:off x="2749550" y="3088184"/>
            <a:ext cx="88900" cy="88900"/>
          </a:xfrm>
          <a:prstGeom prst="ellipse">
            <a:avLst/>
          </a:prstGeom>
          <a:solidFill>
            <a:srgbClr val="0053E2"/>
          </a:solidFill>
          <a:ln w="9525">
            <a:solidFill>
              <a:srgbClr val="0053E2"/>
            </a:solidFill>
            <a:prstDash val="solid"/>
          </a:ln>
        </p:spPr>
      </p:sp>
      <p:sp>
        <p:nvSpPr>
          <p:cNvPr id="5" name="Shape 3"/>
          <p:cNvSpPr/>
          <p:nvPr/>
        </p:nvSpPr>
        <p:spPr>
          <a:xfrm>
            <a:off x="3684270" y="3627934"/>
            <a:ext cx="88900" cy="88900"/>
          </a:xfrm>
          <a:prstGeom prst="ellipse">
            <a:avLst/>
          </a:prstGeom>
          <a:solidFill>
            <a:srgbClr val="F5F6F8"/>
          </a:solidFill>
          <a:ln w="9525">
            <a:solidFill>
              <a:srgbClr val="0053E2"/>
            </a:solidFill>
            <a:prstDash val="solid"/>
          </a:ln>
        </p:spPr>
      </p:sp>
      <p:sp>
        <p:nvSpPr>
          <p:cNvPr id="6" name="Shape 4"/>
          <p:cNvSpPr/>
          <p:nvPr/>
        </p:nvSpPr>
        <p:spPr>
          <a:xfrm>
            <a:off x="3684270" y="4707434"/>
            <a:ext cx="88900" cy="88900"/>
          </a:xfrm>
          <a:prstGeom prst="ellipse">
            <a:avLst/>
          </a:prstGeom>
          <a:solidFill>
            <a:srgbClr val="F5F6F8"/>
          </a:solidFill>
          <a:ln w="9525">
            <a:solidFill>
              <a:srgbClr val="0053E2"/>
            </a:solidFill>
            <a:prstDash val="solid"/>
          </a:ln>
        </p:spPr>
      </p:sp>
      <p:sp>
        <p:nvSpPr>
          <p:cNvPr id="7" name="Shape 5"/>
          <p:cNvSpPr/>
          <p:nvPr/>
        </p:nvSpPr>
        <p:spPr>
          <a:xfrm>
            <a:off x="2749550" y="5247184"/>
            <a:ext cx="88900" cy="88900"/>
          </a:xfrm>
          <a:prstGeom prst="ellipse">
            <a:avLst/>
          </a:prstGeom>
          <a:solidFill>
            <a:srgbClr val="F5F6F8"/>
          </a:solidFill>
          <a:ln w="9525">
            <a:solidFill>
              <a:srgbClr val="0053E2"/>
            </a:solidFill>
            <a:prstDash val="solid"/>
          </a:ln>
        </p:spPr>
      </p:sp>
      <p:sp>
        <p:nvSpPr>
          <p:cNvPr id="8" name="Shape 6"/>
          <p:cNvSpPr/>
          <p:nvPr/>
        </p:nvSpPr>
        <p:spPr>
          <a:xfrm>
            <a:off x="1814830" y="4707434"/>
            <a:ext cx="88900" cy="88900"/>
          </a:xfrm>
          <a:prstGeom prst="ellipse">
            <a:avLst/>
          </a:prstGeom>
          <a:solidFill>
            <a:srgbClr val="F5F6F8"/>
          </a:solidFill>
          <a:ln w="9525">
            <a:solidFill>
              <a:srgbClr val="0053E2"/>
            </a:solidFill>
            <a:prstDash val="solid"/>
          </a:ln>
        </p:spPr>
      </p:sp>
      <p:sp>
        <p:nvSpPr>
          <p:cNvPr id="9" name="Shape 7"/>
          <p:cNvSpPr/>
          <p:nvPr/>
        </p:nvSpPr>
        <p:spPr>
          <a:xfrm>
            <a:off x="1814830" y="3627934"/>
            <a:ext cx="88900" cy="88900"/>
          </a:xfrm>
          <a:prstGeom prst="ellipse">
            <a:avLst/>
          </a:prstGeom>
          <a:solidFill>
            <a:srgbClr val="F5F6F8"/>
          </a:solidFill>
          <a:ln w="9525">
            <a:solidFill>
              <a:srgbClr val="0053E2"/>
            </a:solidFill>
            <a:prstDash val="solid"/>
          </a:ln>
        </p:spPr>
      </p:sp>
      <p:sp>
        <p:nvSpPr>
          <p:cNvPr id="10" name="Shape 8"/>
          <p:cNvSpPr/>
          <p:nvPr/>
        </p:nvSpPr>
        <p:spPr>
          <a:xfrm>
            <a:off x="5689600" y="3648273"/>
            <a:ext cx="5994400" cy="0"/>
          </a:xfrm>
          <a:prstGeom prst="line">
            <a:avLst/>
          </a:prstGeom>
          <a:noFill/>
          <a:ln w="6350">
            <a:solidFill>
              <a:srgbClr val="0053E2"/>
            </a:solidFill>
            <a:prstDash val="solid"/>
          </a:ln>
        </p:spPr>
      </p:sp>
      <p:sp>
        <p:nvSpPr>
          <p:cNvPr id="11" name="Shape 9"/>
          <p:cNvSpPr/>
          <p:nvPr/>
        </p:nvSpPr>
        <p:spPr>
          <a:xfrm>
            <a:off x="5689600" y="4591844"/>
            <a:ext cx="1460500" cy="0"/>
          </a:xfrm>
          <a:prstGeom prst="line">
            <a:avLst/>
          </a:prstGeom>
          <a:noFill/>
          <a:ln w="6350">
            <a:solidFill>
              <a:srgbClr val="E4E8EF"/>
            </a:solidFill>
            <a:prstDash val="solid"/>
          </a:ln>
        </p:spPr>
      </p:sp>
      <p:sp>
        <p:nvSpPr>
          <p:cNvPr id="12" name="Shape 10"/>
          <p:cNvSpPr/>
          <p:nvPr/>
        </p:nvSpPr>
        <p:spPr>
          <a:xfrm>
            <a:off x="7200900" y="4591844"/>
            <a:ext cx="1460500" cy="0"/>
          </a:xfrm>
          <a:prstGeom prst="line">
            <a:avLst/>
          </a:prstGeom>
          <a:noFill/>
          <a:ln w="6350">
            <a:solidFill>
              <a:srgbClr val="E4E8EF"/>
            </a:solidFill>
            <a:prstDash val="solid"/>
          </a:ln>
        </p:spPr>
      </p:sp>
      <p:sp>
        <p:nvSpPr>
          <p:cNvPr id="13" name="Shape 11"/>
          <p:cNvSpPr/>
          <p:nvPr/>
        </p:nvSpPr>
        <p:spPr>
          <a:xfrm>
            <a:off x="8712200" y="4591844"/>
            <a:ext cx="1460500" cy="0"/>
          </a:xfrm>
          <a:prstGeom prst="line">
            <a:avLst/>
          </a:prstGeom>
          <a:noFill/>
          <a:ln w="6350">
            <a:solidFill>
              <a:srgbClr val="E4E8EF"/>
            </a:solidFill>
            <a:prstDash val="solid"/>
          </a:ln>
        </p:spPr>
      </p:sp>
      <p:sp>
        <p:nvSpPr>
          <p:cNvPr id="14" name="Shape 12"/>
          <p:cNvSpPr/>
          <p:nvPr/>
        </p:nvSpPr>
        <p:spPr>
          <a:xfrm>
            <a:off x="10223500" y="4591844"/>
            <a:ext cx="1460500" cy="0"/>
          </a:xfrm>
          <a:prstGeom prst="line">
            <a:avLst/>
          </a:prstGeom>
          <a:noFill/>
          <a:ln w="6350">
            <a:solidFill>
              <a:srgbClr val="E4E8EF"/>
            </a:solidFill>
            <a:prstDash val="solid"/>
          </a:ln>
        </p:spPr>
      </p:sp>
      <p:sp>
        <p:nvSpPr>
          <p:cNvPr id="15" name="Text 13"/>
          <p:cNvSpPr txBox="1"/>
          <p:nvPr/>
        </p:nvSpPr>
        <p:spPr>
          <a:xfrm>
            <a:off x="501650" y="971550"/>
            <a:ext cx="6477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PAYOFF</a:t>
            </a:r>
            <a:endParaRPr lang="en-US" sz="500" dirty="0"/>
          </a:p>
        </p:txBody>
      </p:sp>
      <p:sp>
        <p:nvSpPr>
          <p:cNvPr id="16" name="Text 1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Display gets better. The platform gets </a:t>
            </a:r>
            <a:pPr algn="l" indent="0" marL="0">
              <a:lnSpc>
                <a:spcPts val="3024"/>
              </a:lnSpc>
              <a:buNone/>
            </a:pPr>
            <a:r>
              <a:rPr lang="en-US" sz="2400" i="1" spc="-72" kern="0" dirty="0">
                <a:solidFill>
                  <a:srgbClr val="0053E2"/>
                </a:solidFill>
                <a:latin typeface="Everyday Sans Light" pitchFamily="34" charset="0"/>
                <a:ea typeface="Everyday Sans Light" pitchFamily="34" charset="-122"/>
                <a:cs typeface="Everyday Sans Light" pitchFamily="34" charset="-120"/>
              </a:rPr>
              <a:t>stronger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7" name="Text 1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Solving Display’s immediate challenges within a shared experience strategy creates value beyond a single channel and prevents today’s fixes from becoming tomorrow’s fragmentation.</a:t>
            </a:r>
            <a:endParaRPr lang="en-US" sz="900" dirty="0"/>
          </a:p>
        </p:txBody>
      </p:sp>
      <p:sp>
        <p:nvSpPr>
          <p:cNvPr id="18" name="Text 16"/>
          <p:cNvSpPr txBox="1"/>
          <p:nvPr/>
        </p:nvSpPr>
        <p:spPr>
          <a:xfrm>
            <a:off x="2361902" y="4021634"/>
            <a:ext cx="864195" cy="209550"/>
          </a:xfrm>
          <a:prstGeom prst="rect">
            <a:avLst/>
          </a:prstGeom>
          <a:noFill/>
          <a:ln/>
        </p:spPr>
        <p:txBody>
          <a:bodyPr wrap="square" lIns="0" tIns="0" rIns="0" bIns="0" rtlCol="0" anchor="t"/>
          <a:lstStyle/>
          <a:p>
            <a:pPr algn="ctr" indent="0" marL="0">
              <a:lnSpc>
                <a:spcPts val="165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Each turn</a:t>
            </a:r>
            <a:endParaRPr lang="en-US" sz="1300" dirty="0"/>
          </a:p>
        </p:txBody>
      </p:sp>
      <p:sp>
        <p:nvSpPr>
          <p:cNvPr id="19" name="Text 17"/>
          <p:cNvSpPr txBox="1"/>
          <p:nvPr/>
        </p:nvSpPr>
        <p:spPr>
          <a:xfrm>
            <a:off x="2251720" y="4224834"/>
            <a:ext cx="1084560" cy="209550"/>
          </a:xfrm>
          <a:prstGeom prst="rect">
            <a:avLst/>
          </a:prstGeom>
          <a:noFill/>
          <a:ln/>
        </p:spPr>
        <p:txBody>
          <a:bodyPr wrap="square" lIns="0" tIns="0" rIns="0" bIns="0" rtlCol="0" anchor="t"/>
          <a:lstStyle/>
          <a:p>
            <a:pPr algn="ctr" indent="0" marL="0">
              <a:lnSpc>
                <a:spcPts val="1650"/>
              </a:lnSpc>
              <a:buNone/>
            </a:pPr>
            <a:r>
              <a:rPr lang="en-US" sz="1300" spc="-26" kern="0" dirty="0">
                <a:solidFill>
                  <a:srgbClr val="0053E2"/>
                </a:solidFill>
                <a:latin typeface="Everyday Sans Headline Light" pitchFamily="34" charset="0"/>
                <a:ea typeface="Everyday Sans Headline Light" pitchFamily="34" charset="-122"/>
                <a:cs typeface="Everyday Sans Headline Light" pitchFamily="34" charset="-120"/>
              </a:rPr>
              <a:t>compounds</a:t>
            </a:r>
            <a:endParaRPr lang="en-US" sz="1300" dirty="0"/>
          </a:p>
        </p:txBody>
      </p:sp>
      <p:sp>
        <p:nvSpPr>
          <p:cNvPr id="20" name="Text 18"/>
          <p:cNvSpPr txBox="1"/>
          <p:nvPr/>
        </p:nvSpPr>
        <p:spPr>
          <a:xfrm>
            <a:off x="2666107" y="2669084"/>
            <a:ext cx="255786" cy="88900"/>
          </a:xfrm>
          <a:prstGeom prst="rect">
            <a:avLst/>
          </a:prstGeom>
          <a:noFill/>
          <a:ln/>
        </p:spPr>
        <p:txBody>
          <a:bodyPr wrap="square" lIns="0" tIns="0" rIns="0" bIns="0" rtlCol="0" anchor="t"/>
          <a:lstStyle/>
          <a:p>
            <a:pPr algn="ctr" indent="0" marL="0">
              <a:lnSpc>
                <a:spcPts val="70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01</a:t>
            </a:r>
            <a:endParaRPr lang="en-US" sz="550" dirty="0"/>
          </a:p>
        </p:txBody>
      </p:sp>
      <p:sp>
        <p:nvSpPr>
          <p:cNvPr id="21" name="Text 19"/>
          <p:cNvSpPr txBox="1"/>
          <p:nvPr/>
        </p:nvSpPr>
        <p:spPr>
          <a:xfrm>
            <a:off x="2411164" y="2770684"/>
            <a:ext cx="765942" cy="133350"/>
          </a:xfrm>
          <a:prstGeom prst="rect">
            <a:avLst/>
          </a:prstGeom>
          <a:noFill/>
          <a:ln/>
        </p:spPr>
        <p:txBody>
          <a:bodyPr wrap="square" lIns="0" tIns="0" rIns="0" bIns="0" rtlCol="0" anchor="t"/>
          <a:lstStyle/>
          <a:p>
            <a:pPr algn="ct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Better Display</a:t>
            </a:r>
            <a:endParaRPr lang="en-US" sz="850" dirty="0"/>
          </a:p>
        </p:txBody>
      </p:sp>
      <p:sp>
        <p:nvSpPr>
          <p:cNvPr id="22" name="Text 20"/>
          <p:cNvSpPr txBox="1"/>
          <p:nvPr/>
        </p:nvSpPr>
        <p:spPr>
          <a:xfrm>
            <a:off x="2473771" y="2910384"/>
            <a:ext cx="640457" cy="133350"/>
          </a:xfrm>
          <a:prstGeom prst="rect">
            <a:avLst/>
          </a:prstGeom>
          <a:noFill/>
          <a:ln/>
        </p:spPr>
        <p:txBody>
          <a:bodyPr wrap="square" lIns="0" tIns="0" rIns="0" bIns="0" rtlCol="0" anchor="t"/>
          <a:lstStyle/>
          <a:p>
            <a:pPr algn="ct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experience</a:t>
            </a:r>
            <a:endParaRPr lang="en-US" sz="850" dirty="0"/>
          </a:p>
        </p:txBody>
      </p:sp>
      <p:sp>
        <p:nvSpPr>
          <p:cNvPr id="23" name="Text 21"/>
          <p:cNvSpPr txBox="1"/>
          <p:nvPr/>
        </p:nvSpPr>
        <p:spPr>
          <a:xfrm>
            <a:off x="3868420" y="3412034"/>
            <a:ext cx="255786" cy="88900"/>
          </a:xfrm>
          <a:prstGeom prst="rect">
            <a:avLst/>
          </a:prstGeom>
          <a:noFill/>
          <a:ln/>
        </p:spPr>
        <p:txBody>
          <a:bodyPr wrap="square" lIns="0" tIns="0" rIns="0" bIns="0" rtlCol="0" anchor="t"/>
          <a:lstStyle/>
          <a:p>
            <a:pPr algn="l" indent="0" marL="0">
              <a:lnSpc>
                <a:spcPts val="70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02</a:t>
            </a:r>
            <a:endParaRPr lang="en-US" sz="550" dirty="0"/>
          </a:p>
        </p:txBody>
      </p:sp>
      <p:sp>
        <p:nvSpPr>
          <p:cNvPr id="24" name="Text 22"/>
          <p:cNvSpPr txBox="1"/>
          <p:nvPr/>
        </p:nvSpPr>
        <p:spPr>
          <a:xfrm>
            <a:off x="3868420" y="3513634"/>
            <a:ext cx="681930" cy="133350"/>
          </a:xfrm>
          <a:prstGeom prst="rect">
            <a:avLst/>
          </a:prstGeom>
          <a:noFill/>
          <a:ln/>
        </p:spPr>
        <p:txBody>
          <a:bodyPr wrap="square" lIns="0" tIns="0" rIns="0" bIns="0" rtlCol="0" anchor="t"/>
          <a:lstStyle/>
          <a:p>
            <a:pPr algn="l"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Less friction</a:t>
            </a:r>
            <a:endParaRPr lang="en-US" sz="850" dirty="0"/>
          </a:p>
        </p:txBody>
      </p:sp>
      <p:sp>
        <p:nvSpPr>
          <p:cNvPr id="25" name="Text 23"/>
          <p:cNvSpPr txBox="1"/>
          <p:nvPr/>
        </p:nvSpPr>
        <p:spPr>
          <a:xfrm>
            <a:off x="3868420" y="3653334"/>
            <a:ext cx="967284" cy="133350"/>
          </a:xfrm>
          <a:prstGeom prst="rect">
            <a:avLst/>
          </a:prstGeom>
          <a:noFill/>
          <a:ln/>
        </p:spPr>
        <p:txBody>
          <a:bodyPr wrap="square" lIns="0" tIns="0" rIns="0" bIns="0" rtlCol="0" anchor="t"/>
          <a:lstStyle/>
          <a:p>
            <a:pPr algn="l"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 clearer decisions</a:t>
            </a:r>
            <a:endParaRPr lang="en-US" sz="850" dirty="0"/>
          </a:p>
        </p:txBody>
      </p:sp>
      <p:sp>
        <p:nvSpPr>
          <p:cNvPr id="26" name="Text 24"/>
          <p:cNvSpPr txBox="1"/>
          <p:nvPr/>
        </p:nvSpPr>
        <p:spPr>
          <a:xfrm>
            <a:off x="3868420" y="4491534"/>
            <a:ext cx="255786" cy="88900"/>
          </a:xfrm>
          <a:prstGeom prst="rect">
            <a:avLst/>
          </a:prstGeom>
          <a:noFill/>
          <a:ln/>
        </p:spPr>
        <p:txBody>
          <a:bodyPr wrap="square" lIns="0" tIns="0" rIns="0" bIns="0" rtlCol="0" anchor="t"/>
          <a:lstStyle/>
          <a:p>
            <a:pPr algn="l" indent="0" marL="0">
              <a:lnSpc>
                <a:spcPts val="70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03</a:t>
            </a:r>
            <a:endParaRPr lang="en-US" sz="550" dirty="0"/>
          </a:p>
        </p:txBody>
      </p:sp>
      <p:sp>
        <p:nvSpPr>
          <p:cNvPr id="27" name="Text 25"/>
          <p:cNvSpPr txBox="1"/>
          <p:nvPr/>
        </p:nvSpPr>
        <p:spPr>
          <a:xfrm>
            <a:off x="3868420" y="4593134"/>
            <a:ext cx="1176659" cy="133350"/>
          </a:xfrm>
          <a:prstGeom prst="rect">
            <a:avLst/>
          </a:prstGeom>
          <a:noFill/>
          <a:ln/>
        </p:spPr>
        <p:txBody>
          <a:bodyPr wrap="square" lIns="0" tIns="0" rIns="0" bIns="0" rtlCol="0" anchor="t"/>
          <a:lstStyle/>
          <a:p>
            <a:pPr algn="l"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More advertiser control</a:t>
            </a:r>
            <a:endParaRPr lang="en-US" sz="850" dirty="0"/>
          </a:p>
        </p:txBody>
      </p:sp>
      <p:sp>
        <p:nvSpPr>
          <p:cNvPr id="28" name="Text 26"/>
          <p:cNvSpPr txBox="1"/>
          <p:nvPr/>
        </p:nvSpPr>
        <p:spPr>
          <a:xfrm>
            <a:off x="3868420" y="4732834"/>
            <a:ext cx="726976" cy="133350"/>
          </a:xfrm>
          <a:prstGeom prst="rect">
            <a:avLst/>
          </a:prstGeom>
          <a:noFill/>
          <a:ln/>
        </p:spPr>
        <p:txBody>
          <a:bodyPr wrap="square" lIns="0" tIns="0" rIns="0" bIns="0" rtlCol="0" anchor="t"/>
          <a:lstStyle/>
          <a:p>
            <a:pPr algn="l"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 confidence</a:t>
            </a:r>
            <a:endParaRPr lang="en-US" sz="850" dirty="0"/>
          </a:p>
        </p:txBody>
      </p:sp>
      <p:sp>
        <p:nvSpPr>
          <p:cNvPr id="29" name="Text 27"/>
          <p:cNvSpPr txBox="1"/>
          <p:nvPr/>
        </p:nvSpPr>
        <p:spPr>
          <a:xfrm>
            <a:off x="2666107" y="5412284"/>
            <a:ext cx="255786" cy="88900"/>
          </a:xfrm>
          <a:prstGeom prst="rect">
            <a:avLst/>
          </a:prstGeom>
          <a:noFill/>
          <a:ln/>
        </p:spPr>
        <p:txBody>
          <a:bodyPr wrap="square" lIns="0" tIns="0" rIns="0" bIns="0" rtlCol="0" anchor="t"/>
          <a:lstStyle/>
          <a:p>
            <a:pPr algn="ctr" indent="0" marL="0">
              <a:lnSpc>
                <a:spcPts val="70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04</a:t>
            </a:r>
            <a:endParaRPr lang="en-US" sz="550" dirty="0"/>
          </a:p>
        </p:txBody>
      </p:sp>
      <p:sp>
        <p:nvSpPr>
          <p:cNvPr id="30" name="Text 28"/>
          <p:cNvSpPr txBox="1"/>
          <p:nvPr/>
        </p:nvSpPr>
        <p:spPr>
          <a:xfrm>
            <a:off x="2293293" y="5513884"/>
            <a:ext cx="1001415" cy="133350"/>
          </a:xfrm>
          <a:prstGeom prst="rect">
            <a:avLst/>
          </a:prstGeom>
          <a:noFill/>
          <a:ln/>
        </p:spPr>
        <p:txBody>
          <a:bodyPr wrap="square" lIns="0" tIns="0" rIns="0" bIns="0" rtlCol="0" anchor="t"/>
          <a:lstStyle/>
          <a:p>
            <a:pPr algn="ct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Faster optimization</a:t>
            </a:r>
            <a:endParaRPr lang="en-US" sz="850" dirty="0"/>
          </a:p>
        </p:txBody>
      </p:sp>
      <p:sp>
        <p:nvSpPr>
          <p:cNvPr id="31" name="Text 29"/>
          <p:cNvSpPr txBox="1"/>
          <p:nvPr/>
        </p:nvSpPr>
        <p:spPr>
          <a:xfrm>
            <a:off x="2497634" y="5653584"/>
            <a:ext cx="592733" cy="133350"/>
          </a:xfrm>
          <a:prstGeom prst="rect">
            <a:avLst/>
          </a:prstGeom>
          <a:noFill/>
          <a:ln/>
        </p:spPr>
        <p:txBody>
          <a:bodyPr wrap="square" lIns="0" tIns="0" rIns="0" bIns="0" rtlCol="0" anchor="t"/>
          <a:lstStyle/>
          <a:p>
            <a:pPr algn="ct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 learning</a:t>
            </a:r>
            <a:endParaRPr lang="en-US" sz="850" dirty="0"/>
          </a:p>
        </p:txBody>
      </p:sp>
      <p:sp>
        <p:nvSpPr>
          <p:cNvPr id="32" name="Text 30"/>
          <p:cNvSpPr txBox="1"/>
          <p:nvPr/>
        </p:nvSpPr>
        <p:spPr>
          <a:xfrm>
            <a:off x="1463794" y="4491534"/>
            <a:ext cx="255786" cy="88900"/>
          </a:xfrm>
          <a:prstGeom prst="rect">
            <a:avLst/>
          </a:prstGeom>
          <a:noFill/>
          <a:ln/>
        </p:spPr>
        <p:txBody>
          <a:bodyPr wrap="square" lIns="0" tIns="0" rIns="0" bIns="0" rtlCol="0" anchor="t"/>
          <a:lstStyle/>
          <a:p>
            <a:pPr algn="r" indent="0" marL="0">
              <a:lnSpc>
                <a:spcPts val="70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05</a:t>
            </a:r>
            <a:endParaRPr lang="en-US" sz="550" dirty="0"/>
          </a:p>
        </p:txBody>
      </p:sp>
      <p:sp>
        <p:nvSpPr>
          <p:cNvPr id="33" name="Text 31"/>
          <p:cNvSpPr txBox="1"/>
          <p:nvPr/>
        </p:nvSpPr>
        <p:spPr>
          <a:xfrm>
            <a:off x="873839" y="4593134"/>
            <a:ext cx="845741" cy="133350"/>
          </a:xfrm>
          <a:prstGeom prst="rect">
            <a:avLst/>
          </a:prstGeom>
          <a:noFill/>
          <a:ln/>
        </p:spPr>
        <p:txBody>
          <a:bodyPr wrap="square" lIns="0" tIns="0" rIns="0" bIns="0" rtlCol="0" anchor="t"/>
          <a:lstStyle/>
          <a:p>
            <a:pPr algn="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Better adoption</a:t>
            </a:r>
            <a:endParaRPr lang="en-US" sz="850" dirty="0"/>
          </a:p>
        </p:txBody>
      </p:sp>
      <p:sp>
        <p:nvSpPr>
          <p:cNvPr id="34" name="Text 32"/>
          <p:cNvSpPr txBox="1"/>
          <p:nvPr/>
        </p:nvSpPr>
        <p:spPr>
          <a:xfrm>
            <a:off x="959168" y="4732834"/>
            <a:ext cx="760413" cy="133350"/>
          </a:xfrm>
          <a:prstGeom prst="rect">
            <a:avLst/>
          </a:prstGeom>
          <a:noFill/>
          <a:ln/>
        </p:spPr>
        <p:txBody>
          <a:bodyPr wrap="square" lIns="0" tIns="0" rIns="0" bIns="0" rtlCol="0" anchor="t"/>
          <a:lstStyle/>
          <a:p>
            <a:pPr algn="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of capabilities</a:t>
            </a:r>
            <a:endParaRPr lang="en-US" sz="850" dirty="0"/>
          </a:p>
        </p:txBody>
      </p:sp>
      <p:sp>
        <p:nvSpPr>
          <p:cNvPr id="35" name="Text 33"/>
          <p:cNvSpPr txBox="1"/>
          <p:nvPr/>
        </p:nvSpPr>
        <p:spPr>
          <a:xfrm>
            <a:off x="1463794" y="3412034"/>
            <a:ext cx="255786" cy="88900"/>
          </a:xfrm>
          <a:prstGeom prst="rect">
            <a:avLst/>
          </a:prstGeom>
          <a:noFill/>
          <a:ln/>
        </p:spPr>
        <p:txBody>
          <a:bodyPr wrap="square" lIns="0" tIns="0" rIns="0" bIns="0" rtlCol="0" anchor="t"/>
          <a:lstStyle/>
          <a:p>
            <a:pPr algn="r" indent="0" marL="0">
              <a:lnSpc>
                <a:spcPts val="70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06</a:t>
            </a:r>
            <a:endParaRPr lang="en-US" sz="550" dirty="0"/>
          </a:p>
        </p:txBody>
      </p:sp>
      <p:sp>
        <p:nvSpPr>
          <p:cNvPr id="36" name="Text 34"/>
          <p:cNvSpPr txBox="1"/>
          <p:nvPr/>
        </p:nvSpPr>
        <p:spPr>
          <a:xfrm>
            <a:off x="713502" y="3513634"/>
            <a:ext cx="1008112" cy="133350"/>
          </a:xfrm>
          <a:prstGeom prst="rect">
            <a:avLst/>
          </a:prstGeom>
          <a:noFill/>
          <a:ln/>
        </p:spPr>
        <p:txBody>
          <a:bodyPr wrap="square" lIns="0" tIns="0" rIns="0" bIns="0" rtlCol="0" anchor="t"/>
          <a:lstStyle/>
          <a:p>
            <a:pPr algn="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Stronger advertiser</a:t>
            </a:r>
            <a:endParaRPr lang="en-US" sz="850" dirty="0"/>
          </a:p>
        </p:txBody>
      </p:sp>
      <p:sp>
        <p:nvSpPr>
          <p:cNvPr id="37" name="Text 35"/>
          <p:cNvSpPr txBox="1"/>
          <p:nvPr/>
        </p:nvSpPr>
        <p:spPr>
          <a:xfrm>
            <a:off x="1125557" y="3653334"/>
            <a:ext cx="594023" cy="133350"/>
          </a:xfrm>
          <a:prstGeom prst="rect">
            <a:avLst/>
          </a:prstGeom>
          <a:noFill/>
          <a:ln/>
        </p:spPr>
        <p:txBody>
          <a:bodyPr wrap="square" lIns="0" tIns="0" rIns="0" bIns="0" rtlCol="0" anchor="t"/>
          <a:lstStyle/>
          <a:p>
            <a:pPr algn="r" indent="0" marL="0">
              <a:lnSpc>
                <a:spcPts val="1050"/>
              </a:lnSpc>
              <a:buNone/>
            </a:pPr>
            <a:r>
              <a:rPr lang="en-US" sz="850" dirty="0">
                <a:solidFill>
                  <a:srgbClr val="001E60"/>
                </a:solidFill>
                <a:latin typeface="Everyday Sans UI" pitchFamily="34" charset="0"/>
                <a:ea typeface="Everyday Sans UI" pitchFamily="34" charset="-122"/>
                <a:cs typeface="Everyday Sans UI" pitchFamily="34" charset="-120"/>
              </a:rPr>
              <a:t>outcomes</a:t>
            </a:r>
            <a:endParaRPr lang="en-US" sz="850" dirty="0"/>
          </a:p>
        </p:txBody>
      </p:sp>
      <p:sp>
        <p:nvSpPr>
          <p:cNvPr id="38" name="Text 36"/>
          <p:cNvSpPr txBox="1"/>
          <p:nvPr/>
        </p:nvSpPr>
        <p:spPr>
          <a:xfrm>
            <a:off x="5689600" y="3753048"/>
            <a:ext cx="647395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BUILT TO BE REUSED</a:t>
            </a:r>
            <a:endParaRPr lang="en-US" sz="550" dirty="0"/>
          </a:p>
        </p:txBody>
      </p:sp>
      <p:sp>
        <p:nvSpPr>
          <p:cNvPr id="39" name="Text 37"/>
          <p:cNvSpPr txBox="1"/>
          <p:nvPr/>
        </p:nvSpPr>
        <p:spPr>
          <a:xfrm>
            <a:off x="5689600" y="3918148"/>
            <a:ext cx="6473952" cy="518120"/>
          </a:xfrm>
          <a:prstGeom prst="rect">
            <a:avLst/>
          </a:prstGeom>
          <a:noFill/>
          <a:ln/>
        </p:spPr>
        <p:txBody>
          <a:bodyPr wrap="square" lIns="0" tIns="0" rIns="0" bIns="0" rtlCol="0" anchor="t"/>
          <a:lstStyle/>
          <a:p>
            <a:pPr algn="l" indent="0" marL="0">
              <a:lnSpc>
                <a:spcPts val="2040"/>
              </a:lnSpc>
              <a:buNone/>
            </a:pPr>
            <a:r>
              <a:rPr lang="en-US" sz="1700" spc="-51" kern="0" dirty="0">
                <a:solidFill>
                  <a:srgbClr val="001E60"/>
                </a:solidFill>
                <a:latin typeface="Everyday Sans Headline Light" pitchFamily="34" charset="0"/>
                <a:ea typeface="Everyday Sans Headline Light" pitchFamily="34" charset="-122"/>
                <a:cs typeface="Everyday Sans Headline Light" pitchFamily="34" charset="-120"/>
              </a:rPr>
              <a:t>What we build for Display becomes reusable across Sponsored,</a:t>
            </a:r>
            <a:endParaRPr lang="en-US" sz="1700" dirty="0"/>
          </a:p>
          <a:p>
            <a:pPr algn="l" indent="0" marL="0">
              <a:lnSpc>
                <a:spcPts val="2040"/>
              </a:lnSpc>
              <a:buNone/>
            </a:pPr>
            <a:r>
              <a:rPr lang="en-US" sz="1700" spc="-51" kern="0" dirty="0">
                <a:solidFill>
                  <a:srgbClr val="001E60"/>
                </a:solidFill>
                <a:latin typeface="Everyday Sans Headline Light" pitchFamily="34" charset="0"/>
                <a:ea typeface="Everyday Sans Headline Light" pitchFamily="34" charset="-122"/>
                <a:cs typeface="Everyday Sans Headline Light" pitchFamily="34" charset="-120"/>
              </a:rPr>
              <a:t>Offsite, Marketplace and whatever comes next.</a:t>
            </a:r>
            <a:endParaRPr lang="en-US" sz="1700" dirty="0"/>
          </a:p>
        </p:txBody>
      </p:sp>
      <p:sp>
        <p:nvSpPr>
          <p:cNvPr id="40" name="Text 38"/>
          <p:cNvSpPr txBox="1"/>
          <p:nvPr/>
        </p:nvSpPr>
        <p:spPr>
          <a:xfrm>
            <a:off x="5689600" y="4658519"/>
            <a:ext cx="1612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Sponsored</a:t>
            </a:r>
            <a:endParaRPr lang="en-US" sz="750" dirty="0"/>
          </a:p>
        </p:txBody>
      </p:sp>
      <p:sp>
        <p:nvSpPr>
          <p:cNvPr id="41" name="Text 39"/>
          <p:cNvSpPr txBox="1"/>
          <p:nvPr/>
        </p:nvSpPr>
        <p:spPr>
          <a:xfrm>
            <a:off x="7200900" y="4658519"/>
            <a:ext cx="1612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Offsite</a:t>
            </a:r>
            <a:endParaRPr lang="en-US" sz="750" dirty="0"/>
          </a:p>
        </p:txBody>
      </p:sp>
      <p:sp>
        <p:nvSpPr>
          <p:cNvPr id="42" name="Text 40"/>
          <p:cNvSpPr txBox="1"/>
          <p:nvPr/>
        </p:nvSpPr>
        <p:spPr>
          <a:xfrm>
            <a:off x="8712200" y="4658519"/>
            <a:ext cx="1612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Marketplace</a:t>
            </a:r>
            <a:endParaRPr lang="en-US" sz="750" dirty="0"/>
          </a:p>
        </p:txBody>
      </p:sp>
      <p:sp>
        <p:nvSpPr>
          <p:cNvPr id="43" name="Text 41"/>
          <p:cNvSpPr txBox="1"/>
          <p:nvPr/>
        </p:nvSpPr>
        <p:spPr>
          <a:xfrm>
            <a:off x="10223500" y="4658519"/>
            <a:ext cx="1612900" cy="120650"/>
          </a:xfrm>
          <a:prstGeom prst="rect">
            <a:avLst/>
          </a:prstGeom>
          <a:noFill/>
          <a:ln/>
        </p:spPr>
        <p:txBody>
          <a:bodyPr wrap="square" lIns="0" tIns="0" rIns="0" bIns="0" rtlCol="0" anchor="t"/>
          <a:lstStyle/>
          <a:p>
            <a:pPr algn="l" indent="0" marL="0">
              <a:lnSpc>
                <a:spcPts val="900"/>
              </a:lnSpc>
              <a:buNone/>
            </a:pPr>
            <a:r>
              <a:rPr lang="en-US" sz="750" dirty="0">
                <a:solidFill>
                  <a:srgbClr val="001E60"/>
                </a:solidFill>
                <a:latin typeface="Everyday Sans UI Medium" pitchFamily="34" charset="0"/>
                <a:ea typeface="Everyday Sans UI Medium" pitchFamily="34" charset="-122"/>
                <a:cs typeface="Everyday Sans UI Medium" pitchFamily="34" charset="-120"/>
              </a:rPr>
              <a:t>Next</a:t>
            </a:r>
            <a:endParaRPr lang="en-US" sz="750" dirty="0"/>
          </a:p>
        </p:txBody>
      </p:sp>
      <p:pic>
        <p:nvPicPr>
          <p:cNvPr id="44"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5" name="Text 42"/>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46" name="Text 43"/>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14 / 15</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508000" y="939800"/>
            <a:ext cx="486470" cy="127000"/>
          </a:xfrm>
          <a:prstGeom prst="roundRect">
            <a:avLst>
              <a:gd name="adj" fmla="val 360000"/>
            </a:avLst>
          </a:prstGeom>
          <a:solidFill>
            <a:srgbClr val="D7EEF9"/>
          </a:solidFill>
          <a:ln/>
        </p:spPr>
      </p:sp>
      <p:sp>
        <p:nvSpPr>
          <p:cNvPr id="3" name="Shape 1"/>
          <p:cNvSpPr/>
          <p:nvPr/>
        </p:nvSpPr>
        <p:spPr>
          <a:xfrm>
            <a:off x="508000" y="3082528"/>
            <a:ext cx="3048000" cy="0"/>
          </a:xfrm>
          <a:prstGeom prst="line">
            <a:avLst/>
          </a:prstGeom>
          <a:noFill/>
          <a:ln w="6350">
            <a:solidFill>
              <a:srgbClr val="4DBDF5"/>
            </a:solidFill>
            <a:prstDash val="solid"/>
          </a:ln>
        </p:spPr>
      </p:sp>
      <p:sp>
        <p:nvSpPr>
          <p:cNvPr id="4" name="Shape 2"/>
          <p:cNvSpPr/>
          <p:nvPr/>
        </p:nvSpPr>
        <p:spPr>
          <a:xfrm>
            <a:off x="3810000" y="3082528"/>
            <a:ext cx="3048000" cy="0"/>
          </a:xfrm>
          <a:prstGeom prst="line">
            <a:avLst/>
          </a:prstGeom>
          <a:noFill/>
          <a:ln w="6350">
            <a:solidFill>
              <a:srgbClr val="4DBDF5"/>
            </a:solidFill>
            <a:prstDash val="solid"/>
          </a:ln>
        </p:spPr>
      </p:sp>
      <p:sp>
        <p:nvSpPr>
          <p:cNvPr id="5" name="Shape 3"/>
          <p:cNvSpPr/>
          <p:nvPr/>
        </p:nvSpPr>
        <p:spPr>
          <a:xfrm>
            <a:off x="7112000" y="3082528"/>
            <a:ext cx="3048000" cy="0"/>
          </a:xfrm>
          <a:prstGeom prst="line">
            <a:avLst/>
          </a:prstGeom>
          <a:noFill/>
          <a:ln w="6350">
            <a:solidFill>
              <a:srgbClr val="4DBDF5"/>
            </a:solidFill>
            <a:prstDash val="solid"/>
          </a:ln>
        </p:spPr>
      </p:sp>
      <p:sp>
        <p:nvSpPr>
          <p:cNvPr id="6" name="Text 4"/>
          <p:cNvSpPr txBox="1"/>
          <p:nvPr/>
        </p:nvSpPr>
        <p:spPr>
          <a:xfrm>
            <a:off x="501650" y="971550"/>
            <a:ext cx="49917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CLOSING</a:t>
            </a:r>
            <a:endParaRPr lang="en-US" sz="500" dirty="0"/>
          </a:p>
        </p:txBody>
      </p:sp>
      <p:sp>
        <p:nvSpPr>
          <p:cNvPr id="7" name="Text 5"/>
          <p:cNvSpPr txBox="1"/>
          <p:nvPr/>
        </p:nvSpPr>
        <p:spPr>
          <a:xfrm>
            <a:off x="508000" y="1212850"/>
            <a:ext cx="9326880" cy="1152128"/>
          </a:xfrm>
          <a:prstGeom prst="rect">
            <a:avLst/>
          </a:prstGeom>
          <a:noFill/>
          <a:ln/>
        </p:spPr>
        <p:txBody>
          <a:bodyPr wrap="square" lIns="0" tIns="0" rIns="0" bIns="0" rtlCol="0" anchor="t"/>
          <a:lstStyle/>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Display is the proving ground for the</a:t>
            </a:r>
            <a:endParaRPr lang="en-US" sz="3600" dirty="0"/>
          </a:p>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experience we need </a:t>
            </a:r>
            <a:pPr algn="l" indent="0" marL="0">
              <a:lnSpc>
                <a:spcPts val="4536"/>
              </a:lnSpc>
              <a:buNone/>
            </a:pPr>
            <a:r>
              <a:rPr lang="en-US" sz="3600" i="1" spc="-108" kern="0" dirty="0">
                <a:solidFill>
                  <a:srgbClr val="4DBDF5"/>
                </a:solidFill>
                <a:latin typeface="Everyday Sans Light" pitchFamily="34" charset="0"/>
                <a:ea typeface="Everyday Sans Light" pitchFamily="34" charset="-122"/>
                <a:cs typeface="Everyday Sans Light" pitchFamily="34" charset="-120"/>
              </a:rPr>
              <a:t>everywhere</a:t>
            </a:r>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a:t>
            </a:r>
            <a:endParaRPr lang="en-US" sz="3600" dirty="0"/>
          </a:p>
        </p:txBody>
      </p:sp>
      <p:sp>
        <p:nvSpPr>
          <p:cNvPr id="8" name="Text 6"/>
          <p:cNvSpPr txBox="1"/>
          <p:nvPr/>
        </p:nvSpPr>
        <p:spPr>
          <a:xfrm>
            <a:off x="508000" y="2466578"/>
            <a:ext cx="6720840" cy="460375"/>
          </a:xfrm>
          <a:prstGeom prst="rect">
            <a:avLst/>
          </a:prstGeom>
          <a:noFill/>
          <a:ln/>
        </p:spPr>
        <p:txBody>
          <a:bodyPr wrap="square" lIns="0" tIns="0" rIns="0" bIns="0" rtlCol="0" anchor="t"/>
          <a:lstStyle/>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Performance determines what the system can deliver. Experience determines whether</a:t>
            </a:r>
            <a:endParaRPr lang="en-US" sz="1250" dirty="0"/>
          </a:p>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advertisers can understand, control and get value from it.</a:t>
            </a:r>
            <a:endParaRPr lang="en-US" sz="1250" dirty="0"/>
          </a:p>
        </p:txBody>
      </p:sp>
      <p:sp>
        <p:nvSpPr>
          <p:cNvPr id="9" name="Text 7"/>
          <p:cNvSpPr txBox="1"/>
          <p:nvPr/>
        </p:nvSpPr>
        <p:spPr>
          <a:xfrm>
            <a:off x="508000" y="3174603"/>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SOLVE WITHIN DISPLAY</a:t>
            </a:r>
            <a:endParaRPr lang="en-US" sz="600" dirty="0"/>
          </a:p>
        </p:txBody>
      </p:sp>
      <p:sp>
        <p:nvSpPr>
          <p:cNvPr id="10" name="Text 8"/>
          <p:cNvSpPr txBox="1"/>
          <p:nvPr/>
        </p:nvSpPr>
        <p:spPr>
          <a:xfrm>
            <a:off x="508000" y="3320653"/>
            <a:ext cx="3291840" cy="134112"/>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The capabilities that make Display perform</a:t>
            </a:r>
            <a:endParaRPr lang="en-US" sz="800" dirty="0"/>
          </a:p>
        </p:txBody>
      </p:sp>
      <p:sp>
        <p:nvSpPr>
          <p:cNvPr id="11" name="Text 9"/>
          <p:cNvSpPr txBox="1"/>
          <p:nvPr/>
        </p:nvSpPr>
        <p:spPr>
          <a:xfrm>
            <a:off x="3810000" y="3174603"/>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SOLVE ONCE</a:t>
            </a:r>
            <a:endParaRPr lang="en-US" sz="600" dirty="0"/>
          </a:p>
        </p:txBody>
      </p:sp>
      <p:sp>
        <p:nvSpPr>
          <p:cNvPr id="12" name="Text 10"/>
          <p:cNvSpPr txBox="1"/>
          <p:nvPr/>
        </p:nvSpPr>
        <p:spPr>
          <a:xfrm>
            <a:off x="3810000" y="3320653"/>
            <a:ext cx="3291840" cy="134112"/>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The connective tissue that makes them usable</a:t>
            </a:r>
            <a:endParaRPr lang="en-US" sz="800" dirty="0"/>
          </a:p>
        </p:txBody>
      </p:sp>
      <p:sp>
        <p:nvSpPr>
          <p:cNvPr id="13" name="Text 11"/>
          <p:cNvSpPr txBox="1"/>
          <p:nvPr/>
        </p:nvSpPr>
        <p:spPr>
          <a:xfrm>
            <a:off x="7112000" y="3174603"/>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WHY BOTH</a:t>
            </a:r>
            <a:endParaRPr lang="en-US" sz="600" dirty="0"/>
          </a:p>
        </p:txBody>
      </p:sp>
      <p:sp>
        <p:nvSpPr>
          <p:cNvPr id="14" name="Text 12"/>
          <p:cNvSpPr txBox="1"/>
          <p:nvPr/>
        </p:nvSpPr>
        <p:spPr>
          <a:xfrm>
            <a:off x="7112000" y="3320653"/>
            <a:ext cx="3291840" cy="134112"/>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Neither lands for advertisers without the other</a:t>
            </a:r>
            <a:endParaRPr lang="en-US" sz="800" dirty="0"/>
          </a:p>
        </p:txBody>
      </p:sp>
      <p:pic>
        <p:nvPicPr>
          <p:cNvPr id="1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16" name="Text 13"/>
          <p:cNvSpPr txBox="1"/>
          <p:nvPr/>
        </p:nvSpPr>
        <p:spPr>
          <a:xfrm>
            <a:off x="711200" y="6362700"/>
            <a:ext cx="1456333" cy="127000"/>
          </a:xfrm>
          <a:prstGeom prst="rect">
            <a:avLst/>
          </a:prstGeom>
          <a:noFill/>
          <a:ln/>
        </p:spPr>
        <p:txBody>
          <a:bodyPr wrap="square" lIns="0" tIns="0" rIns="0" bIns="0" rtlCol="0" anchor="ctr"/>
          <a:lstStyle/>
          <a:p>
            <a:pPr indent="0" marL="0">
              <a:buNone/>
            </a:pPr>
            <a:r>
              <a:rPr lang="en-US" sz="550" dirty="0">
                <a:solidFill>
                  <a:srgbClr val="FFFFFF"/>
                </a:solidFill>
                <a:latin typeface="Everyday Sans UI" pitchFamily="34" charset="0"/>
                <a:ea typeface="Everyday Sans UI" pitchFamily="34" charset="-122"/>
                <a:cs typeface="Everyday Sans UI" pitchFamily="34" charset="-120"/>
              </a:rPr>
              <a:t>Display + Advertiser Experience · draft</a:t>
            </a:r>
            <a:endParaRPr lang="en-US" sz="550" dirty="0"/>
          </a:p>
        </p:txBody>
      </p:sp>
      <p:sp>
        <p:nvSpPr>
          <p:cNvPr id="17" name="Text 1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D0D5DE"/>
                </a:solidFill>
                <a:latin typeface="Everyday Sans Mono" pitchFamily="34" charset="0"/>
                <a:ea typeface="Everyday Sans Mono" pitchFamily="34" charset="-122"/>
                <a:cs typeface="Everyday Sans Mono" pitchFamily="34" charset="-120"/>
              </a:rPr>
              <a:t>15 / 15</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Display + Advertiser Experience</dc:title>
  <dc:subject>PptxGenJS Presentation</dc:subject>
  <dc:creator>Advertiser Experience</dc:creator>
  <cp:lastModifiedBy>Advertiser Experience</cp:lastModifiedBy>
  <cp:revision>1</cp:revision>
  <dcterms:created xsi:type="dcterms:W3CDTF">2026-09-28T18:28:51Z</dcterms:created>
  <dcterms:modified xsi:type="dcterms:W3CDTF">2026-09-28T18:28:51Z</dcterms:modified>
</cp:coreProperties>
</file>