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early: this is the Advertiser Experience strategy across Walmart Ads, not a Display strategy. Display shows up later as a proof point. Our job is to make the whole journey easier, from planning to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from recurring advertiser evidence, not internal product opinion. Name the sources. The rest of the deck keeps coming back to these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scopes on one slide: the left group is Display setup behavior, the right is the relationship survey across Walmart Ads. Don’t blend them. Say the causation line out loud before anyone else does.
Footnote 1: Pendo behavioral analytics, Onsite Display ad group setup. Date range and denominators to confirm before presenting.
Footnote 2: Pendo Feedback, 1,825 records, February 2025–August 2026; 1,350 scored relationship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philosophy behind the roadmap. Step three is the one we used to skip: we went from signal straight to solution. Every initiative later in the deck should trace back through this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the Sales concern without blaming anyone: not the advertiser, not the workflow, not the serving system. The left column is their list, in their words. The right is what we’ve found so far — useful, not conclusive.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buckets: what the shopper sees, what the advertiser builds, and what the system does with it. Only the middle one is primarily an experience problem, and we say so. The discipline is not picking a favorite before the evidence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back out of the Display example. Measurement sits under all three buckets — that is why it’s a band, not a fourth column. And it is one of the foundational cross-channel investments.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deck returns decisively from Display to the broader strategy. The top row is the same six-step journey from the opening slide. Read it top to bottom: the jobs are the same, so the capabilities should be too. Channels adapt only where the media genuinely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of starting upstream, before campaign performance becomes the symptom. Seller Center is the example; the principle applies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feedback and observed adoption changed our approach. We are not scaling the existing recommendation model — we’re adding the rigor that decides whether a recommendation should appear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approaches earn scale through evidence. Walk the six evaluation questions — the last one matters: we are looking for unintended behavior, not only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Sponsored and Display workflow modernization are one strategy, not two isolated redesigns. The differences on the left came from product history and org boundaries, not from advertiser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shared foundation that does two jobs at once: it simplifies the workflow, and it improves our ability to diagnose performance. Point at the right-hand box — it connects straight back to the three contributors.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Measurement + Reporting is decision support, not another reporting destination. The bottom row is the adaptive part: show each advertiser what they actually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diagnosis framework: experiments are how step three gets real evidence instead of opinion. Over time, that builds the evidence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not the rows. The bottom row counts initiatives, not impact. Fragmented is the thinnest column at three — that is the pain point to watch, and it is why the shared capabilities matter. Say the caveat: dots are intent, not impact, so two rows with five dots do not mean those two solve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philosophy and the accountability model, not a feature list. Five steps, matching the title. Read the closing line, then move to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proposals, not decisions already taken. Align is about the approach; Staff is about who does the diagnosis; Measure is about how we will know. If only one lands today, make it Align.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4305498"/>
            <a:ext cx="1481634"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2142034" y="4305498"/>
            <a:ext cx="1481634"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3776067" y="4305498"/>
            <a:ext cx="1481634"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5410101" y="4305498"/>
            <a:ext cx="1481733"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7044234" y="4305498"/>
            <a:ext cx="1481634"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8678267" y="4305498"/>
            <a:ext cx="1481634"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0" name="Text 8"/>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ADVERTISER EXPERIENCE STRATEGY</a:t>
            </a:r>
            <a:endParaRPr lang="en-US" sz="500" dirty="0"/>
          </a:p>
        </p:txBody>
      </p:sp>
      <p:sp>
        <p:nvSpPr>
          <p:cNvPr id="11" name="Text 9"/>
          <p:cNvSpPr txBox="1"/>
          <p:nvPr/>
        </p:nvSpPr>
        <p:spPr>
          <a:xfrm>
            <a:off x="508000" y="1212850"/>
            <a:ext cx="9326880" cy="1152128"/>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Making Walmart Ads easier to buy,</a:t>
            </a:r>
            <a:endParaRPr lang="en-US" sz="3600" dirty="0"/>
          </a:p>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understand &amp; </a:t>
            </a:r>
            <a:pPr algn="l" indent="0" marL="0">
              <a:lnSpc>
                <a:spcPts val="4536"/>
              </a:lnSpc>
              <a:buNone/>
            </a:pPr>
            <a:r>
              <a:rPr lang="en-US" sz="3600" i="1" spc="-108" kern="0" dirty="0">
                <a:gradFill rotWithShape="1">
                  <a:gsLst>
                    <a:gs pos="0">
                      <a:srgbClr val="993EF4"/>
                    </a:gs>
                    <a:gs pos="100000">
                      <a:srgbClr val="00D0CD"/>
                    </a:gs>
                  </a:gsLst>
                  <a:lin ang="0" scaled="0"/>
                </a:gradFill>
                <a:latin typeface="Everyday Sans Light" pitchFamily="34" charset="0"/>
                <a:ea typeface="Everyday Sans Light" pitchFamily="34" charset="-122"/>
                <a:cs typeface="Everyday Sans Light" pitchFamily="34" charset="-120"/>
              </a:rPr>
              <a:t>improve</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12" name="Text 10"/>
          <p:cNvSpPr txBox="1"/>
          <p:nvPr/>
        </p:nvSpPr>
        <p:spPr>
          <a:xfrm>
            <a:off x="508000" y="2466578"/>
            <a:ext cx="6720840" cy="460375"/>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We’re connecting advertiser evidence, product experience and performance signals to</a:t>
            </a:r>
            <a:endParaRPr lang="en-US" sz="1250" dirty="0"/>
          </a:p>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systematically remove friction across the advertising journey.</a:t>
            </a:r>
            <a:endParaRPr lang="en-US" sz="1250" dirty="0"/>
          </a:p>
        </p:txBody>
      </p:sp>
      <p:sp>
        <p:nvSpPr>
          <p:cNvPr id="13" name="Text 11"/>
          <p:cNvSpPr txBox="1"/>
          <p:nvPr/>
        </p:nvSpPr>
        <p:spPr>
          <a:xfrm>
            <a:off x="508000" y="3180953"/>
            <a:ext cx="10424160" cy="321310"/>
          </a:xfrm>
          <a:prstGeom prst="rect">
            <a:avLst/>
          </a:prstGeom>
          <a:noFill/>
          <a:ln/>
        </p:spPr>
        <p:txBody>
          <a:bodyPr wrap="square" lIns="0" tIns="0" rIns="0" bIns="0" rtlCol="0" anchor="t"/>
          <a:lstStyle/>
          <a:p>
            <a:pPr algn="l" indent="0" marL="0">
              <a:lnSpc>
                <a:spcPts val="2530"/>
              </a:lnSpc>
              <a:buNone/>
            </a:pPr>
            <a:r>
              <a:rPr lang="en-US" sz="2200" spc="-66" kern="0" dirty="0">
                <a:solidFill>
                  <a:srgbClr val="FFFFFF"/>
                </a:solidFill>
                <a:latin typeface="Everyday Sans Headline Light" pitchFamily="34" charset="0"/>
                <a:ea typeface="Everyday Sans Headline Light" pitchFamily="34" charset="-122"/>
                <a:cs typeface="Everyday Sans Headline Light" pitchFamily="34" charset="-120"/>
              </a:rPr>
              <a:t>Less complexity. More clarity. Better decisions.</a:t>
            </a:r>
            <a:endParaRPr lang="en-US" sz="2200" dirty="0"/>
          </a:p>
        </p:txBody>
      </p:sp>
      <p:sp>
        <p:nvSpPr>
          <p:cNvPr id="14" name="Text 12"/>
          <p:cNvSpPr txBox="1"/>
          <p:nvPr/>
        </p:nvSpPr>
        <p:spPr>
          <a:xfrm>
            <a:off x="508000" y="3680023"/>
            <a:ext cx="6720840" cy="368300"/>
          </a:xfrm>
          <a:prstGeom prst="rect">
            <a:avLst/>
          </a:prstGeom>
          <a:noFill/>
          <a:ln/>
        </p:spPr>
        <p:txBody>
          <a:bodyPr wrap="square" lIns="0" tIns="0" rIns="0" bIns="0" rtlCol="0" anchor="t"/>
          <a:lstStyle/>
          <a:p>
            <a:pPr algn="l" indent="0" marL="0">
              <a:lnSpc>
                <a:spcPts val="1450"/>
              </a:lnSpc>
              <a:buNone/>
            </a:pPr>
            <a:r>
              <a:rPr lang="en-US" sz="1000" dirty="0">
                <a:solidFill>
                  <a:srgbClr val="FFFFFF"/>
                </a:solidFill>
                <a:latin typeface="Everyday Sans UI" pitchFamily="34" charset="0"/>
                <a:ea typeface="Everyday Sans UI" pitchFamily="34" charset="-122"/>
                <a:cs typeface="Everyday Sans UI" pitchFamily="34" charset="-120"/>
              </a:rPr>
              <a:t>Advertisers should not need to understand our organizational structure, platform architecture or channel history to</a:t>
            </a:r>
            <a:endParaRPr lang="en-US" sz="1000" dirty="0"/>
          </a:p>
          <a:p>
            <a:pPr algn="l" indent="0" marL="0">
              <a:lnSpc>
                <a:spcPts val="1450"/>
              </a:lnSpc>
              <a:buNone/>
            </a:pPr>
            <a:r>
              <a:rPr lang="en-US" sz="1000" dirty="0">
                <a:solidFill>
                  <a:srgbClr val="FFFFFF"/>
                </a:solidFill>
                <a:latin typeface="Everyday Sans UI" pitchFamily="34" charset="0"/>
                <a:ea typeface="Everyday Sans UI" pitchFamily="34" charset="-122"/>
                <a:cs typeface="Everyday Sans UI" pitchFamily="34" charset="-120"/>
              </a:rPr>
              <a:t>successfully advertise with Walmart.</a:t>
            </a:r>
            <a:endParaRPr lang="en-US" sz="1000" dirty="0"/>
          </a:p>
        </p:txBody>
      </p:sp>
      <p:sp>
        <p:nvSpPr>
          <p:cNvPr id="15" name="Text 13"/>
          <p:cNvSpPr txBox="1"/>
          <p:nvPr/>
        </p:nvSpPr>
        <p:spPr>
          <a:xfrm>
            <a:off x="508000"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01</a:t>
            </a:r>
            <a:endParaRPr lang="en-US" sz="600" dirty="0"/>
          </a:p>
        </p:txBody>
      </p:sp>
      <p:sp>
        <p:nvSpPr>
          <p:cNvPr id="16" name="Text 14"/>
          <p:cNvSpPr txBox="1"/>
          <p:nvPr/>
        </p:nvSpPr>
        <p:spPr>
          <a:xfrm>
            <a:off x="508000"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Plan</a:t>
            </a:r>
            <a:endParaRPr lang="en-US" sz="1400" dirty="0"/>
          </a:p>
        </p:txBody>
      </p:sp>
      <p:sp>
        <p:nvSpPr>
          <p:cNvPr id="17" name="Text 15"/>
          <p:cNvSpPr txBox="1"/>
          <p:nvPr/>
        </p:nvSpPr>
        <p:spPr>
          <a:xfrm>
            <a:off x="2142034"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02</a:t>
            </a:r>
            <a:endParaRPr lang="en-US" sz="600" dirty="0"/>
          </a:p>
        </p:txBody>
      </p:sp>
      <p:sp>
        <p:nvSpPr>
          <p:cNvPr id="18" name="Text 16"/>
          <p:cNvSpPr txBox="1"/>
          <p:nvPr/>
        </p:nvSpPr>
        <p:spPr>
          <a:xfrm>
            <a:off x="2142034"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Build</a:t>
            </a:r>
            <a:endParaRPr lang="en-US" sz="1400" dirty="0"/>
          </a:p>
        </p:txBody>
      </p:sp>
      <p:sp>
        <p:nvSpPr>
          <p:cNvPr id="19" name="Text 17"/>
          <p:cNvSpPr txBox="1"/>
          <p:nvPr/>
        </p:nvSpPr>
        <p:spPr>
          <a:xfrm>
            <a:off x="3776067"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03</a:t>
            </a:r>
            <a:endParaRPr lang="en-US" sz="600" dirty="0"/>
          </a:p>
        </p:txBody>
      </p:sp>
      <p:sp>
        <p:nvSpPr>
          <p:cNvPr id="20" name="Text 18"/>
          <p:cNvSpPr txBox="1"/>
          <p:nvPr/>
        </p:nvSpPr>
        <p:spPr>
          <a:xfrm>
            <a:off x="3776067"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Launch</a:t>
            </a:r>
            <a:endParaRPr lang="en-US" sz="1400" dirty="0"/>
          </a:p>
        </p:txBody>
      </p:sp>
      <p:sp>
        <p:nvSpPr>
          <p:cNvPr id="21" name="Text 19"/>
          <p:cNvSpPr txBox="1"/>
          <p:nvPr/>
        </p:nvSpPr>
        <p:spPr>
          <a:xfrm>
            <a:off x="5410101" y="4397573"/>
            <a:ext cx="1634133"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04</a:t>
            </a:r>
            <a:endParaRPr lang="en-US" sz="600" dirty="0"/>
          </a:p>
        </p:txBody>
      </p:sp>
      <p:sp>
        <p:nvSpPr>
          <p:cNvPr id="22" name="Text 20"/>
          <p:cNvSpPr txBox="1"/>
          <p:nvPr/>
        </p:nvSpPr>
        <p:spPr>
          <a:xfrm>
            <a:off x="5410101" y="4543623"/>
            <a:ext cx="1634133"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Understand</a:t>
            </a:r>
            <a:endParaRPr lang="en-US" sz="1400" dirty="0"/>
          </a:p>
        </p:txBody>
      </p:sp>
      <p:sp>
        <p:nvSpPr>
          <p:cNvPr id="23" name="Text 21"/>
          <p:cNvSpPr txBox="1"/>
          <p:nvPr/>
        </p:nvSpPr>
        <p:spPr>
          <a:xfrm>
            <a:off x="7044234"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05</a:t>
            </a:r>
            <a:endParaRPr lang="en-US" sz="600" dirty="0"/>
          </a:p>
        </p:txBody>
      </p:sp>
      <p:sp>
        <p:nvSpPr>
          <p:cNvPr id="24" name="Text 22"/>
          <p:cNvSpPr txBox="1"/>
          <p:nvPr/>
        </p:nvSpPr>
        <p:spPr>
          <a:xfrm>
            <a:off x="7044234"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Optimize</a:t>
            </a:r>
            <a:endParaRPr lang="en-US" sz="1400" dirty="0"/>
          </a:p>
        </p:txBody>
      </p:sp>
      <p:sp>
        <p:nvSpPr>
          <p:cNvPr id="25" name="Text 23"/>
          <p:cNvSpPr txBox="1"/>
          <p:nvPr/>
        </p:nvSpPr>
        <p:spPr>
          <a:xfrm>
            <a:off x="8678267" y="4397573"/>
            <a:ext cx="1634034"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06</a:t>
            </a:r>
            <a:endParaRPr lang="en-US" sz="600" dirty="0"/>
          </a:p>
        </p:txBody>
      </p:sp>
      <p:sp>
        <p:nvSpPr>
          <p:cNvPr id="26" name="Text 24"/>
          <p:cNvSpPr txBox="1"/>
          <p:nvPr/>
        </p:nvSpPr>
        <p:spPr>
          <a:xfrm>
            <a:off x="8678267" y="4543623"/>
            <a:ext cx="1634034" cy="234696"/>
          </a:xfrm>
          <a:prstGeom prst="rect">
            <a:avLst/>
          </a:prstGeom>
          <a:noFill/>
          <a:ln/>
        </p:spPr>
        <p:txBody>
          <a:bodyPr wrap="square" lIns="0" tIns="0" rIns="0" bIns="0" rtlCol="0" anchor="t"/>
          <a:lstStyle/>
          <a:p>
            <a:pPr algn="l" indent="0" marL="0">
              <a:lnSpc>
                <a:spcPts val="1848"/>
              </a:lnSpc>
              <a:buNone/>
            </a:pPr>
            <a:r>
              <a:rPr lang="en-US" sz="1400" spc="-28" kern="0" dirty="0">
                <a:solidFill>
                  <a:srgbClr val="FFFFFF"/>
                </a:solidFill>
                <a:latin typeface="Everyday Sans Headline Light" pitchFamily="34" charset="0"/>
                <a:ea typeface="Everyday Sans Headline Light" pitchFamily="34" charset="-122"/>
                <a:cs typeface="Everyday Sans Headline Light" pitchFamily="34" charset="-120"/>
              </a:rPr>
              <a:t>Grow</a:t>
            </a:r>
            <a:endParaRPr lang="en-US" sz="1400" dirty="0"/>
          </a:p>
        </p:txBody>
      </p:sp>
      <p:pic>
        <p:nvPicPr>
          <p:cNvPr id="2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8" name="Text 25"/>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9" name="Text 2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01 / 18</a:t>
            </a:r>
            <a:endParaRPr lang="en-US" sz="650" dirty="0"/>
          </a:p>
        </p:txBody>
      </p:sp>
      <p:pic>
        <p:nvPicPr>
          <p:cNvPr id="30"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31280" cy="127000"/>
          </a:xfrm>
          <a:prstGeom prst="roundRect">
            <a:avLst>
              <a:gd name="adj" fmla="val 360000"/>
            </a:avLst>
          </a:prstGeom>
          <a:solidFill>
            <a:srgbClr val="D7EEF9"/>
          </a:solidFill>
          <a:ln/>
        </p:spPr>
      </p:sp>
      <p:sp>
        <p:nvSpPr>
          <p:cNvPr id="3" name="Shape 1"/>
          <p:cNvSpPr/>
          <p:nvPr/>
        </p:nvSpPr>
        <p:spPr>
          <a:xfrm>
            <a:off x="508000" y="3345160"/>
            <a:ext cx="2072580"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2783780" y="3345160"/>
            <a:ext cx="2072680"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5059660" y="3345160"/>
            <a:ext cx="2072580"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7335441" y="3345160"/>
            <a:ext cx="2072680"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9611320" y="3345160"/>
            <a:ext cx="2072580"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1487488" y="4361755"/>
            <a:ext cx="307677" cy="203200"/>
          </a:xfrm>
          <a:prstGeom prst="rect">
            <a:avLst/>
          </a:prstGeom>
          <a:ln w="6350">
            <a:solidFill>
              <a:srgbClr val="E4E8EF"/>
            </a:solidFill>
            <a:prstDash val="solid"/>
          </a:ln>
        </p:spPr>
      </p:sp>
      <p:sp>
        <p:nvSpPr>
          <p:cNvPr id="9" name="Shape 7"/>
          <p:cNvSpPr/>
          <p:nvPr/>
        </p:nvSpPr>
        <p:spPr>
          <a:xfrm>
            <a:off x="1858665" y="4361755"/>
            <a:ext cx="830163" cy="203200"/>
          </a:xfrm>
          <a:prstGeom prst="rect">
            <a:avLst/>
          </a:prstGeom>
          <a:ln w="6350">
            <a:solidFill>
              <a:srgbClr val="E4E8EF"/>
            </a:solidFill>
            <a:prstDash val="solid"/>
          </a:ln>
        </p:spPr>
      </p:sp>
      <p:sp>
        <p:nvSpPr>
          <p:cNvPr id="10" name="Shape 8"/>
          <p:cNvSpPr/>
          <p:nvPr/>
        </p:nvSpPr>
        <p:spPr>
          <a:xfrm>
            <a:off x="2752328" y="4361755"/>
            <a:ext cx="307677" cy="203200"/>
          </a:xfrm>
          <a:prstGeom prst="rect">
            <a:avLst/>
          </a:prstGeom>
          <a:ln w="6350">
            <a:solidFill>
              <a:srgbClr val="E4E8EF"/>
            </a:solidFill>
            <a:prstDash val="solid"/>
          </a:ln>
        </p:spPr>
      </p:sp>
      <p:sp>
        <p:nvSpPr>
          <p:cNvPr id="11" name="Shape 9"/>
          <p:cNvSpPr/>
          <p:nvPr/>
        </p:nvSpPr>
        <p:spPr>
          <a:xfrm>
            <a:off x="3123505" y="4361755"/>
            <a:ext cx="497681" cy="203200"/>
          </a:xfrm>
          <a:prstGeom prst="rect">
            <a:avLst/>
          </a:prstGeom>
          <a:ln w="6350">
            <a:solidFill>
              <a:srgbClr val="E4E8EF"/>
            </a:solidFill>
            <a:prstDash val="solid"/>
          </a:ln>
        </p:spPr>
      </p:sp>
      <p:sp>
        <p:nvSpPr>
          <p:cNvPr id="12" name="Shape 10"/>
          <p:cNvSpPr/>
          <p:nvPr/>
        </p:nvSpPr>
        <p:spPr>
          <a:xfrm>
            <a:off x="3684687" y="4361755"/>
            <a:ext cx="402630" cy="203200"/>
          </a:xfrm>
          <a:prstGeom prst="rect">
            <a:avLst/>
          </a:prstGeom>
          <a:ln w="6350">
            <a:solidFill>
              <a:srgbClr val="E4E8EF"/>
            </a:solidFill>
            <a:prstDash val="solid"/>
          </a:ln>
        </p:spPr>
      </p:sp>
      <p:sp>
        <p:nvSpPr>
          <p:cNvPr id="13" name="Shape 11"/>
          <p:cNvSpPr/>
          <p:nvPr/>
        </p:nvSpPr>
        <p:spPr>
          <a:xfrm>
            <a:off x="4150816" y="4361755"/>
            <a:ext cx="972641" cy="203200"/>
          </a:xfrm>
          <a:prstGeom prst="rect">
            <a:avLst/>
          </a:prstGeom>
          <a:ln w="6350">
            <a:solidFill>
              <a:srgbClr val="E4E8EF"/>
            </a:solidFill>
            <a:prstDash val="solid"/>
          </a:ln>
        </p:spPr>
      </p:sp>
      <p:sp>
        <p:nvSpPr>
          <p:cNvPr id="14" name="Shape 12"/>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5" name="Text 13"/>
          <p:cNvSpPr txBox="1"/>
          <p:nvPr/>
        </p:nvSpPr>
        <p:spPr>
          <a:xfrm>
            <a:off x="501650" y="971550"/>
            <a:ext cx="104398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WHAT WE’RE HEARING</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Advertisers are telling us the experience is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harder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than it should be.</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Across research, behavioral data, feedback and support interactions, the same experience problems continue to surface.</a:t>
            </a:r>
            <a:endParaRPr lang="en-US" sz="900" dirty="0"/>
          </a:p>
        </p:txBody>
      </p:sp>
      <p:sp>
        <p:nvSpPr>
          <p:cNvPr id="18" name="Text 16"/>
          <p:cNvSpPr txBox="1"/>
          <p:nvPr/>
        </p:nvSpPr>
        <p:spPr>
          <a:xfrm>
            <a:off x="508000" y="3475335"/>
            <a:ext cx="2221928" cy="266700"/>
          </a:xfrm>
          <a:prstGeom prst="rect">
            <a:avLst/>
          </a:prstGeom>
          <a:noFill/>
          <a:ln/>
        </p:spPr>
        <p:txBody>
          <a:bodyPr wrap="square" lIns="0" tIns="0" rIns="0" bIns="0" rtlCol="0" anchor="t"/>
          <a:lstStyle/>
          <a:p>
            <a:pPr algn="l" indent="0" marL="0">
              <a:lnSpc>
                <a:spcPts val="2100"/>
              </a:lnSpc>
              <a:buNone/>
            </a:pPr>
            <a:r>
              <a:rPr lang="en-US" sz="2000" spc="-70"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Complex</a:t>
            </a:r>
            <a:endParaRPr lang="en-US" sz="2000" dirty="0"/>
          </a:p>
        </p:txBody>
      </p:sp>
      <p:sp>
        <p:nvSpPr>
          <p:cNvPr id="19" name="Text 17"/>
          <p:cNvSpPr txBox="1"/>
          <p:nvPr/>
        </p:nvSpPr>
        <p:spPr>
          <a:xfrm>
            <a:off x="50800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Too many decisions and concepts require</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expertise to navigate.</a:t>
            </a:r>
            <a:endParaRPr lang="en-US" sz="850" dirty="0"/>
          </a:p>
        </p:txBody>
      </p:sp>
      <p:sp>
        <p:nvSpPr>
          <p:cNvPr id="20" name="Text 18"/>
          <p:cNvSpPr txBox="1"/>
          <p:nvPr/>
        </p:nvSpPr>
        <p:spPr>
          <a:xfrm>
            <a:off x="2783780" y="3475335"/>
            <a:ext cx="2222035" cy="266700"/>
          </a:xfrm>
          <a:prstGeom prst="rect">
            <a:avLst/>
          </a:prstGeom>
          <a:noFill/>
          <a:ln/>
        </p:spPr>
        <p:txBody>
          <a:bodyPr wrap="square" lIns="0" tIns="0" rIns="0" bIns="0" rtlCol="0" anchor="t"/>
          <a:lstStyle/>
          <a:p>
            <a:pPr algn="l" indent="0" marL="0">
              <a:lnSpc>
                <a:spcPts val="2100"/>
              </a:lnSpc>
              <a:buNone/>
            </a:pPr>
            <a:r>
              <a:rPr lang="en-US" sz="2000" spc="-70"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Fragmented</a:t>
            </a:r>
            <a:endParaRPr lang="en-US" sz="2000" dirty="0"/>
          </a:p>
        </p:txBody>
      </p:sp>
      <p:sp>
        <p:nvSpPr>
          <p:cNvPr id="21" name="Text 19"/>
          <p:cNvSpPr txBox="1"/>
          <p:nvPr/>
        </p:nvSpPr>
        <p:spPr>
          <a:xfrm>
            <a:off x="2783780" y="3830935"/>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 jobs are distributed across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workflows, products and destinations.</a:t>
            </a:r>
            <a:endParaRPr lang="en-US" sz="850" dirty="0"/>
          </a:p>
        </p:txBody>
      </p:sp>
      <p:sp>
        <p:nvSpPr>
          <p:cNvPr id="22" name="Text 20"/>
          <p:cNvSpPr txBox="1"/>
          <p:nvPr/>
        </p:nvSpPr>
        <p:spPr>
          <a:xfrm>
            <a:off x="5059660" y="3475335"/>
            <a:ext cx="2221928" cy="266700"/>
          </a:xfrm>
          <a:prstGeom prst="rect">
            <a:avLst/>
          </a:prstGeom>
          <a:noFill/>
          <a:ln/>
        </p:spPr>
        <p:txBody>
          <a:bodyPr wrap="square" lIns="0" tIns="0" rIns="0" bIns="0" rtlCol="0" anchor="t"/>
          <a:lstStyle/>
          <a:p>
            <a:pPr algn="l" indent="0" marL="0">
              <a:lnSpc>
                <a:spcPts val="2100"/>
              </a:lnSpc>
              <a:buNone/>
            </a:pPr>
            <a:r>
              <a:rPr lang="en-US" sz="2000" spc="-70"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Inconsistent</a:t>
            </a:r>
            <a:endParaRPr lang="en-US" sz="2000" dirty="0"/>
          </a:p>
        </p:txBody>
      </p:sp>
      <p:sp>
        <p:nvSpPr>
          <p:cNvPr id="23" name="Text 21"/>
          <p:cNvSpPr txBox="1"/>
          <p:nvPr/>
        </p:nvSpPr>
        <p:spPr>
          <a:xfrm>
            <a:off x="505966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Similar tasks work differently depending on</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where advertisers are.</a:t>
            </a:r>
            <a:endParaRPr lang="en-US" sz="850" dirty="0"/>
          </a:p>
        </p:txBody>
      </p:sp>
      <p:sp>
        <p:nvSpPr>
          <p:cNvPr id="24" name="Text 22"/>
          <p:cNvSpPr txBox="1"/>
          <p:nvPr/>
        </p:nvSpPr>
        <p:spPr>
          <a:xfrm>
            <a:off x="7335441" y="3475335"/>
            <a:ext cx="2222035" cy="266700"/>
          </a:xfrm>
          <a:prstGeom prst="rect">
            <a:avLst/>
          </a:prstGeom>
          <a:noFill/>
          <a:ln/>
        </p:spPr>
        <p:txBody>
          <a:bodyPr wrap="square" lIns="0" tIns="0" rIns="0" bIns="0" rtlCol="0" anchor="t"/>
          <a:lstStyle/>
          <a:p>
            <a:pPr algn="l" indent="0" marL="0">
              <a:lnSpc>
                <a:spcPts val="2100"/>
              </a:lnSpc>
              <a:buNone/>
            </a:pPr>
            <a:r>
              <a:rPr lang="en-US" sz="2000" spc="-70"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Unclear</a:t>
            </a:r>
            <a:endParaRPr lang="en-US" sz="2000" dirty="0"/>
          </a:p>
        </p:txBody>
      </p:sp>
      <p:sp>
        <p:nvSpPr>
          <p:cNvPr id="25" name="Text 23"/>
          <p:cNvSpPr txBox="1"/>
          <p:nvPr/>
        </p:nvSpPr>
        <p:spPr>
          <a:xfrm>
            <a:off x="7335441" y="3830935"/>
            <a:ext cx="2238494"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Advertisers struggle to understand what</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happened, why and what to do next.</a:t>
            </a:r>
            <a:endParaRPr lang="en-US" sz="850" dirty="0"/>
          </a:p>
        </p:txBody>
      </p:sp>
      <p:sp>
        <p:nvSpPr>
          <p:cNvPr id="26" name="Text 24"/>
          <p:cNvSpPr txBox="1"/>
          <p:nvPr/>
        </p:nvSpPr>
        <p:spPr>
          <a:xfrm>
            <a:off x="9611320" y="3475335"/>
            <a:ext cx="2221928" cy="266700"/>
          </a:xfrm>
          <a:prstGeom prst="rect">
            <a:avLst/>
          </a:prstGeom>
          <a:noFill/>
          <a:ln/>
        </p:spPr>
        <p:txBody>
          <a:bodyPr wrap="square" lIns="0" tIns="0" rIns="0" bIns="0" rtlCol="0" anchor="t"/>
          <a:lstStyle/>
          <a:p>
            <a:pPr algn="l" indent="0" marL="0">
              <a:lnSpc>
                <a:spcPts val="2100"/>
              </a:lnSpc>
              <a:buNone/>
            </a:pPr>
            <a:r>
              <a:rPr lang="en-US" sz="2000" spc="-70"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Time-consuming</a:t>
            </a:r>
            <a:endParaRPr lang="en-US" sz="2000" dirty="0"/>
          </a:p>
        </p:txBody>
      </p:sp>
      <p:sp>
        <p:nvSpPr>
          <p:cNvPr id="27" name="Text 25"/>
          <p:cNvSpPr txBox="1"/>
          <p:nvPr/>
        </p:nvSpPr>
        <p:spPr>
          <a:xfrm>
            <a:off x="9611320" y="3830935"/>
            <a:ext cx="2238387" cy="302220"/>
          </a:xfrm>
          <a:prstGeom prst="rect">
            <a:avLst/>
          </a:prstGeom>
          <a:noFill/>
          <a:ln/>
        </p:spPr>
        <p:txBody>
          <a:bodyPr wrap="square" lIns="0" tIns="0" rIns="0" bIns="0" rtlCol="0" anchor="t"/>
          <a:lstStyle/>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Routine jobs require too many steps, clicks</a:t>
            </a:r>
            <a:endParaRPr lang="en-US" sz="850" dirty="0"/>
          </a:p>
          <a:p>
            <a:pPr algn="l" indent="0" marL="0">
              <a:lnSpc>
                <a:spcPts val="1190"/>
              </a:lnSpc>
              <a:buNone/>
            </a:pPr>
            <a:r>
              <a:rPr lang="en-US" sz="850" dirty="0">
                <a:solidFill>
                  <a:srgbClr val="3D4A63"/>
                </a:solidFill>
                <a:latin typeface="Everyday Sans UI" pitchFamily="34" charset="0"/>
                <a:ea typeface="Everyday Sans UI" pitchFamily="34" charset="-122"/>
                <a:cs typeface="Everyday Sans UI" pitchFamily="34" charset="-120"/>
              </a:rPr>
              <a:t>and workarounds.</a:t>
            </a:r>
            <a:endParaRPr lang="en-US" sz="850" dirty="0"/>
          </a:p>
        </p:txBody>
      </p:sp>
      <p:sp>
        <p:nvSpPr>
          <p:cNvPr id="28" name="Text 26"/>
          <p:cNvSpPr txBox="1"/>
          <p:nvPr/>
        </p:nvSpPr>
        <p:spPr>
          <a:xfrm>
            <a:off x="508000" y="4418905"/>
            <a:ext cx="979488"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EVIDENCE SOURCES</a:t>
            </a:r>
            <a:endParaRPr lang="en-US" sz="550" dirty="0"/>
          </a:p>
        </p:txBody>
      </p:sp>
      <p:sp>
        <p:nvSpPr>
          <p:cNvPr id="29" name="Text 27"/>
          <p:cNvSpPr txBox="1"/>
          <p:nvPr/>
        </p:nvSpPr>
        <p:spPr>
          <a:xfrm>
            <a:off x="1570038" y="4418905"/>
            <a:ext cx="294977"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UXR</a:t>
            </a:r>
            <a:endParaRPr lang="en-US" sz="550" dirty="0"/>
          </a:p>
        </p:txBody>
      </p:sp>
      <p:sp>
        <p:nvSpPr>
          <p:cNvPr id="30" name="Text 28"/>
          <p:cNvSpPr txBox="1"/>
          <p:nvPr/>
        </p:nvSpPr>
        <p:spPr>
          <a:xfrm>
            <a:off x="1941215" y="4418905"/>
            <a:ext cx="817463"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PENDO BEHAVIOR</a:t>
            </a:r>
            <a:endParaRPr lang="en-US" sz="550" dirty="0"/>
          </a:p>
        </p:txBody>
      </p:sp>
      <p:sp>
        <p:nvSpPr>
          <p:cNvPr id="31" name="Text 29"/>
          <p:cNvSpPr txBox="1"/>
          <p:nvPr/>
        </p:nvSpPr>
        <p:spPr>
          <a:xfrm>
            <a:off x="2834878" y="4418905"/>
            <a:ext cx="294977"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VOC</a:t>
            </a:r>
            <a:endParaRPr lang="en-US" sz="550" dirty="0"/>
          </a:p>
        </p:txBody>
      </p:sp>
      <p:sp>
        <p:nvSpPr>
          <p:cNvPr id="32" name="Text 30"/>
          <p:cNvSpPr txBox="1"/>
          <p:nvPr/>
        </p:nvSpPr>
        <p:spPr>
          <a:xfrm>
            <a:off x="3206055" y="4418905"/>
            <a:ext cx="48498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SUPPORT</a:t>
            </a:r>
            <a:endParaRPr lang="en-US" sz="550" dirty="0"/>
          </a:p>
        </p:txBody>
      </p:sp>
      <p:sp>
        <p:nvSpPr>
          <p:cNvPr id="33" name="Text 31"/>
          <p:cNvSpPr txBox="1"/>
          <p:nvPr/>
        </p:nvSpPr>
        <p:spPr>
          <a:xfrm>
            <a:off x="3767237" y="4418905"/>
            <a:ext cx="389930"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SALES</a:t>
            </a:r>
            <a:endParaRPr lang="en-US" sz="550" dirty="0"/>
          </a:p>
        </p:txBody>
      </p:sp>
      <p:sp>
        <p:nvSpPr>
          <p:cNvPr id="34" name="Text 32"/>
          <p:cNvSpPr txBox="1"/>
          <p:nvPr/>
        </p:nvSpPr>
        <p:spPr>
          <a:xfrm>
            <a:off x="4233366" y="4418905"/>
            <a:ext cx="95994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PRODUCT ANALYTICS</a:t>
            </a:r>
            <a:endParaRPr lang="en-US" sz="550" dirty="0"/>
          </a:p>
        </p:txBody>
      </p:sp>
      <p:pic>
        <p:nvPicPr>
          <p:cNvPr id="3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6" name="Text 33"/>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7" name="Text 3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02 / 18</a:t>
            </a:r>
            <a:endParaRPr lang="en-US" sz="650" dirty="0"/>
          </a:p>
        </p:txBody>
      </p:sp>
      <p:pic>
        <p:nvPicPr>
          <p:cNvPr id="38"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3240484"/>
            <a:ext cx="1642467"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2353667" y="3240484"/>
            <a:ext cx="1642566"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4199434" y="3240484"/>
            <a:ext cx="1642467"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6045101" y="3240484"/>
            <a:ext cx="1642566"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8094067" y="3240484"/>
            <a:ext cx="1693267"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9990534" y="3240484"/>
            <a:ext cx="1693366"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508000" y="4455220"/>
            <a:ext cx="111760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1" name="Text 9"/>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BEHAVIOR CONFIRMS THE RESEARCH</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Advertiser friction isn’t just something they’re telling us. We can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see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it.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Behavioral signals reinforce what advertisers are telling us through research and feedback.</a:t>
            </a:r>
            <a:endParaRPr lang="en-US" sz="900" dirty="0"/>
          </a:p>
        </p:txBody>
      </p:sp>
      <p:sp>
        <p:nvSpPr>
          <p:cNvPr id="14" name="Text 12"/>
          <p:cNvSpPr txBox="1"/>
          <p:nvPr/>
        </p:nvSpPr>
        <p:spPr>
          <a:xfrm>
            <a:off x="508000" y="3048992"/>
            <a:ext cx="7754041" cy="99417"/>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BEHAVIOR · ONSITE DISPLAY AD GROUP SETUP</a:t>
            </a:r>
            <a:pPr algn="l" indent="0" marL="0">
              <a:lnSpc>
                <a:spcPts val="660"/>
              </a:lnSpc>
              <a:buNone/>
            </a:pPr>
            <a:r>
              <a:rPr lang="en-US" sz="500" baseline="30000" spc="10" kern="0" dirty="0">
                <a:solidFill>
                  <a:srgbClr val="0053E2"/>
                </a:solidFill>
                <a:latin typeface="Everyday Sans Mono" pitchFamily="34" charset="0"/>
                <a:ea typeface="Everyday Sans Mono" pitchFamily="34" charset="-122"/>
                <a:cs typeface="Everyday Sans Mono" pitchFamily="34" charset="-120"/>
              </a:rPr>
              <a:t>1</a:t>
            </a:r>
            <a:endParaRPr lang="en-US" sz="550" dirty="0"/>
          </a:p>
        </p:txBody>
      </p:sp>
      <p:sp>
        <p:nvSpPr>
          <p:cNvPr id="15" name="Text 13"/>
          <p:cNvSpPr txBox="1"/>
          <p:nvPr/>
        </p:nvSpPr>
        <p:spPr>
          <a:xfrm>
            <a:off x="508000" y="3345259"/>
            <a:ext cx="1770483"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46.2%</a:t>
            </a:r>
            <a:endParaRPr lang="en-US" sz="3200" dirty="0"/>
          </a:p>
        </p:txBody>
      </p:sp>
      <p:sp>
        <p:nvSpPr>
          <p:cNvPr id="16" name="Text 14"/>
          <p:cNvSpPr txBox="1"/>
          <p:nvPr/>
        </p:nvSpPr>
        <p:spPr>
          <a:xfrm>
            <a:off x="508000" y="3807520"/>
            <a:ext cx="17948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Drop-off</a:t>
            </a:r>
            <a:endParaRPr lang="en-US" sz="850" dirty="0"/>
          </a:p>
        </p:txBody>
      </p:sp>
      <p:sp>
        <p:nvSpPr>
          <p:cNvPr id="17" name="Text 15"/>
          <p:cNvSpPr txBox="1"/>
          <p:nvPr/>
        </p:nvSpPr>
        <p:spPr>
          <a:xfrm>
            <a:off x="508000" y="3966270"/>
            <a:ext cx="17948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From Ad Group Create / Edit to Set Up.</a:t>
            </a:r>
            <a:endParaRPr lang="en-US" sz="750" dirty="0"/>
          </a:p>
        </p:txBody>
      </p:sp>
      <p:sp>
        <p:nvSpPr>
          <p:cNvPr id="18" name="Text 16"/>
          <p:cNvSpPr txBox="1"/>
          <p:nvPr/>
        </p:nvSpPr>
        <p:spPr>
          <a:xfrm>
            <a:off x="2353667" y="3345259"/>
            <a:ext cx="1770582"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135K+</a:t>
            </a:r>
            <a:endParaRPr lang="en-US" sz="3200" dirty="0"/>
          </a:p>
        </p:txBody>
      </p:sp>
      <p:sp>
        <p:nvSpPr>
          <p:cNvPr id="19" name="Text 17"/>
          <p:cNvSpPr txBox="1"/>
          <p:nvPr/>
        </p:nvSpPr>
        <p:spPr>
          <a:xfrm>
            <a:off x="2353667" y="3807520"/>
            <a:ext cx="17949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Dead clicks</a:t>
            </a:r>
            <a:endParaRPr lang="en-US" sz="850" dirty="0"/>
          </a:p>
        </p:txBody>
      </p:sp>
      <p:sp>
        <p:nvSpPr>
          <p:cNvPr id="20" name="Text 18"/>
          <p:cNvSpPr txBox="1"/>
          <p:nvPr/>
        </p:nvSpPr>
        <p:spPr>
          <a:xfrm>
            <a:off x="2353667" y="3966270"/>
            <a:ext cx="1794966"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Clicks that do nothing.</a:t>
            </a:r>
            <a:endParaRPr lang="en-US" sz="750" dirty="0"/>
          </a:p>
        </p:txBody>
      </p:sp>
      <p:sp>
        <p:nvSpPr>
          <p:cNvPr id="21" name="Text 19"/>
          <p:cNvSpPr txBox="1"/>
          <p:nvPr/>
        </p:nvSpPr>
        <p:spPr>
          <a:xfrm>
            <a:off x="4199434" y="3345259"/>
            <a:ext cx="1770483"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28K+</a:t>
            </a:r>
            <a:endParaRPr lang="en-US" sz="3200" dirty="0"/>
          </a:p>
        </p:txBody>
      </p:sp>
      <p:sp>
        <p:nvSpPr>
          <p:cNvPr id="22" name="Text 20"/>
          <p:cNvSpPr txBox="1"/>
          <p:nvPr/>
        </p:nvSpPr>
        <p:spPr>
          <a:xfrm>
            <a:off x="4199434" y="3807520"/>
            <a:ext cx="17948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U-turns</a:t>
            </a:r>
            <a:endParaRPr lang="en-US" sz="850" dirty="0"/>
          </a:p>
        </p:txBody>
      </p:sp>
      <p:sp>
        <p:nvSpPr>
          <p:cNvPr id="23" name="Text 21"/>
          <p:cNvSpPr txBox="1"/>
          <p:nvPr/>
        </p:nvSpPr>
        <p:spPr>
          <a:xfrm>
            <a:off x="4199434" y="3966270"/>
            <a:ext cx="17948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Leaving a page and coming straight back.</a:t>
            </a:r>
            <a:endParaRPr lang="en-US" sz="750" dirty="0"/>
          </a:p>
        </p:txBody>
      </p:sp>
      <p:sp>
        <p:nvSpPr>
          <p:cNvPr id="24" name="Text 22"/>
          <p:cNvSpPr txBox="1"/>
          <p:nvPr/>
        </p:nvSpPr>
        <p:spPr>
          <a:xfrm>
            <a:off x="6045101" y="3345259"/>
            <a:ext cx="1770582"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13.7K+</a:t>
            </a:r>
            <a:endParaRPr lang="en-US" sz="3200" dirty="0"/>
          </a:p>
        </p:txBody>
      </p:sp>
      <p:sp>
        <p:nvSpPr>
          <p:cNvPr id="25" name="Text 23"/>
          <p:cNvSpPr txBox="1"/>
          <p:nvPr/>
        </p:nvSpPr>
        <p:spPr>
          <a:xfrm>
            <a:off x="6045101" y="3807520"/>
            <a:ext cx="17949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Rage clicks</a:t>
            </a:r>
            <a:endParaRPr lang="en-US" sz="850" dirty="0"/>
          </a:p>
        </p:txBody>
      </p:sp>
      <p:sp>
        <p:nvSpPr>
          <p:cNvPr id="26" name="Text 24"/>
          <p:cNvSpPr txBox="1"/>
          <p:nvPr/>
        </p:nvSpPr>
        <p:spPr>
          <a:xfrm>
            <a:off x="6045101" y="3966270"/>
            <a:ext cx="1794966"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Repeated clicks out of frustration.</a:t>
            </a:r>
            <a:endParaRPr lang="en-US" sz="750" dirty="0"/>
          </a:p>
        </p:txBody>
      </p:sp>
      <p:sp>
        <p:nvSpPr>
          <p:cNvPr id="27" name="Text 25"/>
          <p:cNvSpPr txBox="1"/>
          <p:nvPr/>
        </p:nvSpPr>
        <p:spPr>
          <a:xfrm>
            <a:off x="8094067" y="3048992"/>
            <a:ext cx="3877020" cy="99417"/>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PERCEPTION · RELATIONSHIP SURVEY</a:t>
            </a:r>
            <a:pPr algn="l" indent="0" marL="0">
              <a:lnSpc>
                <a:spcPts val="660"/>
              </a:lnSpc>
              <a:buNone/>
            </a:pPr>
            <a:r>
              <a:rPr lang="en-US" sz="500" baseline="30000" spc="10" kern="0" dirty="0">
                <a:solidFill>
                  <a:srgbClr val="0053E2"/>
                </a:solidFill>
                <a:latin typeface="Everyday Sans Mono" pitchFamily="34" charset="0"/>
                <a:ea typeface="Everyday Sans Mono" pitchFamily="34" charset="-122"/>
                <a:cs typeface="Everyday Sans Mono" pitchFamily="34" charset="-120"/>
              </a:rPr>
              <a:t>2</a:t>
            </a:r>
            <a:endParaRPr lang="en-US" sz="550" dirty="0"/>
          </a:p>
        </p:txBody>
      </p:sp>
      <p:sp>
        <p:nvSpPr>
          <p:cNvPr id="28" name="Text 26"/>
          <p:cNvSpPr txBox="1"/>
          <p:nvPr/>
        </p:nvSpPr>
        <p:spPr>
          <a:xfrm>
            <a:off x="8094067" y="3345259"/>
            <a:ext cx="1821283"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~60%</a:t>
            </a:r>
            <a:endParaRPr lang="en-US" sz="3200" dirty="0"/>
          </a:p>
        </p:txBody>
      </p:sp>
      <p:sp>
        <p:nvSpPr>
          <p:cNvPr id="29" name="Text 27"/>
          <p:cNvSpPr txBox="1"/>
          <p:nvPr/>
        </p:nvSpPr>
        <p:spPr>
          <a:xfrm>
            <a:off x="8094067" y="3807520"/>
            <a:ext cx="1845667"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Detractors</a:t>
            </a:r>
            <a:endParaRPr lang="en-US" sz="850" dirty="0"/>
          </a:p>
        </p:txBody>
      </p:sp>
      <p:sp>
        <p:nvSpPr>
          <p:cNvPr id="30" name="Text 28"/>
          <p:cNvSpPr txBox="1"/>
          <p:nvPr/>
        </p:nvSpPr>
        <p:spPr>
          <a:xfrm>
            <a:off x="8094067" y="3966270"/>
            <a:ext cx="1845667" cy="128588"/>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Across 1,350 scored relationship responses.</a:t>
            </a:r>
            <a:endParaRPr lang="en-US" sz="750" dirty="0"/>
          </a:p>
        </p:txBody>
      </p:sp>
      <p:sp>
        <p:nvSpPr>
          <p:cNvPr id="31" name="Text 29"/>
          <p:cNvSpPr txBox="1"/>
          <p:nvPr/>
        </p:nvSpPr>
        <p:spPr>
          <a:xfrm>
            <a:off x="9990534" y="3345259"/>
            <a:ext cx="1821382" cy="386080"/>
          </a:xfrm>
          <a:prstGeom prst="rect">
            <a:avLst/>
          </a:prstGeom>
          <a:noFill/>
          <a:ln/>
        </p:spPr>
        <p:txBody>
          <a:bodyPr wrap="square" lIns="0" tIns="0" rIns="0" bIns="0" rtlCol="0" anchor="t"/>
          <a:lstStyle/>
          <a:p>
            <a:pPr algn="l" indent="0" marL="0">
              <a:lnSpc>
                <a:spcPts val="3040"/>
              </a:lnSpc>
              <a:buNone/>
            </a:pPr>
            <a:r>
              <a:rPr lang="en-US" sz="3200" spc="-128"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0.888</a:t>
            </a:r>
            <a:endParaRPr lang="en-US" sz="3200" dirty="0"/>
          </a:p>
        </p:txBody>
      </p:sp>
      <p:sp>
        <p:nvSpPr>
          <p:cNvPr id="32" name="Text 30"/>
          <p:cNvSpPr txBox="1"/>
          <p:nvPr/>
        </p:nvSpPr>
        <p:spPr>
          <a:xfrm>
            <a:off x="9990534" y="3807520"/>
            <a:ext cx="1845766"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Correlation</a:t>
            </a:r>
            <a:endParaRPr lang="en-US" sz="850" dirty="0"/>
          </a:p>
        </p:txBody>
      </p:sp>
      <p:sp>
        <p:nvSpPr>
          <p:cNvPr id="33" name="Text 31"/>
          <p:cNvSpPr txBox="1"/>
          <p:nvPr/>
        </p:nvSpPr>
        <p:spPr>
          <a:xfrm>
            <a:off x="9990534" y="3966270"/>
            <a:ext cx="1845766" cy="257175"/>
          </a:xfrm>
          <a:prstGeom prst="rect">
            <a:avLst/>
          </a:prstGeom>
          <a:noFill/>
          <a:ln/>
        </p:spPr>
        <p:txBody>
          <a:bodyPr wrap="square" lIns="0" tIns="0" rIns="0" bIns="0" rtlCol="0" anchor="t"/>
          <a:lstStyle/>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Between paired experience and perceived</a:t>
            </a:r>
            <a:endParaRPr lang="en-US" sz="750" dirty="0"/>
          </a:p>
          <a:p>
            <a:pPr algn="l" indent="0" marL="0">
              <a:lnSpc>
                <a:spcPts val="1013"/>
              </a:lnSpc>
              <a:buNone/>
            </a:pPr>
            <a:r>
              <a:rPr lang="en-US" sz="750" dirty="0">
                <a:solidFill>
                  <a:srgbClr val="3D4A63"/>
                </a:solidFill>
                <a:latin typeface="Everyday Sans UI" pitchFamily="34" charset="0"/>
                <a:ea typeface="Everyday Sans UI" pitchFamily="34" charset="-122"/>
                <a:cs typeface="Everyday Sans UI" pitchFamily="34" charset="-120"/>
              </a:rPr>
              <a:t>effectiveness ratings.</a:t>
            </a:r>
            <a:endParaRPr lang="en-US" sz="750" dirty="0"/>
          </a:p>
        </p:txBody>
      </p:sp>
      <p:sp>
        <p:nvSpPr>
          <p:cNvPr id="34" name="Text 32"/>
          <p:cNvSpPr txBox="1"/>
          <p:nvPr/>
        </p:nvSpPr>
        <p:spPr>
          <a:xfrm>
            <a:off x="508000" y="4674295"/>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READ IT CAREFULLY</a:t>
            </a:r>
            <a:endParaRPr lang="en-US" sz="550" dirty="0"/>
          </a:p>
        </p:txBody>
      </p:sp>
      <p:sp>
        <p:nvSpPr>
          <p:cNvPr id="35" name="Text 33"/>
          <p:cNvSpPr txBox="1"/>
          <p:nvPr/>
        </p:nvSpPr>
        <p:spPr>
          <a:xfrm>
            <a:off x="2108200" y="4559995"/>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Correlation does not establish causation. It does tell us that advertisers experiencing more friction also tend to perceive</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Walmart Ads as less effective.</a:t>
            </a:r>
            <a:endParaRPr lang="en-US" sz="1400" dirty="0"/>
          </a:p>
        </p:txBody>
      </p:sp>
      <p:pic>
        <p:nvPicPr>
          <p:cNvPr id="3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7" name="Text 34"/>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8" name="Text 3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03 / 18</a:t>
            </a:r>
            <a:endParaRPr lang="en-US" sz="650" dirty="0"/>
          </a:p>
        </p:txBody>
      </p:sp>
      <p:pic>
        <p:nvPicPr>
          <p:cNvPr id="39"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29420" cy="127000"/>
          </a:xfrm>
          <a:prstGeom prst="roundRect">
            <a:avLst>
              <a:gd name="adj" fmla="val 360000"/>
            </a:avLst>
          </a:prstGeom>
          <a:solidFill>
            <a:srgbClr val="D7EEF9"/>
          </a:solidFill>
          <a:ln/>
        </p:spPr>
      </p:sp>
      <p:sp>
        <p:nvSpPr>
          <p:cNvPr id="3" name="Shape 1"/>
          <p:cNvSpPr/>
          <p:nvPr/>
        </p:nvSpPr>
        <p:spPr>
          <a:xfrm>
            <a:off x="508000" y="3257649"/>
            <a:ext cx="11176000" cy="6350"/>
          </a:xfrm>
          <a:prstGeom prst="rect">
            <a:avLst/>
          </a:prstGeom>
          <a:solidFill>
            <a:srgbClr val="0053E2"/>
          </a:solidFill>
          <a:ln/>
        </p:spPr>
      </p:sp>
      <p:sp>
        <p:nvSpPr>
          <p:cNvPr id="4" name="Shape 2"/>
          <p:cNvSpPr/>
          <p:nvPr/>
        </p:nvSpPr>
        <p:spPr>
          <a:xfrm>
            <a:off x="508000" y="3219549"/>
            <a:ext cx="82550" cy="82550"/>
          </a:xfrm>
          <a:prstGeom prst="ellipse">
            <a:avLst/>
          </a:prstGeom>
          <a:solidFill>
            <a:srgbClr val="F5F6F8"/>
          </a:solidFill>
          <a:ln w="6350">
            <a:solidFill>
              <a:srgbClr val="0053E2"/>
            </a:solidFill>
            <a:prstDash val="solid"/>
          </a:ln>
        </p:spPr>
      </p:sp>
      <p:sp>
        <p:nvSpPr>
          <p:cNvPr id="5" name="Shape 3"/>
          <p:cNvSpPr/>
          <p:nvPr/>
        </p:nvSpPr>
        <p:spPr>
          <a:xfrm>
            <a:off x="2783780" y="3219549"/>
            <a:ext cx="82550" cy="82550"/>
          </a:xfrm>
          <a:prstGeom prst="ellipse">
            <a:avLst/>
          </a:prstGeom>
          <a:solidFill>
            <a:srgbClr val="F5F6F8"/>
          </a:solidFill>
          <a:ln w="6350">
            <a:solidFill>
              <a:srgbClr val="0053E2"/>
            </a:solidFill>
            <a:prstDash val="solid"/>
          </a:ln>
        </p:spPr>
      </p:sp>
      <p:sp>
        <p:nvSpPr>
          <p:cNvPr id="6" name="Shape 4"/>
          <p:cNvSpPr/>
          <p:nvPr/>
        </p:nvSpPr>
        <p:spPr>
          <a:xfrm>
            <a:off x="5059660" y="3219549"/>
            <a:ext cx="82550" cy="82550"/>
          </a:xfrm>
          <a:prstGeom prst="ellipse">
            <a:avLst/>
          </a:prstGeom>
          <a:solidFill>
            <a:srgbClr val="F5F6F8"/>
          </a:solidFill>
          <a:ln w="6350">
            <a:solidFill>
              <a:srgbClr val="0053E2"/>
            </a:solidFill>
            <a:prstDash val="solid"/>
          </a:ln>
        </p:spPr>
      </p:sp>
      <p:sp>
        <p:nvSpPr>
          <p:cNvPr id="7" name="Shape 5"/>
          <p:cNvSpPr/>
          <p:nvPr/>
        </p:nvSpPr>
        <p:spPr>
          <a:xfrm>
            <a:off x="7335441" y="3219549"/>
            <a:ext cx="82550" cy="82550"/>
          </a:xfrm>
          <a:prstGeom prst="ellipse">
            <a:avLst/>
          </a:prstGeom>
          <a:solidFill>
            <a:srgbClr val="F5F6F8"/>
          </a:solidFill>
          <a:ln w="6350">
            <a:solidFill>
              <a:srgbClr val="0053E2"/>
            </a:solidFill>
            <a:prstDash val="solid"/>
          </a:ln>
        </p:spPr>
      </p:sp>
      <p:sp>
        <p:nvSpPr>
          <p:cNvPr id="8" name="Shape 6"/>
          <p:cNvSpPr/>
          <p:nvPr/>
        </p:nvSpPr>
        <p:spPr>
          <a:xfrm>
            <a:off x="9611320" y="3219549"/>
            <a:ext cx="82550" cy="82550"/>
          </a:xfrm>
          <a:prstGeom prst="ellipse">
            <a:avLst/>
          </a:prstGeom>
          <a:solidFill>
            <a:srgbClr val="F5F6F8"/>
          </a:solidFill>
          <a:ln w="6350">
            <a:solidFill>
              <a:srgbClr val="0053E2"/>
            </a:solidFill>
            <a:prstDash val="solid"/>
          </a:ln>
        </p:spPr>
      </p:sp>
      <p:sp>
        <p:nvSpPr>
          <p:cNvPr id="9" name="Shape 7"/>
          <p:cNvSpPr/>
          <p:nvPr/>
        </p:nvSpPr>
        <p:spPr>
          <a:xfrm>
            <a:off x="508000" y="4459585"/>
            <a:ext cx="111760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1" name="Text 9"/>
          <p:cNvSpPr txBox="1"/>
          <p:nvPr/>
        </p:nvSpPr>
        <p:spPr>
          <a:xfrm>
            <a:off x="501650" y="971550"/>
            <a:ext cx="124212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FROM SIGNALS TO ACTION</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changing how experience problems get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diagnosed</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Feedback tells us where to look. It should not predetermine the solution.</a:t>
            </a:r>
            <a:endParaRPr lang="en-US" sz="900" dirty="0"/>
          </a:p>
        </p:txBody>
      </p:sp>
      <p:sp>
        <p:nvSpPr>
          <p:cNvPr id="14" name="Text 12"/>
          <p:cNvSpPr txBox="1"/>
          <p:nvPr/>
        </p:nvSpPr>
        <p:spPr>
          <a:xfrm>
            <a:off x="50800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 · SIGNALS</a:t>
            </a:r>
            <a:endParaRPr lang="en-US" sz="550" dirty="0"/>
          </a:p>
        </p:txBody>
      </p:sp>
      <p:sp>
        <p:nvSpPr>
          <p:cNvPr id="15" name="Text 13"/>
          <p:cNvSpPr txBox="1"/>
          <p:nvPr/>
        </p:nvSpPr>
        <p:spPr>
          <a:xfrm>
            <a:off x="508000" y="3549749"/>
            <a:ext cx="2238387" cy="63996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UXR, Pendo, VOC,</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Support, Sales,</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a:t>
            </a:r>
            <a:endParaRPr lang="en-US" sz="1400" dirty="0"/>
          </a:p>
        </p:txBody>
      </p:sp>
      <p:sp>
        <p:nvSpPr>
          <p:cNvPr id="16" name="Text 14"/>
          <p:cNvSpPr txBox="1"/>
          <p:nvPr/>
        </p:nvSpPr>
        <p:spPr>
          <a:xfrm>
            <a:off x="2783780" y="3397349"/>
            <a:ext cx="223849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 · EXPERIENCE PROBLEMS</a:t>
            </a:r>
            <a:endParaRPr lang="en-US" sz="550" dirty="0"/>
          </a:p>
        </p:txBody>
      </p:sp>
      <p:sp>
        <p:nvSpPr>
          <p:cNvPr id="17" name="Text 15"/>
          <p:cNvSpPr txBox="1"/>
          <p:nvPr/>
        </p:nvSpPr>
        <p:spPr>
          <a:xfrm>
            <a:off x="2783780" y="3549749"/>
            <a:ext cx="2238494"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What job is failing? Where?</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For whom?</a:t>
            </a:r>
            <a:endParaRPr lang="en-US" sz="1400" dirty="0"/>
          </a:p>
        </p:txBody>
      </p:sp>
      <p:sp>
        <p:nvSpPr>
          <p:cNvPr id="18" name="Text 16"/>
          <p:cNvSpPr txBox="1"/>
          <p:nvPr/>
        </p:nvSpPr>
        <p:spPr>
          <a:xfrm>
            <a:off x="505966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 · ROOT-CAUSE DIAGNOSIS</a:t>
            </a:r>
            <a:endParaRPr lang="en-US" sz="550" dirty="0"/>
          </a:p>
        </p:txBody>
      </p:sp>
      <p:sp>
        <p:nvSpPr>
          <p:cNvPr id="19" name="Text 17"/>
          <p:cNvSpPr txBox="1"/>
          <p:nvPr/>
        </p:nvSpPr>
        <p:spPr>
          <a:xfrm>
            <a:off x="5059660" y="3549749"/>
            <a:ext cx="2238387"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Experience? Capability?</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 system?</a:t>
            </a:r>
            <a:endParaRPr lang="en-US" sz="1400" dirty="0"/>
          </a:p>
        </p:txBody>
      </p:sp>
      <p:sp>
        <p:nvSpPr>
          <p:cNvPr id="20" name="Text 18"/>
          <p:cNvSpPr txBox="1"/>
          <p:nvPr/>
        </p:nvSpPr>
        <p:spPr>
          <a:xfrm>
            <a:off x="7335441" y="3397349"/>
            <a:ext cx="223849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04 · INTERVENTION</a:t>
            </a:r>
            <a:endParaRPr lang="en-US" sz="550" dirty="0"/>
          </a:p>
        </p:txBody>
      </p:sp>
      <p:sp>
        <p:nvSpPr>
          <p:cNvPr id="21" name="Text 19"/>
          <p:cNvSpPr txBox="1"/>
          <p:nvPr/>
        </p:nvSpPr>
        <p:spPr>
          <a:xfrm>
            <a:off x="7335441" y="3549749"/>
            <a:ext cx="2238494" cy="42664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Simplify, redesign, build 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test</a:t>
            </a:r>
            <a:endParaRPr lang="en-US" sz="1400" dirty="0"/>
          </a:p>
        </p:txBody>
      </p:sp>
      <p:sp>
        <p:nvSpPr>
          <p:cNvPr id="22" name="Text 20"/>
          <p:cNvSpPr txBox="1"/>
          <p:nvPr/>
        </p:nvSpPr>
        <p:spPr>
          <a:xfrm>
            <a:off x="9611320" y="3397349"/>
            <a:ext cx="223838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05 · OUTCOME</a:t>
            </a:r>
            <a:endParaRPr lang="en-US" sz="550" dirty="0"/>
          </a:p>
        </p:txBody>
      </p:sp>
      <p:sp>
        <p:nvSpPr>
          <p:cNvPr id="23" name="Text 21"/>
          <p:cNvSpPr txBox="1"/>
          <p:nvPr/>
        </p:nvSpPr>
        <p:spPr>
          <a:xfrm>
            <a:off x="9611320" y="3549749"/>
            <a:ext cx="2238387" cy="639961"/>
          </a:xfrm>
          <a:prstGeom prst="rect">
            <a:avLst/>
          </a:prstGeom>
          <a:noFill/>
          <a:ln/>
        </p:spPr>
        <p:txBody>
          <a:bodyPr wrap="square" lIns="0" tIns="0" rIns="0" bIns="0" rtlCol="0" anchor="t"/>
          <a:lstStyle/>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Did behavior,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performance or</a:t>
            </a:r>
            <a:endParaRPr lang="en-US" sz="1400" dirty="0"/>
          </a:p>
          <a:p>
            <a:pPr algn="l" indent="0" marL="0">
              <a:lnSpc>
                <a:spcPts val="1680"/>
              </a:lnSpc>
              <a:buNone/>
            </a:pPr>
            <a:r>
              <a:rPr lang="en-US" sz="1400" spc="-42" kern="0" dirty="0">
                <a:solidFill>
                  <a:srgbClr val="001E60"/>
                </a:solidFill>
                <a:latin typeface="Everyday Sans Headline Light" pitchFamily="34" charset="0"/>
                <a:ea typeface="Everyday Sans Headline Light" pitchFamily="34" charset="-122"/>
                <a:cs typeface="Everyday Sans Headline Light" pitchFamily="34" charset="-120"/>
              </a:rPr>
              <a:t>perception improve?</a:t>
            </a:r>
            <a:endParaRPr lang="en-US" sz="1400" dirty="0"/>
          </a:p>
        </p:txBody>
      </p:sp>
      <p:sp>
        <p:nvSpPr>
          <p:cNvPr id="24" name="Text 22"/>
          <p:cNvSpPr txBox="1"/>
          <p:nvPr/>
        </p:nvSpPr>
        <p:spPr>
          <a:xfrm>
            <a:off x="508000" y="4678660"/>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SHIFT</a:t>
            </a:r>
            <a:endParaRPr lang="en-US" sz="550" dirty="0"/>
          </a:p>
        </p:txBody>
      </p:sp>
      <p:sp>
        <p:nvSpPr>
          <p:cNvPr id="25" name="Text 23"/>
          <p:cNvSpPr txBox="1"/>
          <p:nvPr/>
        </p:nvSpPr>
        <p:spPr>
          <a:xfrm>
            <a:off x="2108200" y="4564360"/>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We’re moving from reacting to individual symptoms toward understanding the systems creating them.</a:t>
            </a:r>
            <a:endParaRPr lang="en-US" sz="1400" dirty="0"/>
          </a:p>
        </p:txBody>
      </p:sp>
      <p:pic>
        <p:nvPicPr>
          <p:cNvPr id="2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7" name="Text 24"/>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8" name="Text 2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04 / 18</a:t>
            </a:r>
            <a:endParaRPr lang="en-US" sz="650" dirty="0"/>
          </a:p>
        </p:txBody>
      </p:sp>
      <p:pic>
        <p:nvPicPr>
          <p:cNvPr id="29"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28440" cy="127000"/>
          </a:xfrm>
          <a:prstGeom prst="roundRect">
            <a:avLst>
              <a:gd name="adj" fmla="val 360000"/>
            </a:avLst>
          </a:prstGeom>
          <a:solidFill>
            <a:srgbClr val="D7EEF9"/>
          </a:solidFill>
          <a:ln/>
        </p:spPr>
      </p:sp>
      <p:sp>
        <p:nvSpPr>
          <p:cNvPr id="3" name="Shape 1"/>
          <p:cNvSpPr/>
          <p:nvPr/>
        </p:nvSpPr>
        <p:spPr>
          <a:xfrm>
            <a:off x="508000" y="2813645"/>
            <a:ext cx="5384800"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508000" y="3325713"/>
            <a:ext cx="5384800" cy="0"/>
          </a:xfrm>
          <a:prstGeom prst="line">
            <a:avLst/>
          </a:prstGeom>
          <a:noFill/>
          <a:ln w="6350">
            <a:solidFill>
              <a:srgbClr val="E4E8EF"/>
            </a:solidFill>
            <a:prstDash val="solid"/>
          </a:ln>
        </p:spPr>
      </p:sp>
      <p:sp>
        <p:nvSpPr>
          <p:cNvPr id="5" name="Shape 3"/>
          <p:cNvSpPr/>
          <p:nvPr/>
        </p:nvSpPr>
        <p:spPr>
          <a:xfrm>
            <a:off x="508000" y="3621881"/>
            <a:ext cx="5384800" cy="0"/>
          </a:xfrm>
          <a:prstGeom prst="line">
            <a:avLst/>
          </a:prstGeom>
          <a:noFill/>
          <a:ln w="6350">
            <a:solidFill>
              <a:srgbClr val="E4E8EF"/>
            </a:solidFill>
            <a:prstDash val="solid"/>
          </a:ln>
        </p:spPr>
      </p:sp>
      <p:sp>
        <p:nvSpPr>
          <p:cNvPr id="6" name="Shape 4"/>
          <p:cNvSpPr/>
          <p:nvPr/>
        </p:nvSpPr>
        <p:spPr>
          <a:xfrm>
            <a:off x="508000" y="3918049"/>
            <a:ext cx="5384800" cy="0"/>
          </a:xfrm>
          <a:prstGeom prst="line">
            <a:avLst/>
          </a:prstGeom>
          <a:noFill/>
          <a:ln w="6350">
            <a:solidFill>
              <a:srgbClr val="E4E8EF"/>
            </a:solidFill>
            <a:prstDash val="solid"/>
          </a:ln>
        </p:spPr>
      </p:sp>
      <p:sp>
        <p:nvSpPr>
          <p:cNvPr id="7" name="Shape 5"/>
          <p:cNvSpPr/>
          <p:nvPr/>
        </p:nvSpPr>
        <p:spPr>
          <a:xfrm>
            <a:off x="508000" y="4214217"/>
            <a:ext cx="5384800" cy="0"/>
          </a:xfrm>
          <a:prstGeom prst="line">
            <a:avLst/>
          </a:prstGeom>
          <a:noFill/>
          <a:ln w="6350">
            <a:solidFill>
              <a:srgbClr val="E4E8EF"/>
            </a:solidFill>
            <a:prstDash val="solid"/>
          </a:ln>
        </p:spPr>
      </p:sp>
      <p:sp>
        <p:nvSpPr>
          <p:cNvPr id="8" name="Shape 6"/>
          <p:cNvSpPr/>
          <p:nvPr/>
        </p:nvSpPr>
        <p:spPr>
          <a:xfrm>
            <a:off x="508000" y="4510385"/>
            <a:ext cx="5384800" cy="0"/>
          </a:xfrm>
          <a:prstGeom prst="line">
            <a:avLst/>
          </a:prstGeom>
          <a:noFill/>
          <a:ln w="6350">
            <a:solidFill>
              <a:srgbClr val="E4E8EF"/>
            </a:solidFill>
            <a:prstDash val="solid"/>
          </a:ln>
        </p:spPr>
      </p:sp>
      <p:sp>
        <p:nvSpPr>
          <p:cNvPr id="9" name="Shape 7"/>
          <p:cNvSpPr/>
          <p:nvPr/>
        </p:nvSpPr>
        <p:spPr>
          <a:xfrm>
            <a:off x="6299200" y="2813645"/>
            <a:ext cx="53848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6299200" y="3096220"/>
            <a:ext cx="501948" cy="215900"/>
          </a:xfrm>
          <a:prstGeom prst="rect">
            <a:avLst/>
          </a:prstGeom>
          <a:ln w="6350">
            <a:solidFill>
              <a:srgbClr val="E4E8EF"/>
            </a:solidFill>
            <a:prstDash val="solid"/>
          </a:ln>
        </p:spPr>
      </p:sp>
      <p:sp>
        <p:nvSpPr>
          <p:cNvPr id="11" name="Shape 9"/>
          <p:cNvSpPr/>
          <p:nvPr/>
        </p:nvSpPr>
        <p:spPr>
          <a:xfrm>
            <a:off x="6864648" y="3096220"/>
            <a:ext cx="894854" cy="215900"/>
          </a:xfrm>
          <a:prstGeom prst="rect">
            <a:avLst/>
          </a:prstGeom>
          <a:ln w="6350">
            <a:solidFill>
              <a:srgbClr val="E4E8EF"/>
            </a:solidFill>
            <a:prstDash val="solid"/>
          </a:ln>
        </p:spPr>
      </p:sp>
      <p:sp>
        <p:nvSpPr>
          <p:cNvPr id="12" name="Shape 10"/>
          <p:cNvSpPr/>
          <p:nvPr/>
        </p:nvSpPr>
        <p:spPr>
          <a:xfrm>
            <a:off x="7823002" y="3096220"/>
            <a:ext cx="670322" cy="215900"/>
          </a:xfrm>
          <a:prstGeom prst="rect">
            <a:avLst/>
          </a:prstGeom>
          <a:ln w="6350">
            <a:solidFill>
              <a:srgbClr val="E4E8EF"/>
            </a:solidFill>
            <a:prstDash val="solid"/>
          </a:ln>
        </p:spPr>
      </p:sp>
      <p:sp>
        <p:nvSpPr>
          <p:cNvPr id="13" name="Shape 11"/>
          <p:cNvSpPr/>
          <p:nvPr/>
        </p:nvSpPr>
        <p:spPr>
          <a:xfrm>
            <a:off x="8556823" y="3096220"/>
            <a:ext cx="1119386" cy="215900"/>
          </a:xfrm>
          <a:prstGeom prst="rect">
            <a:avLst/>
          </a:prstGeom>
          <a:ln w="6350">
            <a:solidFill>
              <a:srgbClr val="E4E8EF"/>
            </a:solidFill>
            <a:prstDash val="solid"/>
          </a:ln>
        </p:spPr>
      </p:sp>
      <p:sp>
        <p:nvSpPr>
          <p:cNvPr id="14" name="Shape 12"/>
          <p:cNvSpPr/>
          <p:nvPr/>
        </p:nvSpPr>
        <p:spPr>
          <a:xfrm>
            <a:off x="9739709" y="3096220"/>
            <a:ext cx="951012" cy="215900"/>
          </a:xfrm>
          <a:prstGeom prst="rect">
            <a:avLst/>
          </a:prstGeom>
          <a:ln w="6350">
            <a:solidFill>
              <a:srgbClr val="E4E8EF"/>
            </a:solidFill>
            <a:prstDash val="solid"/>
          </a:ln>
        </p:spPr>
      </p:sp>
      <p:sp>
        <p:nvSpPr>
          <p:cNvPr id="15" name="Shape 13"/>
          <p:cNvSpPr/>
          <p:nvPr/>
        </p:nvSpPr>
        <p:spPr>
          <a:xfrm>
            <a:off x="6299200" y="3375620"/>
            <a:ext cx="1400076" cy="215900"/>
          </a:xfrm>
          <a:prstGeom prst="rect">
            <a:avLst/>
          </a:prstGeom>
          <a:ln w="6350">
            <a:solidFill>
              <a:srgbClr val="E4E8EF"/>
            </a:solidFill>
            <a:prstDash val="solid"/>
          </a:ln>
        </p:spPr>
      </p:sp>
      <p:sp>
        <p:nvSpPr>
          <p:cNvPr id="16" name="Shape 14"/>
          <p:cNvSpPr/>
          <p:nvPr/>
        </p:nvSpPr>
        <p:spPr>
          <a:xfrm>
            <a:off x="7762776" y="3375620"/>
            <a:ext cx="2466677" cy="215900"/>
          </a:xfrm>
          <a:prstGeom prst="rect">
            <a:avLst/>
          </a:prstGeom>
          <a:ln w="6350">
            <a:solidFill>
              <a:srgbClr val="E4E8EF"/>
            </a:solidFill>
            <a:prstDash val="solid"/>
          </a:ln>
        </p:spPr>
      </p:sp>
      <p:sp>
        <p:nvSpPr>
          <p:cNvPr id="17" name="Shape 15"/>
          <p:cNvSpPr/>
          <p:nvPr/>
        </p:nvSpPr>
        <p:spPr>
          <a:xfrm>
            <a:off x="508000" y="5035153"/>
            <a:ext cx="11176000" cy="0"/>
          </a:xfrm>
          <a:prstGeom prst="line">
            <a:avLst/>
          </a:prstGeom>
          <a:noFill/>
          <a:ln w="6350">
            <a:gradFill rotWithShape="1">
              <a:gsLst>
                <a:gs pos="0">
                  <a:srgbClr val="993EF4"/>
                </a:gs>
                <a:gs pos="100000">
                  <a:srgbClr val="00D0CD"/>
                </a:gs>
              </a:gsLst>
              <a:lin ang="0" scaled="0"/>
            </a:gradFill>
            <a:prstDash val="solid"/>
          </a:ln>
        </p:spPr>
      </p:sp>
      <p:sp>
        <p:nvSpPr>
          <p:cNvPr id="18" name="Shape 16"/>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9" name="Text 17"/>
          <p:cNvSpPr txBox="1"/>
          <p:nvPr/>
        </p:nvSpPr>
        <p:spPr>
          <a:xfrm>
            <a:off x="501650" y="971550"/>
            <a:ext cx="134114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DISPLAY AS A PROOF POINT</a:t>
            </a:r>
            <a:endParaRPr lang="en-US" sz="500" dirty="0"/>
          </a:p>
        </p:txBody>
      </p:sp>
      <p:sp>
        <p:nvSpPr>
          <p:cNvPr id="20" name="Text 18"/>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Display shows why this approach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matters</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1" name="Text 19"/>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Sales has raised meaningful concerns about Display performance. The available evidence suggests the concern is real, but does not yet point to a single root cause.</a:t>
            </a:r>
            <a:endParaRPr lang="en-US" sz="900" dirty="0"/>
          </a:p>
        </p:txBody>
      </p:sp>
      <p:sp>
        <p:nvSpPr>
          <p:cNvPr id="22" name="Text 20"/>
          <p:cNvSpPr txBox="1"/>
          <p:nvPr/>
        </p:nvSpPr>
        <p:spPr>
          <a:xfrm>
            <a:off x="508000" y="2918420"/>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SALES NEEDS PRODUCT TO HELP ANSWER</a:t>
            </a:r>
            <a:endParaRPr lang="en-US" sz="550" dirty="0"/>
          </a:p>
        </p:txBody>
      </p:sp>
      <p:sp>
        <p:nvSpPr>
          <p:cNvPr id="23" name="Text 21"/>
          <p:cNvSpPr txBox="1"/>
          <p:nvPr/>
        </p:nvSpPr>
        <p:spPr>
          <a:xfrm>
            <a:off x="508000" y="3096220"/>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Who should use Display and for which objectives?</a:t>
            </a:r>
            <a:endParaRPr lang="en-US" sz="950" dirty="0"/>
          </a:p>
        </p:txBody>
      </p:sp>
      <p:sp>
        <p:nvSpPr>
          <p:cNvPr id="24" name="Text 22"/>
          <p:cNvSpPr txBox="1"/>
          <p:nvPr/>
        </p:nvSpPr>
        <p:spPr>
          <a:xfrm>
            <a:off x="508000" y="3392388"/>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does a viable campaign setup look like?</a:t>
            </a:r>
            <a:endParaRPr lang="en-US" sz="950" dirty="0"/>
          </a:p>
        </p:txBody>
      </p:sp>
      <p:sp>
        <p:nvSpPr>
          <p:cNvPr id="25" name="Text 23"/>
          <p:cNvSpPr txBox="1"/>
          <p:nvPr/>
        </p:nvSpPr>
        <p:spPr>
          <a:xfrm>
            <a:off x="508000" y="3688556"/>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investment, audience scale and configuration are required?</a:t>
            </a:r>
            <a:endParaRPr lang="en-US" sz="950" dirty="0"/>
          </a:p>
        </p:txBody>
      </p:sp>
      <p:sp>
        <p:nvSpPr>
          <p:cNvPr id="26" name="Text 24"/>
          <p:cNvSpPr txBox="1"/>
          <p:nvPr/>
        </p:nvSpPr>
        <p:spPr>
          <a:xfrm>
            <a:off x="508000" y="3984724"/>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When performance is weak, what is actually driving it?</a:t>
            </a:r>
            <a:endParaRPr lang="en-US" sz="950" dirty="0"/>
          </a:p>
        </p:txBody>
      </p:sp>
      <p:sp>
        <p:nvSpPr>
          <p:cNvPr id="27" name="Text 25"/>
          <p:cNvSpPr txBox="1"/>
          <p:nvPr/>
        </p:nvSpPr>
        <p:spPr>
          <a:xfrm>
            <a:off x="508000" y="4280892"/>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can Sales or advertisers change?</a:t>
            </a:r>
            <a:endParaRPr lang="en-US" sz="950" dirty="0"/>
          </a:p>
        </p:txBody>
      </p:sp>
      <p:sp>
        <p:nvSpPr>
          <p:cNvPr id="28" name="Text 26"/>
          <p:cNvSpPr txBox="1"/>
          <p:nvPr/>
        </p:nvSpPr>
        <p:spPr>
          <a:xfrm>
            <a:off x="508000" y="4577060"/>
            <a:ext cx="5815584"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What requires Product or platform intervention?</a:t>
            </a:r>
            <a:endParaRPr lang="en-US" sz="950" dirty="0"/>
          </a:p>
        </p:txBody>
      </p:sp>
      <p:sp>
        <p:nvSpPr>
          <p:cNvPr id="29" name="Text 27"/>
          <p:cNvSpPr txBox="1"/>
          <p:nvPr/>
        </p:nvSpPr>
        <p:spPr>
          <a:xfrm>
            <a:off x="6299200" y="2918420"/>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INVESTIGATION HAS SURFACED SO FAR</a:t>
            </a:r>
            <a:endParaRPr lang="en-US" sz="550" dirty="0"/>
          </a:p>
        </p:txBody>
      </p:sp>
      <p:sp>
        <p:nvSpPr>
          <p:cNvPr id="30" name="Text 28"/>
          <p:cNvSpPr txBox="1"/>
          <p:nvPr/>
        </p:nvSpPr>
        <p:spPr>
          <a:xfrm>
            <a:off x="6381750" y="3153370"/>
            <a:ext cx="489248"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BUDGET</a:t>
            </a:r>
            <a:endParaRPr lang="en-US" sz="650" dirty="0"/>
          </a:p>
        </p:txBody>
      </p:sp>
      <p:sp>
        <p:nvSpPr>
          <p:cNvPr id="31" name="Text 29"/>
          <p:cNvSpPr txBox="1"/>
          <p:nvPr/>
        </p:nvSpPr>
        <p:spPr>
          <a:xfrm>
            <a:off x="6947198" y="3153370"/>
            <a:ext cx="882154"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AUDIENCE SIZE</a:t>
            </a:r>
            <a:endParaRPr lang="en-US" sz="650" dirty="0"/>
          </a:p>
        </p:txBody>
      </p:sp>
      <p:sp>
        <p:nvSpPr>
          <p:cNvPr id="32" name="Text 30"/>
          <p:cNvSpPr txBox="1"/>
          <p:nvPr/>
        </p:nvSpPr>
        <p:spPr>
          <a:xfrm>
            <a:off x="7905552" y="3153370"/>
            <a:ext cx="657622"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FREQUENCY</a:t>
            </a:r>
            <a:endParaRPr lang="en-US" sz="650" dirty="0"/>
          </a:p>
        </p:txBody>
      </p:sp>
      <p:sp>
        <p:nvSpPr>
          <p:cNvPr id="33" name="Text 31"/>
          <p:cNvSpPr txBox="1"/>
          <p:nvPr/>
        </p:nvSpPr>
        <p:spPr>
          <a:xfrm>
            <a:off x="8639373" y="3153370"/>
            <a:ext cx="1106686"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CONVERSION VOLUME</a:t>
            </a:r>
            <a:endParaRPr lang="en-US" sz="650" dirty="0"/>
          </a:p>
        </p:txBody>
      </p:sp>
      <p:sp>
        <p:nvSpPr>
          <p:cNvPr id="34" name="Text 32"/>
          <p:cNvSpPr txBox="1"/>
          <p:nvPr/>
        </p:nvSpPr>
        <p:spPr>
          <a:xfrm>
            <a:off x="9822259" y="3153370"/>
            <a:ext cx="938312"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ITEM-SET SETUP</a:t>
            </a:r>
            <a:endParaRPr lang="en-US" sz="650" dirty="0"/>
          </a:p>
        </p:txBody>
      </p:sp>
      <p:sp>
        <p:nvSpPr>
          <p:cNvPr id="35" name="Text 33"/>
          <p:cNvSpPr txBox="1"/>
          <p:nvPr/>
        </p:nvSpPr>
        <p:spPr>
          <a:xfrm>
            <a:off x="6381750" y="3432770"/>
            <a:ext cx="1387376"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CAMPAIGN CONFIGURATION</a:t>
            </a:r>
            <a:endParaRPr lang="en-US" sz="650" dirty="0"/>
          </a:p>
        </p:txBody>
      </p:sp>
      <p:sp>
        <p:nvSpPr>
          <p:cNvPr id="36" name="Text 34"/>
          <p:cNvSpPr txBox="1"/>
          <p:nvPr/>
        </p:nvSpPr>
        <p:spPr>
          <a:xfrm>
            <a:off x="7845326" y="3432770"/>
            <a:ext cx="2485704" cy="101600"/>
          </a:xfrm>
          <a:prstGeom prst="rect">
            <a:avLst/>
          </a:prstGeom>
          <a:noFill/>
          <a:ln/>
        </p:spPr>
        <p:txBody>
          <a:bodyPr wrap="square" lIns="0" tIns="0" rIns="0" bIns="0" rtlCol="0" anchor="t"/>
          <a:lstStyle/>
          <a:p>
            <a:pPr algn="l" indent="0" marL="0">
              <a:lnSpc>
                <a:spcPts val="780"/>
              </a:lnSpc>
              <a:buNone/>
            </a:pPr>
            <a:r>
              <a:rPr lang="en-US" sz="650" spc="52" kern="0" dirty="0">
                <a:solidFill>
                  <a:srgbClr val="001E60"/>
                </a:solidFill>
                <a:latin typeface="Everyday Sans Mono" pitchFamily="34" charset="0"/>
                <a:ea typeface="Everyday Sans Mono" pitchFamily="34" charset="-122"/>
                <a:cs typeface="Everyday Sans Mono" pitchFamily="34" charset="-120"/>
              </a:rPr>
              <a:t>MANUAL SALES + MEDIA INSIGHTS MITIGATIONS</a:t>
            </a:r>
            <a:endParaRPr lang="en-US" sz="650" dirty="0"/>
          </a:p>
        </p:txBody>
      </p:sp>
      <p:sp>
        <p:nvSpPr>
          <p:cNvPr id="37" name="Text 35"/>
          <p:cNvSpPr txBox="1"/>
          <p:nvPr/>
        </p:nvSpPr>
        <p:spPr>
          <a:xfrm>
            <a:off x="6299200" y="3680420"/>
            <a:ext cx="5815584"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These signals are useful, but they are not yet sufficient to declare a single root cause.</a:t>
            </a:r>
            <a:endParaRPr lang="en-US" sz="750" dirty="0"/>
          </a:p>
        </p:txBody>
      </p:sp>
      <p:sp>
        <p:nvSpPr>
          <p:cNvPr id="38" name="Text 36"/>
          <p:cNvSpPr txBox="1"/>
          <p:nvPr/>
        </p:nvSpPr>
        <p:spPr>
          <a:xfrm>
            <a:off x="508000" y="525422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WHERE WE ARE</a:t>
            </a:r>
            <a:endParaRPr lang="en-US" sz="550" dirty="0"/>
          </a:p>
        </p:txBody>
      </p:sp>
      <p:sp>
        <p:nvSpPr>
          <p:cNvPr id="39" name="Text 37"/>
          <p:cNvSpPr txBox="1"/>
          <p:nvPr/>
        </p:nvSpPr>
        <p:spPr>
          <a:xfrm>
            <a:off x="2108200" y="513992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Today, we cannot answer all of those questions with enough confidence or transparency.</a:t>
            </a:r>
            <a:endParaRPr lang="en-US" sz="1400" dirty="0"/>
          </a:p>
        </p:txBody>
      </p:sp>
      <p:pic>
        <p:nvPicPr>
          <p:cNvPr id="40"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1" name="Text 38"/>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2" name="Text 39"/>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05 / 18</a:t>
            </a:r>
            <a:endParaRPr lang="en-US" sz="650" dirty="0"/>
          </a:p>
        </p:txBody>
      </p:sp>
      <p:pic>
        <p:nvPicPr>
          <p:cNvPr id="43"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31280" cy="127000"/>
          </a:xfrm>
          <a:prstGeom prst="roundRect">
            <a:avLst>
              <a:gd name="adj" fmla="val 360000"/>
            </a:avLst>
          </a:prstGeom>
          <a:solidFill>
            <a:srgbClr val="D7EEF9"/>
          </a:solidFill>
          <a:ln/>
        </p:spPr>
      </p:sp>
      <p:sp>
        <p:nvSpPr>
          <p:cNvPr id="3" name="Shape 1"/>
          <p:cNvSpPr/>
          <p:nvPr/>
        </p:nvSpPr>
        <p:spPr>
          <a:xfrm>
            <a:off x="508000" y="2853432"/>
            <a:ext cx="3589834"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508000" y="3883323"/>
            <a:ext cx="3589834" cy="0"/>
          </a:xfrm>
          <a:prstGeom prst="line">
            <a:avLst/>
          </a:prstGeom>
          <a:noFill/>
          <a:ln w="6350">
            <a:solidFill>
              <a:srgbClr val="E4E8EF"/>
            </a:solidFill>
            <a:prstDash val="solid"/>
          </a:ln>
        </p:spPr>
      </p:sp>
      <p:sp>
        <p:nvSpPr>
          <p:cNvPr id="5" name="Shape 3"/>
          <p:cNvSpPr/>
          <p:nvPr/>
        </p:nvSpPr>
        <p:spPr>
          <a:xfrm>
            <a:off x="4301034" y="2853432"/>
            <a:ext cx="3589834"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4301034" y="3883323"/>
            <a:ext cx="3589834" cy="0"/>
          </a:xfrm>
          <a:prstGeom prst="line">
            <a:avLst/>
          </a:prstGeom>
          <a:noFill/>
          <a:ln w="6350">
            <a:solidFill>
              <a:srgbClr val="E4E8EF"/>
            </a:solidFill>
            <a:prstDash val="solid"/>
          </a:ln>
        </p:spPr>
      </p:sp>
      <p:sp>
        <p:nvSpPr>
          <p:cNvPr id="7" name="Shape 5"/>
          <p:cNvSpPr/>
          <p:nvPr/>
        </p:nvSpPr>
        <p:spPr>
          <a:xfrm>
            <a:off x="8094067" y="2853432"/>
            <a:ext cx="3589834"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8094067" y="4064893"/>
            <a:ext cx="3589834" cy="0"/>
          </a:xfrm>
          <a:prstGeom prst="line">
            <a:avLst/>
          </a:prstGeom>
          <a:noFill/>
          <a:ln w="6350">
            <a:solidFill>
              <a:srgbClr val="E4E8EF"/>
            </a:solidFill>
            <a:prstDash val="solid"/>
          </a:ln>
        </p:spPr>
      </p:sp>
      <p:sp>
        <p:nvSpPr>
          <p:cNvPr id="9" name="Shape 7"/>
          <p:cNvSpPr/>
          <p:nvPr/>
        </p:nvSpPr>
        <p:spPr>
          <a:xfrm>
            <a:off x="508000" y="4975423"/>
            <a:ext cx="111760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1" name="Text 9"/>
          <p:cNvSpPr txBox="1"/>
          <p:nvPr/>
        </p:nvSpPr>
        <p:spPr>
          <a:xfrm>
            <a:off x="501650" y="971550"/>
            <a:ext cx="104398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DIAGNOSING DISPLAY</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testing three potential contributors to Display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performance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Display performance is an outcome of an interconnected system. We need to isolate the variables before prescribing the solution.</a:t>
            </a:r>
            <a:endParaRPr lang="en-US" sz="900" dirty="0"/>
          </a:p>
        </p:txBody>
      </p:sp>
      <p:sp>
        <p:nvSpPr>
          <p:cNvPr id="14" name="Text 12"/>
          <p:cNvSpPr txBox="1"/>
          <p:nvPr/>
        </p:nvSpPr>
        <p:spPr>
          <a:xfrm>
            <a:off x="508000"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01</a:t>
            </a:r>
            <a:endParaRPr lang="en-US" sz="550" dirty="0"/>
          </a:p>
        </p:txBody>
      </p:sp>
      <p:sp>
        <p:nvSpPr>
          <p:cNvPr id="15" name="Text 13"/>
          <p:cNvSpPr txBox="1"/>
          <p:nvPr/>
        </p:nvSpPr>
        <p:spPr>
          <a:xfrm>
            <a:off x="508000"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Ad experience &amp; media quality</a:t>
            </a:r>
            <a:endParaRPr lang="en-US" sz="1500" dirty="0"/>
          </a:p>
        </p:txBody>
      </p:sp>
      <p:sp>
        <p:nvSpPr>
          <p:cNvPr id="16" name="Text 14"/>
          <p:cNvSpPr txBox="1"/>
          <p:nvPr/>
        </p:nvSpPr>
        <p:spPr>
          <a:xfrm>
            <a:off x="508000" y="3402707"/>
            <a:ext cx="3867968" cy="363141"/>
          </a:xfrm>
          <a:prstGeom prst="rect">
            <a:avLst/>
          </a:prstGeom>
          <a:noFill/>
          <a:ln/>
        </p:spPr>
        <p:txBody>
          <a:bodyPr wrap="square" lIns="0" tIns="0" rIns="0" bIns="0" rtlCol="0" anchor="t"/>
          <a:lstStyle/>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Are we creating ad experiences shoppers actually see</a:t>
            </a:r>
            <a:endParaRPr lang="en-US" sz="1100" dirty="0"/>
          </a:p>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and engage with?</a:t>
            </a:r>
            <a:endParaRPr lang="en-US" sz="1100" dirty="0"/>
          </a:p>
        </p:txBody>
      </p:sp>
      <p:sp>
        <p:nvSpPr>
          <p:cNvPr id="17" name="Text 15"/>
          <p:cNvSpPr txBox="1"/>
          <p:nvPr/>
        </p:nvSpPr>
        <p:spPr>
          <a:xfrm>
            <a:off x="508000" y="396269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18" name="Text 16"/>
          <p:cNvSpPr txBox="1"/>
          <p:nvPr/>
        </p:nvSpPr>
        <p:spPr>
          <a:xfrm>
            <a:off x="508000" y="408969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Placement and inventory quality · Viewability · Ad relevance · Creative experience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Frequency · Where ads appear across Walmart · Differences in performance by</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placement or environment</a:t>
            </a:r>
            <a:endParaRPr lang="en-US" sz="800" dirty="0"/>
          </a:p>
        </p:txBody>
      </p:sp>
      <p:sp>
        <p:nvSpPr>
          <p:cNvPr id="19" name="Text 17"/>
          <p:cNvSpPr txBox="1"/>
          <p:nvPr/>
        </p:nvSpPr>
        <p:spPr>
          <a:xfrm>
            <a:off x="4301034"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02</a:t>
            </a:r>
            <a:endParaRPr lang="en-US" sz="550" dirty="0"/>
          </a:p>
        </p:txBody>
      </p:sp>
      <p:sp>
        <p:nvSpPr>
          <p:cNvPr id="20" name="Text 18"/>
          <p:cNvSpPr txBox="1"/>
          <p:nvPr/>
        </p:nvSpPr>
        <p:spPr>
          <a:xfrm>
            <a:off x="4301034"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Advertiser setup &amp; workflow</a:t>
            </a:r>
            <a:endParaRPr lang="en-US" sz="1500" dirty="0"/>
          </a:p>
        </p:txBody>
      </p:sp>
      <p:sp>
        <p:nvSpPr>
          <p:cNvPr id="21" name="Text 19"/>
          <p:cNvSpPr txBox="1"/>
          <p:nvPr/>
        </p:nvSpPr>
        <p:spPr>
          <a:xfrm>
            <a:off x="4301034" y="3402707"/>
            <a:ext cx="3867968" cy="363141"/>
          </a:xfrm>
          <a:prstGeom prst="rect">
            <a:avLst/>
          </a:prstGeom>
          <a:noFill/>
          <a:ln/>
        </p:spPr>
        <p:txBody>
          <a:bodyPr wrap="square" lIns="0" tIns="0" rIns="0" bIns="0" rtlCol="0" anchor="t"/>
          <a:lstStyle/>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Are we making it too difficult to build a campaign</a:t>
            </a:r>
            <a:endParaRPr lang="en-US" sz="1100" dirty="0"/>
          </a:p>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positioned to succeed?</a:t>
            </a:r>
            <a:endParaRPr lang="en-US" sz="1100" dirty="0"/>
          </a:p>
        </p:txBody>
      </p:sp>
      <p:sp>
        <p:nvSpPr>
          <p:cNvPr id="22" name="Text 20"/>
          <p:cNvSpPr txBox="1"/>
          <p:nvPr/>
        </p:nvSpPr>
        <p:spPr>
          <a:xfrm>
            <a:off x="4301034" y="396269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23" name="Text 21"/>
          <p:cNvSpPr txBox="1"/>
          <p:nvPr/>
        </p:nvSpPr>
        <p:spPr>
          <a:xfrm>
            <a:off x="4301034" y="408969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Audience selection · Targeting decisions · Budget configuration · Goals and objectives</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 Item selection · Creative setup · Workflow comprehension · Recommendations</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and guidance</a:t>
            </a:r>
            <a:endParaRPr lang="en-US" sz="800" dirty="0"/>
          </a:p>
        </p:txBody>
      </p:sp>
      <p:sp>
        <p:nvSpPr>
          <p:cNvPr id="24" name="Text 22"/>
          <p:cNvSpPr txBox="1"/>
          <p:nvPr/>
        </p:nvSpPr>
        <p:spPr>
          <a:xfrm>
            <a:off x="8094067" y="2958207"/>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03</a:t>
            </a:r>
            <a:endParaRPr lang="en-US" sz="550" dirty="0"/>
          </a:p>
        </p:txBody>
      </p:sp>
      <p:sp>
        <p:nvSpPr>
          <p:cNvPr id="25" name="Text 23"/>
          <p:cNvSpPr txBox="1"/>
          <p:nvPr/>
        </p:nvSpPr>
        <p:spPr>
          <a:xfrm>
            <a:off x="8094067" y="3085207"/>
            <a:ext cx="3877020" cy="241300"/>
          </a:xfrm>
          <a:prstGeom prst="rect">
            <a:avLst/>
          </a:prstGeom>
          <a:noFill/>
          <a:ln/>
        </p:spPr>
        <p:txBody>
          <a:bodyPr wrap="square" lIns="0" tIns="0" rIns="0" bIns="0" rtlCol="0" anchor="t"/>
          <a:lstStyle/>
          <a:p>
            <a:pPr algn="l" indent="0" marL="0">
              <a:lnSpc>
                <a:spcPts val="1800"/>
              </a:lnSpc>
              <a:buNone/>
            </a:pPr>
            <a:r>
              <a:rPr lang="en-US" sz="1500" spc="-45" kern="0" dirty="0">
                <a:solidFill>
                  <a:srgbClr val="001E60"/>
                </a:solidFill>
                <a:latin typeface="Everyday Sans Headline Light" pitchFamily="34" charset="0"/>
                <a:ea typeface="Everyday Sans Headline Light" pitchFamily="34" charset="-122"/>
                <a:cs typeface="Everyday Sans Headline Light" pitchFamily="34" charset="-120"/>
              </a:rPr>
              <a:t>Delivery, decisioning &amp; optimization</a:t>
            </a:r>
            <a:endParaRPr lang="en-US" sz="1500" dirty="0"/>
          </a:p>
        </p:txBody>
      </p:sp>
      <p:sp>
        <p:nvSpPr>
          <p:cNvPr id="26" name="Text 24"/>
          <p:cNvSpPr txBox="1"/>
          <p:nvPr/>
        </p:nvSpPr>
        <p:spPr>
          <a:xfrm>
            <a:off x="8094067" y="3402707"/>
            <a:ext cx="3867968" cy="544711"/>
          </a:xfrm>
          <a:prstGeom prst="rect">
            <a:avLst/>
          </a:prstGeom>
          <a:noFill/>
          <a:ln/>
        </p:spPr>
        <p:txBody>
          <a:bodyPr wrap="square" lIns="0" tIns="0" rIns="0" bIns="0" rtlCol="0" anchor="t"/>
          <a:lstStyle/>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Given a well-configured campaign and viable ad</a:t>
            </a:r>
            <a:endParaRPr lang="en-US" sz="1100" dirty="0"/>
          </a:p>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opportunity, is the system efficiently finding and serving</a:t>
            </a:r>
            <a:endParaRPr lang="en-US" sz="1100" dirty="0"/>
          </a:p>
          <a:p>
            <a:pPr algn="l" indent="0" marL="0">
              <a:lnSpc>
                <a:spcPts val="1430"/>
              </a:lnSpc>
              <a:buNone/>
            </a:pPr>
            <a:r>
              <a:rPr lang="en-US" sz="1100" spc="-22"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the right impression?</a:t>
            </a:r>
            <a:endParaRPr lang="en-US" sz="1100" dirty="0"/>
          </a:p>
        </p:txBody>
      </p:sp>
      <p:sp>
        <p:nvSpPr>
          <p:cNvPr id="27" name="Text 25"/>
          <p:cNvSpPr txBox="1"/>
          <p:nvPr/>
        </p:nvSpPr>
        <p:spPr>
          <a:xfrm>
            <a:off x="8094067" y="4144268"/>
            <a:ext cx="38770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INVESTIGATE</a:t>
            </a:r>
            <a:endParaRPr lang="en-US" sz="550" dirty="0"/>
          </a:p>
        </p:txBody>
      </p:sp>
      <p:sp>
        <p:nvSpPr>
          <p:cNvPr id="28" name="Text 26"/>
          <p:cNvSpPr txBox="1"/>
          <p:nvPr/>
        </p:nvSpPr>
        <p:spPr>
          <a:xfrm>
            <a:off x="8094067" y="4271268"/>
            <a:ext cx="3877020" cy="472380"/>
          </a:xfrm>
          <a:prstGeom prst="rect">
            <a:avLst/>
          </a:prstGeom>
          <a:noFill/>
          <a:ln/>
        </p:spPr>
        <p:txBody>
          <a:bodyPr wrap="square" lIns="0" tIns="0" rIns="0" bIns="0" rtlCol="0" anchor="t"/>
          <a:lstStyle/>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Eligible inventory · Auction and serving logic · Audience match and available reach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Budget pacing · Bid and optimization logic · Creative eligibility · Frequency constraints ·</a:t>
            </a:r>
            <a:endParaRPr lang="en-US" sz="800" dirty="0"/>
          </a:p>
          <a:p>
            <a:pPr algn="l" indent="0" marL="0">
              <a:lnSpc>
                <a:spcPts val="1240"/>
              </a:lnSpc>
              <a:buNone/>
            </a:pPr>
            <a:r>
              <a:rPr lang="en-US" sz="800" dirty="0">
                <a:solidFill>
                  <a:srgbClr val="3D4A63"/>
                </a:solidFill>
                <a:latin typeface="Everyday Sans UI" pitchFamily="34" charset="0"/>
                <a:ea typeface="Everyday Sans UI" pitchFamily="34" charset="-122"/>
                <a:cs typeface="Everyday Sans UI" pitchFamily="34" charset="-120"/>
              </a:rPr>
              <a:t>Delivery opportunities · Optimization toward the selected objective</a:t>
            </a:r>
            <a:endParaRPr lang="en-US" sz="800" dirty="0"/>
          </a:p>
        </p:txBody>
      </p:sp>
      <p:sp>
        <p:nvSpPr>
          <p:cNvPr id="29" name="Text 27"/>
          <p:cNvSpPr txBox="1"/>
          <p:nvPr/>
        </p:nvSpPr>
        <p:spPr>
          <a:xfrm>
            <a:off x="508000" y="519449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OUR JOB</a:t>
            </a:r>
            <a:endParaRPr lang="en-US" sz="550" dirty="0"/>
          </a:p>
        </p:txBody>
      </p:sp>
      <p:sp>
        <p:nvSpPr>
          <p:cNvPr id="30" name="Text 28"/>
          <p:cNvSpPr txBox="1"/>
          <p:nvPr/>
        </p:nvSpPr>
        <p:spPr>
          <a:xfrm>
            <a:off x="2108200" y="508019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answer may be one. It may be all three. Our job is to isolate the variables rather than assume the cause.</a:t>
            </a:r>
            <a:endParaRPr lang="en-US" sz="1400" dirty="0"/>
          </a:p>
        </p:txBody>
      </p:sp>
      <p:pic>
        <p:nvPicPr>
          <p:cNvPr id="31"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2" name="Text 29"/>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3" name="Text 30"/>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06 / 18</a:t>
            </a:r>
            <a:endParaRPr lang="en-US" sz="650" dirty="0"/>
          </a:p>
        </p:txBody>
      </p:sp>
      <p:pic>
        <p:nvPicPr>
          <p:cNvPr id="34"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922859" cy="127000"/>
          </a:xfrm>
          <a:prstGeom prst="roundRect">
            <a:avLst>
              <a:gd name="adj" fmla="val 360000"/>
            </a:avLst>
          </a:prstGeom>
          <a:solidFill>
            <a:srgbClr val="D7EEF9"/>
          </a:solidFill>
          <a:ln/>
        </p:spPr>
      </p:sp>
      <p:sp>
        <p:nvSpPr>
          <p:cNvPr id="3" name="Shape 1"/>
          <p:cNvSpPr/>
          <p:nvPr/>
        </p:nvSpPr>
        <p:spPr>
          <a:xfrm>
            <a:off x="508000" y="2890738"/>
            <a:ext cx="11176000" cy="0"/>
          </a:xfrm>
          <a:prstGeom prst="line">
            <a:avLst/>
          </a:prstGeom>
          <a:noFill/>
          <a:ln w="6350">
            <a:solidFill>
              <a:srgbClr val="E4E8EF"/>
            </a:solidFill>
            <a:prstDash val="solid"/>
          </a:ln>
        </p:spPr>
      </p:sp>
      <p:sp>
        <p:nvSpPr>
          <p:cNvPr id="4" name="Shape 2"/>
          <p:cNvSpPr/>
          <p:nvPr/>
        </p:nvSpPr>
        <p:spPr>
          <a:xfrm>
            <a:off x="508000" y="3380284"/>
            <a:ext cx="3556000" cy="0"/>
          </a:xfrm>
          <a:prstGeom prst="line">
            <a:avLst/>
          </a:prstGeom>
          <a:noFill/>
          <a:ln w="6350">
            <a:solidFill>
              <a:srgbClr val="E4E8EF"/>
            </a:solidFill>
            <a:prstDash val="solid"/>
          </a:ln>
        </p:spPr>
      </p:sp>
      <p:sp>
        <p:nvSpPr>
          <p:cNvPr id="5" name="Shape 3"/>
          <p:cNvSpPr/>
          <p:nvPr/>
        </p:nvSpPr>
        <p:spPr>
          <a:xfrm>
            <a:off x="4318000" y="3380284"/>
            <a:ext cx="3556000" cy="0"/>
          </a:xfrm>
          <a:prstGeom prst="line">
            <a:avLst/>
          </a:prstGeom>
          <a:noFill/>
          <a:ln w="6350">
            <a:solidFill>
              <a:srgbClr val="E4E8EF"/>
            </a:solidFill>
            <a:prstDash val="solid"/>
          </a:ln>
        </p:spPr>
      </p:sp>
      <p:sp>
        <p:nvSpPr>
          <p:cNvPr id="6" name="Shape 4"/>
          <p:cNvSpPr/>
          <p:nvPr/>
        </p:nvSpPr>
        <p:spPr>
          <a:xfrm>
            <a:off x="8128000" y="3380284"/>
            <a:ext cx="3556000" cy="0"/>
          </a:xfrm>
          <a:prstGeom prst="line">
            <a:avLst/>
          </a:prstGeom>
          <a:noFill/>
          <a:ln w="6350">
            <a:solidFill>
              <a:srgbClr val="E4E8EF"/>
            </a:solidFill>
            <a:prstDash val="solid"/>
          </a:ln>
        </p:spPr>
      </p:sp>
      <p:sp>
        <p:nvSpPr>
          <p:cNvPr id="7" name="Shape 5"/>
          <p:cNvSpPr/>
          <p:nvPr/>
        </p:nvSpPr>
        <p:spPr>
          <a:xfrm>
            <a:off x="508000" y="3935909"/>
            <a:ext cx="11176000" cy="751780"/>
          </a:xfrm>
          <a:prstGeom prst="rect">
            <a:avLst/>
          </a:prstGeom>
          <a:solidFill>
            <a:srgbClr val="993EF4">
              <a:alpha val="6000"/>
            </a:srgbClr>
          </a:solidFill>
          <a:ln/>
        </p:spPr>
      </p:sp>
      <p:sp>
        <p:nvSpPr>
          <p:cNvPr id="8" name="Shape 6"/>
          <p:cNvSpPr/>
          <p:nvPr/>
        </p:nvSpPr>
        <p:spPr>
          <a:xfrm>
            <a:off x="508000" y="3942259"/>
            <a:ext cx="11176000" cy="0"/>
          </a:xfrm>
          <a:prstGeom prst="line">
            <a:avLst/>
          </a:prstGeom>
          <a:noFill/>
          <a:ln w="12700">
            <a:gradFill rotWithShape="1">
              <a:gsLst>
                <a:gs pos="0">
                  <a:srgbClr val="993EF4"/>
                </a:gs>
                <a:gs pos="100000">
                  <a:srgbClr val="00D0CD"/>
                </a:gs>
              </a:gsLst>
              <a:lin ang="0" scaled="0"/>
            </a:gradFill>
            <a:prstDash val="solid"/>
          </a:ln>
        </p:spPr>
      </p:sp>
      <p:sp>
        <p:nvSpPr>
          <p:cNvPr id="9" name="Shape 7"/>
          <p:cNvSpPr/>
          <p:nvPr/>
        </p:nvSpPr>
        <p:spPr>
          <a:xfrm>
            <a:off x="508000" y="4919464"/>
            <a:ext cx="111760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1" name="Text 9"/>
          <p:cNvSpPr txBox="1"/>
          <p:nvPr/>
        </p:nvSpPr>
        <p:spPr>
          <a:xfrm>
            <a:off x="501650" y="971550"/>
            <a:ext cx="193555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MEASUREMENT IS THE CONNECTIVE TISSUE</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 can’t improve what advertisers or product teams can’t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diagnose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Measurement connects ad experience, campaign setup and delivery signals so advertisers and internal teams can understand what is driving an outcome.</a:t>
            </a:r>
            <a:endParaRPr lang="en-US" sz="900" dirty="0"/>
          </a:p>
        </p:txBody>
      </p:sp>
      <p:sp>
        <p:nvSpPr>
          <p:cNvPr id="14" name="Text 12"/>
          <p:cNvSpPr txBox="1"/>
          <p:nvPr/>
        </p:nvSpPr>
        <p:spPr>
          <a:xfrm>
            <a:off x="508000" y="3033613"/>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5" name="Text 13"/>
          <p:cNvSpPr txBox="1"/>
          <p:nvPr/>
        </p:nvSpPr>
        <p:spPr>
          <a:xfrm>
            <a:off x="2108200" y="2982813"/>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Reporting is fragmented across experiences, metrics are not always presented consistently and finding the right answer often requires knowing where Walmart put it.</a:t>
            </a:r>
            <a:endParaRPr lang="en-US" sz="900" dirty="0"/>
          </a:p>
        </p:txBody>
      </p:sp>
      <p:sp>
        <p:nvSpPr>
          <p:cNvPr id="16" name="Text 14"/>
          <p:cNvSpPr txBox="1"/>
          <p:nvPr/>
        </p:nvSpPr>
        <p:spPr>
          <a:xfrm>
            <a:off x="50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01</a:t>
            </a:r>
            <a:endParaRPr lang="en-US" sz="550" dirty="0"/>
          </a:p>
        </p:txBody>
      </p:sp>
      <p:sp>
        <p:nvSpPr>
          <p:cNvPr id="17" name="Text 15"/>
          <p:cNvSpPr txBox="1"/>
          <p:nvPr/>
        </p:nvSpPr>
        <p:spPr>
          <a:xfrm>
            <a:off x="50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Ad experience &amp; media quality</a:t>
            </a:r>
            <a:endParaRPr lang="en-US" sz="1300" dirty="0"/>
          </a:p>
        </p:txBody>
      </p:sp>
      <p:sp>
        <p:nvSpPr>
          <p:cNvPr id="18" name="Text 16"/>
          <p:cNvSpPr txBox="1"/>
          <p:nvPr/>
        </p:nvSpPr>
        <p:spPr>
          <a:xfrm>
            <a:off x="431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02</a:t>
            </a:r>
            <a:endParaRPr lang="en-US" sz="550" dirty="0"/>
          </a:p>
        </p:txBody>
      </p:sp>
      <p:sp>
        <p:nvSpPr>
          <p:cNvPr id="19" name="Text 17"/>
          <p:cNvSpPr txBox="1"/>
          <p:nvPr/>
        </p:nvSpPr>
        <p:spPr>
          <a:xfrm>
            <a:off x="431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Advertiser setup &amp; workflow</a:t>
            </a:r>
            <a:endParaRPr lang="en-US" sz="1300" dirty="0"/>
          </a:p>
        </p:txBody>
      </p:sp>
      <p:sp>
        <p:nvSpPr>
          <p:cNvPr id="20" name="Text 18"/>
          <p:cNvSpPr txBox="1"/>
          <p:nvPr/>
        </p:nvSpPr>
        <p:spPr>
          <a:xfrm>
            <a:off x="8128000" y="3472359"/>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03</a:t>
            </a:r>
            <a:endParaRPr lang="en-US" sz="550" dirty="0"/>
          </a:p>
        </p:txBody>
      </p:sp>
      <p:sp>
        <p:nvSpPr>
          <p:cNvPr id="21" name="Text 19"/>
          <p:cNvSpPr txBox="1"/>
          <p:nvPr/>
        </p:nvSpPr>
        <p:spPr>
          <a:xfrm>
            <a:off x="8128000" y="3599359"/>
            <a:ext cx="3840480" cy="20955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Delivery, decisioning &amp; optimization</a:t>
            </a:r>
            <a:endParaRPr lang="en-US" sz="1300" dirty="0"/>
          </a:p>
        </p:txBody>
      </p:sp>
      <p:sp>
        <p:nvSpPr>
          <p:cNvPr id="22" name="Text 20"/>
          <p:cNvSpPr txBox="1"/>
          <p:nvPr/>
        </p:nvSpPr>
        <p:spPr>
          <a:xfrm>
            <a:off x="660400" y="4075609"/>
            <a:ext cx="11731020" cy="190500"/>
          </a:xfrm>
          <a:prstGeom prst="rect">
            <a:avLst/>
          </a:prstGeom>
          <a:noFill/>
          <a:ln/>
        </p:spPr>
        <p:txBody>
          <a:bodyPr wrap="square" lIns="0" tIns="0" rIns="0" bIns="0" rtlCol="0" anchor="t"/>
          <a:lstStyle/>
          <a:p>
            <a:pPr algn="l" indent="0" marL="0">
              <a:lnSpc>
                <a:spcPts val="1440"/>
              </a:lnSpc>
              <a:buNone/>
            </a:pPr>
            <a:r>
              <a:rPr lang="en-US" sz="1200" spc="-3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Measurement + diagnostics connects all three</a:t>
            </a:r>
            <a:endParaRPr lang="en-US" sz="1200" dirty="0"/>
          </a:p>
        </p:txBody>
      </p:sp>
      <p:sp>
        <p:nvSpPr>
          <p:cNvPr id="23" name="Text 21"/>
          <p:cNvSpPr txBox="1"/>
          <p:nvPr/>
        </p:nvSpPr>
        <p:spPr>
          <a:xfrm>
            <a:off x="660400" y="4329609"/>
            <a:ext cx="1431528"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What happened?</a:t>
            </a:r>
            <a:endParaRPr lang="en-US" sz="1300" dirty="0"/>
          </a:p>
        </p:txBody>
      </p:sp>
      <p:sp>
        <p:nvSpPr>
          <p:cNvPr id="24" name="Text 22"/>
          <p:cNvSpPr txBox="1"/>
          <p:nvPr/>
        </p:nvSpPr>
        <p:spPr>
          <a:xfrm>
            <a:off x="2066528" y="4367709"/>
            <a:ext cx="242907" cy="177800"/>
          </a:xfrm>
          <a:prstGeom prst="rect">
            <a:avLst/>
          </a:prstGeom>
          <a:noFill/>
          <a:ln/>
        </p:spPr>
        <p:txBody>
          <a:bodyPr wrap="square" lIns="0" tIns="0" rIns="0" bIns="0" rtlCol="0" anchor="t"/>
          <a:lstStyle/>
          <a:p>
            <a:pPr algn="l" indent="0" marL="0">
              <a:lnSpc>
                <a:spcPts val="1400"/>
              </a:lnSpc>
              <a:buNone/>
            </a:pPr>
            <a:r>
              <a:rPr lang="en-US" sz="1000" dirty="0">
                <a:gradFill rotWithShape="1">
                  <a:gsLst>
                    <a:gs pos="0">
                      <a:srgbClr val="993EF4"/>
                    </a:gs>
                    <a:gs pos="100000">
                      <a:srgbClr val="0053E2"/>
                    </a:gs>
                  </a:gsLst>
                  <a:lin ang="0" scaled="0"/>
                </a:gradFill>
                <a:latin typeface="Everyday Sans UI" pitchFamily="34" charset="0"/>
                <a:ea typeface="Everyday Sans UI" pitchFamily="34" charset="-122"/>
                <a:cs typeface="Everyday Sans UI" pitchFamily="34" charset="-120"/>
              </a:rPr>
              <a:t>→</a:t>
            </a:r>
            <a:endParaRPr lang="en-US" sz="1000" dirty="0"/>
          </a:p>
        </p:txBody>
      </p:sp>
      <p:sp>
        <p:nvSpPr>
          <p:cNvPr id="25" name="Text 23"/>
          <p:cNvSpPr txBox="1"/>
          <p:nvPr/>
        </p:nvSpPr>
        <p:spPr>
          <a:xfrm>
            <a:off x="2291655" y="4329609"/>
            <a:ext cx="554137"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Why?</a:t>
            </a:r>
            <a:endParaRPr lang="en-US" sz="1300" dirty="0"/>
          </a:p>
        </p:txBody>
      </p:sp>
      <p:sp>
        <p:nvSpPr>
          <p:cNvPr id="26" name="Text 24"/>
          <p:cNvSpPr txBox="1"/>
          <p:nvPr/>
        </p:nvSpPr>
        <p:spPr>
          <a:xfrm>
            <a:off x="2820392" y="4367709"/>
            <a:ext cx="242907" cy="177800"/>
          </a:xfrm>
          <a:prstGeom prst="rect">
            <a:avLst/>
          </a:prstGeom>
          <a:noFill/>
          <a:ln/>
        </p:spPr>
        <p:txBody>
          <a:bodyPr wrap="square" lIns="0" tIns="0" rIns="0" bIns="0" rtlCol="0" anchor="t"/>
          <a:lstStyle/>
          <a:p>
            <a:pPr algn="l" indent="0" marL="0">
              <a:lnSpc>
                <a:spcPts val="1400"/>
              </a:lnSpc>
              <a:buNone/>
            </a:pPr>
            <a:r>
              <a:rPr lang="en-US" sz="1000" dirty="0">
                <a:gradFill rotWithShape="1">
                  <a:gsLst>
                    <a:gs pos="0">
                      <a:srgbClr val="993EF4"/>
                    </a:gs>
                    <a:gs pos="100000">
                      <a:srgbClr val="0053E2"/>
                    </a:gs>
                  </a:gsLst>
                  <a:lin ang="0" scaled="0"/>
                </a:gradFill>
                <a:latin typeface="Everyday Sans UI" pitchFamily="34" charset="0"/>
                <a:ea typeface="Everyday Sans UI" pitchFamily="34" charset="-122"/>
                <a:cs typeface="Everyday Sans UI" pitchFamily="34" charset="-120"/>
              </a:rPr>
              <a:t>→</a:t>
            </a:r>
            <a:endParaRPr lang="en-US" sz="1000" dirty="0"/>
          </a:p>
        </p:txBody>
      </p:sp>
      <p:sp>
        <p:nvSpPr>
          <p:cNvPr id="27" name="Text 25"/>
          <p:cNvSpPr txBox="1"/>
          <p:nvPr/>
        </p:nvSpPr>
        <p:spPr>
          <a:xfrm>
            <a:off x="3045520" y="4329609"/>
            <a:ext cx="1210568"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What can I do?</a:t>
            </a:r>
            <a:endParaRPr lang="en-US" sz="1300" dirty="0"/>
          </a:p>
        </p:txBody>
      </p:sp>
      <p:sp>
        <p:nvSpPr>
          <p:cNvPr id="28" name="Text 26"/>
          <p:cNvSpPr txBox="1"/>
          <p:nvPr/>
        </p:nvSpPr>
        <p:spPr>
          <a:xfrm>
            <a:off x="4230688" y="4367709"/>
            <a:ext cx="242907" cy="177800"/>
          </a:xfrm>
          <a:prstGeom prst="rect">
            <a:avLst/>
          </a:prstGeom>
          <a:noFill/>
          <a:ln/>
        </p:spPr>
        <p:txBody>
          <a:bodyPr wrap="square" lIns="0" tIns="0" rIns="0" bIns="0" rtlCol="0" anchor="t"/>
          <a:lstStyle/>
          <a:p>
            <a:pPr algn="l" indent="0" marL="0">
              <a:lnSpc>
                <a:spcPts val="1400"/>
              </a:lnSpc>
              <a:buNone/>
            </a:pPr>
            <a:r>
              <a:rPr lang="en-US" sz="1000" dirty="0">
                <a:gradFill rotWithShape="1">
                  <a:gsLst>
                    <a:gs pos="0">
                      <a:srgbClr val="993EF4"/>
                    </a:gs>
                    <a:gs pos="100000">
                      <a:srgbClr val="0053E2"/>
                    </a:gs>
                  </a:gsLst>
                  <a:lin ang="0" scaled="0"/>
                </a:gradFill>
                <a:latin typeface="Everyday Sans UI" pitchFamily="34" charset="0"/>
                <a:ea typeface="Everyday Sans UI" pitchFamily="34" charset="-122"/>
                <a:cs typeface="Everyday Sans UI" pitchFamily="34" charset="-120"/>
              </a:rPr>
              <a:t>→</a:t>
            </a:r>
            <a:endParaRPr lang="en-US" sz="1000" dirty="0"/>
          </a:p>
        </p:txBody>
      </p:sp>
      <p:sp>
        <p:nvSpPr>
          <p:cNvPr id="29" name="Text 27"/>
          <p:cNvSpPr txBox="1"/>
          <p:nvPr/>
        </p:nvSpPr>
        <p:spPr>
          <a:xfrm>
            <a:off x="4455815" y="4329609"/>
            <a:ext cx="993477" cy="231140"/>
          </a:xfrm>
          <a:prstGeom prst="rect">
            <a:avLst/>
          </a:prstGeom>
          <a:noFill/>
          <a:ln/>
        </p:spPr>
        <p:txBody>
          <a:bodyPr wrap="square" lIns="0" tIns="0" rIns="0" bIns="0" rtlCol="0" anchor="t"/>
          <a:lstStyle/>
          <a:p>
            <a:pPr algn="l" indent="0" marL="0">
              <a:lnSpc>
                <a:spcPts val="182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Did it work?</a:t>
            </a:r>
            <a:endParaRPr lang="en-US" sz="1300" dirty="0"/>
          </a:p>
        </p:txBody>
      </p:sp>
      <p:sp>
        <p:nvSpPr>
          <p:cNvPr id="30" name="Text 28"/>
          <p:cNvSpPr txBox="1"/>
          <p:nvPr/>
        </p:nvSpPr>
        <p:spPr>
          <a:xfrm>
            <a:off x="508000" y="5138539"/>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FRAMING</a:t>
            </a:r>
            <a:endParaRPr lang="en-US" sz="550" dirty="0"/>
          </a:p>
        </p:txBody>
      </p:sp>
      <p:sp>
        <p:nvSpPr>
          <p:cNvPr id="31" name="Text 29"/>
          <p:cNvSpPr txBox="1"/>
          <p:nvPr/>
        </p:nvSpPr>
        <p:spPr>
          <a:xfrm>
            <a:off x="2108200" y="5024239"/>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Measurement is not a fourth root-cause bucket. It is the diagnostic layer that helps us understand the other three.</a:t>
            </a:r>
            <a:endParaRPr lang="en-US" sz="1400" dirty="0"/>
          </a:p>
        </p:txBody>
      </p:sp>
      <p:pic>
        <p:nvPicPr>
          <p:cNvPr id="32"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3" name="Text 30"/>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4" name="Text 31"/>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07 / 18</a:t>
            </a:r>
            <a:endParaRPr lang="en-US" sz="650" dirty="0"/>
          </a:p>
        </p:txBody>
      </p:sp>
      <p:pic>
        <p:nvPicPr>
          <p:cNvPr id="35"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77950" cy="127000"/>
          </a:xfrm>
          <a:prstGeom prst="roundRect">
            <a:avLst>
              <a:gd name="adj" fmla="val 360000"/>
            </a:avLst>
          </a:prstGeom>
          <a:solidFill>
            <a:srgbClr val="D7EEF9"/>
          </a:solidFill>
          <a:ln/>
        </p:spPr>
      </p:sp>
      <p:sp>
        <p:nvSpPr>
          <p:cNvPr id="3" name="Shape 1"/>
          <p:cNvSpPr/>
          <p:nvPr/>
        </p:nvSpPr>
        <p:spPr>
          <a:xfrm>
            <a:off x="2108200" y="3024088"/>
            <a:ext cx="1553666"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3712666" y="3024088"/>
            <a:ext cx="1553666"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5317133" y="3024088"/>
            <a:ext cx="1553666"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6921599" y="3024088"/>
            <a:ext cx="1553666"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8526066" y="3024088"/>
            <a:ext cx="1553666"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10130532" y="3024088"/>
            <a:ext cx="1553666"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2108200" y="3440013"/>
            <a:ext cx="9575800" cy="482600"/>
          </a:xfrm>
          <a:prstGeom prst="rect">
            <a:avLst/>
          </a:prstGeom>
          <a:solidFill>
            <a:srgbClr val="993EF4">
              <a:alpha val="6000"/>
            </a:srgbClr>
          </a:solidFill>
          <a:ln/>
        </p:spPr>
      </p:sp>
      <p:sp>
        <p:nvSpPr>
          <p:cNvPr id="10" name="Shape 8"/>
          <p:cNvSpPr/>
          <p:nvPr/>
        </p:nvSpPr>
        <p:spPr>
          <a:xfrm>
            <a:off x="2108200" y="3446363"/>
            <a:ext cx="9575800" cy="0"/>
          </a:xfrm>
          <a:prstGeom prst="line">
            <a:avLst/>
          </a:prstGeom>
          <a:noFill/>
          <a:ln w="12700">
            <a:gradFill rotWithShape="1">
              <a:gsLst>
                <a:gs pos="0">
                  <a:srgbClr val="993EF4"/>
                </a:gs>
                <a:gs pos="100000">
                  <a:srgbClr val="00D0CD"/>
                </a:gs>
              </a:gsLst>
              <a:lin ang="0" scaled="0"/>
            </a:gradFill>
            <a:prstDash val="solid"/>
          </a:ln>
        </p:spPr>
      </p:sp>
      <p:sp>
        <p:nvSpPr>
          <p:cNvPr id="11" name="Shape 9"/>
          <p:cNvSpPr/>
          <p:nvPr/>
        </p:nvSpPr>
        <p:spPr>
          <a:xfrm>
            <a:off x="2222500" y="3567013"/>
            <a:ext cx="1173758" cy="241300"/>
          </a:xfrm>
          <a:prstGeom prst="rect">
            <a:avLst/>
          </a:prstGeom>
          <a:solidFill>
            <a:srgbClr val="FFFFFF"/>
          </a:solidFill>
          <a:ln w="6350">
            <a:solidFill>
              <a:srgbClr val="993EF4">
                <a:alpha val="35000"/>
              </a:srgbClr>
            </a:solidFill>
            <a:prstDash val="solid"/>
          </a:ln>
        </p:spPr>
      </p:sp>
      <p:sp>
        <p:nvSpPr>
          <p:cNvPr id="12" name="Shape 10"/>
          <p:cNvSpPr/>
          <p:nvPr/>
        </p:nvSpPr>
        <p:spPr>
          <a:xfrm>
            <a:off x="3447058" y="3567013"/>
            <a:ext cx="881459" cy="241300"/>
          </a:xfrm>
          <a:prstGeom prst="rect">
            <a:avLst/>
          </a:prstGeom>
          <a:solidFill>
            <a:srgbClr val="FFFFFF"/>
          </a:solidFill>
          <a:ln w="6350">
            <a:solidFill>
              <a:srgbClr val="993EF4">
                <a:alpha val="35000"/>
              </a:srgbClr>
            </a:solidFill>
            <a:prstDash val="solid"/>
          </a:ln>
        </p:spPr>
      </p:sp>
      <p:sp>
        <p:nvSpPr>
          <p:cNvPr id="13" name="Shape 11"/>
          <p:cNvSpPr/>
          <p:nvPr/>
        </p:nvSpPr>
        <p:spPr>
          <a:xfrm>
            <a:off x="4379317" y="3567013"/>
            <a:ext cx="1245394" cy="241300"/>
          </a:xfrm>
          <a:prstGeom prst="rect">
            <a:avLst/>
          </a:prstGeom>
          <a:solidFill>
            <a:srgbClr val="FFFFFF"/>
          </a:solidFill>
          <a:ln w="6350">
            <a:solidFill>
              <a:srgbClr val="993EF4">
                <a:alpha val="35000"/>
              </a:srgbClr>
            </a:solidFill>
            <a:prstDash val="solid"/>
          </a:ln>
        </p:spPr>
      </p:sp>
      <p:sp>
        <p:nvSpPr>
          <p:cNvPr id="14" name="Shape 12"/>
          <p:cNvSpPr/>
          <p:nvPr/>
        </p:nvSpPr>
        <p:spPr>
          <a:xfrm>
            <a:off x="5675511" y="3567013"/>
            <a:ext cx="869950" cy="241300"/>
          </a:xfrm>
          <a:prstGeom prst="rect">
            <a:avLst/>
          </a:prstGeom>
          <a:solidFill>
            <a:srgbClr val="FFFFFF"/>
          </a:solidFill>
          <a:ln w="6350">
            <a:solidFill>
              <a:srgbClr val="993EF4">
                <a:alpha val="35000"/>
              </a:srgbClr>
            </a:solidFill>
            <a:prstDash val="solid"/>
          </a:ln>
        </p:spPr>
      </p:sp>
      <p:sp>
        <p:nvSpPr>
          <p:cNvPr id="15" name="Shape 13"/>
          <p:cNvSpPr/>
          <p:nvPr/>
        </p:nvSpPr>
        <p:spPr>
          <a:xfrm>
            <a:off x="6596261" y="3567013"/>
            <a:ext cx="958949" cy="241300"/>
          </a:xfrm>
          <a:prstGeom prst="rect">
            <a:avLst/>
          </a:prstGeom>
          <a:solidFill>
            <a:srgbClr val="FFFFFF"/>
          </a:solidFill>
          <a:ln w="6350">
            <a:solidFill>
              <a:srgbClr val="993EF4">
                <a:alpha val="35000"/>
              </a:srgbClr>
            </a:solidFill>
            <a:prstDash val="solid"/>
          </a:ln>
        </p:spPr>
      </p:sp>
      <p:sp>
        <p:nvSpPr>
          <p:cNvPr id="16" name="Shape 14"/>
          <p:cNvSpPr/>
          <p:nvPr/>
        </p:nvSpPr>
        <p:spPr>
          <a:xfrm>
            <a:off x="7606010" y="3567013"/>
            <a:ext cx="874316" cy="241300"/>
          </a:xfrm>
          <a:prstGeom prst="rect">
            <a:avLst/>
          </a:prstGeom>
          <a:solidFill>
            <a:srgbClr val="FFFFFF"/>
          </a:solidFill>
          <a:ln w="6350">
            <a:solidFill>
              <a:srgbClr val="993EF4">
                <a:alpha val="35000"/>
              </a:srgbClr>
            </a:solidFill>
            <a:prstDash val="solid"/>
          </a:ln>
        </p:spPr>
      </p:sp>
      <p:sp>
        <p:nvSpPr>
          <p:cNvPr id="17" name="Shape 15"/>
          <p:cNvSpPr/>
          <p:nvPr/>
        </p:nvSpPr>
        <p:spPr>
          <a:xfrm>
            <a:off x="8531126" y="3567013"/>
            <a:ext cx="665659" cy="241300"/>
          </a:xfrm>
          <a:prstGeom prst="rect">
            <a:avLst/>
          </a:prstGeom>
          <a:solidFill>
            <a:srgbClr val="FFFFFF"/>
          </a:solidFill>
          <a:ln w="6350">
            <a:solidFill>
              <a:srgbClr val="993EF4">
                <a:alpha val="35000"/>
              </a:srgbClr>
            </a:solidFill>
            <a:prstDash val="solid"/>
          </a:ln>
        </p:spPr>
      </p:sp>
      <p:sp>
        <p:nvSpPr>
          <p:cNvPr id="18" name="Shape 16"/>
          <p:cNvSpPr/>
          <p:nvPr/>
        </p:nvSpPr>
        <p:spPr>
          <a:xfrm>
            <a:off x="9247584" y="3567013"/>
            <a:ext cx="705941" cy="241300"/>
          </a:xfrm>
          <a:prstGeom prst="rect">
            <a:avLst/>
          </a:prstGeom>
          <a:solidFill>
            <a:srgbClr val="FFFFFF"/>
          </a:solidFill>
          <a:ln w="6350">
            <a:solidFill>
              <a:srgbClr val="993EF4">
                <a:alpha val="35000"/>
              </a:srgbClr>
            </a:solidFill>
            <a:prstDash val="solid"/>
          </a:ln>
        </p:spPr>
      </p:sp>
      <p:sp>
        <p:nvSpPr>
          <p:cNvPr id="19" name="Shape 17"/>
          <p:cNvSpPr/>
          <p:nvPr/>
        </p:nvSpPr>
        <p:spPr>
          <a:xfrm>
            <a:off x="2108200" y="4052788"/>
            <a:ext cx="2355850" cy="0"/>
          </a:xfrm>
          <a:prstGeom prst="line">
            <a:avLst/>
          </a:prstGeom>
          <a:noFill/>
          <a:ln w="6350">
            <a:solidFill>
              <a:srgbClr val="E4E8EF"/>
            </a:solidFill>
            <a:prstDash val="solid"/>
          </a:ln>
        </p:spPr>
      </p:sp>
      <p:sp>
        <p:nvSpPr>
          <p:cNvPr id="20" name="Shape 18"/>
          <p:cNvSpPr/>
          <p:nvPr/>
        </p:nvSpPr>
        <p:spPr>
          <a:xfrm>
            <a:off x="4514850" y="4052788"/>
            <a:ext cx="2355850" cy="0"/>
          </a:xfrm>
          <a:prstGeom prst="line">
            <a:avLst/>
          </a:prstGeom>
          <a:noFill/>
          <a:ln w="6350">
            <a:solidFill>
              <a:srgbClr val="E4E8EF"/>
            </a:solidFill>
            <a:prstDash val="solid"/>
          </a:ln>
        </p:spPr>
      </p:sp>
      <p:sp>
        <p:nvSpPr>
          <p:cNvPr id="21" name="Shape 19"/>
          <p:cNvSpPr/>
          <p:nvPr/>
        </p:nvSpPr>
        <p:spPr>
          <a:xfrm>
            <a:off x="6921500" y="4052788"/>
            <a:ext cx="2355850" cy="0"/>
          </a:xfrm>
          <a:prstGeom prst="line">
            <a:avLst/>
          </a:prstGeom>
          <a:noFill/>
          <a:ln w="6350">
            <a:solidFill>
              <a:srgbClr val="E4E8EF"/>
            </a:solidFill>
            <a:prstDash val="solid"/>
          </a:ln>
        </p:spPr>
      </p:sp>
      <p:sp>
        <p:nvSpPr>
          <p:cNvPr id="22" name="Shape 20"/>
          <p:cNvSpPr/>
          <p:nvPr/>
        </p:nvSpPr>
        <p:spPr>
          <a:xfrm>
            <a:off x="9328150" y="4052788"/>
            <a:ext cx="2355850" cy="0"/>
          </a:xfrm>
          <a:prstGeom prst="line">
            <a:avLst/>
          </a:prstGeom>
          <a:noFill/>
          <a:ln w="6350">
            <a:solidFill>
              <a:srgbClr val="E4E8EF"/>
            </a:solidFill>
            <a:prstDash val="solid"/>
          </a:ln>
        </p:spPr>
      </p:sp>
      <p:sp>
        <p:nvSpPr>
          <p:cNvPr id="23" name="Shape 21"/>
          <p:cNvSpPr/>
          <p:nvPr/>
        </p:nvSpPr>
        <p:spPr>
          <a:xfrm>
            <a:off x="508000" y="4497288"/>
            <a:ext cx="11176000" cy="0"/>
          </a:xfrm>
          <a:prstGeom prst="line">
            <a:avLst/>
          </a:prstGeom>
          <a:noFill/>
          <a:ln w="6350">
            <a:gradFill rotWithShape="1">
              <a:gsLst>
                <a:gs pos="0">
                  <a:srgbClr val="993EF4"/>
                </a:gs>
                <a:gs pos="100000">
                  <a:srgbClr val="00D0CD"/>
                </a:gs>
              </a:gsLst>
              <a:lin ang="0" scaled="0"/>
            </a:gradFill>
            <a:prstDash val="solid"/>
          </a:ln>
        </p:spPr>
      </p:sp>
      <p:sp>
        <p:nvSpPr>
          <p:cNvPr id="24" name="Shape 22"/>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25" name="Text 23"/>
          <p:cNvSpPr txBox="1"/>
          <p:nvPr/>
        </p:nvSpPr>
        <p:spPr>
          <a:xfrm>
            <a:off x="501650" y="971550"/>
            <a:ext cx="139065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BUILD THE FOUNDATION ONCE</a:t>
            </a:r>
            <a:endParaRPr lang="en-US" sz="500" dirty="0"/>
          </a:p>
        </p:txBody>
      </p:sp>
      <p:sp>
        <p:nvSpPr>
          <p:cNvPr id="26" name="Text 2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The problems aren’t channel-specific. The solutions shouldn’t be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either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7" name="Text 2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Where advertiser jobs are shared across channels, we should create common capabilities and interaction patterns rather than repeatedly rebuilding them.</a:t>
            </a:r>
            <a:endParaRPr lang="en-US" sz="900" dirty="0"/>
          </a:p>
        </p:txBody>
      </p:sp>
      <p:sp>
        <p:nvSpPr>
          <p:cNvPr id="28" name="Text 26"/>
          <p:cNvSpPr txBox="1"/>
          <p:nvPr/>
        </p:nvSpPr>
        <p:spPr>
          <a:xfrm>
            <a:off x="508000" y="3109813"/>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ADVERTISER JOBS</a:t>
            </a:r>
            <a:endParaRPr lang="en-US" sz="550" dirty="0"/>
          </a:p>
        </p:txBody>
      </p:sp>
      <p:sp>
        <p:nvSpPr>
          <p:cNvPr id="29" name="Text 27"/>
          <p:cNvSpPr txBox="1"/>
          <p:nvPr/>
        </p:nvSpPr>
        <p:spPr>
          <a:xfrm>
            <a:off x="2108200"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Plan</a:t>
            </a:r>
            <a:endParaRPr lang="en-US" sz="1300" dirty="0"/>
          </a:p>
        </p:txBody>
      </p:sp>
      <p:sp>
        <p:nvSpPr>
          <p:cNvPr id="30" name="Text 28"/>
          <p:cNvSpPr txBox="1"/>
          <p:nvPr/>
        </p:nvSpPr>
        <p:spPr>
          <a:xfrm>
            <a:off x="3712666"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Build</a:t>
            </a:r>
            <a:endParaRPr lang="en-US" sz="1300" dirty="0"/>
          </a:p>
        </p:txBody>
      </p:sp>
      <p:sp>
        <p:nvSpPr>
          <p:cNvPr id="31" name="Text 29"/>
          <p:cNvSpPr txBox="1"/>
          <p:nvPr/>
        </p:nvSpPr>
        <p:spPr>
          <a:xfrm>
            <a:off x="5317133"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Launch</a:t>
            </a:r>
            <a:endParaRPr lang="en-US" sz="1300" dirty="0"/>
          </a:p>
        </p:txBody>
      </p:sp>
      <p:sp>
        <p:nvSpPr>
          <p:cNvPr id="32" name="Text 30"/>
          <p:cNvSpPr txBox="1"/>
          <p:nvPr/>
        </p:nvSpPr>
        <p:spPr>
          <a:xfrm>
            <a:off x="6921599"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Understand</a:t>
            </a:r>
            <a:endParaRPr lang="en-US" sz="1300" dirty="0"/>
          </a:p>
        </p:txBody>
      </p:sp>
      <p:sp>
        <p:nvSpPr>
          <p:cNvPr id="33" name="Text 31"/>
          <p:cNvSpPr txBox="1"/>
          <p:nvPr/>
        </p:nvSpPr>
        <p:spPr>
          <a:xfrm>
            <a:off x="8526066"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Optimize</a:t>
            </a:r>
            <a:endParaRPr lang="en-US" sz="1300" dirty="0"/>
          </a:p>
        </p:txBody>
      </p:sp>
      <p:sp>
        <p:nvSpPr>
          <p:cNvPr id="34" name="Text 32"/>
          <p:cNvSpPr txBox="1"/>
          <p:nvPr/>
        </p:nvSpPr>
        <p:spPr>
          <a:xfrm>
            <a:off x="10130532" y="3103463"/>
            <a:ext cx="1706066" cy="209550"/>
          </a:xfrm>
          <a:prstGeom prst="rect">
            <a:avLst/>
          </a:prstGeom>
          <a:noFill/>
          <a:ln/>
        </p:spPr>
        <p:txBody>
          <a:bodyPr wrap="square" lIns="0" tIns="0" rIns="0" bIns="0" rtlCol="0" anchor="t"/>
          <a:lstStyle/>
          <a:p>
            <a:pPr algn="l" indent="0" marL="0">
              <a:lnSpc>
                <a:spcPts val="1560"/>
              </a:lnSpc>
              <a:buNone/>
            </a:pPr>
            <a:r>
              <a:rPr lang="en-US" sz="1300" spc="-26" kern="0" dirty="0">
                <a:solidFill>
                  <a:srgbClr val="001E60"/>
                </a:solidFill>
                <a:latin typeface="Everyday Sans Headline Light" pitchFamily="34" charset="0"/>
                <a:ea typeface="Everyday Sans Headline Light" pitchFamily="34" charset="-122"/>
                <a:cs typeface="Everyday Sans Headline Light" pitchFamily="34" charset="-120"/>
              </a:rPr>
              <a:t>Grow</a:t>
            </a:r>
            <a:endParaRPr lang="en-US" sz="1300" dirty="0"/>
          </a:p>
        </p:txBody>
      </p:sp>
      <p:sp>
        <p:nvSpPr>
          <p:cNvPr id="35" name="Text 33"/>
          <p:cNvSpPr txBox="1"/>
          <p:nvPr/>
        </p:nvSpPr>
        <p:spPr>
          <a:xfrm>
            <a:off x="508000" y="3528913"/>
            <a:ext cx="1549400" cy="1778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SHARED EXPERIENCE</a:t>
            </a:r>
            <a:endParaRPr lang="en-US" sz="550" dirty="0"/>
          </a:p>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CAPABILITIES</a:t>
            </a:r>
            <a:endParaRPr lang="en-US" sz="550" dirty="0"/>
          </a:p>
        </p:txBody>
      </p:sp>
      <p:sp>
        <p:nvSpPr>
          <p:cNvPr id="36" name="Text 34"/>
          <p:cNvSpPr txBox="1"/>
          <p:nvPr/>
        </p:nvSpPr>
        <p:spPr>
          <a:xfrm>
            <a:off x="2305050" y="3624163"/>
            <a:ext cx="1161058"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Campaign management</a:t>
            </a:r>
            <a:endParaRPr lang="en-US" sz="800" dirty="0"/>
          </a:p>
        </p:txBody>
      </p:sp>
      <p:sp>
        <p:nvSpPr>
          <p:cNvPr id="37" name="Text 35"/>
          <p:cNvSpPr txBox="1"/>
          <p:nvPr/>
        </p:nvSpPr>
        <p:spPr>
          <a:xfrm>
            <a:off x="3529608" y="3624163"/>
            <a:ext cx="86875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Audience Library</a:t>
            </a:r>
            <a:endParaRPr lang="en-US" sz="800" dirty="0"/>
          </a:p>
        </p:txBody>
      </p:sp>
      <p:sp>
        <p:nvSpPr>
          <p:cNvPr id="38" name="Text 36"/>
          <p:cNvSpPr txBox="1"/>
          <p:nvPr/>
        </p:nvSpPr>
        <p:spPr>
          <a:xfrm>
            <a:off x="4461867" y="3624163"/>
            <a:ext cx="1232694"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Measurement + reporting</a:t>
            </a:r>
            <a:endParaRPr lang="en-US" sz="800" dirty="0"/>
          </a:p>
        </p:txBody>
      </p:sp>
      <p:sp>
        <p:nvSpPr>
          <p:cNvPr id="39" name="Text 37"/>
          <p:cNvSpPr txBox="1"/>
          <p:nvPr/>
        </p:nvSpPr>
        <p:spPr>
          <a:xfrm>
            <a:off x="5758061" y="3624163"/>
            <a:ext cx="857250"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Creative + assets</a:t>
            </a:r>
            <a:endParaRPr lang="en-US" sz="800" dirty="0"/>
          </a:p>
        </p:txBody>
      </p:sp>
      <p:sp>
        <p:nvSpPr>
          <p:cNvPr id="40" name="Text 38"/>
          <p:cNvSpPr txBox="1"/>
          <p:nvPr/>
        </p:nvSpPr>
        <p:spPr>
          <a:xfrm>
            <a:off x="6678811" y="3624163"/>
            <a:ext cx="94624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Recommendations</a:t>
            </a:r>
            <a:endParaRPr lang="en-US" sz="800" dirty="0"/>
          </a:p>
        </p:txBody>
      </p:sp>
      <p:sp>
        <p:nvSpPr>
          <p:cNvPr id="41" name="Text 39"/>
          <p:cNvSpPr txBox="1"/>
          <p:nvPr/>
        </p:nvSpPr>
        <p:spPr>
          <a:xfrm>
            <a:off x="7688560" y="3624163"/>
            <a:ext cx="86161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Experimentation</a:t>
            </a:r>
            <a:endParaRPr lang="en-US" sz="800" dirty="0"/>
          </a:p>
        </p:txBody>
      </p:sp>
      <p:sp>
        <p:nvSpPr>
          <p:cNvPr id="42" name="Text 40"/>
          <p:cNvSpPr txBox="1"/>
          <p:nvPr/>
        </p:nvSpPr>
        <p:spPr>
          <a:xfrm>
            <a:off x="8613676" y="3624163"/>
            <a:ext cx="652959"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Forecasting</a:t>
            </a:r>
            <a:endParaRPr lang="en-US" sz="800" dirty="0"/>
          </a:p>
        </p:txBody>
      </p:sp>
      <p:sp>
        <p:nvSpPr>
          <p:cNvPr id="43" name="Text 41"/>
          <p:cNvSpPr txBox="1"/>
          <p:nvPr/>
        </p:nvSpPr>
        <p:spPr>
          <a:xfrm>
            <a:off x="9330134" y="3624163"/>
            <a:ext cx="693241"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Notifications</a:t>
            </a:r>
            <a:endParaRPr lang="en-US" sz="800" dirty="0"/>
          </a:p>
        </p:txBody>
      </p:sp>
      <p:sp>
        <p:nvSpPr>
          <p:cNvPr id="44" name="Text 42"/>
          <p:cNvSpPr txBox="1"/>
          <p:nvPr/>
        </p:nvSpPr>
        <p:spPr>
          <a:xfrm>
            <a:off x="508000" y="4138513"/>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ADVERTISING EXPERIENCES</a:t>
            </a:r>
            <a:endParaRPr lang="en-US" sz="550" dirty="0"/>
          </a:p>
        </p:txBody>
      </p:sp>
      <p:sp>
        <p:nvSpPr>
          <p:cNvPr id="45" name="Text 43"/>
          <p:cNvSpPr txBox="1"/>
          <p:nvPr/>
        </p:nvSpPr>
        <p:spPr>
          <a:xfrm>
            <a:off x="210820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Sponsored</a:t>
            </a:r>
            <a:endParaRPr lang="en-US" sz="850" dirty="0"/>
          </a:p>
        </p:txBody>
      </p:sp>
      <p:sp>
        <p:nvSpPr>
          <p:cNvPr id="46" name="Text 44"/>
          <p:cNvSpPr txBox="1"/>
          <p:nvPr/>
        </p:nvSpPr>
        <p:spPr>
          <a:xfrm>
            <a:off x="451485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Display</a:t>
            </a:r>
            <a:endParaRPr lang="en-US" sz="850" dirty="0"/>
          </a:p>
        </p:txBody>
      </p:sp>
      <p:sp>
        <p:nvSpPr>
          <p:cNvPr id="47" name="Text 45"/>
          <p:cNvSpPr txBox="1"/>
          <p:nvPr/>
        </p:nvSpPr>
        <p:spPr>
          <a:xfrm>
            <a:off x="692150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Offsite</a:t>
            </a:r>
            <a:endParaRPr lang="en-US" sz="850" dirty="0"/>
          </a:p>
        </p:txBody>
      </p:sp>
      <p:sp>
        <p:nvSpPr>
          <p:cNvPr id="48" name="Text 46"/>
          <p:cNvSpPr txBox="1"/>
          <p:nvPr/>
        </p:nvSpPr>
        <p:spPr>
          <a:xfrm>
            <a:off x="9328150" y="4132163"/>
            <a:ext cx="2544318" cy="133350"/>
          </a:xfrm>
          <a:prstGeom prst="rect">
            <a:avLst/>
          </a:prstGeom>
          <a:noFill/>
          <a:ln/>
        </p:spPr>
        <p:txBody>
          <a:bodyPr wrap="square" lIns="0" tIns="0" rIns="0" bIns="0" rtlCol="0" anchor="t"/>
          <a:lstStyle/>
          <a:p>
            <a:pPr algn="l" indent="0" marL="0">
              <a:lnSpc>
                <a:spcPts val="1020"/>
              </a:lnSpc>
              <a:buNone/>
            </a:pPr>
            <a:r>
              <a:rPr lang="en-US" sz="850" dirty="0">
                <a:solidFill>
                  <a:srgbClr val="001E60"/>
                </a:solidFill>
                <a:latin typeface="Everyday Sans UI Medium" pitchFamily="34" charset="0"/>
                <a:ea typeface="Everyday Sans UI Medium" pitchFamily="34" charset="-122"/>
                <a:cs typeface="Everyday Sans UI Medium" pitchFamily="34" charset="-120"/>
              </a:rPr>
              <a:t>Marketplace</a:t>
            </a:r>
            <a:endParaRPr lang="en-US" sz="850" dirty="0"/>
          </a:p>
        </p:txBody>
      </p:sp>
      <p:sp>
        <p:nvSpPr>
          <p:cNvPr id="49" name="Text 47"/>
          <p:cNvSpPr txBox="1"/>
          <p:nvPr/>
        </p:nvSpPr>
        <p:spPr>
          <a:xfrm>
            <a:off x="508000" y="4716363"/>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PRINCIPLE</a:t>
            </a:r>
            <a:endParaRPr lang="en-US" sz="550" dirty="0"/>
          </a:p>
        </p:txBody>
      </p:sp>
      <p:sp>
        <p:nvSpPr>
          <p:cNvPr id="50" name="Text 48"/>
          <p:cNvSpPr txBox="1"/>
          <p:nvPr/>
        </p:nvSpPr>
        <p:spPr>
          <a:xfrm>
            <a:off x="2108200" y="4602063"/>
            <a:ext cx="10341864" cy="44450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Where advertiser jobs are common, the experience should feel common. Where the media genuinely differs, the product</a:t>
            </a:r>
            <a:endParaRPr lang="en-US" sz="1400" dirty="0"/>
          </a:p>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should adapt.</a:t>
            </a:r>
            <a:endParaRPr lang="en-US" sz="1400" dirty="0"/>
          </a:p>
        </p:txBody>
      </p:sp>
      <p:pic>
        <p:nvPicPr>
          <p:cNvPr id="51"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52" name="Text 49"/>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53" name="Text 50"/>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08 / 18</a:t>
            </a:r>
            <a:endParaRPr lang="en-US" sz="650" dirty="0"/>
          </a:p>
        </p:txBody>
      </p:sp>
      <p:pic>
        <p:nvPicPr>
          <p:cNvPr id="54"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75209" cy="127000"/>
          </a:xfrm>
          <a:prstGeom prst="roundRect">
            <a:avLst>
              <a:gd name="adj" fmla="val 360000"/>
            </a:avLst>
          </a:prstGeom>
          <a:solidFill>
            <a:srgbClr val="D7EEF9"/>
          </a:solidFill>
          <a:ln/>
        </p:spPr>
      </p:sp>
      <p:sp>
        <p:nvSpPr>
          <p:cNvPr id="3" name="Shape 1"/>
          <p:cNvSpPr/>
          <p:nvPr/>
        </p:nvSpPr>
        <p:spPr>
          <a:xfrm>
            <a:off x="508000" y="2983012"/>
            <a:ext cx="1849041" cy="0"/>
          </a:xfrm>
          <a:prstGeom prst="line">
            <a:avLst/>
          </a:prstGeom>
          <a:noFill/>
          <a:ln w="6350">
            <a:solidFill>
              <a:srgbClr val="E4E8EF"/>
            </a:solidFill>
            <a:prstDash val="solid"/>
          </a:ln>
        </p:spPr>
      </p:sp>
      <p:sp>
        <p:nvSpPr>
          <p:cNvPr id="4" name="Shape 2"/>
          <p:cNvSpPr/>
          <p:nvPr/>
        </p:nvSpPr>
        <p:spPr>
          <a:xfrm>
            <a:off x="2458641" y="2983012"/>
            <a:ext cx="1849140" cy="0"/>
          </a:xfrm>
          <a:prstGeom prst="line">
            <a:avLst/>
          </a:prstGeom>
          <a:noFill/>
          <a:ln w="6350">
            <a:solidFill>
              <a:srgbClr val="E4E8EF"/>
            </a:solidFill>
            <a:prstDash val="solid"/>
          </a:ln>
        </p:spPr>
      </p:sp>
      <p:sp>
        <p:nvSpPr>
          <p:cNvPr id="5" name="Shape 3"/>
          <p:cNvSpPr/>
          <p:nvPr/>
        </p:nvSpPr>
        <p:spPr>
          <a:xfrm>
            <a:off x="4409380" y="2983012"/>
            <a:ext cx="1849140" cy="0"/>
          </a:xfrm>
          <a:prstGeom prst="line">
            <a:avLst/>
          </a:prstGeom>
          <a:noFill/>
          <a:ln w="6350">
            <a:solidFill>
              <a:srgbClr val="E4E8EF"/>
            </a:solidFill>
            <a:prstDash val="solid"/>
          </a:ln>
        </p:spPr>
      </p:sp>
      <p:sp>
        <p:nvSpPr>
          <p:cNvPr id="6" name="Shape 4"/>
          <p:cNvSpPr/>
          <p:nvPr/>
        </p:nvSpPr>
        <p:spPr>
          <a:xfrm>
            <a:off x="6360120" y="2983012"/>
            <a:ext cx="1849140" cy="0"/>
          </a:xfrm>
          <a:prstGeom prst="line">
            <a:avLst/>
          </a:prstGeom>
          <a:noFill/>
          <a:ln w="6350">
            <a:solidFill>
              <a:srgbClr val="E4E8EF"/>
            </a:solidFill>
            <a:prstDash val="solid"/>
          </a:ln>
        </p:spPr>
      </p:sp>
      <p:sp>
        <p:nvSpPr>
          <p:cNvPr id="7" name="Shape 5"/>
          <p:cNvSpPr/>
          <p:nvPr/>
        </p:nvSpPr>
        <p:spPr>
          <a:xfrm>
            <a:off x="8310860" y="2983012"/>
            <a:ext cx="1849140" cy="0"/>
          </a:xfrm>
          <a:prstGeom prst="line">
            <a:avLst/>
          </a:prstGeom>
          <a:noFill/>
          <a:ln w="6350">
            <a:solidFill>
              <a:srgbClr val="E4E8EF"/>
            </a:solidFill>
            <a:prstDash val="solid"/>
          </a:ln>
        </p:spPr>
      </p:sp>
      <p:sp>
        <p:nvSpPr>
          <p:cNvPr id="8" name="Shape 6"/>
          <p:cNvSpPr/>
          <p:nvPr/>
        </p:nvSpPr>
        <p:spPr>
          <a:xfrm>
            <a:off x="508000" y="4106962"/>
            <a:ext cx="2167434"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2777034" y="4106962"/>
            <a:ext cx="2167434"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5046067" y="4106962"/>
            <a:ext cx="2167533" cy="0"/>
          </a:xfrm>
          <a:prstGeom prst="line">
            <a:avLst/>
          </a:prstGeom>
          <a:noFill/>
          <a:ln w="6350">
            <a:gradFill rotWithShape="1">
              <a:gsLst>
                <a:gs pos="0">
                  <a:srgbClr val="993EF4"/>
                </a:gs>
                <a:gs pos="100000">
                  <a:srgbClr val="00D0CD"/>
                </a:gs>
              </a:gsLst>
              <a:lin ang="0" scaled="0"/>
            </a:gradFill>
            <a:prstDash val="solid"/>
          </a:ln>
        </p:spPr>
      </p:sp>
      <p:sp>
        <p:nvSpPr>
          <p:cNvPr id="11" name="Shape 9"/>
          <p:cNvSpPr/>
          <p:nvPr/>
        </p:nvSpPr>
        <p:spPr>
          <a:xfrm>
            <a:off x="2108200" y="4691162"/>
            <a:ext cx="1793180" cy="0"/>
          </a:xfrm>
          <a:prstGeom prst="line">
            <a:avLst/>
          </a:prstGeom>
          <a:noFill/>
          <a:ln w="6350">
            <a:solidFill>
              <a:srgbClr val="E4E8EF"/>
            </a:solidFill>
            <a:prstDash val="solid"/>
          </a:ln>
        </p:spPr>
      </p:sp>
      <p:sp>
        <p:nvSpPr>
          <p:cNvPr id="12" name="Shape 10"/>
          <p:cNvSpPr/>
          <p:nvPr/>
        </p:nvSpPr>
        <p:spPr>
          <a:xfrm>
            <a:off x="4053780" y="4691162"/>
            <a:ext cx="1793280" cy="0"/>
          </a:xfrm>
          <a:prstGeom prst="line">
            <a:avLst/>
          </a:prstGeom>
          <a:noFill/>
          <a:ln w="6350">
            <a:solidFill>
              <a:srgbClr val="E4E8EF"/>
            </a:solidFill>
            <a:prstDash val="solid"/>
          </a:ln>
        </p:spPr>
      </p:sp>
      <p:sp>
        <p:nvSpPr>
          <p:cNvPr id="13" name="Shape 11"/>
          <p:cNvSpPr/>
          <p:nvPr/>
        </p:nvSpPr>
        <p:spPr>
          <a:xfrm>
            <a:off x="5999460" y="4691162"/>
            <a:ext cx="1793180" cy="0"/>
          </a:xfrm>
          <a:prstGeom prst="line">
            <a:avLst/>
          </a:prstGeom>
          <a:noFill/>
          <a:ln w="6350">
            <a:solidFill>
              <a:srgbClr val="E4E8EF"/>
            </a:solidFill>
            <a:prstDash val="solid"/>
          </a:ln>
        </p:spPr>
      </p:sp>
      <p:sp>
        <p:nvSpPr>
          <p:cNvPr id="14" name="Shape 12"/>
          <p:cNvSpPr/>
          <p:nvPr/>
        </p:nvSpPr>
        <p:spPr>
          <a:xfrm>
            <a:off x="7945041" y="4691162"/>
            <a:ext cx="1793280" cy="0"/>
          </a:xfrm>
          <a:prstGeom prst="line">
            <a:avLst/>
          </a:prstGeom>
          <a:noFill/>
          <a:ln w="6350">
            <a:solidFill>
              <a:srgbClr val="E4E8EF"/>
            </a:solidFill>
            <a:prstDash val="solid"/>
          </a:ln>
        </p:spPr>
      </p:sp>
      <p:sp>
        <p:nvSpPr>
          <p:cNvPr id="15" name="Shape 13"/>
          <p:cNvSpPr/>
          <p:nvPr/>
        </p:nvSpPr>
        <p:spPr>
          <a:xfrm>
            <a:off x="9890720" y="4691162"/>
            <a:ext cx="1793180" cy="0"/>
          </a:xfrm>
          <a:prstGeom prst="line">
            <a:avLst/>
          </a:prstGeom>
          <a:noFill/>
          <a:ln w="6350">
            <a:solidFill>
              <a:srgbClr val="E4E8EF"/>
            </a:solidFill>
            <a:prstDash val="solid"/>
          </a:ln>
        </p:spPr>
      </p:sp>
      <p:sp>
        <p:nvSpPr>
          <p:cNvPr id="16" name="Shape 14"/>
          <p:cNvSpPr/>
          <p:nvPr/>
        </p:nvSpPr>
        <p:spPr>
          <a:xfrm>
            <a:off x="508000" y="5428853"/>
            <a:ext cx="11176000" cy="0"/>
          </a:xfrm>
          <a:prstGeom prst="line">
            <a:avLst/>
          </a:prstGeom>
          <a:noFill/>
          <a:ln w="6350">
            <a:gradFill rotWithShape="1">
              <a:gsLst>
                <a:gs pos="0">
                  <a:srgbClr val="993EF4"/>
                </a:gs>
                <a:gs pos="100000">
                  <a:srgbClr val="00D0CD"/>
                </a:gs>
              </a:gsLst>
              <a:lin ang="0" scaled="0"/>
            </a:gradFill>
            <a:prstDash val="solid"/>
          </a:ln>
        </p:spPr>
      </p:sp>
      <p:sp>
        <p:nvSpPr>
          <p:cNvPr id="17" name="Shape 15"/>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8" name="Text 16"/>
          <p:cNvSpPr txBox="1"/>
          <p:nvPr/>
        </p:nvSpPr>
        <p:spPr>
          <a:xfrm>
            <a:off x="501650" y="971550"/>
            <a:ext cx="168790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STARTING EARLIER IN THE JOURNEY</a:t>
            </a:r>
            <a:endParaRPr lang="en-US" sz="500" dirty="0"/>
          </a:p>
        </p:txBody>
      </p:sp>
      <p:sp>
        <p:nvSpPr>
          <p:cNvPr id="19" name="Text 17"/>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Better outcomes start with making better setup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easier</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20" name="Text 18"/>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We’re reducing the expertise required to translate an advertiser’s intent into a viable campaign.</a:t>
            </a:r>
            <a:endParaRPr lang="en-US" sz="900" dirty="0"/>
          </a:p>
        </p:txBody>
      </p:sp>
      <p:sp>
        <p:nvSpPr>
          <p:cNvPr id="21" name="Text 19"/>
          <p:cNvSpPr txBox="1"/>
          <p:nvPr/>
        </p:nvSpPr>
        <p:spPr>
          <a:xfrm>
            <a:off x="508000" y="2548037"/>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 · EXAMPLE: SELLER CENTER CAMPAIGN CREATION</a:t>
            </a:r>
            <a:endParaRPr lang="en-US" sz="550" dirty="0"/>
          </a:p>
        </p:txBody>
      </p:sp>
      <p:sp>
        <p:nvSpPr>
          <p:cNvPr id="22" name="Text 20"/>
          <p:cNvSpPr txBox="1"/>
          <p:nvPr/>
        </p:nvSpPr>
        <p:spPr>
          <a:xfrm>
            <a:off x="2250878"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3" name="Text 21"/>
          <p:cNvSpPr txBox="1"/>
          <p:nvPr/>
        </p:nvSpPr>
        <p:spPr>
          <a:xfrm>
            <a:off x="508000" y="3075087"/>
            <a:ext cx="1823641"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Seller Center</a:t>
            </a:r>
            <a:endParaRPr lang="en-US" sz="900" dirty="0"/>
          </a:p>
        </p:txBody>
      </p:sp>
      <p:sp>
        <p:nvSpPr>
          <p:cNvPr id="24" name="Text 22"/>
          <p:cNvSpPr txBox="1"/>
          <p:nvPr/>
        </p:nvSpPr>
        <p:spPr>
          <a:xfrm>
            <a:off x="420161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5" name="Text 23"/>
          <p:cNvSpPr txBox="1"/>
          <p:nvPr/>
        </p:nvSpPr>
        <p:spPr>
          <a:xfrm>
            <a:off x="2458641"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Leave the seller’s existing context</a:t>
            </a:r>
            <a:endParaRPr lang="en-US" sz="900" dirty="0"/>
          </a:p>
        </p:txBody>
      </p:sp>
      <p:sp>
        <p:nvSpPr>
          <p:cNvPr id="26" name="Text 24"/>
          <p:cNvSpPr txBox="1"/>
          <p:nvPr/>
        </p:nvSpPr>
        <p:spPr>
          <a:xfrm>
            <a:off x="615235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7" name="Text 25"/>
          <p:cNvSpPr txBox="1"/>
          <p:nvPr/>
        </p:nvSpPr>
        <p:spPr>
          <a:xfrm>
            <a:off x="4409380"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Enter Ad Center</a:t>
            </a:r>
            <a:endParaRPr lang="en-US" sz="900" dirty="0"/>
          </a:p>
        </p:txBody>
      </p:sp>
      <p:sp>
        <p:nvSpPr>
          <p:cNvPr id="28" name="Text 26"/>
          <p:cNvSpPr txBox="1"/>
          <p:nvPr/>
        </p:nvSpPr>
        <p:spPr>
          <a:xfrm>
            <a:off x="8103094" y="303063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8B93A3"/>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9" name="Text 27"/>
          <p:cNvSpPr txBox="1"/>
          <p:nvPr/>
        </p:nvSpPr>
        <p:spPr>
          <a:xfrm>
            <a:off x="6360120" y="3075087"/>
            <a:ext cx="1823740" cy="29210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Navigate an enterprise</a:t>
            </a:r>
            <a:endParaRPr lang="en-US" sz="900" dirty="0"/>
          </a:p>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advertising workflow</a:t>
            </a:r>
            <a:endParaRPr lang="en-US" sz="900" dirty="0"/>
          </a:p>
        </p:txBody>
      </p:sp>
      <p:sp>
        <p:nvSpPr>
          <p:cNvPr id="30" name="Text 28"/>
          <p:cNvSpPr txBox="1"/>
          <p:nvPr/>
        </p:nvSpPr>
        <p:spPr>
          <a:xfrm>
            <a:off x="8310860" y="3075087"/>
            <a:ext cx="1823740" cy="146050"/>
          </a:xfrm>
          <a:prstGeom prst="rect">
            <a:avLst/>
          </a:prstGeom>
          <a:noFill/>
          <a:ln/>
        </p:spPr>
        <p:txBody>
          <a:bodyPr wrap="square" lIns="0" tIns="0" rIns="0" bIns="0" rtlCol="0" anchor="t"/>
          <a:lstStyle/>
          <a:p>
            <a:pPr algn="l" indent="0" marL="0">
              <a:lnSpc>
                <a:spcPts val="1080"/>
              </a:lnSpc>
              <a:buNone/>
            </a:pPr>
            <a:r>
              <a:rPr lang="en-US" sz="900" dirty="0">
                <a:solidFill>
                  <a:srgbClr val="3D4A63"/>
                </a:solidFill>
                <a:latin typeface="Everyday Sans UI" pitchFamily="34" charset="0"/>
                <a:ea typeface="Everyday Sans UI" pitchFamily="34" charset="-122"/>
                <a:cs typeface="Everyday Sans UI" pitchFamily="34" charset="-120"/>
              </a:rPr>
              <a:t>Configure campaign</a:t>
            </a:r>
            <a:endParaRPr lang="en-US" sz="900" dirty="0"/>
          </a:p>
        </p:txBody>
      </p:sp>
      <p:sp>
        <p:nvSpPr>
          <p:cNvPr id="31" name="Text 29"/>
          <p:cNvSpPr txBox="1"/>
          <p:nvPr/>
        </p:nvSpPr>
        <p:spPr>
          <a:xfrm>
            <a:off x="508000" y="3671987"/>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DIRECTION · NATIVE CAMPAIGN CREATION</a:t>
            </a:r>
            <a:endParaRPr lang="en-US" sz="550" dirty="0"/>
          </a:p>
        </p:txBody>
      </p:sp>
      <p:sp>
        <p:nvSpPr>
          <p:cNvPr id="32" name="Text 30"/>
          <p:cNvSpPr txBox="1"/>
          <p:nvPr/>
        </p:nvSpPr>
        <p:spPr>
          <a:xfrm>
            <a:off x="2569267" y="415458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3" name="Text 31"/>
          <p:cNvSpPr txBox="1"/>
          <p:nvPr/>
        </p:nvSpPr>
        <p:spPr>
          <a:xfrm>
            <a:off x="508000" y="4199037"/>
            <a:ext cx="2138106"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Seller intent</a:t>
            </a:r>
            <a:endParaRPr lang="en-US" sz="1300" dirty="0"/>
          </a:p>
        </p:txBody>
      </p:sp>
      <p:sp>
        <p:nvSpPr>
          <p:cNvPr id="34" name="Text 32"/>
          <p:cNvSpPr txBox="1"/>
          <p:nvPr/>
        </p:nvSpPr>
        <p:spPr>
          <a:xfrm>
            <a:off x="4838301" y="4154587"/>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5" name="Text 33"/>
          <p:cNvSpPr txBox="1"/>
          <p:nvPr/>
        </p:nvSpPr>
        <p:spPr>
          <a:xfrm>
            <a:off x="2777034" y="4199037"/>
            <a:ext cx="2138106"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Native campaign setup</a:t>
            </a:r>
            <a:endParaRPr lang="en-US" sz="1300" dirty="0"/>
          </a:p>
        </p:txBody>
      </p:sp>
      <p:sp>
        <p:nvSpPr>
          <p:cNvPr id="36" name="Text 34"/>
          <p:cNvSpPr txBox="1"/>
          <p:nvPr/>
        </p:nvSpPr>
        <p:spPr>
          <a:xfrm>
            <a:off x="5046067" y="4199037"/>
            <a:ext cx="2138213"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Launch</a:t>
            </a:r>
            <a:endParaRPr lang="en-US" sz="1300" dirty="0"/>
          </a:p>
        </p:txBody>
      </p:sp>
      <p:sp>
        <p:nvSpPr>
          <p:cNvPr id="37" name="Text 35"/>
          <p:cNvSpPr txBox="1"/>
          <p:nvPr/>
        </p:nvSpPr>
        <p:spPr>
          <a:xfrm>
            <a:off x="508000" y="4764187"/>
            <a:ext cx="154940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WHY IT MATTERS</a:t>
            </a:r>
            <a:endParaRPr lang="en-US" sz="550" dirty="0"/>
          </a:p>
        </p:txBody>
      </p:sp>
      <p:sp>
        <p:nvSpPr>
          <p:cNvPr id="38" name="Text 36"/>
          <p:cNvSpPr txBox="1"/>
          <p:nvPr/>
        </p:nvSpPr>
        <p:spPr>
          <a:xfrm>
            <a:off x="210820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Removes unnecessary platform switching</a:t>
            </a:r>
            <a:endParaRPr lang="en-US" sz="800" dirty="0"/>
          </a:p>
        </p:txBody>
      </p:sp>
      <p:sp>
        <p:nvSpPr>
          <p:cNvPr id="39" name="Text 37"/>
          <p:cNvSpPr txBox="1"/>
          <p:nvPr/>
        </p:nvSpPr>
        <p:spPr>
          <a:xfrm>
            <a:off x="4053780" y="4770537"/>
            <a:ext cx="19456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Keeps advertisers in a familiar environment</a:t>
            </a:r>
            <a:endParaRPr lang="en-US" sz="800" dirty="0"/>
          </a:p>
        </p:txBody>
      </p:sp>
      <p:sp>
        <p:nvSpPr>
          <p:cNvPr id="40" name="Text 38"/>
          <p:cNvSpPr txBox="1"/>
          <p:nvPr/>
        </p:nvSpPr>
        <p:spPr>
          <a:xfrm>
            <a:off x="599946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Reduces setup complexity for less-experienced</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advertisers</a:t>
            </a:r>
            <a:endParaRPr lang="en-US" sz="800" dirty="0"/>
          </a:p>
        </p:txBody>
      </p:sp>
      <p:sp>
        <p:nvSpPr>
          <p:cNvPr id="41" name="Text 39"/>
          <p:cNvSpPr txBox="1"/>
          <p:nvPr/>
        </p:nvSpPr>
        <p:spPr>
          <a:xfrm>
            <a:off x="7945041" y="4770537"/>
            <a:ext cx="19456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Creates an opportunity for contextual</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guidance at the moment of decision</a:t>
            </a:r>
            <a:endParaRPr lang="en-US" sz="800" dirty="0"/>
          </a:p>
        </p:txBody>
      </p:sp>
      <p:sp>
        <p:nvSpPr>
          <p:cNvPr id="42" name="Text 40"/>
          <p:cNvSpPr txBox="1"/>
          <p:nvPr/>
        </p:nvSpPr>
        <p:spPr>
          <a:xfrm>
            <a:off x="9890720" y="4770537"/>
            <a:ext cx="1945580" cy="426541"/>
          </a:xfrm>
          <a:prstGeom prst="rect">
            <a:avLst/>
          </a:prstGeom>
          <a:noFill/>
          <a:ln/>
        </p:spPr>
        <p:txBody>
          <a:bodyPr wrap="square" lIns="0" tIns="0" rIns="0" bIns="0" rtlCol="0" anchor="t"/>
          <a:lstStyle/>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Reduces reliance on advertisers</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understanding our internal</a:t>
            </a:r>
            <a:endParaRPr lang="en-US" sz="800" dirty="0"/>
          </a:p>
          <a:p>
            <a:pPr algn="l" indent="0" marL="0">
              <a:lnSpc>
                <a:spcPts val="1120"/>
              </a:lnSpc>
              <a:buNone/>
            </a:pPr>
            <a:r>
              <a:rPr lang="en-US" sz="800" dirty="0">
                <a:solidFill>
                  <a:srgbClr val="001E60"/>
                </a:solidFill>
                <a:latin typeface="Everyday Sans UI" pitchFamily="34" charset="0"/>
                <a:ea typeface="Everyday Sans UI" pitchFamily="34" charset="-122"/>
                <a:cs typeface="Everyday Sans UI" pitchFamily="34" charset="-120"/>
              </a:rPr>
              <a:t>platform structure</a:t>
            </a:r>
            <a:endParaRPr lang="en-US" sz="800" dirty="0"/>
          </a:p>
        </p:txBody>
      </p:sp>
      <p:sp>
        <p:nvSpPr>
          <p:cNvPr id="43" name="Text 41"/>
          <p:cNvSpPr txBox="1"/>
          <p:nvPr/>
        </p:nvSpPr>
        <p:spPr>
          <a:xfrm>
            <a:off x="508000" y="564792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PRINCIPLE</a:t>
            </a:r>
            <a:endParaRPr lang="en-US" sz="550" dirty="0"/>
          </a:p>
        </p:txBody>
      </p:sp>
      <p:sp>
        <p:nvSpPr>
          <p:cNvPr id="44" name="Text 42"/>
          <p:cNvSpPr txBox="1"/>
          <p:nvPr/>
        </p:nvSpPr>
        <p:spPr>
          <a:xfrm>
            <a:off x="2108200" y="553362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This extends beyond Marketplace: don’t make advertisers learn our platform before they can successfully advertise.</a:t>
            </a:r>
            <a:endParaRPr lang="en-US" sz="1400" dirty="0"/>
          </a:p>
        </p:txBody>
      </p:sp>
      <p:pic>
        <p:nvPicPr>
          <p:cNvPr id="4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6" name="Text 43"/>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7" name="Text 4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09 / 18</a:t>
            </a:r>
            <a:endParaRPr lang="en-US" sz="650" dirty="0"/>
          </a:p>
        </p:txBody>
      </p:sp>
      <p:pic>
        <p:nvPicPr>
          <p:cNvPr id="48"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080790" cy="127000"/>
          </a:xfrm>
          <a:prstGeom prst="roundRect">
            <a:avLst>
              <a:gd name="adj" fmla="val 360000"/>
            </a:avLst>
          </a:prstGeom>
          <a:solidFill>
            <a:srgbClr val="D7EEF9"/>
          </a:solidFill>
          <a:ln/>
        </p:spPr>
      </p:sp>
      <p:sp>
        <p:nvSpPr>
          <p:cNvPr id="3" name="Shape 1"/>
          <p:cNvSpPr/>
          <p:nvPr/>
        </p:nvSpPr>
        <p:spPr>
          <a:xfrm>
            <a:off x="508000" y="3138984"/>
            <a:ext cx="4487267" cy="0"/>
          </a:xfrm>
          <a:prstGeom prst="line">
            <a:avLst/>
          </a:prstGeom>
          <a:noFill/>
          <a:ln w="12700">
            <a:solidFill>
              <a:srgbClr val="C3C6CD"/>
            </a:solidFill>
            <a:prstDash val="solid"/>
          </a:ln>
        </p:spPr>
      </p:sp>
      <p:sp>
        <p:nvSpPr>
          <p:cNvPr id="4" name="Shape 2"/>
          <p:cNvSpPr/>
          <p:nvPr/>
        </p:nvSpPr>
        <p:spPr>
          <a:xfrm>
            <a:off x="5401667" y="3138984"/>
            <a:ext cx="6282234" cy="0"/>
          </a:xfrm>
          <a:prstGeom prst="line">
            <a:avLst/>
          </a:prstGeom>
          <a:noFill/>
          <a:ln w="12700">
            <a:gradFill rotWithShape="1">
              <a:gsLst>
                <a:gs pos="0">
                  <a:srgbClr val="993EF4"/>
                </a:gs>
                <a:gs pos="100000">
                  <a:srgbClr val="00D0CD"/>
                </a:gs>
              </a:gsLst>
              <a:lin ang="0" scaled="0"/>
            </a:gradFill>
            <a:prstDash val="solid"/>
          </a:ln>
        </p:spPr>
      </p:sp>
      <p:sp>
        <p:nvSpPr>
          <p:cNvPr id="5" name="Shape 3"/>
          <p:cNvSpPr/>
          <p:nvPr/>
        </p:nvSpPr>
        <p:spPr>
          <a:xfrm>
            <a:off x="1900932" y="4116884"/>
            <a:ext cx="687586" cy="203200"/>
          </a:xfrm>
          <a:prstGeom prst="rect">
            <a:avLst/>
          </a:prstGeom>
          <a:ln w="6350">
            <a:solidFill>
              <a:srgbClr val="E4E8EF"/>
            </a:solidFill>
            <a:prstDash val="solid"/>
          </a:ln>
        </p:spPr>
      </p:sp>
      <p:sp>
        <p:nvSpPr>
          <p:cNvPr id="6" name="Shape 4"/>
          <p:cNvSpPr/>
          <p:nvPr/>
        </p:nvSpPr>
        <p:spPr>
          <a:xfrm>
            <a:off x="2652018" y="4116884"/>
            <a:ext cx="592634" cy="203200"/>
          </a:xfrm>
          <a:prstGeom prst="rect">
            <a:avLst/>
          </a:prstGeom>
          <a:ln w="6350">
            <a:solidFill>
              <a:srgbClr val="E4E8EF"/>
            </a:solidFill>
            <a:prstDash val="solid"/>
          </a:ln>
        </p:spPr>
      </p:sp>
      <p:sp>
        <p:nvSpPr>
          <p:cNvPr id="7" name="Shape 5"/>
          <p:cNvSpPr/>
          <p:nvPr/>
        </p:nvSpPr>
        <p:spPr>
          <a:xfrm>
            <a:off x="3308152" y="4116884"/>
            <a:ext cx="830163" cy="203200"/>
          </a:xfrm>
          <a:prstGeom prst="rect">
            <a:avLst/>
          </a:prstGeom>
          <a:ln w="6350">
            <a:solidFill>
              <a:srgbClr val="E4E8EF"/>
            </a:solidFill>
            <a:prstDash val="solid"/>
          </a:ln>
        </p:spPr>
      </p:sp>
      <p:sp>
        <p:nvSpPr>
          <p:cNvPr id="8" name="Shape 6"/>
          <p:cNvSpPr/>
          <p:nvPr/>
        </p:nvSpPr>
        <p:spPr>
          <a:xfrm>
            <a:off x="4201815" y="4116884"/>
            <a:ext cx="687586" cy="203200"/>
          </a:xfrm>
          <a:prstGeom prst="rect">
            <a:avLst/>
          </a:prstGeom>
          <a:ln w="6350">
            <a:solidFill>
              <a:srgbClr val="E4E8EF"/>
            </a:solidFill>
            <a:prstDash val="solid"/>
          </a:ln>
        </p:spPr>
      </p:sp>
      <p:sp>
        <p:nvSpPr>
          <p:cNvPr id="9" name="Shape 7"/>
          <p:cNvSpPr/>
          <p:nvPr/>
        </p:nvSpPr>
        <p:spPr>
          <a:xfrm>
            <a:off x="4952901" y="4116884"/>
            <a:ext cx="450155" cy="203200"/>
          </a:xfrm>
          <a:prstGeom prst="rect">
            <a:avLst/>
          </a:prstGeom>
          <a:ln w="6350">
            <a:solidFill>
              <a:srgbClr val="E4E8EF"/>
            </a:solidFill>
            <a:prstDash val="solid"/>
          </a:ln>
        </p:spPr>
      </p:sp>
      <p:sp>
        <p:nvSpPr>
          <p:cNvPr id="10" name="Shape 8"/>
          <p:cNvSpPr/>
          <p:nvPr/>
        </p:nvSpPr>
        <p:spPr>
          <a:xfrm>
            <a:off x="5466556" y="4116884"/>
            <a:ext cx="592634" cy="203200"/>
          </a:xfrm>
          <a:prstGeom prst="rect">
            <a:avLst/>
          </a:prstGeom>
          <a:ln w="6350">
            <a:solidFill>
              <a:srgbClr val="E4E8EF"/>
            </a:solidFill>
            <a:prstDash val="solid"/>
          </a:ln>
        </p:spPr>
      </p:sp>
      <p:sp>
        <p:nvSpPr>
          <p:cNvPr id="11" name="Shape 9"/>
          <p:cNvSpPr/>
          <p:nvPr/>
        </p:nvSpPr>
        <p:spPr>
          <a:xfrm>
            <a:off x="6122690" y="4116884"/>
            <a:ext cx="687586" cy="203200"/>
          </a:xfrm>
          <a:prstGeom prst="rect">
            <a:avLst/>
          </a:prstGeom>
          <a:ln w="6350">
            <a:solidFill>
              <a:srgbClr val="E4E8EF"/>
            </a:solidFill>
            <a:prstDash val="solid"/>
          </a:ln>
        </p:spPr>
      </p:sp>
      <p:sp>
        <p:nvSpPr>
          <p:cNvPr id="12" name="Shape 10"/>
          <p:cNvSpPr/>
          <p:nvPr/>
        </p:nvSpPr>
        <p:spPr>
          <a:xfrm>
            <a:off x="6873776" y="4116884"/>
            <a:ext cx="640159" cy="203200"/>
          </a:xfrm>
          <a:prstGeom prst="rect">
            <a:avLst/>
          </a:prstGeom>
          <a:ln w="6350">
            <a:solidFill>
              <a:srgbClr val="E4E8EF"/>
            </a:solidFill>
            <a:prstDash val="solid"/>
          </a:ln>
        </p:spPr>
      </p:sp>
      <p:sp>
        <p:nvSpPr>
          <p:cNvPr id="13" name="Shape 11"/>
          <p:cNvSpPr/>
          <p:nvPr/>
        </p:nvSpPr>
        <p:spPr>
          <a:xfrm>
            <a:off x="7577435" y="4116884"/>
            <a:ext cx="1020068" cy="203200"/>
          </a:xfrm>
          <a:prstGeom prst="rect">
            <a:avLst/>
          </a:prstGeom>
          <a:ln w="6350">
            <a:solidFill>
              <a:srgbClr val="E4E8EF"/>
            </a:solidFill>
            <a:prstDash val="solid"/>
          </a:ln>
        </p:spPr>
      </p:sp>
      <p:sp>
        <p:nvSpPr>
          <p:cNvPr id="14" name="Shape 12"/>
          <p:cNvSpPr/>
          <p:nvPr/>
        </p:nvSpPr>
        <p:spPr>
          <a:xfrm>
            <a:off x="508000" y="4551859"/>
            <a:ext cx="11176000" cy="0"/>
          </a:xfrm>
          <a:prstGeom prst="line">
            <a:avLst/>
          </a:prstGeom>
          <a:noFill/>
          <a:ln w="6350">
            <a:gradFill rotWithShape="1">
              <a:gsLst>
                <a:gs pos="0">
                  <a:srgbClr val="993EF4"/>
                </a:gs>
                <a:gs pos="100000">
                  <a:srgbClr val="00D0CD"/>
                </a:gs>
              </a:gsLst>
              <a:lin ang="0" scaled="0"/>
            </a:gradFill>
            <a:prstDash val="solid"/>
          </a:ln>
        </p:spPr>
      </p:sp>
      <p:sp>
        <p:nvSpPr>
          <p:cNvPr id="15" name="Shape 13"/>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6" name="Text 14"/>
          <p:cNvSpPr txBox="1"/>
          <p:nvPr/>
        </p:nvSpPr>
        <p:spPr>
          <a:xfrm>
            <a:off x="501650" y="971550"/>
            <a:ext cx="109349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GUIDANCE, NOT NOISE</a:t>
            </a:r>
            <a:endParaRPr lang="en-US" sz="500" dirty="0"/>
          </a:p>
        </p:txBody>
      </p:sp>
      <p:sp>
        <p:nvSpPr>
          <p:cNvPr id="17" name="Text 15"/>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Recommendations only help when advertisers can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trust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them.</a:t>
            </a:r>
            <a:endParaRPr lang="en-US" sz="2400" dirty="0"/>
          </a:p>
        </p:txBody>
      </p:sp>
      <p:sp>
        <p:nvSpPr>
          <p:cNvPr id="18" name="Text 16"/>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Guidance should reduce decision complexity. When relevance, context or expected value is unclear, it can create more complexity instead.</a:t>
            </a:r>
            <a:endParaRPr lang="en-US" sz="900" dirty="0"/>
          </a:p>
        </p:txBody>
      </p:sp>
      <p:sp>
        <p:nvSpPr>
          <p:cNvPr id="19" name="Text 17"/>
          <p:cNvSpPr txBox="1"/>
          <p:nvPr/>
        </p:nvSpPr>
        <p:spPr>
          <a:xfrm>
            <a:off x="508000" y="3246934"/>
            <a:ext cx="4846249"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HISTORICAL ASSUMPTION</a:t>
            </a:r>
            <a:endParaRPr lang="en-US" sz="550" dirty="0"/>
          </a:p>
        </p:txBody>
      </p:sp>
      <p:sp>
        <p:nvSpPr>
          <p:cNvPr id="20" name="Text 18"/>
          <p:cNvSpPr txBox="1"/>
          <p:nvPr/>
        </p:nvSpPr>
        <p:spPr>
          <a:xfrm>
            <a:off x="508000" y="3412034"/>
            <a:ext cx="4846249" cy="476250"/>
          </a:xfrm>
          <a:prstGeom prst="rect">
            <a:avLst/>
          </a:prstGeom>
          <a:noFill/>
          <a:ln/>
        </p:spPr>
        <p:txBody>
          <a:bodyPr wrap="square" lIns="0" tIns="0" rIns="0" bIns="0" rtlCol="0" anchor="t"/>
          <a:lstStyle/>
          <a:p>
            <a:pPr algn="l" indent="0" marL="0">
              <a:lnSpc>
                <a:spcPts val="1875"/>
              </a:lnSpc>
              <a:buNone/>
            </a:pPr>
            <a:r>
              <a:rPr lang="en-US" sz="1500" spc="-30" kern="0" dirty="0">
                <a:solidFill>
                  <a:srgbClr val="3D4A63"/>
                </a:solidFill>
                <a:latin typeface="Everyday Sans Headline Light" pitchFamily="34" charset="0"/>
                <a:ea typeface="Everyday Sans Headline Light" pitchFamily="34" charset="-122"/>
                <a:cs typeface="Everyday Sans Headline Light" pitchFamily="34" charset="-120"/>
              </a:rPr>
              <a:t>More recommendations = more optimization</a:t>
            </a:r>
            <a:endParaRPr lang="en-US" sz="1500" dirty="0"/>
          </a:p>
          <a:p>
            <a:pPr algn="l" indent="0" marL="0">
              <a:lnSpc>
                <a:spcPts val="1875"/>
              </a:lnSpc>
              <a:buNone/>
            </a:pPr>
            <a:r>
              <a:rPr lang="en-US" sz="1500" spc="-30" kern="0" dirty="0">
                <a:solidFill>
                  <a:srgbClr val="3D4A63"/>
                </a:solidFill>
                <a:latin typeface="Everyday Sans Headline Light" pitchFamily="34" charset="0"/>
                <a:ea typeface="Everyday Sans Headline Light" pitchFamily="34" charset="-122"/>
                <a:cs typeface="Everyday Sans Headline Light" pitchFamily="34" charset="-120"/>
              </a:rPr>
              <a:t>opportunity.</a:t>
            </a:r>
            <a:endParaRPr lang="en-US" sz="1500" dirty="0"/>
          </a:p>
        </p:txBody>
      </p:sp>
      <p:sp>
        <p:nvSpPr>
          <p:cNvPr id="21" name="Text 19"/>
          <p:cNvSpPr txBox="1"/>
          <p:nvPr/>
        </p:nvSpPr>
        <p:spPr>
          <a:xfrm>
            <a:off x="5401667" y="3246934"/>
            <a:ext cx="678481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WE’RE LEARNING</a:t>
            </a:r>
            <a:endParaRPr lang="en-US" sz="550" dirty="0"/>
          </a:p>
        </p:txBody>
      </p:sp>
      <p:sp>
        <p:nvSpPr>
          <p:cNvPr id="22" name="Text 20"/>
          <p:cNvSpPr txBox="1"/>
          <p:nvPr/>
        </p:nvSpPr>
        <p:spPr>
          <a:xfrm>
            <a:off x="5401667" y="3412034"/>
            <a:ext cx="6784812" cy="476250"/>
          </a:xfrm>
          <a:prstGeom prst="rect">
            <a:avLst/>
          </a:prstGeom>
          <a:noFill/>
          <a:ln/>
        </p:spPr>
        <p:txBody>
          <a:bodyPr wrap="square" lIns="0" tIns="0" rIns="0" bIns="0" rtlCol="0" anchor="t"/>
          <a:lstStyle/>
          <a:p>
            <a:pPr algn="l" indent="0" marL="0">
              <a:lnSpc>
                <a:spcPts val="1875"/>
              </a:lnSpc>
              <a:buNone/>
            </a:pPr>
            <a:r>
              <a:rPr lang="en-US" sz="1500" spc="-30" kern="0" dirty="0">
                <a:solidFill>
                  <a:srgbClr val="001E60"/>
                </a:solidFill>
                <a:latin typeface="Everyday Sans Headline Light" pitchFamily="34" charset="0"/>
                <a:ea typeface="Everyday Sans Headline Light" pitchFamily="34" charset="-122"/>
                <a:cs typeface="Everyday Sans Headline Light" pitchFamily="34" charset="-120"/>
              </a:rPr>
              <a:t>A recommendation without sufficient relevance, context or credibility can</a:t>
            </a:r>
            <a:endParaRPr lang="en-US" sz="1500" dirty="0"/>
          </a:p>
          <a:p>
            <a:pPr algn="l" indent="0" marL="0">
              <a:lnSpc>
                <a:spcPts val="1875"/>
              </a:lnSpc>
              <a:buNone/>
            </a:pPr>
            <a:r>
              <a:rPr lang="en-US" sz="1500" spc="-30" kern="0" dirty="0">
                <a:solidFill>
                  <a:srgbClr val="001E60"/>
                </a:solidFill>
                <a:latin typeface="Everyday Sans Headline Light" pitchFamily="34" charset="0"/>
                <a:ea typeface="Everyday Sans Headline Light" pitchFamily="34" charset="-122"/>
                <a:cs typeface="Everyday Sans Headline Light" pitchFamily="34" charset="-120"/>
              </a:rPr>
              <a:t>make the advertiser’s decision harder rather than easier.</a:t>
            </a:r>
            <a:endParaRPr lang="en-US" sz="1500" dirty="0"/>
          </a:p>
        </p:txBody>
      </p:sp>
      <p:sp>
        <p:nvSpPr>
          <p:cNvPr id="23" name="Text 21"/>
          <p:cNvSpPr txBox="1"/>
          <p:nvPr/>
        </p:nvSpPr>
        <p:spPr>
          <a:xfrm>
            <a:off x="508000" y="4174034"/>
            <a:ext cx="139293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ADDING MORE RIGOR AROUND</a:t>
            </a:r>
            <a:endParaRPr lang="en-US" sz="550" dirty="0"/>
          </a:p>
        </p:txBody>
      </p:sp>
      <p:sp>
        <p:nvSpPr>
          <p:cNvPr id="24" name="Text 22"/>
          <p:cNvSpPr txBox="1"/>
          <p:nvPr/>
        </p:nvSpPr>
        <p:spPr>
          <a:xfrm>
            <a:off x="1983482"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ELIGIBILITY</a:t>
            </a:r>
            <a:endParaRPr lang="en-US" sz="550" dirty="0"/>
          </a:p>
        </p:txBody>
      </p:sp>
      <p:sp>
        <p:nvSpPr>
          <p:cNvPr id="25" name="Text 23"/>
          <p:cNvSpPr txBox="1"/>
          <p:nvPr/>
        </p:nvSpPr>
        <p:spPr>
          <a:xfrm>
            <a:off x="2734568" y="4174034"/>
            <a:ext cx="579934"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RELEVANCE</a:t>
            </a:r>
            <a:endParaRPr lang="en-US" sz="550" dirty="0"/>
          </a:p>
        </p:txBody>
      </p:sp>
      <p:sp>
        <p:nvSpPr>
          <p:cNvPr id="26" name="Text 24"/>
          <p:cNvSpPr txBox="1"/>
          <p:nvPr/>
        </p:nvSpPr>
        <p:spPr>
          <a:xfrm>
            <a:off x="3390702" y="4174034"/>
            <a:ext cx="817463"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EXPECTED VALUE</a:t>
            </a:r>
            <a:endParaRPr lang="en-US" sz="550" dirty="0"/>
          </a:p>
        </p:txBody>
      </p:sp>
      <p:sp>
        <p:nvSpPr>
          <p:cNvPr id="27" name="Text 25"/>
          <p:cNvSpPr txBox="1"/>
          <p:nvPr/>
        </p:nvSpPr>
        <p:spPr>
          <a:xfrm>
            <a:off x="4284365"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EXPLANATION</a:t>
            </a:r>
            <a:endParaRPr lang="en-US" sz="550" dirty="0"/>
          </a:p>
        </p:txBody>
      </p:sp>
      <p:sp>
        <p:nvSpPr>
          <p:cNvPr id="28" name="Text 26"/>
          <p:cNvSpPr txBox="1"/>
          <p:nvPr/>
        </p:nvSpPr>
        <p:spPr>
          <a:xfrm>
            <a:off x="5035451" y="4174034"/>
            <a:ext cx="437455"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TIMING</a:t>
            </a:r>
            <a:endParaRPr lang="en-US" sz="550" dirty="0"/>
          </a:p>
        </p:txBody>
      </p:sp>
      <p:sp>
        <p:nvSpPr>
          <p:cNvPr id="29" name="Text 27"/>
          <p:cNvSpPr txBox="1"/>
          <p:nvPr/>
        </p:nvSpPr>
        <p:spPr>
          <a:xfrm>
            <a:off x="5549106" y="4174034"/>
            <a:ext cx="579934"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CONFLICTS</a:t>
            </a:r>
            <a:endParaRPr lang="en-US" sz="550" dirty="0"/>
          </a:p>
        </p:txBody>
      </p:sp>
      <p:sp>
        <p:nvSpPr>
          <p:cNvPr id="30" name="Text 28"/>
          <p:cNvSpPr txBox="1"/>
          <p:nvPr/>
        </p:nvSpPr>
        <p:spPr>
          <a:xfrm>
            <a:off x="6205240" y="4174034"/>
            <a:ext cx="67488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SUPPRESSION</a:t>
            </a:r>
            <a:endParaRPr lang="en-US" sz="550" dirty="0"/>
          </a:p>
        </p:txBody>
      </p:sp>
      <p:sp>
        <p:nvSpPr>
          <p:cNvPr id="31" name="Text 29"/>
          <p:cNvSpPr txBox="1"/>
          <p:nvPr/>
        </p:nvSpPr>
        <p:spPr>
          <a:xfrm>
            <a:off x="6956326" y="4174034"/>
            <a:ext cx="627459"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ACCEPTANCE</a:t>
            </a:r>
            <a:endParaRPr lang="en-US" sz="550" dirty="0"/>
          </a:p>
        </p:txBody>
      </p:sp>
      <p:sp>
        <p:nvSpPr>
          <p:cNvPr id="32" name="Text 30"/>
          <p:cNvSpPr txBox="1"/>
          <p:nvPr/>
        </p:nvSpPr>
        <p:spPr>
          <a:xfrm>
            <a:off x="7659985" y="4174034"/>
            <a:ext cx="1007368"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DOWNSTREAM OUTCOME</a:t>
            </a:r>
            <a:endParaRPr lang="en-US" sz="550" dirty="0"/>
          </a:p>
        </p:txBody>
      </p:sp>
      <p:sp>
        <p:nvSpPr>
          <p:cNvPr id="33" name="Text 31"/>
          <p:cNvSpPr txBox="1"/>
          <p:nvPr/>
        </p:nvSpPr>
        <p:spPr>
          <a:xfrm>
            <a:off x="508000" y="4770934"/>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GOAL</a:t>
            </a:r>
            <a:endParaRPr lang="en-US" sz="550" dirty="0"/>
          </a:p>
        </p:txBody>
      </p:sp>
      <p:sp>
        <p:nvSpPr>
          <p:cNvPr id="34" name="Text 32"/>
          <p:cNvSpPr txBox="1"/>
          <p:nvPr/>
        </p:nvSpPr>
        <p:spPr>
          <a:xfrm>
            <a:off x="2108200" y="4656634"/>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goal isn’t recommendation volume. It’s better advertiser decisions.</a:t>
            </a:r>
            <a:endParaRPr lang="en-US" sz="1400" dirty="0"/>
          </a:p>
        </p:txBody>
      </p:sp>
      <p:pic>
        <p:nvPicPr>
          <p:cNvPr id="35"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6" name="Text 33"/>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7" name="Text 34"/>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10 / 18</a:t>
            </a:r>
            <a:endParaRPr lang="en-US" sz="650" dirty="0"/>
          </a:p>
        </p:txBody>
      </p:sp>
      <p:pic>
        <p:nvPicPr>
          <p:cNvPr id="38"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625600" cy="127000"/>
          </a:xfrm>
          <a:prstGeom prst="roundRect">
            <a:avLst>
              <a:gd name="adj" fmla="val 360000"/>
            </a:avLst>
          </a:prstGeom>
          <a:solidFill>
            <a:srgbClr val="D7EEF9"/>
          </a:solidFill>
          <a:ln/>
        </p:spPr>
      </p:sp>
      <p:sp>
        <p:nvSpPr>
          <p:cNvPr id="3" name="Shape 1"/>
          <p:cNvSpPr/>
          <p:nvPr/>
        </p:nvSpPr>
        <p:spPr>
          <a:xfrm>
            <a:off x="508000" y="2790825"/>
            <a:ext cx="5641181"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508000" y="3984228"/>
            <a:ext cx="1334095"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1943695" y="3984228"/>
            <a:ext cx="1334095"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3379391" y="3984228"/>
            <a:ext cx="1334095"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4815086" y="3984228"/>
            <a:ext cx="1334095"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6555581" y="2790825"/>
            <a:ext cx="5128419"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6555581" y="3296543"/>
            <a:ext cx="5128419" cy="0"/>
          </a:xfrm>
          <a:prstGeom prst="line">
            <a:avLst/>
          </a:prstGeom>
          <a:noFill/>
          <a:ln w="6350">
            <a:solidFill>
              <a:srgbClr val="E4E8EF"/>
            </a:solidFill>
            <a:prstDash val="solid"/>
          </a:ln>
        </p:spPr>
      </p:sp>
      <p:sp>
        <p:nvSpPr>
          <p:cNvPr id="10" name="Shape 8"/>
          <p:cNvSpPr/>
          <p:nvPr/>
        </p:nvSpPr>
        <p:spPr>
          <a:xfrm>
            <a:off x="6555581" y="3605411"/>
            <a:ext cx="5128419" cy="0"/>
          </a:xfrm>
          <a:prstGeom prst="line">
            <a:avLst/>
          </a:prstGeom>
          <a:noFill/>
          <a:ln w="6350">
            <a:solidFill>
              <a:srgbClr val="E4E8EF"/>
            </a:solidFill>
            <a:prstDash val="solid"/>
          </a:ln>
        </p:spPr>
      </p:sp>
      <p:sp>
        <p:nvSpPr>
          <p:cNvPr id="11" name="Shape 9"/>
          <p:cNvSpPr/>
          <p:nvPr/>
        </p:nvSpPr>
        <p:spPr>
          <a:xfrm>
            <a:off x="6555581" y="3914279"/>
            <a:ext cx="5128419" cy="0"/>
          </a:xfrm>
          <a:prstGeom prst="line">
            <a:avLst/>
          </a:prstGeom>
          <a:noFill/>
          <a:ln w="6350">
            <a:solidFill>
              <a:srgbClr val="E4E8EF"/>
            </a:solidFill>
            <a:prstDash val="solid"/>
          </a:ln>
        </p:spPr>
      </p:sp>
      <p:sp>
        <p:nvSpPr>
          <p:cNvPr id="12" name="Shape 10"/>
          <p:cNvSpPr/>
          <p:nvPr/>
        </p:nvSpPr>
        <p:spPr>
          <a:xfrm>
            <a:off x="6555581" y="4223147"/>
            <a:ext cx="5128419" cy="0"/>
          </a:xfrm>
          <a:prstGeom prst="line">
            <a:avLst/>
          </a:prstGeom>
          <a:noFill/>
          <a:ln w="6350">
            <a:solidFill>
              <a:srgbClr val="E4E8EF"/>
            </a:solidFill>
            <a:prstDash val="solid"/>
          </a:ln>
        </p:spPr>
      </p:sp>
      <p:sp>
        <p:nvSpPr>
          <p:cNvPr id="13" name="Shape 11"/>
          <p:cNvSpPr/>
          <p:nvPr/>
        </p:nvSpPr>
        <p:spPr>
          <a:xfrm>
            <a:off x="6555581" y="4532015"/>
            <a:ext cx="5128419" cy="0"/>
          </a:xfrm>
          <a:prstGeom prst="line">
            <a:avLst/>
          </a:prstGeom>
          <a:noFill/>
          <a:ln w="6350">
            <a:solidFill>
              <a:srgbClr val="E4E8EF"/>
            </a:solidFill>
            <a:prstDash val="solid"/>
          </a:ln>
        </p:spPr>
      </p:sp>
      <p:sp>
        <p:nvSpPr>
          <p:cNvPr id="14" name="Shape 12"/>
          <p:cNvSpPr/>
          <p:nvPr/>
        </p:nvSpPr>
        <p:spPr>
          <a:xfrm>
            <a:off x="508000" y="5069483"/>
            <a:ext cx="11176000" cy="0"/>
          </a:xfrm>
          <a:prstGeom prst="line">
            <a:avLst/>
          </a:prstGeom>
          <a:noFill/>
          <a:ln w="6350">
            <a:gradFill rotWithShape="1">
              <a:gsLst>
                <a:gs pos="0">
                  <a:srgbClr val="993EF4"/>
                </a:gs>
                <a:gs pos="100000">
                  <a:srgbClr val="00D0CD"/>
                </a:gs>
              </a:gsLst>
              <a:lin ang="0" scaled="0"/>
            </a:gradFill>
            <a:prstDash val="solid"/>
          </a:ln>
        </p:spPr>
      </p:sp>
      <p:sp>
        <p:nvSpPr>
          <p:cNvPr id="15" name="Shape 13"/>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6" name="Text 14"/>
          <p:cNvSpPr txBox="1"/>
          <p:nvPr/>
        </p:nvSpPr>
        <p:spPr>
          <a:xfrm>
            <a:off x="501650" y="971550"/>
            <a:ext cx="163830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SIMPLIFYING CAMPAIGN DECISIONS</a:t>
            </a:r>
            <a:endParaRPr lang="en-US" sz="500" dirty="0"/>
          </a:p>
        </p:txBody>
      </p:sp>
      <p:sp>
        <p:nvSpPr>
          <p:cNvPr id="17" name="Text 15"/>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We’re testing whether intent can replace some of the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complexity</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8" name="Text 16"/>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Goal-Based Buying is one approach we’re testing to determine whether starting with advertiser intent can simplify setup and improve campaign configuration.</a:t>
            </a:r>
            <a:endParaRPr lang="en-US" sz="900" dirty="0"/>
          </a:p>
        </p:txBody>
      </p:sp>
      <p:sp>
        <p:nvSpPr>
          <p:cNvPr id="19" name="Text 17"/>
          <p:cNvSpPr txBox="1"/>
          <p:nvPr/>
        </p:nvSpPr>
        <p:spPr>
          <a:xfrm>
            <a:off x="508000" y="2895600"/>
            <a:ext cx="6092476"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CORE QUESTION</a:t>
            </a:r>
            <a:endParaRPr lang="en-US" sz="550" dirty="0"/>
          </a:p>
        </p:txBody>
      </p:sp>
      <p:sp>
        <p:nvSpPr>
          <p:cNvPr id="20" name="Text 18"/>
          <p:cNvSpPr txBox="1"/>
          <p:nvPr/>
        </p:nvSpPr>
        <p:spPr>
          <a:xfrm>
            <a:off x="508000" y="3060700"/>
            <a:ext cx="6092476" cy="526653"/>
          </a:xfrm>
          <a:prstGeom prst="rect">
            <a:avLst/>
          </a:prstGeom>
          <a:noFill/>
          <a:ln/>
        </p:spPr>
        <p:txBody>
          <a:bodyPr wrap="square" lIns="0" tIns="0" rIns="0" bIns="0" rtlCol="0" anchor="t"/>
          <a:lstStyle/>
          <a:p>
            <a:pPr algn="l" indent="0" marL="0">
              <a:lnSpc>
                <a:spcPts val="2074"/>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Can we start with what an advertiser is trying to accomplish</a:t>
            </a:r>
            <a:endParaRPr lang="en-US" sz="1700" dirty="0"/>
          </a:p>
          <a:p>
            <a:pPr algn="l" indent="0" marL="0">
              <a:lnSpc>
                <a:spcPts val="2074"/>
              </a:lnSpc>
              <a:buNone/>
            </a:pPr>
            <a:r>
              <a:rPr lang="en-US" sz="1700" spc="-51" kern="0" dirty="0">
                <a:solidFill>
                  <a:srgbClr val="001E60"/>
                </a:solidFill>
                <a:latin typeface="Everyday Sans Headline Light" pitchFamily="34" charset="0"/>
                <a:ea typeface="Everyday Sans Headline Light" pitchFamily="34" charset="-122"/>
                <a:cs typeface="Everyday Sans Headline Light" pitchFamily="34" charset="-120"/>
              </a:rPr>
              <a:t>and simplify the decisions required to get there?</a:t>
            </a:r>
            <a:endParaRPr lang="en-US" sz="1700" dirty="0"/>
          </a:p>
        </p:txBody>
      </p:sp>
      <p:sp>
        <p:nvSpPr>
          <p:cNvPr id="21" name="Text 19"/>
          <p:cNvSpPr txBox="1"/>
          <p:nvPr/>
        </p:nvSpPr>
        <p:spPr>
          <a:xfrm>
            <a:off x="508000" y="3815953"/>
            <a:ext cx="6092476"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APPROACH</a:t>
            </a:r>
            <a:endParaRPr lang="en-US" sz="550" dirty="0"/>
          </a:p>
        </p:txBody>
      </p:sp>
      <p:sp>
        <p:nvSpPr>
          <p:cNvPr id="22" name="Text 20"/>
          <p:cNvSpPr txBox="1"/>
          <p:nvPr/>
        </p:nvSpPr>
        <p:spPr>
          <a:xfrm>
            <a:off x="1735931"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3" name="Text 21"/>
          <p:cNvSpPr txBox="1"/>
          <p:nvPr/>
        </p:nvSpPr>
        <p:spPr>
          <a:xfrm>
            <a:off x="508000" y="4076303"/>
            <a:ext cx="1299551" cy="190500"/>
          </a:xfrm>
          <a:prstGeom prst="rect">
            <a:avLst/>
          </a:prstGeom>
          <a:noFill/>
          <a:ln/>
        </p:spPr>
        <p:txBody>
          <a:bodyPr wrap="square" lIns="0" tIns="0" rIns="0" bIns="0" rtlCol="0" anchor="t"/>
          <a:lstStyle/>
          <a:p>
            <a:pPr algn="l" indent="0" marL="0">
              <a:lnSpc>
                <a:spcPts val="1440"/>
              </a:lnSpc>
              <a:buNone/>
            </a:pPr>
            <a:r>
              <a:rPr lang="en-US" sz="120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Learn</a:t>
            </a:r>
            <a:endParaRPr lang="en-US" sz="1200" dirty="0"/>
          </a:p>
        </p:txBody>
      </p:sp>
      <p:sp>
        <p:nvSpPr>
          <p:cNvPr id="24" name="Text 22"/>
          <p:cNvSpPr txBox="1"/>
          <p:nvPr/>
        </p:nvSpPr>
        <p:spPr>
          <a:xfrm>
            <a:off x="3171627"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5" name="Text 23"/>
          <p:cNvSpPr txBox="1"/>
          <p:nvPr/>
        </p:nvSpPr>
        <p:spPr>
          <a:xfrm>
            <a:off x="1943695" y="4076303"/>
            <a:ext cx="1299551" cy="190500"/>
          </a:xfrm>
          <a:prstGeom prst="rect">
            <a:avLst/>
          </a:prstGeom>
          <a:noFill/>
          <a:ln/>
        </p:spPr>
        <p:txBody>
          <a:bodyPr wrap="square" lIns="0" tIns="0" rIns="0" bIns="0" rtlCol="0" anchor="t"/>
          <a:lstStyle/>
          <a:p>
            <a:pPr algn="l" indent="0" marL="0">
              <a:lnSpc>
                <a:spcPts val="1440"/>
              </a:lnSpc>
              <a:buNone/>
            </a:pPr>
            <a:r>
              <a:rPr lang="en-US" sz="120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Validate</a:t>
            </a:r>
            <a:endParaRPr lang="en-US" sz="1200" dirty="0"/>
          </a:p>
        </p:txBody>
      </p:sp>
      <p:sp>
        <p:nvSpPr>
          <p:cNvPr id="26" name="Text 24"/>
          <p:cNvSpPr txBox="1"/>
          <p:nvPr/>
        </p:nvSpPr>
        <p:spPr>
          <a:xfrm>
            <a:off x="4607322" y="4031853"/>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7" name="Text 25"/>
          <p:cNvSpPr txBox="1"/>
          <p:nvPr/>
        </p:nvSpPr>
        <p:spPr>
          <a:xfrm>
            <a:off x="3379391" y="4076303"/>
            <a:ext cx="1299551" cy="190500"/>
          </a:xfrm>
          <a:prstGeom prst="rect">
            <a:avLst/>
          </a:prstGeom>
          <a:noFill/>
          <a:ln/>
        </p:spPr>
        <p:txBody>
          <a:bodyPr wrap="square" lIns="0" tIns="0" rIns="0" bIns="0" rtlCol="0" anchor="t"/>
          <a:lstStyle/>
          <a:p>
            <a:pPr algn="l" indent="0" marL="0">
              <a:lnSpc>
                <a:spcPts val="1440"/>
              </a:lnSpc>
              <a:buNone/>
            </a:pPr>
            <a:r>
              <a:rPr lang="en-US" sz="120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Refine</a:t>
            </a:r>
            <a:endParaRPr lang="en-US" sz="1200" dirty="0"/>
          </a:p>
        </p:txBody>
      </p:sp>
      <p:sp>
        <p:nvSpPr>
          <p:cNvPr id="28" name="Text 26"/>
          <p:cNvSpPr txBox="1"/>
          <p:nvPr/>
        </p:nvSpPr>
        <p:spPr>
          <a:xfrm>
            <a:off x="4815086" y="4076303"/>
            <a:ext cx="1299551" cy="190500"/>
          </a:xfrm>
          <a:prstGeom prst="rect">
            <a:avLst/>
          </a:prstGeom>
          <a:noFill/>
          <a:ln/>
        </p:spPr>
        <p:txBody>
          <a:bodyPr wrap="square" lIns="0" tIns="0" rIns="0" bIns="0" rtlCol="0" anchor="t"/>
          <a:lstStyle/>
          <a:p>
            <a:pPr algn="l" indent="0" marL="0">
              <a:lnSpc>
                <a:spcPts val="1440"/>
              </a:lnSpc>
              <a:buNone/>
            </a:pPr>
            <a:r>
              <a:rPr lang="en-US" sz="120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Scale</a:t>
            </a:r>
            <a:endParaRPr lang="en-US" sz="1200" dirty="0"/>
          </a:p>
        </p:txBody>
      </p:sp>
      <p:sp>
        <p:nvSpPr>
          <p:cNvPr id="29" name="Text 27"/>
          <p:cNvSpPr txBox="1"/>
          <p:nvPr/>
        </p:nvSpPr>
        <p:spPr>
          <a:xfrm>
            <a:off x="6555581" y="2895600"/>
            <a:ext cx="553869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WE WILL EVALUATE</a:t>
            </a:r>
            <a:endParaRPr lang="en-US" sz="550" dirty="0"/>
          </a:p>
        </p:txBody>
      </p:sp>
      <p:sp>
        <p:nvSpPr>
          <p:cNvPr id="30" name="Text 28"/>
          <p:cNvSpPr txBox="1"/>
          <p:nvPr/>
        </p:nvSpPr>
        <p:spPr>
          <a:xfrm>
            <a:off x="6555581" y="3060700"/>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advertisers understand the goals?</a:t>
            </a:r>
            <a:endParaRPr lang="en-US" sz="950" dirty="0"/>
          </a:p>
        </p:txBody>
      </p:sp>
      <p:sp>
        <p:nvSpPr>
          <p:cNvPr id="31" name="Text 29"/>
          <p:cNvSpPr txBox="1"/>
          <p:nvPr/>
        </p:nvSpPr>
        <p:spPr>
          <a:xfrm>
            <a:off x="6555581" y="3369568"/>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Does setup become easier?</a:t>
            </a:r>
            <a:endParaRPr lang="en-US" sz="950" dirty="0"/>
          </a:p>
        </p:txBody>
      </p:sp>
      <p:sp>
        <p:nvSpPr>
          <p:cNvPr id="32" name="Text 30"/>
          <p:cNvSpPr txBox="1"/>
          <p:nvPr/>
        </p:nvSpPr>
        <p:spPr>
          <a:xfrm>
            <a:off x="6555581" y="3678436"/>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campaigns launch with stronger configurations?</a:t>
            </a:r>
            <a:endParaRPr lang="en-US" sz="950" dirty="0"/>
          </a:p>
        </p:txBody>
      </p:sp>
      <p:sp>
        <p:nvSpPr>
          <p:cNvPr id="33" name="Text 31"/>
          <p:cNvSpPr txBox="1"/>
          <p:nvPr/>
        </p:nvSpPr>
        <p:spPr>
          <a:xfrm>
            <a:off x="6555581" y="3987304"/>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Does performance improve?</a:t>
            </a:r>
            <a:endParaRPr lang="en-US" sz="950" dirty="0"/>
          </a:p>
        </p:txBody>
      </p:sp>
      <p:sp>
        <p:nvSpPr>
          <p:cNvPr id="34" name="Text 32"/>
          <p:cNvSpPr txBox="1"/>
          <p:nvPr/>
        </p:nvSpPr>
        <p:spPr>
          <a:xfrm>
            <a:off x="6555581" y="4296172"/>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advertisers retain appropriate control?</a:t>
            </a:r>
            <a:endParaRPr lang="en-US" sz="950" dirty="0"/>
          </a:p>
        </p:txBody>
      </p:sp>
      <p:sp>
        <p:nvSpPr>
          <p:cNvPr id="35" name="Text 33"/>
          <p:cNvSpPr txBox="1"/>
          <p:nvPr/>
        </p:nvSpPr>
        <p:spPr>
          <a:xfrm>
            <a:off x="6555581" y="4605040"/>
            <a:ext cx="5538692" cy="162877"/>
          </a:xfrm>
          <a:prstGeom prst="rect">
            <a:avLst/>
          </a:prstGeom>
          <a:noFill/>
          <a:ln/>
        </p:spPr>
        <p:txBody>
          <a:bodyPr wrap="square" lIns="0" tIns="0" rIns="0" bIns="0" rtlCol="0" anchor="t"/>
          <a:lstStyle/>
          <a:p>
            <a:pPr algn="l" indent="0" marL="0">
              <a:lnSpc>
                <a:spcPts val="1283"/>
              </a:lnSpc>
              <a:buNone/>
            </a:pPr>
            <a:r>
              <a:rPr lang="en-US" sz="950" dirty="0">
                <a:solidFill>
                  <a:srgbClr val="001E60"/>
                </a:solidFill>
                <a:latin typeface="Everyday Sans UI" pitchFamily="34" charset="0"/>
                <a:ea typeface="Everyday Sans UI" pitchFamily="34" charset="-122"/>
                <a:cs typeface="Everyday Sans UI" pitchFamily="34" charset="-120"/>
              </a:rPr>
              <a:t>Do we see unintended behavior?</a:t>
            </a:r>
            <a:endParaRPr lang="en-US" sz="950" dirty="0"/>
          </a:p>
        </p:txBody>
      </p:sp>
      <p:sp>
        <p:nvSpPr>
          <p:cNvPr id="36" name="Text 34"/>
          <p:cNvSpPr txBox="1"/>
          <p:nvPr/>
        </p:nvSpPr>
        <p:spPr>
          <a:xfrm>
            <a:off x="508000" y="528855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STATUS</a:t>
            </a:r>
            <a:endParaRPr lang="en-US" sz="550" dirty="0"/>
          </a:p>
        </p:txBody>
      </p:sp>
      <p:sp>
        <p:nvSpPr>
          <p:cNvPr id="37" name="Text 35"/>
          <p:cNvSpPr txBox="1"/>
          <p:nvPr/>
        </p:nvSpPr>
        <p:spPr>
          <a:xfrm>
            <a:off x="2108200" y="517425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Goal-Based Buying is a hypothesis to test, not a predetermined answer to every campaign setup problem.</a:t>
            </a:r>
            <a:endParaRPr lang="en-US" sz="1400" dirty="0"/>
          </a:p>
        </p:txBody>
      </p:sp>
      <p:pic>
        <p:nvPicPr>
          <p:cNvPr id="38"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9" name="Text 36"/>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0" name="Text 37"/>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11 / 18</a:t>
            </a:r>
            <a:endParaRPr lang="en-US" sz="650" dirty="0"/>
          </a:p>
        </p:txBody>
      </p:sp>
      <p:pic>
        <p:nvPicPr>
          <p:cNvPr id="41"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477070" cy="127000"/>
          </a:xfrm>
          <a:prstGeom prst="roundRect">
            <a:avLst>
              <a:gd name="adj" fmla="val 360000"/>
            </a:avLst>
          </a:prstGeom>
          <a:solidFill>
            <a:srgbClr val="D7EEF9"/>
          </a:solidFill>
          <a:ln/>
        </p:spPr>
      </p:sp>
      <p:sp>
        <p:nvSpPr>
          <p:cNvPr id="3" name="Shape 1"/>
          <p:cNvSpPr/>
          <p:nvPr/>
        </p:nvSpPr>
        <p:spPr>
          <a:xfrm>
            <a:off x="1320800" y="3317577"/>
            <a:ext cx="1473200" cy="254000"/>
          </a:xfrm>
          <a:prstGeom prst="rect">
            <a:avLst/>
          </a:prstGeom>
          <a:solidFill>
            <a:srgbClr val="FFFFFF"/>
          </a:solidFill>
          <a:ln w="6350">
            <a:solidFill>
              <a:srgbClr val="E4E8EF"/>
            </a:solidFill>
            <a:prstDash val="solid"/>
          </a:ln>
        </p:spPr>
      </p:sp>
      <p:sp>
        <p:nvSpPr>
          <p:cNvPr id="4" name="Shape 2"/>
          <p:cNvSpPr/>
          <p:nvPr/>
        </p:nvSpPr>
        <p:spPr>
          <a:xfrm>
            <a:off x="2844800" y="3317577"/>
            <a:ext cx="1473200" cy="254000"/>
          </a:xfrm>
          <a:prstGeom prst="rect">
            <a:avLst/>
          </a:prstGeom>
          <a:solidFill>
            <a:srgbClr val="FFFFFF"/>
          </a:solidFill>
          <a:ln w="6350">
            <a:solidFill>
              <a:srgbClr val="E4E8EF"/>
            </a:solidFill>
            <a:prstDash val="solid"/>
          </a:ln>
        </p:spPr>
      </p:sp>
      <p:sp>
        <p:nvSpPr>
          <p:cNvPr id="5" name="Shape 3"/>
          <p:cNvSpPr/>
          <p:nvPr/>
        </p:nvSpPr>
        <p:spPr>
          <a:xfrm>
            <a:off x="4368800" y="3317577"/>
            <a:ext cx="1473200" cy="254000"/>
          </a:xfrm>
          <a:prstGeom prst="rect">
            <a:avLst/>
          </a:prstGeom>
          <a:solidFill>
            <a:srgbClr val="FFFFFF"/>
          </a:solidFill>
          <a:ln w="6350">
            <a:solidFill>
              <a:srgbClr val="E4E8EF"/>
            </a:solidFill>
            <a:prstDash val="solid"/>
          </a:ln>
        </p:spPr>
      </p:sp>
      <p:sp>
        <p:nvSpPr>
          <p:cNvPr id="6" name="Shape 4"/>
          <p:cNvSpPr/>
          <p:nvPr/>
        </p:nvSpPr>
        <p:spPr>
          <a:xfrm>
            <a:off x="1320800" y="3622377"/>
            <a:ext cx="1473200" cy="254000"/>
          </a:xfrm>
          <a:prstGeom prst="rect">
            <a:avLst/>
          </a:prstGeom>
          <a:solidFill>
            <a:srgbClr val="FFFFFF"/>
          </a:solidFill>
          <a:ln w="6350">
            <a:solidFill>
              <a:srgbClr val="E4E8EF"/>
            </a:solidFill>
            <a:prstDash val="solid"/>
          </a:ln>
        </p:spPr>
      </p:sp>
      <p:sp>
        <p:nvSpPr>
          <p:cNvPr id="7" name="Shape 5"/>
          <p:cNvSpPr/>
          <p:nvPr/>
        </p:nvSpPr>
        <p:spPr>
          <a:xfrm>
            <a:off x="2844800" y="3622377"/>
            <a:ext cx="1473200" cy="254000"/>
          </a:xfrm>
          <a:prstGeom prst="rect">
            <a:avLst/>
          </a:prstGeom>
          <a:solidFill>
            <a:srgbClr val="FFFFFF"/>
          </a:solidFill>
          <a:ln w="6350">
            <a:solidFill>
              <a:srgbClr val="E4E8EF"/>
            </a:solidFill>
            <a:prstDash val="solid"/>
          </a:ln>
        </p:spPr>
      </p:sp>
      <p:sp>
        <p:nvSpPr>
          <p:cNvPr id="8" name="Shape 6"/>
          <p:cNvSpPr/>
          <p:nvPr/>
        </p:nvSpPr>
        <p:spPr>
          <a:xfrm>
            <a:off x="4368800" y="3622377"/>
            <a:ext cx="1473200" cy="254000"/>
          </a:xfrm>
          <a:prstGeom prst="rect">
            <a:avLst/>
          </a:prstGeom>
          <a:solidFill>
            <a:srgbClr val="FFFFFF"/>
          </a:solidFill>
          <a:ln w="6350">
            <a:solidFill>
              <a:srgbClr val="E4E8EF"/>
            </a:solidFill>
            <a:prstDash val="solid"/>
          </a:ln>
        </p:spPr>
      </p:sp>
      <p:sp>
        <p:nvSpPr>
          <p:cNvPr id="9" name="Shape 7"/>
          <p:cNvSpPr/>
          <p:nvPr/>
        </p:nvSpPr>
        <p:spPr>
          <a:xfrm>
            <a:off x="508000" y="4019252"/>
            <a:ext cx="5334000" cy="0"/>
          </a:xfrm>
          <a:prstGeom prst="line">
            <a:avLst/>
          </a:prstGeom>
          <a:noFill/>
          <a:ln w="6350">
            <a:solidFill>
              <a:srgbClr val="E4E8EF"/>
            </a:solidFill>
            <a:prstDash val="solid"/>
          </a:ln>
        </p:spPr>
      </p:sp>
      <p:sp>
        <p:nvSpPr>
          <p:cNvPr id="10" name="Shape 8"/>
          <p:cNvSpPr/>
          <p:nvPr/>
        </p:nvSpPr>
        <p:spPr>
          <a:xfrm>
            <a:off x="6350000" y="3266777"/>
            <a:ext cx="5334000" cy="482600"/>
          </a:xfrm>
          <a:prstGeom prst="rect">
            <a:avLst/>
          </a:prstGeom>
          <a:solidFill>
            <a:srgbClr val="993EF4">
              <a:alpha val="6000"/>
            </a:srgbClr>
          </a:solidFill>
          <a:ln/>
        </p:spPr>
      </p:sp>
      <p:sp>
        <p:nvSpPr>
          <p:cNvPr id="11" name="Shape 9"/>
          <p:cNvSpPr/>
          <p:nvPr/>
        </p:nvSpPr>
        <p:spPr>
          <a:xfrm>
            <a:off x="6350000" y="3273127"/>
            <a:ext cx="5334000" cy="0"/>
          </a:xfrm>
          <a:prstGeom prst="line">
            <a:avLst/>
          </a:prstGeom>
          <a:noFill/>
          <a:ln w="12700">
            <a:gradFill rotWithShape="1">
              <a:gsLst>
                <a:gs pos="0">
                  <a:srgbClr val="993EF4"/>
                </a:gs>
                <a:gs pos="100000">
                  <a:srgbClr val="00D0CD"/>
                </a:gs>
              </a:gsLst>
              <a:lin ang="0" scaled="0"/>
            </a:gradFill>
            <a:prstDash val="solid"/>
          </a:ln>
        </p:spPr>
      </p:sp>
      <p:sp>
        <p:nvSpPr>
          <p:cNvPr id="12" name="Shape 10"/>
          <p:cNvSpPr/>
          <p:nvPr/>
        </p:nvSpPr>
        <p:spPr>
          <a:xfrm>
            <a:off x="6464300" y="3393777"/>
            <a:ext cx="621506" cy="241300"/>
          </a:xfrm>
          <a:prstGeom prst="rect">
            <a:avLst/>
          </a:prstGeom>
          <a:solidFill>
            <a:srgbClr val="FFFFFF"/>
          </a:solidFill>
          <a:ln w="6350">
            <a:solidFill>
              <a:srgbClr val="993EF4">
                <a:alpha val="35000"/>
              </a:srgbClr>
            </a:solidFill>
            <a:prstDash val="solid"/>
          </a:ln>
        </p:spPr>
      </p:sp>
      <p:sp>
        <p:nvSpPr>
          <p:cNvPr id="13" name="Shape 11"/>
          <p:cNvSpPr/>
          <p:nvPr/>
        </p:nvSpPr>
        <p:spPr>
          <a:xfrm>
            <a:off x="7136606" y="3393777"/>
            <a:ext cx="417016" cy="241300"/>
          </a:xfrm>
          <a:prstGeom prst="rect">
            <a:avLst/>
          </a:prstGeom>
          <a:solidFill>
            <a:srgbClr val="FFFFFF"/>
          </a:solidFill>
          <a:ln w="6350">
            <a:solidFill>
              <a:srgbClr val="993EF4">
                <a:alpha val="35000"/>
              </a:srgbClr>
            </a:solidFill>
            <a:prstDash val="solid"/>
          </a:ln>
        </p:spPr>
      </p:sp>
      <p:sp>
        <p:nvSpPr>
          <p:cNvPr id="14" name="Shape 12"/>
          <p:cNvSpPr/>
          <p:nvPr/>
        </p:nvSpPr>
        <p:spPr>
          <a:xfrm>
            <a:off x="7604423" y="3393777"/>
            <a:ext cx="403324" cy="241300"/>
          </a:xfrm>
          <a:prstGeom prst="rect">
            <a:avLst/>
          </a:prstGeom>
          <a:solidFill>
            <a:srgbClr val="FFFFFF"/>
          </a:solidFill>
          <a:ln w="6350">
            <a:solidFill>
              <a:srgbClr val="993EF4">
                <a:alpha val="35000"/>
              </a:srgbClr>
            </a:solidFill>
            <a:prstDash val="solid"/>
          </a:ln>
        </p:spPr>
      </p:sp>
      <p:sp>
        <p:nvSpPr>
          <p:cNvPr id="15" name="Shape 13"/>
          <p:cNvSpPr/>
          <p:nvPr/>
        </p:nvSpPr>
        <p:spPr>
          <a:xfrm>
            <a:off x="8058547" y="3393777"/>
            <a:ext cx="440730" cy="241300"/>
          </a:xfrm>
          <a:prstGeom prst="rect">
            <a:avLst/>
          </a:prstGeom>
          <a:solidFill>
            <a:srgbClr val="FFFFFF"/>
          </a:solidFill>
          <a:ln w="6350">
            <a:solidFill>
              <a:srgbClr val="993EF4">
                <a:alpha val="35000"/>
              </a:srgbClr>
            </a:solidFill>
            <a:prstDash val="solid"/>
          </a:ln>
        </p:spPr>
      </p:sp>
      <p:sp>
        <p:nvSpPr>
          <p:cNvPr id="16" name="Shape 14"/>
          <p:cNvSpPr/>
          <p:nvPr/>
        </p:nvSpPr>
        <p:spPr>
          <a:xfrm>
            <a:off x="8550077" y="3393777"/>
            <a:ext cx="431006" cy="241300"/>
          </a:xfrm>
          <a:prstGeom prst="rect">
            <a:avLst/>
          </a:prstGeom>
          <a:solidFill>
            <a:srgbClr val="FFFFFF"/>
          </a:solidFill>
          <a:ln w="6350">
            <a:solidFill>
              <a:srgbClr val="993EF4">
                <a:alpha val="35000"/>
              </a:srgbClr>
            </a:solidFill>
            <a:prstDash val="solid"/>
          </a:ln>
        </p:spPr>
      </p:sp>
      <p:sp>
        <p:nvSpPr>
          <p:cNvPr id="17" name="Shape 15"/>
          <p:cNvSpPr/>
          <p:nvPr/>
        </p:nvSpPr>
        <p:spPr>
          <a:xfrm>
            <a:off x="9031883" y="3393777"/>
            <a:ext cx="748705" cy="241300"/>
          </a:xfrm>
          <a:prstGeom prst="rect">
            <a:avLst/>
          </a:prstGeom>
          <a:solidFill>
            <a:srgbClr val="FFFFFF"/>
          </a:solidFill>
          <a:ln w="6350">
            <a:solidFill>
              <a:srgbClr val="993EF4">
                <a:alpha val="35000"/>
              </a:srgbClr>
            </a:solidFill>
            <a:prstDash val="solid"/>
          </a:ln>
        </p:spPr>
      </p:sp>
      <p:sp>
        <p:nvSpPr>
          <p:cNvPr id="18" name="Shape 16"/>
          <p:cNvSpPr/>
          <p:nvPr/>
        </p:nvSpPr>
        <p:spPr>
          <a:xfrm>
            <a:off x="9831388" y="3393777"/>
            <a:ext cx="717252" cy="241300"/>
          </a:xfrm>
          <a:prstGeom prst="rect">
            <a:avLst/>
          </a:prstGeom>
          <a:solidFill>
            <a:srgbClr val="FFFFFF"/>
          </a:solidFill>
          <a:ln w="6350">
            <a:solidFill>
              <a:srgbClr val="993EF4">
                <a:alpha val="35000"/>
              </a:srgbClr>
            </a:solidFill>
            <a:prstDash val="solid"/>
          </a:ln>
        </p:spPr>
      </p:sp>
      <p:sp>
        <p:nvSpPr>
          <p:cNvPr id="19" name="Shape 17"/>
          <p:cNvSpPr/>
          <p:nvPr/>
        </p:nvSpPr>
        <p:spPr>
          <a:xfrm>
            <a:off x="508000" y="4617343"/>
            <a:ext cx="11176000" cy="0"/>
          </a:xfrm>
          <a:prstGeom prst="line">
            <a:avLst/>
          </a:prstGeom>
          <a:noFill/>
          <a:ln w="6350">
            <a:gradFill rotWithShape="1">
              <a:gsLst>
                <a:gs pos="0">
                  <a:srgbClr val="993EF4"/>
                </a:gs>
                <a:gs pos="100000">
                  <a:srgbClr val="00D0CD"/>
                </a:gs>
              </a:gsLst>
              <a:lin ang="0" scaled="0"/>
            </a:gradFill>
            <a:prstDash val="solid"/>
          </a:ln>
        </p:spPr>
      </p:sp>
      <p:sp>
        <p:nvSpPr>
          <p:cNvPr id="20" name="Shape 1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21" name="Text 19"/>
          <p:cNvSpPr txBox="1"/>
          <p:nvPr/>
        </p:nvSpPr>
        <p:spPr>
          <a:xfrm>
            <a:off x="501650" y="971550"/>
            <a:ext cx="148977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CONSISTENCY ACROSS CHANNELS</a:t>
            </a:r>
            <a:endParaRPr lang="en-US" sz="500" dirty="0"/>
          </a:p>
        </p:txBody>
      </p:sp>
      <p:sp>
        <p:nvSpPr>
          <p:cNvPr id="22" name="Text 2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Sponsored &amp; Display shouldn’t feel like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different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companies built them.</a:t>
            </a:r>
            <a:endParaRPr lang="en-US" sz="2400" dirty="0"/>
          </a:p>
        </p:txBody>
      </p:sp>
      <p:sp>
        <p:nvSpPr>
          <p:cNvPr id="23" name="Text 2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Advertisers increasingly manage objectives and budgets across channels, but our workflows still expose differences created by product history and organizational boundaries.</a:t>
            </a:r>
            <a:endParaRPr lang="en-US" sz="900" dirty="0"/>
          </a:p>
        </p:txBody>
      </p:sp>
      <p:sp>
        <p:nvSpPr>
          <p:cNvPr id="24" name="Text 22"/>
          <p:cNvSpPr txBox="1"/>
          <p:nvPr/>
        </p:nvSpPr>
        <p:spPr>
          <a:xfrm>
            <a:off x="508000" y="3088977"/>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TODAY</a:t>
            </a:r>
            <a:endParaRPr lang="en-US" sz="550" dirty="0"/>
          </a:p>
        </p:txBody>
      </p:sp>
      <p:sp>
        <p:nvSpPr>
          <p:cNvPr id="25" name="Text 23"/>
          <p:cNvSpPr txBox="1"/>
          <p:nvPr/>
        </p:nvSpPr>
        <p:spPr>
          <a:xfrm>
            <a:off x="508000" y="3381077"/>
            <a:ext cx="91440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Sponsored</a:t>
            </a:r>
            <a:endParaRPr lang="en-US" sz="800" dirty="0"/>
          </a:p>
        </p:txBody>
      </p:sp>
      <p:sp>
        <p:nvSpPr>
          <p:cNvPr id="26" name="Text 24"/>
          <p:cNvSpPr txBox="1"/>
          <p:nvPr/>
        </p:nvSpPr>
        <p:spPr>
          <a:xfrm>
            <a:off x="1314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Workflow A</a:t>
            </a:r>
            <a:endParaRPr lang="en-US" sz="700" dirty="0"/>
          </a:p>
        </p:txBody>
      </p:sp>
      <p:sp>
        <p:nvSpPr>
          <p:cNvPr id="27" name="Text 25"/>
          <p:cNvSpPr txBox="1"/>
          <p:nvPr/>
        </p:nvSpPr>
        <p:spPr>
          <a:xfrm>
            <a:off x="2838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Terminology A</a:t>
            </a:r>
            <a:endParaRPr lang="en-US" sz="700" dirty="0"/>
          </a:p>
        </p:txBody>
      </p:sp>
      <p:sp>
        <p:nvSpPr>
          <p:cNvPr id="28" name="Text 26"/>
          <p:cNvSpPr txBox="1"/>
          <p:nvPr/>
        </p:nvSpPr>
        <p:spPr>
          <a:xfrm>
            <a:off x="4362450" y="33874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Interaction patterns A</a:t>
            </a:r>
            <a:endParaRPr lang="en-US" sz="700" dirty="0"/>
          </a:p>
        </p:txBody>
      </p:sp>
      <p:sp>
        <p:nvSpPr>
          <p:cNvPr id="29" name="Text 27"/>
          <p:cNvSpPr txBox="1"/>
          <p:nvPr/>
        </p:nvSpPr>
        <p:spPr>
          <a:xfrm>
            <a:off x="508000" y="3685877"/>
            <a:ext cx="914400" cy="127000"/>
          </a:xfrm>
          <a:prstGeom prst="rect">
            <a:avLst/>
          </a:prstGeom>
          <a:noFill/>
          <a:ln/>
        </p:spPr>
        <p:txBody>
          <a:bodyPr wrap="square" lIns="0" tIns="0" rIns="0" bIns="0" rtlCol="0" anchor="t"/>
          <a:lstStyle/>
          <a:p>
            <a:pPr algn="l" indent="0" marL="0">
              <a:lnSpc>
                <a:spcPts val="960"/>
              </a:lnSpc>
              <a:buNone/>
            </a:pPr>
            <a:r>
              <a:rPr lang="en-US" sz="800" dirty="0">
                <a:solidFill>
                  <a:srgbClr val="001E60"/>
                </a:solidFill>
                <a:latin typeface="Everyday Sans UI Medium" pitchFamily="34" charset="0"/>
                <a:ea typeface="Everyday Sans UI Medium" pitchFamily="34" charset="-122"/>
                <a:cs typeface="Everyday Sans UI Medium" pitchFamily="34" charset="-120"/>
              </a:rPr>
              <a:t>Display</a:t>
            </a:r>
            <a:endParaRPr lang="en-US" sz="800" dirty="0"/>
          </a:p>
        </p:txBody>
      </p:sp>
      <p:sp>
        <p:nvSpPr>
          <p:cNvPr id="30" name="Text 28"/>
          <p:cNvSpPr txBox="1"/>
          <p:nvPr/>
        </p:nvSpPr>
        <p:spPr>
          <a:xfrm>
            <a:off x="1314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Workflow B</a:t>
            </a:r>
            <a:endParaRPr lang="en-US" sz="700" dirty="0"/>
          </a:p>
        </p:txBody>
      </p:sp>
      <p:sp>
        <p:nvSpPr>
          <p:cNvPr id="31" name="Text 29"/>
          <p:cNvSpPr txBox="1"/>
          <p:nvPr/>
        </p:nvSpPr>
        <p:spPr>
          <a:xfrm>
            <a:off x="2838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Terminology B</a:t>
            </a:r>
            <a:endParaRPr lang="en-US" sz="700" dirty="0"/>
          </a:p>
        </p:txBody>
      </p:sp>
      <p:sp>
        <p:nvSpPr>
          <p:cNvPr id="32" name="Text 30"/>
          <p:cNvSpPr txBox="1"/>
          <p:nvPr/>
        </p:nvSpPr>
        <p:spPr>
          <a:xfrm>
            <a:off x="4362450" y="3692227"/>
            <a:ext cx="1485900" cy="114300"/>
          </a:xfrm>
          <a:prstGeom prst="rect">
            <a:avLst/>
          </a:prstGeom>
          <a:noFill/>
          <a:ln/>
        </p:spPr>
        <p:txBody>
          <a:bodyPr wrap="square" lIns="0" tIns="0" rIns="0" bIns="0" rtlCol="0" anchor="t"/>
          <a:lstStyle/>
          <a:p>
            <a:pPr algn="ctr" indent="0" marL="0">
              <a:lnSpc>
                <a:spcPts val="840"/>
              </a:lnSpc>
              <a:buNone/>
            </a:pPr>
            <a:r>
              <a:rPr lang="en-US" sz="700" dirty="0">
                <a:solidFill>
                  <a:srgbClr val="3D4A63"/>
                </a:solidFill>
                <a:latin typeface="Everyday Sans UI" pitchFamily="34" charset="0"/>
                <a:ea typeface="Everyday Sans UI" pitchFamily="34" charset="-122"/>
                <a:cs typeface="Everyday Sans UI" pitchFamily="34" charset="-120"/>
              </a:rPr>
              <a:t>Interaction patterns B</a:t>
            </a:r>
            <a:endParaRPr lang="en-US" sz="700" dirty="0"/>
          </a:p>
        </p:txBody>
      </p:sp>
      <p:sp>
        <p:nvSpPr>
          <p:cNvPr id="33" name="Text 31"/>
          <p:cNvSpPr txBox="1"/>
          <p:nvPr/>
        </p:nvSpPr>
        <p:spPr>
          <a:xfrm>
            <a:off x="508000" y="4219218"/>
            <a:ext cx="5760720" cy="166350"/>
          </a:xfrm>
          <a:prstGeom prst="rect">
            <a:avLst/>
          </a:prstGeom>
          <a:noFill/>
          <a:ln/>
        </p:spPr>
        <p:txBody>
          <a:bodyPr wrap="square" lIns="0" tIns="0" rIns="0" bIns="0" rtlCol="0" anchor="t"/>
          <a:lstStyle/>
          <a:p>
            <a:pPr algn="l" indent="0" marL="0">
              <a:lnSpc>
                <a:spcPts val="1190"/>
              </a:lnSpc>
              <a:buNone/>
            </a:pPr>
            <a:r>
              <a:rPr lang="en-US" sz="850" dirty="0">
                <a:solidFill>
                  <a:srgbClr val="001E60"/>
                </a:solidFill>
                <a:latin typeface="Everyday Sans UI" pitchFamily="34" charset="0"/>
                <a:ea typeface="Everyday Sans UI" pitchFamily="34" charset="-122"/>
                <a:cs typeface="Everyday Sans UI" pitchFamily="34" charset="-120"/>
              </a:rPr>
              <a:t>Advertiser strategy, budgets, teams and objectives increasingly overlap.</a:t>
            </a:r>
            <a:endParaRPr lang="en-US" sz="850" dirty="0"/>
          </a:p>
        </p:txBody>
      </p:sp>
      <p:sp>
        <p:nvSpPr>
          <p:cNvPr id="34" name="Text 32"/>
          <p:cNvSpPr txBox="1"/>
          <p:nvPr/>
        </p:nvSpPr>
        <p:spPr>
          <a:xfrm>
            <a:off x="508000" y="4098627"/>
            <a:ext cx="5760720" cy="97790"/>
          </a:xfrm>
          <a:prstGeom prst="rect">
            <a:avLst/>
          </a:prstGeom>
          <a:noFill/>
          <a:ln/>
        </p:spPr>
        <p:txBody>
          <a:bodyPr wrap="square" lIns="0" tIns="0" rIns="0" bIns="0" rtlCol="0" anchor="t"/>
          <a:lstStyle/>
          <a:p>
            <a:pPr algn="l" indent="0" marL="0">
              <a:lnSpc>
                <a:spcPts val="77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YET UPSTREAM</a:t>
            </a:r>
            <a:endParaRPr lang="en-US" sz="550" dirty="0"/>
          </a:p>
        </p:txBody>
      </p:sp>
      <p:sp>
        <p:nvSpPr>
          <p:cNvPr id="35" name="Text 33"/>
          <p:cNvSpPr txBox="1"/>
          <p:nvPr/>
        </p:nvSpPr>
        <p:spPr>
          <a:xfrm>
            <a:off x="6350000" y="3088977"/>
            <a:ext cx="576072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DIRECTION · SHARED PATTERNS</a:t>
            </a:r>
            <a:endParaRPr lang="en-US" sz="550" dirty="0"/>
          </a:p>
        </p:txBody>
      </p:sp>
      <p:sp>
        <p:nvSpPr>
          <p:cNvPr id="36" name="Text 34"/>
          <p:cNvSpPr txBox="1"/>
          <p:nvPr/>
        </p:nvSpPr>
        <p:spPr>
          <a:xfrm>
            <a:off x="6546850" y="3450927"/>
            <a:ext cx="60880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Navigation</a:t>
            </a:r>
            <a:endParaRPr lang="en-US" sz="800" dirty="0"/>
          </a:p>
        </p:txBody>
      </p:sp>
      <p:sp>
        <p:nvSpPr>
          <p:cNvPr id="37" name="Text 35"/>
          <p:cNvSpPr txBox="1"/>
          <p:nvPr/>
        </p:nvSpPr>
        <p:spPr>
          <a:xfrm>
            <a:off x="7219156" y="3450927"/>
            <a:ext cx="40431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Setup</a:t>
            </a:r>
            <a:endParaRPr lang="en-US" sz="800" dirty="0"/>
          </a:p>
        </p:txBody>
      </p:sp>
      <p:sp>
        <p:nvSpPr>
          <p:cNvPr id="38" name="Text 36"/>
          <p:cNvSpPr txBox="1"/>
          <p:nvPr/>
        </p:nvSpPr>
        <p:spPr>
          <a:xfrm>
            <a:off x="7686973" y="3450927"/>
            <a:ext cx="390624"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Goals</a:t>
            </a:r>
            <a:endParaRPr lang="en-US" sz="800" dirty="0"/>
          </a:p>
        </p:txBody>
      </p:sp>
      <p:sp>
        <p:nvSpPr>
          <p:cNvPr id="39" name="Text 37"/>
          <p:cNvSpPr txBox="1"/>
          <p:nvPr/>
        </p:nvSpPr>
        <p:spPr>
          <a:xfrm>
            <a:off x="8141097" y="3450927"/>
            <a:ext cx="428030"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Tables</a:t>
            </a:r>
            <a:endParaRPr lang="en-US" sz="800" dirty="0"/>
          </a:p>
        </p:txBody>
      </p:sp>
      <p:sp>
        <p:nvSpPr>
          <p:cNvPr id="40" name="Text 38"/>
          <p:cNvSpPr txBox="1"/>
          <p:nvPr/>
        </p:nvSpPr>
        <p:spPr>
          <a:xfrm>
            <a:off x="8632627" y="3450927"/>
            <a:ext cx="418306"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Filters</a:t>
            </a:r>
            <a:endParaRPr lang="en-US" sz="800" dirty="0"/>
          </a:p>
        </p:txBody>
      </p:sp>
      <p:sp>
        <p:nvSpPr>
          <p:cNvPr id="41" name="Text 39"/>
          <p:cNvSpPr txBox="1"/>
          <p:nvPr/>
        </p:nvSpPr>
        <p:spPr>
          <a:xfrm>
            <a:off x="9114433" y="3450927"/>
            <a:ext cx="736005"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Measurement</a:t>
            </a:r>
            <a:endParaRPr lang="en-US" sz="800" dirty="0"/>
          </a:p>
        </p:txBody>
      </p:sp>
      <p:sp>
        <p:nvSpPr>
          <p:cNvPr id="42" name="Text 40"/>
          <p:cNvSpPr txBox="1"/>
          <p:nvPr/>
        </p:nvSpPr>
        <p:spPr>
          <a:xfrm>
            <a:off x="9913938" y="3450927"/>
            <a:ext cx="704552" cy="127000"/>
          </a:xfrm>
          <a:prstGeom prst="rect">
            <a:avLst/>
          </a:prstGeom>
          <a:noFill/>
          <a:ln/>
        </p:spPr>
        <p:txBody>
          <a:bodyPr wrap="square" lIns="0" tIns="0" rIns="0" bIns="0" rtlCol="0" anchor="t"/>
          <a:lstStyle/>
          <a:p>
            <a:pPr algn="l" indent="0" marL="0">
              <a:lnSpc>
                <a:spcPts val="960"/>
              </a:lnSpc>
              <a:buNone/>
            </a:pPr>
            <a:r>
              <a:rPr lang="en-US" sz="800" dirty="0">
                <a:solidFill>
                  <a:srgbClr val="0053E2"/>
                </a:solidFill>
                <a:latin typeface="Everyday Sans UI Medium" pitchFamily="34" charset="0"/>
                <a:ea typeface="Everyday Sans UI Medium" pitchFamily="34" charset="-122"/>
                <a:cs typeface="Everyday Sans UI Medium" pitchFamily="34" charset="-120"/>
              </a:rPr>
              <a:t>Optimization</a:t>
            </a:r>
            <a:endParaRPr lang="en-US" sz="800" dirty="0"/>
          </a:p>
        </p:txBody>
      </p:sp>
      <p:sp>
        <p:nvSpPr>
          <p:cNvPr id="43" name="Text 41"/>
          <p:cNvSpPr txBox="1"/>
          <p:nvPr/>
        </p:nvSpPr>
        <p:spPr>
          <a:xfrm>
            <a:off x="6350000" y="3838277"/>
            <a:ext cx="5760720"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Retain channel-specific decisions only where those differences add genuine advertiser value.</a:t>
            </a:r>
            <a:endParaRPr lang="en-US" sz="750" dirty="0"/>
          </a:p>
        </p:txBody>
      </p:sp>
      <p:sp>
        <p:nvSpPr>
          <p:cNvPr id="44" name="Text 42"/>
          <p:cNvSpPr txBox="1"/>
          <p:nvPr/>
        </p:nvSpPr>
        <p:spPr>
          <a:xfrm>
            <a:off x="508000" y="4836418"/>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WHY IT MATTERS</a:t>
            </a:r>
            <a:endParaRPr lang="en-US" sz="550" dirty="0"/>
          </a:p>
        </p:txBody>
      </p:sp>
      <p:sp>
        <p:nvSpPr>
          <p:cNvPr id="45" name="Text 43"/>
          <p:cNvSpPr txBox="1"/>
          <p:nvPr/>
        </p:nvSpPr>
        <p:spPr>
          <a:xfrm>
            <a:off x="2108200" y="4722118"/>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Consistency reduces the cognitive cost of moving across Walmart Ads.</a:t>
            </a:r>
            <a:endParaRPr lang="en-US" sz="1400" dirty="0"/>
          </a:p>
        </p:txBody>
      </p:sp>
      <p:pic>
        <p:nvPicPr>
          <p:cNvPr id="4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47" name="Text 44"/>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8" name="Text 4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12 / 18</a:t>
            </a:r>
            <a:endParaRPr lang="en-US" sz="650" dirty="0"/>
          </a:p>
        </p:txBody>
      </p:sp>
      <p:pic>
        <p:nvPicPr>
          <p:cNvPr id="49"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2863850" cy="127000"/>
          </a:xfrm>
          <a:prstGeom prst="roundRect">
            <a:avLst>
              <a:gd name="adj" fmla="val 360000"/>
            </a:avLst>
          </a:prstGeom>
          <a:solidFill>
            <a:srgbClr val="D7EEF9"/>
          </a:solidFill>
          <a:ln/>
        </p:spPr>
      </p:sp>
      <p:sp>
        <p:nvSpPr>
          <p:cNvPr id="3" name="Shape 1"/>
          <p:cNvSpPr/>
          <p:nvPr/>
        </p:nvSpPr>
        <p:spPr>
          <a:xfrm>
            <a:off x="508000" y="3005534"/>
            <a:ext cx="11176000" cy="0"/>
          </a:xfrm>
          <a:prstGeom prst="line">
            <a:avLst/>
          </a:prstGeom>
          <a:noFill/>
          <a:ln w="6350">
            <a:solidFill>
              <a:srgbClr val="E4E8EF"/>
            </a:solidFill>
            <a:prstDash val="solid"/>
          </a:ln>
        </p:spPr>
      </p:sp>
      <p:sp>
        <p:nvSpPr>
          <p:cNvPr id="4" name="Shape 2"/>
          <p:cNvSpPr/>
          <p:nvPr/>
        </p:nvSpPr>
        <p:spPr>
          <a:xfrm>
            <a:off x="508000" y="3926880"/>
            <a:ext cx="1291729"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1901329" y="3926880"/>
            <a:ext cx="1291729"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3294658" y="3926880"/>
            <a:ext cx="1291828" cy="0"/>
          </a:xfrm>
          <a:prstGeom prst="line">
            <a:avLst/>
          </a:prstGeom>
          <a:noFill/>
          <a:ln w="6350">
            <a:gradFill rotWithShape="1">
              <a:gsLst>
                <a:gs pos="0">
                  <a:srgbClr val="993EF4"/>
                </a:gs>
                <a:gs pos="100000">
                  <a:srgbClr val="00D0CD"/>
                </a:gs>
              </a:gsLst>
              <a:lin ang="0" scaled="0"/>
            </a:gradFill>
            <a:prstDash val="solid"/>
          </a:ln>
        </p:spPr>
      </p:sp>
      <p:sp>
        <p:nvSpPr>
          <p:cNvPr id="7" name="Shape 5"/>
          <p:cNvSpPr/>
          <p:nvPr/>
        </p:nvSpPr>
        <p:spPr>
          <a:xfrm>
            <a:off x="4688086" y="3926880"/>
            <a:ext cx="1291729" cy="0"/>
          </a:xfrm>
          <a:prstGeom prst="line">
            <a:avLst/>
          </a:prstGeom>
          <a:noFill/>
          <a:ln w="6350">
            <a:gradFill rotWithShape="1">
              <a:gsLst>
                <a:gs pos="0">
                  <a:srgbClr val="993EF4"/>
                </a:gs>
                <a:gs pos="100000">
                  <a:srgbClr val="00D0CD"/>
                </a:gs>
              </a:gsLst>
              <a:lin ang="0" scaled="0"/>
            </a:gradFill>
            <a:prstDash val="solid"/>
          </a:ln>
        </p:spPr>
      </p:sp>
      <p:sp>
        <p:nvSpPr>
          <p:cNvPr id="8" name="Shape 6"/>
          <p:cNvSpPr/>
          <p:nvPr/>
        </p:nvSpPr>
        <p:spPr>
          <a:xfrm>
            <a:off x="6081415" y="3926880"/>
            <a:ext cx="1291828" cy="0"/>
          </a:xfrm>
          <a:prstGeom prst="line">
            <a:avLst/>
          </a:prstGeom>
          <a:noFill/>
          <a:ln w="6350">
            <a:gradFill rotWithShape="1">
              <a:gsLst>
                <a:gs pos="0">
                  <a:srgbClr val="993EF4"/>
                </a:gs>
                <a:gs pos="100000">
                  <a:srgbClr val="00D0CD"/>
                </a:gs>
              </a:gsLst>
              <a:lin ang="0" scaled="0"/>
            </a:gradFill>
            <a:prstDash val="solid"/>
          </a:ln>
        </p:spPr>
      </p:sp>
      <p:sp>
        <p:nvSpPr>
          <p:cNvPr id="9" name="Shape 7"/>
          <p:cNvSpPr/>
          <p:nvPr/>
        </p:nvSpPr>
        <p:spPr>
          <a:xfrm>
            <a:off x="7474843" y="3926880"/>
            <a:ext cx="1291729"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8868172" y="3926880"/>
            <a:ext cx="1291828" cy="0"/>
          </a:xfrm>
          <a:prstGeom prst="line">
            <a:avLst/>
          </a:prstGeom>
          <a:noFill/>
          <a:ln w="6350">
            <a:gradFill rotWithShape="1">
              <a:gsLst>
                <a:gs pos="0">
                  <a:srgbClr val="993EF4"/>
                </a:gs>
                <a:gs pos="100000">
                  <a:srgbClr val="00D0CD"/>
                </a:gs>
              </a:gsLst>
              <a:lin ang="0" scaled="0"/>
            </a:gradFill>
            <a:prstDash val="solid"/>
          </a:ln>
        </p:spPr>
      </p:sp>
      <p:sp>
        <p:nvSpPr>
          <p:cNvPr id="11" name="Shape 9"/>
          <p:cNvSpPr/>
          <p:nvPr/>
        </p:nvSpPr>
        <p:spPr>
          <a:xfrm>
            <a:off x="508000" y="4511080"/>
            <a:ext cx="5384800" cy="0"/>
          </a:xfrm>
          <a:prstGeom prst="line">
            <a:avLst/>
          </a:prstGeom>
          <a:noFill/>
          <a:ln w="6350">
            <a:solidFill>
              <a:srgbClr val="E4E8EF"/>
            </a:solidFill>
            <a:prstDash val="solid"/>
          </a:ln>
        </p:spPr>
      </p:sp>
      <p:sp>
        <p:nvSpPr>
          <p:cNvPr id="12" name="Shape 10"/>
          <p:cNvSpPr/>
          <p:nvPr/>
        </p:nvSpPr>
        <p:spPr>
          <a:xfrm>
            <a:off x="6299200" y="4511080"/>
            <a:ext cx="5384800" cy="0"/>
          </a:xfrm>
          <a:prstGeom prst="line">
            <a:avLst/>
          </a:prstGeom>
          <a:noFill/>
          <a:ln w="6350">
            <a:solidFill>
              <a:srgbClr val="E4E8EF"/>
            </a:solidFill>
            <a:prstDash val="solid"/>
          </a:ln>
        </p:spPr>
      </p:sp>
      <p:sp>
        <p:nvSpPr>
          <p:cNvPr id="13" name="Shape 11"/>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4" name="Text 12"/>
          <p:cNvSpPr txBox="1"/>
          <p:nvPr/>
        </p:nvSpPr>
        <p:spPr>
          <a:xfrm>
            <a:off x="468884" y="971550"/>
            <a:ext cx="2942082"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BETTER TARGETING STARTS WITH BETTER AUDIENCE EXPERIENCE</a:t>
            </a:r>
            <a:endParaRPr lang="en-US" sz="500" dirty="0"/>
          </a:p>
        </p:txBody>
      </p:sp>
      <p:sp>
        <p:nvSpPr>
          <p:cNvPr id="15" name="Text 13"/>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Audiences should be an asset advertisers understand &amp;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reuse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6" name="Text 14"/>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Audience creation, selection and management should help advertisers make confident targeting decisions across campaigns and channels.</a:t>
            </a:r>
            <a:endParaRPr lang="en-US" sz="900" dirty="0"/>
          </a:p>
        </p:txBody>
      </p:sp>
      <p:sp>
        <p:nvSpPr>
          <p:cNvPr id="17" name="Text 15"/>
          <p:cNvSpPr txBox="1"/>
          <p:nvPr/>
        </p:nvSpPr>
        <p:spPr>
          <a:xfrm>
            <a:off x="508000" y="3148409"/>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8" name="Text 16"/>
          <p:cNvSpPr txBox="1"/>
          <p:nvPr/>
        </p:nvSpPr>
        <p:spPr>
          <a:xfrm>
            <a:off x="2108200" y="3097609"/>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Audience selection and management can be fragmented from the actual campaign decisions advertisers are trying to make.</a:t>
            </a:r>
            <a:endParaRPr lang="en-US" sz="900" dirty="0"/>
          </a:p>
        </p:txBody>
      </p:sp>
      <p:sp>
        <p:nvSpPr>
          <p:cNvPr id="19" name="Text 17"/>
          <p:cNvSpPr txBox="1"/>
          <p:nvPr/>
        </p:nvSpPr>
        <p:spPr>
          <a:xfrm>
            <a:off x="508000" y="3491905"/>
            <a:ext cx="120700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FUTURE EXPERIENCE · ACROSS CHANNELS</a:t>
            </a:r>
            <a:endParaRPr lang="en-US" sz="550" dirty="0"/>
          </a:p>
        </p:txBody>
      </p:sp>
      <p:sp>
        <p:nvSpPr>
          <p:cNvPr id="20" name="Text 18"/>
          <p:cNvSpPr txBox="1"/>
          <p:nvPr/>
        </p:nvSpPr>
        <p:spPr>
          <a:xfrm>
            <a:off x="1693564"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1" name="Text 19"/>
          <p:cNvSpPr txBox="1"/>
          <p:nvPr/>
        </p:nvSpPr>
        <p:spPr>
          <a:xfrm>
            <a:off x="508000" y="4018955"/>
            <a:ext cx="1256423"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Discover</a:t>
            </a:r>
            <a:endParaRPr lang="en-US" sz="1300" dirty="0"/>
          </a:p>
        </p:txBody>
      </p:sp>
      <p:sp>
        <p:nvSpPr>
          <p:cNvPr id="22" name="Text 20"/>
          <p:cNvSpPr txBox="1"/>
          <p:nvPr/>
        </p:nvSpPr>
        <p:spPr>
          <a:xfrm>
            <a:off x="3086893"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3" name="Text 21"/>
          <p:cNvSpPr txBox="1"/>
          <p:nvPr/>
        </p:nvSpPr>
        <p:spPr>
          <a:xfrm>
            <a:off x="1901329" y="4018955"/>
            <a:ext cx="1256423"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Understand</a:t>
            </a:r>
            <a:endParaRPr lang="en-US" sz="1300" dirty="0"/>
          </a:p>
        </p:txBody>
      </p:sp>
      <p:sp>
        <p:nvSpPr>
          <p:cNvPr id="24" name="Text 22"/>
          <p:cNvSpPr txBox="1"/>
          <p:nvPr/>
        </p:nvSpPr>
        <p:spPr>
          <a:xfrm>
            <a:off x="4480323"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5" name="Text 23"/>
          <p:cNvSpPr txBox="1"/>
          <p:nvPr/>
        </p:nvSpPr>
        <p:spPr>
          <a:xfrm>
            <a:off x="3294658" y="4018955"/>
            <a:ext cx="1256522"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Create</a:t>
            </a:r>
            <a:endParaRPr lang="en-US" sz="1300" dirty="0"/>
          </a:p>
        </p:txBody>
      </p:sp>
      <p:sp>
        <p:nvSpPr>
          <p:cNvPr id="26" name="Text 24"/>
          <p:cNvSpPr txBox="1"/>
          <p:nvPr/>
        </p:nvSpPr>
        <p:spPr>
          <a:xfrm>
            <a:off x="5873650"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7" name="Text 25"/>
          <p:cNvSpPr txBox="1"/>
          <p:nvPr/>
        </p:nvSpPr>
        <p:spPr>
          <a:xfrm>
            <a:off x="4688086" y="4018955"/>
            <a:ext cx="1256423"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Save</a:t>
            </a:r>
            <a:endParaRPr lang="en-US" sz="1300" dirty="0"/>
          </a:p>
        </p:txBody>
      </p:sp>
      <p:sp>
        <p:nvSpPr>
          <p:cNvPr id="28" name="Text 26"/>
          <p:cNvSpPr txBox="1"/>
          <p:nvPr/>
        </p:nvSpPr>
        <p:spPr>
          <a:xfrm>
            <a:off x="7267080"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29" name="Text 27"/>
          <p:cNvSpPr txBox="1"/>
          <p:nvPr/>
        </p:nvSpPr>
        <p:spPr>
          <a:xfrm>
            <a:off x="6081415" y="4018955"/>
            <a:ext cx="1256522"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Activate</a:t>
            </a:r>
            <a:endParaRPr lang="en-US" sz="1300" dirty="0"/>
          </a:p>
        </p:txBody>
      </p:sp>
      <p:sp>
        <p:nvSpPr>
          <p:cNvPr id="30" name="Text 28"/>
          <p:cNvSpPr txBox="1"/>
          <p:nvPr/>
        </p:nvSpPr>
        <p:spPr>
          <a:xfrm>
            <a:off x="8660407" y="3974505"/>
            <a:ext cx="233164" cy="125730"/>
          </a:xfrm>
          <a:prstGeom prst="rect">
            <a:avLst/>
          </a:prstGeom>
          <a:noFill/>
          <a:ln/>
        </p:spPr>
        <p:txBody>
          <a:bodyPr wrap="square" lIns="0" tIns="0" rIns="0" bIns="0" rtlCol="0" anchor="t"/>
          <a:lstStyle/>
          <a:p>
            <a:pPr algn="l" indent="0" marL="0">
              <a:lnSpc>
                <a:spcPts val="990"/>
              </a:lnSpc>
              <a:buNone/>
            </a:pPr>
            <a:r>
              <a:rPr lang="en-US" sz="900" dirty="0">
                <a:solidFill>
                  <a:srgbClr val="0053E2"/>
                </a:solidFill>
                <a:latin typeface="Everyday Sans UI Medium" pitchFamily="34" charset="0"/>
                <a:ea typeface="Everyday Sans UI Medium" pitchFamily="34" charset="-122"/>
                <a:cs typeface="Everyday Sans UI Medium" pitchFamily="34" charset="-120"/>
              </a:rPr>
              <a:t>→</a:t>
            </a:r>
            <a:endParaRPr lang="en-US" sz="900" dirty="0"/>
          </a:p>
        </p:txBody>
      </p:sp>
      <p:sp>
        <p:nvSpPr>
          <p:cNvPr id="31" name="Text 29"/>
          <p:cNvSpPr txBox="1"/>
          <p:nvPr/>
        </p:nvSpPr>
        <p:spPr>
          <a:xfrm>
            <a:off x="7474843" y="4018955"/>
            <a:ext cx="1256423"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Measure</a:t>
            </a:r>
            <a:endParaRPr lang="en-US" sz="1300" dirty="0"/>
          </a:p>
        </p:txBody>
      </p:sp>
      <p:sp>
        <p:nvSpPr>
          <p:cNvPr id="32" name="Text 30"/>
          <p:cNvSpPr txBox="1"/>
          <p:nvPr/>
        </p:nvSpPr>
        <p:spPr>
          <a:xfrm>
            <a:off x="8868172" y="4018955"/>
            <a:ext cx="1256522" cy="209550"/>
          </a:xfrm>
          <a:prstGeom prst="rect">
            <a:avLst/>
          </a:prstGeom>
          <a:noFill/>
          <a:ln/>
        </p:spPr>
        <p:txBody>
          <a:bodyPr wrap="square" lIns="0" tIns="0" rIns="0" bIns="0" rtlCol="0" anchor="t"/>
          <a:lstStyle/>
          <a:p>
            <a:pPr algn="l" indent="0" marL="0">
              <a:lnSpc>
                <a:spcPts val="1560"/>
              </a:lnSpc>
              <a:buNone/>
            </a:pPr>
            <a:r>
              <a:rPr lang="en-US" sz="1300" spc="-39"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Reuse</a:t>
            </a:r>
            <a:endParaRPr lang="en-US" sz="1300" dirty="0"/>
          </a:p>
        </p:txBody>
      </p:sp>
      <p:sp>
        <p:nvSpPr>
          <p:cNvPr id="33" name="Text 31"/>
          <p:cNvSpPr txBox="1"/>
          <p:nvPr/>
        </p:nvSpPr>
        <p:spPr>
          <a:xfrm>
            <a:off x="508000" y="460315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WHAT BETTER AUDIENCE EXPERIENCE CAN IMPROVE</a:t>
            </a:r>
            <a:endParaRPr lang="en-US" sz="550" dirty="0"/>
          </a:p>
        </p:txBody>
      </p:sp>
      <p:sp>
        <p:nvSpPr>
          <p:cNvPr id="34" name="Text 32"/>
          <p:cNvSpPr txBox="1"/>
          <p:nvPr/>
        </p:nvSpPr>
        <p:spPr>
          <a:xfrm>
            <a:off x="508000" y="4742855"/>
            <a:ext cx="5815584" cy="331391"/>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Understanding audience size · Composition · Applicability · Expected reach · Reuse across workflows · Consistency</a:t>
            </a:r>
            <a:endParaRPr lang="en-US" sz="900" dirty="0"/>
          </a:p>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between the Audience Library and campaign setup</a:t>
            </a:r>
            <a:endParaRPr lang="en-US" sz="900" dirty="0"/>
          </a:p>
        </p:txBody>
      </p:sp>
      <p:sp>
        <p:nvSpPr>
          <p:cNvPr id="35" name="Text 33"/>
          <p:cNvSpPr txBox="1"/>
          <p:nvPr/>
        </p:nvSpPr>
        <p:spPr>
          <a:xfrm>
            <a:off x="6299200" y="4603155"/>
            <a:ext cx="5815584"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CONNECTION TO DISPLAY DIAGNOSIS</a:t>
            </a:r>
            <a:endParaRPr lang="en-US" sz="550" dirty="0"/>
          </a:p>
        </p:txBody>
      </p:sp>
      <p:sp>
        <p:nvSpPr>
          <p:cNvPr id="36" name="Text 34"/>
          <p:cNvSpPr txBox="1"/>
          <p:nvPr/>
        </p:nvSpPr>
        <p:spPr>
          <a:xfrm>
            <a:off x="6299200" y="4742855"/>
            <a:ext cx="5815584" cy="331391"/>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Better audience information also helps us distinguish poor campaign configuration from underlying delivery or</a:t>
            </a:r>
            <a:endParaRPr lang="en-US" sz="900" dirty="0"/>
          </a:p>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inventory constraints.</a:t>
            </a:r>
            <a:endParaRPr lang="en-US" sz="900" dirty="0"/>
          </a:p>
        </p:txBody>
      </p:sp>
      <p:pic>
        <p:nvPicPr>
          <p:cNvPr id="3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8" name="Text 35"/>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39" name="Text 3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13 / 18</a:t>
            </a:r>
            <a:endParaRPr lang="en-US" sz="650" dirty="0"/>
          </a:p>
        </p:txBody>
      </p:sp>
      <p:pic>
        <p:nvPicPr>
          <p:cNvPr id="40"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823740" cy="127000"/>
          </a:xfrm>
          <a:prstGeom prst="roundRect">
            <a:avLst>
              <a:gd name="adj" fmla="val 360000"/>
            </a:avLst>
          </a:prstGeom>
          <a:solidFill>
            <a:srgbClr val="D7EEF9"/>
          </a:solidFill>
          <a:ln/>
        </p:spPr>
      </p:sp>
      <p:sp>
        <p:nvSpPr>
          <p:cNvPr id="3" name="Shape 1"/>
          <p:cNvSpPr/>
          <p:nvPr/>
        </p:nvSpPr>
        <p:spPr>
          <a:xfrm>
            <a:off x="508000" y="2844800"/>
            <a:ext cx="11176000" cy="0"/>
          </a:xfrm>
          <a:prstGeom prst="line">
            <a:avLst/>
          </a:prstGeom>
          <a:noFill/>
          <a:ln w="6350">
            <a:solidFill>
              <a:srgbClr val="E4E8EF"/>
            </a:solidFill>
            <a:prstDash val="solid"/>
          </a:ln>
        </p:spPr>
      </p:sp>
      <p:sp>
        <p:nvSpPr>
          <p:cNvPr id="4" name="Shape 2"/>
          <p:cNvSpPr/>
          <p:nvPr/>
        </p:nvSpPr>
        <p:spPr>
          <a:xfrm>
            <a:off x="508000" y="3394670"/>
            <a:ext cx="11176000" cy="6350"/>
          </a:xfrm>
          <a:prstGeom prst="rect">
            <a:avLst/>
          </a:prstGeom>
          <a:solidFill>
            <a:srgbClr val="0053E2"/>
          </a:solidFill>
          <a:ln/>
        </p:spPr>
      </p:sp>
      <p:sp>
        <p:nvSpPr>
          <p:cNvPr id="5" name="Shape 3"/>
          <p:cNvSpPr/>
          <p:nvPr/>
        </p:nvSpPr>
        <p:spPr>
          <a:xfrm>
            <a:off x="508000" y="3356570"/>
            <a:ext cx="82550" cy="82550"/>
          </a:xfrm>
          <a:prstGeom prst="ellipse">
            <a:avLst/>
          </a:prstGeom>
          <a:solidFill>
            <a:srgbClr val="F5F6F8"/>
          </a:solidFill>
          <a:ln w="6350">
            <a:solidFill>
              <a:srgbClr val="0053E2"/>
            </a:solidFill>
            <a:prstDash val="solid"/>
          </a:ln>
        </p:spPr>
      </p:sp>
      <p:sp>
        <p:nvSpPr>
          <p:cNvPr id="6" name="Shape 4"/>
          <p:cNvSpPr/>
          <p:nvPr/>
        </p:nvSpPr>
        <p:spPr>
          <a:xfrm>
            <a:off x="2783780" y="3356570"/>
            <a:ext cx="82550" cy="82550"/>
          </a:xfrm>
          <a:prstGeom prst="ellipse">
            <a:avLst/>
          </a:prstGeom>
          <a:solidFill>
            <a:srgbClr val="F5F6F8"/>
          </a:solidFill>
          <a:ln w="6350">
            <a:solidFill>
              <a:srgbClr val="0053E2"/>
            </a:solidFill>
            <a:prstDash val="solid"/>
          </a:ln>
        </p:spPr>
      </p:sp>
      <p:sp>
        <p:nvSpPr>
          <p:cNvPr id="7" name="Shape 5"/>
          <p:cNvSpPr/>
          <p:nvPr/>
        </p:nvSpPr>
        <p:spPr>
          <a:xfrm>
            <a:off x="5059660" y="3356570"/>
            <a:ext cx="82550" cy="82550"/>
          </a:xfrm>
          <a:prstGeom prst="ellipse">
            <a:avLst/>
          </a:prstGeom>
          <a:solidFill>
            <a:srgbClr val="F5F6F8"/>
          </a:solidFill>
          <a:ln w="6350">
            <a:solidFill>
              <a:srgbClr val="0053E2"/>
            </a:solidFill>
            <a:prstDash val="solid"/>
          </a:ln>
        </p:spPr>
      </p:sp>
      <p:sp>
        <p:nvSpPr>
          <p:cNvPr id="8" name="Shape 6"/>
          <p:cNvSpPr/>
          <p:nvPr/>
        </p:nvSpPr>
        <p:spPr>
          <a:xfrm>
            <a:off x="7335441" y="3356570"/>
            <a:ext cx="82550" cy="82550"/>
          </a:xfrm>
          <a:prstGeom prst="ellipse">
            <a:avLst/>
          </a:prstGeom>
          <a:solidFill>
            <a:srgbClr val="F5F6F8"/>
          </a:solidFill>
          <a:ln w="6350">
            <a:solidFill>
              <a:srgbClr val="0053E2"/>
            </a:solidFill>
            <a:prstDash val="solid"/>
          </a:ln>
        </p:spPr>
      </p:sp>
      <p:sp>
        <p:nvSpPr>
          <p:cNvPr id="9" name="Shape 7"/>
          <p:cNvSpPr/>
          <p:nvPr/>
        </p:nvSpPr>
        <p:spPr>
          <a:xfrm>
            <a:off x="9611320" y="3356570"/>
            <a:ext cx="82550" cy="82550"/>
          </a:xfrm>
          <a:prstGeom prst="ellipse">
            <a:avLst/>
          </a:prstGeom>
          <a:solidFill>
            <a:srgbClr val="F5F6F8"/>
          </a:solidFill>
          <a:ln w="6350">
            <a:solidFill>
              <a:srgbClr val="0053E2"/>
            </a:solidFill>
            <a:prstDash val="solid"/>
          </a:ln>
        </p:spPr>
      </p:sp>
      <p:sp>
        <p:nvSpPr>
          <p:cNvPr id="10" name="Shape 8"/>
          <p:cNvSpPr/>
          <p:nvPr/>
        </p:nvSpPr>
        <p:spPr>
          <a:xfrm>
            <a:off x="508000" y="4359077"/>
            <a:ext cx="3556000" cy="0"/>
          </a:xfrm>
          <a:prstGeom prst="line">
            <a:avLst/>
          </a:prstGeom>
          <a:noFill/>
          <a:ln w="6350">
            <a:solidFill>
              <a:srgbClr val="E4E8EF"/>
            </a:solidFill>
            <a:prstDash val="solid"/>
          </a:ln>
        </p:spPr>
      </p:sp>
      <p:sp>
        <p:nvSpPr>
          <p:cNvPr id="11" name="Shape 9"/>
          <p:cNvSpPr/>
          <p:nvPr/>
        </p:nvSpPr>
        <p:spPr>
          <a:xfrm>
            <a:off x="4318000" y="4359077"/>
            <a:ext cx="3556000" cy="0"/>
          </a:xfrm>
          <a:prstGeom prst="line">
            <a:avLst/>
          </a:prstGeom>
          <a:noFill/>
          <a:ln w="6350">
            <a:solidFill>
              <a:srgbClr val="E4E8EF"/>
            </a:solidFill>
            <a:prstDash val="solid"/>
          </a:ln>
        </p:spPr>
      </p:sp>
      <p:sp>
        <p:nvSpPr>
          <p:cNvPr id="12" name="Shape 10"/>
          <p:cNvSpPr/>
          <p:nvPr/>
        </p:nvSpPr>
        <p:spPr>
          <a:xfrm>
            <a:off x="8128000" y="4359077"/>
            <a:ext cx="3556000" cy="0"/>
          </a:xfrm>
          <a:prstGeom prst="line">
            <a:avLst/>
          </a:prstGeom>
          <a:noFill/>
          <a:ln w="6350">
            <a:solidFill>
              <a:srgbClr val="E4E8EF"/>
            </a:solidFill>
            <a:prstDash val="solid"/>
          </a:ln>
        </p:spPr>
      </p:sp>
      <p:sp>
        <p:nvSpPr>
          <p:cNvPr id="13" name="Shape 11"/>
          <p:cNvSpPr/>
          <p:nvPr/>
        </p:nvSpPr>
        <p:spPr>
          <a:xfrm>
            <a:off x="508000" y="4988322"/>
            <a:ext cx="11176000" cy="0"/>
          </a:xfrm>
          <a:prstGeom prst="line">
            <a:avLst/>
          </a:prstGeom>
          <a:noFill/>
          <a:ln w="6350">
            <a:gradFill rotWithShape="1">
              <a:gsLst>
                <a:gs pos="0">
                  <a:srgbClr val="993EF4"/>
                </a:gs>
                <a:gs pos="100000">
                  <a:srgbClr val="00D0CD"/>
                </a:gs>
              </a:gsLst>
              <a:lin ang="0" scaled="0"/>
            </a:gradFill>
            <a:prstDash val="solid"/>
          </a:ln>
        </p:spPr>
      </p:sp>
      <p:sp>
        <p:nvSpPr>
          <p:cNvPr id="14" name="Shape 12"/>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5" name="Text 13"/>
          <p:cNvSpPr txBox="1"/>
          <p:nvPr/>
        </p:nvSpPr>
        <p:spPr>
          <a:xfrm>
            <a:off x="501650" y="971550"/>
            <a:ext cx="183644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FROM REPORTING TO DECISION SUPPORT</a:t>
            </a:r>
            <a:endParaRPr lang="en-US" sz="500" dirty="0"/>
          </a:p>
        </p:txBody>
      </p:sp>
      <p:sp>
        <p:nvSpPr>
          <p:cNvPr id="16" name="Text 14"/>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Measurement should help advertisers decide what to do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next</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7" name="Text 15"/>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We’re moving from distributed reporting destinations toward a clearer experience organized around the questions advertisers are trying to answer.</a:t>
            </a:r>
            <a:endParaRPr lang="en-US" sz="900" dirty="0"/>
          </a:p>
        </p:txBody>
      </p:sp>
      <p:sp>
        <p:nvSpPr>
          <p:cNvPr id="18" name="Text 16"/>
          <p:cNvSpPr txBox="1"/>
          <p:nvPr/>
        </p:nvSpPr>
        <p:spPr>
          <a:xfrm>
            <a:off x="508000" y="2987675"/>
            <a:ext cx="1549400" cy="101283"/>
          </a:xfrm>
          <a:prstGeom prst="rect">
            <a:avLst/>
          </a:prstGeom>
          <a:noFill/>
          <a:ln/>
        </p:spPr>
        <p:txBody>
          <a:bodyPr wrap="square" lIns="0" tIns="0" rIns="0" bIns="0" rtlCol="0" anchor="t"/>
          <a:lstStyle/>
          <a:p>
            <a:pPr algn="l" indent="0" marL="0">
              <a:lnSpc>
                <a:spcPts val="798"/>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TODAY</a:t>
            </a:r>
            <a:endParaRPr lang="en-US" sz="550" dirty="0"/>
          </a:p>
        </p:txBody>
      </p:sp>
      <p:sp>
        <p:nvSpPr>
          <p:cNvPr id="19" name="Text 17"/>
          <p:cNvSpPr txBox="1"/>
          <p:nvPr/>
        </p:nvSpPr>
        <p:spPr>
          <a:xfrm>
            <a:off x="2108200" y="2936875"/>
            <a:ext cx="10341864"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Campaign reports · Channel reports · Measurement tools · Performance views · Optimization signals · Different destinations and interaction patterns</a:t>
            </a:r>
            <a:endParaRPr lang="en-US" sz="900" dirty="0"/>
          </a:p>
        </p:txBody>
      </p:sp>
      <p:sp>
        <p:nvSpPr>
          <p:cNvPr id="20" name="Text 18"/>
          <p:cNvSpPr txBox="1"/>
          <p:nvPr/>
        </p:nvSpPr>
        <p:spPr>
          <a:xfrm>
            <a:off x="50800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UNDERSTAND</a:t>
            </a:r>
            <a:endParaRPr lang="en-US" sz="600" dirty="0"/>
          </a:p>
        </p:txBody>
      </p:sp>
      <p:sp>
        <p:nvSpPr>
          <p:cNvPr id="21" name="Text 19"/>
          <p:cNvSpPr txBox="1"/>
          <p:nvPr/>
        </p:nvSpPr>
        <p:spPr>
          <a:xfrm>
            <a:off x="508000" y="3680420"/>
            <a:ext cx="2238387"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How am I performing?</a:t>
            </a:r>
            <a:endParaRPr lang="en-US" sz="1300" dirty="0"/>
          </a:p>
        </p:txBody>
      </p:sp>
      <p:sp>
        <p:nvSpPr>
          <p:cNvPr id="22" name="Text 20"/>
          <p:cNvSpPr txBox="1"/>
          <p:nvPr/>
        </p:nvSpPr>
        <p:spPr>
          <a:xfrm>
            <a:off x="2783780" y="3534370"/>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DIAGNOSE</a:t>
            </a:r>
            <a:endParaRPr lang="en-US" sz="600" dirty="0"/>
          </a:p>
        </p:txBody>
      </p:sp>
      <p:sp>
        <p:nvSpPr>
          <p:cNvPr id="23" name="Text 21"/>
          <p:cNvSpPr txBox="1"/>
          <p:nvPr/>
        </p:nvSpPr>
        <p:spPr>
          <a:xfrm>
            <a:off x="2783780" y="3680420"/>
            <a:ext cx="2238494"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What’s driving the result?</a:t>
            </a:r>
            <a:endParaRPr lang="en-US" sz="1300" dirty="0"/>
          </a:p>
        </p:txBody>
      </p:sp>
      <p:sp>
        <p:nvSpPr>
          <p:cNvPr id="24" name="Text 22"/>
          <p:cNvSpPr txBox="1"/>
          <p:nvPr/>
        </p:nvSpPr>
        <p:spPr>
          <a:xfrm>
            <a:off x="505966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COMPARE</a:t>
            </a:r>
            <a:endParaRPr lang="en-US" sz="600" dirty="0"/>
          </a:p>
        </p:txBody>
      </p:sp>
      <p:sp>
        <p:nvSpPr>
          <p:cNvPr id="25" name="Text 23"/>
          <p:cNvSpPr txBox="1"/>
          <p:nvPr/>
        </p:nvSpPr>
        <p:spPr>
          <a:xfrm>
            <a:off x="5059660" y="3680420"/>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How are campaigns and</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channels performing?</a:t>
            </a:r>
            <a:endParaRPr lang="en-US" sz="1300" dirty="0"/>
          </a:p>
        </p:txBody>
      </p:sp>
      <p:sp>
        <p:nvSpPr>
          <p:cNvPr id="26" name="Text 24"/>
          <p:cNvSpPr txBox="1"/>
          <p:nvPr/>
        </p:nvSpPr>
        <p:spPr>
          <a:xfrm>
            <a:off x="7335441" y="3534370"/>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OPTIMIZE</a:t>
            </a:r>
            <a:endParaRPr lang="en-US" sz="600" dirty="0"/>
          </a:p>
        </p:txBody>
      </p:sp>
      <p:sp>
        <p:nvSpPr>
          <p:cNvPr id="27" name="Text 25"/>
          <p:cNvSpPr txBox="1"/>
          <p:nvPr/>
        </p:nvSpPr>
        <p:spPr>
          <a:xfrm>
            <a:off x="7335441" y="3680420"/>
            <a:ext cx="2238494"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Where should I act?</a:t>
            </a:r>
            <a:endParaRPr lang="en-US" sz="1300" dirty="0"/>
          </a:p>
        </p:txBody>
      </p:sp>
      <p:sp>
        <p:nvSpPr>
          <p:cNvPr id="28" name="Text 26"/>
          <p:cNvSpPr txBox="1"/>
          <p:nvPr/>
        </p:nvSpPr>
        <p:spPr>
          <a:xfrm>
            <a:off x="9611320" y="3534370"/>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VALIDATE</a:t>
            </a:r>
            <a:endParaRPr lang="en-US" sz="600" dirty="0"/>
          </a:p>
        </p:txBody>
      </p:sp>
      <p:sp>
        <p:nvSpPr>
          <p:cNvPr id="29" name="Text 27"/>
          <p:cNvSpPr txBox="1"/>
          <p:nvPr/>
        </p:nvSpPr>
        <p:spPr>
          <a:xfrm>
            <a:off x="9611320" y="3680420"/>
            <a:ext cx="2238387" cy="198120"/>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Did the change work?</a:t>
            </a:r>
            <a:endParaRPr lang="en-US" sz="1300" dirty="0"/>
          </a:p>
        </p:txBody>
      </p:sp>
      <p:sp>
        <p:nvSpPr>
          <p:cNvPr id="30" name="Text 28"/>
          <p:cNvSpPr txBox="1"/>
          <p:nvPr/>
        </p:nvSpPr>
        <p:spPr>
          <a:xfrm>
            <a:off x="50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SPONSORED ONLY</a:t>
            </a:r>
            <a:endParaRPr lang="en-US" sz="550" dirty="0"/>
          </a:p>
        </p:txBody>
      </p:sp>
      <p:sp>
        <p:nvSpPr>
          <p:cNvPr id="31" name="Text 29"/>
          <p:cNvSpPr txBox="1"/>
          <p:nvPr/>
        </p:nvSpPr>
        <p:spPr>
          <a:xfrm>
            <a:off x="50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Surface Sponsored activity.</a:t>
            </a:r>
            <a:endParaRPr lang="en-US" sz="900" dirty="0"/>
          </a:p>
        </p:txBody>
      </p:sp>
      <p:sp>
        <p:nvSpPr>
          <p:cNvPr id="32" name="Text 30"/>
          <p:cNvSpPr txBox="1"/>
          <p:nvPr/>
        </p:nvSpPr>
        <p:spPr>
          <a:xfrm>
            <a:off x="431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DISPLAY ONLY</a:t>
            </a:r>
            <a:endParaRPr lang="en-US" sz="550" dirty="0"/>
          </a:p>
        </p:txBody>
      </p:sp>
      <p:sp>
        <p:nvSpPr>
          <p:cNvPr id="33" name="Text 31"/>
          <p:cNvSpPr txBox="1"/>
          <p:nvPr/>
        </p:nvSpPr>
        <p:spPr>
          <a:xfrm>
            <a:off x="431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Surface Display activity.</a:t>
            </a:r>
            <a:endParaRPr lang="en-US" sz="900" dirty="0"/>
          </a:p>
        </p:txBody>
      </p:sp>
      <p:sp>
        <p:nvSpPr>
          <p:cNvPr id="34" name="Text 32"/>
          <p:cNvSpPr txBox="1"/>
          <p:nvPr/>
        </p:nvSpPr>
        <p:spPr>
          <a:xfrm>
            <a:off x="8128000" y="4451152"/>
            <a:ext cx="3840480"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MULTI-CHANNEL</a:t>
            </a:r>
            <a:endParaRPr lang="en-US" sz="550" dirty="0"/>
          </a:p>
        </p:txBody>
      </p:sp>
      <p:sp>
        <p:nvSpPr>
          <p:cNvPr id="35" name="Text 33"/>
          <p:cNvSpPr txBox="1"/>
          <p:nvPr/>
        </p:nvSpPr>
        <p:spPr>
          <a:xfrm>
            <a:off x="8128000" y="4590852"/>
            <a:ext cx="3840480" cy="165735"/>
          </a:xfrm>
          <a:prstGeom prst="rect">
            <a:avLst/>
          </a:prstGeom>
          <a:noFill/>
          <a:ln/>
        </p:spPr>
        <p:txBody>
          <a:bodyPr wrap="square" lIns="0" tIns="0" rIns="0" bIns="0" rtlCol="0" anchor="t"/>
          <a:lstStyle/>
          <a:p>
            <a:pPr algn="l" indent="0" marL="0">
              <a:lnSpc>
                <a:spcPts val="1305"/>
              </a:lnSpc>
              <a:buNone/>
            </a:pPr>
            <a:r>
              <a:rPr lang="en-US" sz="900" dirty="0">
                <a:solidFill>
                  <a:srgbClr val="001E60"/>
                </a:solidFill>
                <a:latin typeface="Everyday Sans UI" pitchFamily="34" charset="0"/>
                <a:ea typeface="Everyday Sans UI" pitchFamily="34" charset="-122"/>
                <a:cs typeface="Everyday Sans UI" pitchFamily="34" charset="-120"/>
              </a:rPr>
              <a:t>Make it possible to understand the portfolio.</a:t>
            </a:r>
            <a:endParaRPr lang="en-US" sz="900" dirty="0"/>
          </a:p>
        </p:txBody>
      </p:sp>
      <p:sp>
        <p:nvSpPr>
          <p:cNvPr id="36" name="Text 34"/>
          <p:cNvSpPr txBox="1"/>
          <p:nvPr/>
        </p:nvSpPr>
        <p:spPr>
          <a:xfrm>
            <a:off x="508000" y="5207397"/>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STANDARD</a:t>
            </a:r>
            <a:endParaRPr lang="en-US" sz="550" dirty="0"/>
          </a:p>
        </p:txBody>
      </p:sp>
      <p:sp>
        <p:nvSpPr>
          <p:cNvPr id="37" name="Text 35"/>
          <p:cNvSpPr txBox="1"/>
          <p:nvPr/>
        </p:nvSpPr>
        <p:spPr>
          <a:xfrm>
            <a:off x="2108200" y="5093097"/>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The advertiser shouldn’t have to navigate our taxonomy to get an answer.</a:t>
            </a:r>
            <a:endParaRPr lang="en-US" sz="1400" dirty="0"/>
          </a:p>
        </p:txBody>
      </p:sp>
      <p:pic>
        <p:nvPicPr>
          <p:cNvPr id="38"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9" name="Text 36"/>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0" name="Text 37"/>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14 / 18</a:t>
            </a:r>
            <a:endParaRPr lang="en-US" sz="650" dirty="0"/>
          </a:p>
        </p:txBody>
      </p:sp>
      <p:pic>
        <p:nvPicPr>
          <p:cNvPr id="41"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278930" cy="127000"/>
          </a:xfrm>
          <a:prstGeom prst="roundRect">
            <a:avLst>
              <a:gd name="adj" fmla="val 360000"/>
            </a:avLst>
          </a:prstGeom>
          <a:solidFill>
            <a:srgbClr val="D7EEF9"/>
          </a:solidFill>
          <a:ln/>
        </p:spPr>
      </p:sp>
      <p:sp>
        <p:nvSpPr>
          <p:cNvPr id="3" name="Shape 1"/>
          <p:cNvSpPr/>
          <p:nvPr/>
        </p:nvSpPr>
        <p:spPr>
          <a:xfrm>
            <a:off x="508000" y="2918023"/>
            <a:ext cx="4487267" cy="0"/>
          </a:xfrm>
          <a:prstGeom prst="line">
            <a:avLst/>
          </a:prstGeom>
          <a:noFill/>
          <a:ln w="12700">
            <a:solidFill>
              <a:srgbClr val="C3C6CD"/>
            </a:solidFill>
            <a:prstDash val="solid"/>
          </a:ln>
        </p:spPr>
      </p:sp>
      <p:sp>
        <p:nvSpPr>
          <p:cNvPr id="4" name="Shape 2"/>
          <p:cNvSpPr/>
          <p:nvPr/>
        </p:nvSpPr>
        <p:spPr>
          <a:xfrm>
            <a:off x="5401667" y="2918023"/>
            <a:ext cx="6282234" cy="0"/>
          </a:xfrm>
          <a:prstGeom prst="line">
            <a:avLst/>
          </a:prstGeom>
          <a:noFill/>
          <a:ln w="12700">
            <a:gradFill rotWithShape="1">
              <a:gsLst>
                <a:gs pos="0">
                  <a:srgbClr val="993EF4"/>
                </a:gs>
                <a:gs pos="100000">
                  <a:srgbClr val="00D0CD"/>
                </a:gs>
              </a:gsLst>
              <a:lin ang="0" scaled="0"/>
            </a:gradFill>
            <a:prstDash val="solid"/>
          </a:ln>
        </p:spPr>
      </p:sp>
      <p:sp>
        <p:nvSpPr>
          <p:cNvPr id="5" name="Shape 3"/>
          <p:cNvSpPr/>
          <p:nvPr/>
        </p:nvSpPr>
        <p:spPr>
          <a:xfrm>
            <a:off x="2159397" y="4448373"/>
            <a:ext cx="972641" cy="203200"/>
          </a:xfrm>
          <a:prstGeom prst="rect">
            <a:avLst/>
          </a:prstGeom>
          <a:ln w="6350">
            <a:solidFill>
              <a:srgbClr val="E4E8EF"/>
            </a:solidFill>
            <a:prstDash val="solid"/>
          </a:ln>
        </p:spPr>
      </p:sp>
      <p:sp>
        <p:nvSpPr>
          <p:cNvPr id="6" name="Shape 4"/>
          <p:cNvSpPr/>
          <p:nvPr/>
        </p:nvSpPr>
        <p:spPr>
          <a:xfrm>
            <a:off x="3195538" y="4448373"/>
            <a:ext cx="925116" cy="203200"/>
          </a:xfrm>
          <a:prstGeom prst="rect">
            <a:avLst/>
          </a:prstGeom>
          <a:ln w="6350">
            <a:solidFill>
              <a:srgbClr val="E4E8EF"/>
            </a:solidFill>
            <a:prstDash val="solid"/>
          </a:ln>
        </p:spPr>
      </p:sp>
      <p:sp>
        <p:nvSpPr>
          <p:cNvPr id="7" name="Shape 5"/>
          <p:cNvSpPr/>
          <p:nvPr/>
        </p:nvSpPr>
        <p:spPr>
          <a:xfrm>
            <a:off x="4184154" y="4448373"/>
            <a:ext cx="1162645" cy="203200"/>
          </a:xfrm>
          <a:prstGeom prst="rect">
            <a:avLst/>
          </a:prstGeom>
          <a:ln w="6350">
            <a:solidFill>
              <a:srgbClr val="E4E8EF"/>
            </a:solidFill>
            <a:prstDash val="solid"/>
          </a:ln>
        </p:spPr>
      </p:sp>
      <p:sp>
        <p:nvSpPr>
          <p:cNvPr id="8" name="Shape 6"/>
          <p:cNvSpPr/>
          <p:nvPr/>
        </p:nvSpPr>
        <p:spPr>
          <a:xfrm>
            <a:off x="5410299" y="4448373"/>
            <a:ext cx="925116" cy="203200"/>
          </a:xfrm>
          <a:prstGeom prst="rect">
            <a:avLst/>
          </a:prstGeom>
          <a:ln w="6350">
            <a:solidFill>
              <a:srgbClr val="E4E8EF"/>
            </a:solidFill>
            <a:prstDash val="solid"/>
          </a:ln>
        </p:spPr>
      </p:sp>
      <p:sp>
        <p:nvSpPr>
          <p:cNvPr id="9" name="Shape 7"/>
          <p:cNvSpPr/>
          <p:nvPr/>
        </p:nvSpPr>
        <p:spPr>
          <a:xfrm>
            <a:off x="6398915" y="4448373"/>
            <a:ext cx="1447602" cy="203200"/>
          </a:xfrm>
          <a:prstGeom prst="rect">
            <a:avLst/>
          </a:prstGeom>
          <a:ln w="6350">
            <a:solidFill>
              <a:srgbClr val="E4E8EF"/>
            </a:solidFill>
            <a:prstDash val="solid"/>
          </a:ln>
        </p:spPr>
      </p:sp>
      <p:sp>
        <p:nvSpPr>
          <p:cNvPr id="10" name="Shape 8"/>
          <p:cNvSpPr/>
          <p:nvPr/>
        </p:nvSpPr>
        <p:spPr>
          <a:xfrm>
            <a:off x="508000" y="4883348"/>
            <a:ext cx="11176000" cy="0"/>
          </a:xfrm>
          <a:prstGeom prst="line">
            <a:avLst/>
          </a:prstGeom>
          <a:noFill/>
          <a:ln w="6350">
            <a:gradFill rotWithShape="1">
              <a:gsLst>
                <a:gs pos="0">
                  <a:srgbClr val="993EF4"/>
                </a:gs>
                <a:gs pos="100000">
                  <a:srgbClr val="00D0CD"/>
                </a:gs>
              </a:gsLst>
              <a:lin ang="0" scaled="0"/>
            </a:gradFill>
            <a:prstDash val="solid"/>
          </a:ln>
        </p:spPr>
      </p:sp>
      <p:sp>
        <p:nvSpPr>
          <p:cNvPr id="11" name="Shape 9"/>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2" name="Text 10"/>
          <p:cNvSpPr txBox="1"/>
          <p:nvPr/>
        </p:nvSpPr>
        <p:spPr>
          <a:xfrm>
            <a:off x="501650" y="971550"/>
            <a:ext cx="129163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CLOSE THE LEARNING LOOP</a:t>
            </a:r>
            <a:endParaRPr lang="en-US" sz="500" dirty="0"/>
          </a:p>
        </p:txBody>
      </p:sp>
      <p:sp>
        <p:nvSpPr>
          <p:cNvPr id="13" name="Text 11"/>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Campaign experiments turn performance questions into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evidence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4" name="Text 12"/>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Controlled experimentation gives advertisers and Product teams a better way to understand what actually changed an outcome.</a:t>
            </a:r>
            <a:endParaRPr lang="en-US" sz="900" dirty="0"/>
          </a:p>
        </p:txBody>
      </p:sp>
      <p:sp>
        <p:nvSpPr>
          <p:cNvPr id="15" name="Text 13"/>
          <p:cNvSpPr txBox="1"/>
          <p:nvPr/>
        </p:nvSpPr>
        <p:spPr>
          <a:xfrm>
            <a:off x="508000" y="3025973"/>
            <a:ext cx="4846249"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3D4A63"/>
                </a:solidFill>
                <a:latin typeface="Everyday Sans Mono" pitchFamily="34" charset="0"/>
                <a:ea typeface="Everyday Sans Mono" pitchFamily="34" charset="-122"/>
                <a:cs typeface="Everyday Sans Mono" pitchFamily="34" charset="-120"/>
              </a:rPr>
              <a:t>INSTEAD OF</a:t>
            </a:r>
            <a:endParaRPr lang="en-US" sz="550" dirty="0"/>
          </a:p>
        </p:txBody>
      </p:sp>
      <p:sp>
        <p:nvSpPr>
          <p:cNvPr id="16" name="Text 14"/>
          <p:cNvSpPr txBox="1"/>
          <p:nvPr/>
        </p:nvSpPr>
        <p:spPr>
          <a:xfrm>
            <a:off x="508000" y="3191073"/>
            <a:ext cx="4846249" cy="285750"/>
          </a:xfrm>
          <a:prstGeom prst="rect">
            <a:avLst/>
          </a:prstGeom>
          <a:noFill/>
          <a:ln/>
        </p:spPr>
        <p:txBody>
          <a:bodyPr wrap="square" lIns="0" tIns="0" rIns="0" bIns="0" rtlCol="0" anchor="t"/>
          <a:lstStyle/>
          <a:p>
            <a:pPr algn="l" indent="0" marL="0">
              <a:lnSpc>
                <a:spcPts val="2250"/>
              </a:lnSpc>
              <a:buNone/>
            </a:pPr>
            <a:r>
              <a:rPr lang="en-US" sz="1800" i="1" spc="-36" kern="0" dirty="0">
                <a:solidFill>
                  <a:srgbClr val="3D4A63"/>
                </a:solidFill>
                <a:latin typeface="Everyday Sans Light" pitchFamily="34" charset="0"/>
                <a:ea typeface="Everyday Sans Light" pitchFamily="34" charset="-122"/>
                <a:cs typeface="Everyday Sans Light" pitchFamily="34" charset="-120"/>
              </a:rPr>
              <a:t>“Display isn’t performing.”</a:t>
            </a:r>
            <a:endParaRPr lang="en-US" sz="1800" dirty="0"/>
          </a:p>
        </p:txBody>
      </p:sp>
      <p:sp>
        <p:nvSpPr>
          <p:cNvPr id="17" name="Text 15"/>
          <p:cNvSpPr txBox="1"/>
          <p:nvPr/>
        </p:nvSpPr>
        <p:spPr>
          <a:xfrm>
            <a:off x="5401667" y="3025973"/>
            <a:ext cx="6784812"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WE CAN TEST</a:t>
            </a:r>
            <a:endParaRPr lang="en-US" sz="550" dirty="0"/>
          </a:p>
        </p:txBody>
      </p:sp>
      <p:sp>
        <p:nvSpPr>
          <p:cNvPr id="18" name="Text 16"/>
          <p:cNvSpPr txBox="1"/>
          <p:nvPr/>
        </p:nvSpPr>
        <p:spPr>
          <a:xfrm>
            <a:off x="5401667" y="3191073"/>
            <a:ext cx="995180"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Audience A</a:t>
            </a:r>
            <a:endParaRPr lang="en-US" sz="1300" dirty="0"/>
          </a:p>
        </p:txBody>
      </p:sp>
      <p:sp>
        <p:nvSpPr>
          <p:cNvPr id="19" name="Text 17"/>
          <p:cNvSpPr txBox="1"/>
          <p:nvPr/>
        </p:nvSpPr>
        <p:spPr>
          <a:xfrm>
            <a:off x="6406753" y="327997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0" name="Text 18"/>
          <p:cNvSpPr txBox="1"/>
          <p:nvPr/>
        </p:nvSpPr>
        <p:spPr>
          <a:xfrm>
            <a:off x="6728321" y="3191073"/>
            <a:ext cx="990219"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Audience B</a:t>
            </a:r>
            <a:endParaRPr lang="en-US" sz="1300" dirty="0"/>
          </a:p>
        </p:txBody>
      </p:sp>
      <p:sp>
        <p:nvSpPr>
          <p:cNvPr id="21" name="Text 19"/>
          <p:cNvSpPr txBox="1"/>
          <p:nvPr/>
        </p:nvSpPr>
        <p:spPr>
          <a:xfrm>
            <a:off x="5401667" y="3464123"/>
            <a:ext cx="995180"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Creative A</a:t>
            </a:r>
            <a:endParaRPr lang="en-US" sz="1300" dirty="0"/>
          </a:p>
        </p:txBody>
      </p:sp>
      <p:sp>
        <p:nvSpPr>
          <p:cNvPr id="22" name="Text 20"/>
          <p:cNvSpPr txBox="1"/>
          <p:nvPr/>
        </p:nvSpPr>
        <p:spPr>
          <a:xfrm>
            <a:off x="6406753" y="355302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3" name="Text 21"/>
          <p:cNvSpPr txBox="1"/>
          <p:nvPr/>
        </p:nvSpPr>
        <p:spPr>
          <a:xfrm>
            <a:off x="6728321" y="3464123"/>
            <a:ext cx="990219"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Creative B</a:t>
            </a:r>
            <a:endParaRPr lang="en-US" sz="1300" dirty="0"/>
          </a:p>
        </p:txBody>
      </p:sp>
      <p:sp>
        <p:nvSpPr>
          <p:cNvPr id="24" name="Text 22"/>
          <p:cNvSpPr txBox="1"/>
          <p:nvPr/>
        </p:nvSpPr>
        <p:spPr>
          <a:xfrm>
            <a:off x="5401667" y="3737173"/>
            <a:ext cx="995180"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Setup A</a:t>
            </a:r>
            <a:endParaRPr lang="en-US" sz="1300" dirty="0"/>
          </a:p>
        </p:txBody>
      </p:sp>
      <p:sp>
        <p:nvSpPr>
          <p:cNvPr id="25" name="Text 23"/>
          <p:cNvSpPr txBox="1"/>
          <p:nvPr/>
        </p:nvSpPr>
        <p:spPr>
          <a:xfrm>
            <a:off x="6406753" y="382607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6" name="Text 24"/>
          <p:cNvSpPr txBox="1"/>
          <p:nvPr/>
        </p:nvSpPr>
        <p:spPr>
          <a:xfrm>
            <a:off x="6728321" y="3737173"/>
            <a:ext cx="990219"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Setup B</a:t>
            </a:r>
            <a:endParaRPr lang="en-US" sz="1300" dirty="0"/>
          </a:p>
        </p:txBody>
      </p:sp>
      <p:sp>
        <p:nvSpPr>
          <p:cNvPr id="27" name="Text 25"/>
          <p:cNvSpPr txBox="1"/>
          <p:nvPr/>
        </p:nvSpPr>
        <p:spPr>
          <a:xfrm>
            <a:off x="5401667" y="4010223"/>
            <a:ext cx="995180"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Strategy A</a:t>
            </a:r>
            <a:endParaRPr lang="en-US" sz="1300" dirty="0"/>
          </a:p>
        </p:txBody>
      </p:sp>
      <p:sp>
        <p:nvSpPr>
          <p:cNvPr id="28" name="Text 26"/>
          <p:cNvSpPr txBox="1"/>
          <p:nvPr/>
        </p:nvSpPr>
        <p:spPr>
          <a:xfrm>
            <a:off x="6406753" y="4099123"/>
            <a:ext cx="321568"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3D4A63"/>
                </a:solidFill>
                <a:latin typeface="Everyday Sans Mono" pitchFamily="34" charset="0"/>
                <a:ea typeface="Everyday Sans Mono" pitchFamily="34" charset="-122"/>
                <a:cs typeface="Everyday Sans Mono" pitchFamily="34" charset="-120"/>
              </a:rPr>
              <a:t>VS.</a:t>
            </a:r>
            <a:endParaRPr lang="en-US" sz="600" dirty="0"/>
          </a:p>
        </p:txBody>
      </p:sp>
      <p:sp>
        <p:nvSpPr>
          <p:cNvPr id="29" name="Text 27"/>
          <p:cNvSpPr txBox="1"/>
          <p:nvPr/>
        </p:nvSpPr>
        <p:spPr>
          <a:xfrm>
            <a:off x="6728321" y="4010223"/>
            <a:ext cx="990219" cy="209550"/>
          </a:xfrm>
          <a:prstGeom prst="rect">
            <a:avLst/>
          </a:prstGeom>
          <a:noFill/>
          <a:ln/>
        </p:spPr>
        <p:txBody>
          <a:bodyPr wrap="square" lIns="0" tIns="0" rIns="0" bIns="0" rtlCol="0" anchor="t"/>
          <a:lstStyle/>
          <a:p>
            <a:pPr algn="l" indent="0" marL="0">
              <a:lnSpc>
                <a:spcPts val="1560"/>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Strategy B</a:t>
            </a:r>
            <a:endParaRPr lang="en-US" sz="1300" dirty="0"/>
          </a:p>
        </p:txBody>
      </p:sp>
      <p:sp>
        <p:nvSpPr>
          <p:cNvPr id="30" name="Text 28"/>
          <p:cNvSpPr txBox="1"/>
          <p:nvPr/>
        </p:nvSpPr>
        <p:spPr>
          <a:xfrm>
            <a:off x="508000" y="4505523"/>
            <a:ext cx="1651397" cy="88900"/>
          </a:xfrm>
          <a:prstGeom prst="rect">
            <a:avLst/>
          </a:prstGeom>
          <a:noFill/>
          <a:ln/>
        </p:spPr>
        <p:txBody>
          <a:bodyPr wrap="square" lIns="0" tIns="0" rIns="0" bIns="0" rtlCol="0" anchor="t"/>
          <a:lstStyle/>
          <a:p>
            <a:pPr algn="l" indent="0" marL="0">
              <a:lnSpc>
                <a:spcPts val="660"/>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EXPERIMENTS CAN HELP SEPARATE</a:t>
            </a:r>
            <a:endParaRPr lang="en-US" sz="550" dirty="0"/>
          </a:p>
        </p:txBody>
      </p:sp>
      <p:sp>
        <p:nvSpPr>
          <p:cNvPr id="31" name="Text 29"/>
          <p:cNvSpPr txBox="1"/>
          <p:nvPr/>
        </p:nvSpPr>
        <p:spPr>
          <a:xfrm>
            <a:off x="2241947" y="4505523"/>
            <a:ext cx="959941"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TARGETING EFFECTS</a:t>
            </a:r>
            <a:endParaRPr lang="en-US" sz="550" dirty="0"/>
          </a:p>
        </p:txBody>
      </p:sp>
      <p:sp>
        <p:nvSpPr>
          <p:cNvPr id="32" name="Text 30"/>
          <p:cNvSpPr txBox="1"/>
          <p:nvPr/>
        </p:nvSpPr>
        <p:spPr>
          <a:xfrm>
            <a:off x="3278088" y="4505523"/>
            <a:ext cx="91241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CREATIVE EFFECTS</a:t>
            </a:r>
            <a:endParaRPr lang="en-US" sz="550" dirty="0"/>
          </a:p>
        </p:txBody>
      </p:sp>
      <p:sp>
        <p:nvSpPr>
          <p:cNvPr id="33" name="Text 31"/>
          <p:cNvSpPr txBox="1"/>
          <p:nvPr/>
        </p:nvSpPr>
        <p:spPr>
          <a:xfrm>
            <a:off x="4266704" y="4505523"/>
            <a:ext cx="1149945"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CONFIGURATION EFFECTS</a:t>
            </a:r>
            <a:endParaRPr lang="en-US" sz="550" dirty="0"/>
          </a:p>
        </p:txBody>
      </p:sp>
      <p:sp>
        <p:nvSpPr>
          <p:cNvPr id="34" name="Text 32"/>
          <p:cNvSpPr txBox="1"/>
          <p:nvPr/>
        </p:nvSpPr>
        <p:spPr>
          <a:xfrm>
            <a:off x="5492849" y="4505523"/>
            <a:ext cx="912416"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STRATEGY EFFECTS</a:t>
            </a:r>
            <a:endParaRPr lang="en-US" sz="550" dirty="0"/>
          </a:p>
        </p:txBody>
      </p:sp>
      <p:sp>
        <p:nvSpPr>
          <p:cNvPr id="35" name="Text 33"/>
          <p:cNvSpPr txBox="1"/>
          <p:nvPr/>
        </p:nvSpPr>
        <p:spPr>
          <a:xfrm>
            <a:off x="6481465" y="4505523"/>
            <a:ext cx="1434902" cy="88900"/>
          </a:xfrm>
          <a:prstGeom prst="rect">
            <a:avLst/>
          </a:prstGeom>
          <a:noFill/>
          <a:ln/>
        </p:spPr>
        <p:txBody>
          <a:bodyPr wrap="square" lIns="0" tIns="0" rIns="0" bIns="0" rtlCol="0" anchor="t"/>
          <a:lstStyle/>
          <a:p>
            <a:pPr algn="l" indent="0" marL="0">
              <a:lnSpc>
                <a:spcPts val="660"/>
              </a:lnSpc>
              <a:buNone/>
            </a:pPr>
            <a:r>
              <a:rPr lang="en-US" sz="550" spc="44" kern="0" dirty="0">
                <a:solidFill>
                  <a:srgbClr val="001E60"/>
                </a:solidFill>
                <a:latin typeface="Everyday Sans Mono" pitchFamily="34" charset="0"/>
                <a:ea typeface="Everyday Sans Mono" pitchFamily="34" charset="-122"/>
                <a:cs typeface="Everyday Sans Mono" pitchFamily="34" charset="-120"/>
              </a:rPr>
              <a:t>OTHER PERFORMANCE VARIABLES</a:t>
            </a:r>
            <a:endParaRPr lang="en-US" sz="550" dirty="0"/>
          </a:p>
        </p:txBody>
      </p:sp>
      <p:sp>
        <p:nvSpPr>
          <p:cNvPr id="36" name="Text 34"/>
          <p:cNvSpPr txBox="1"/>
          <p:nvPr/>
        </p:nvSpPr>
        <p:spPr>
          <a:xfrm>
            <a:off x="508000" y="5102423"/>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THEN ASK</a:t>
            </a:r>
            <a:endParaRPr lang="en-US" sz="550" dirty="0"/>
          </a:p>
        </p:txBody>
      </p:sp>
      <p:sp>
        <p:nvSpPr>
          <p:cNvPr id="37" name="Text 35"/>
          <p:cNvSpPr txBox="1"/>
          <p:nvPr/>
        </p:nvSpPr>
        <p:spPr>
          <a:xfrm>
            <a:off x="2108200" y="4988123"/>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What actually changed the outcome?</a:t>
            </a:r>
            <a:endParaRPr lang="en-US" sz="1400" dirty="0"/>
          </a:p>
        </p:txBody>
      </p:sp>
      <p:pic>
        <p:nvPicPr>
          <p:cNvPr id="38"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39" name="Text 36"/>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40" name="Text 37"/>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15 / 18</a:t>
            </a:r>
            <a:endParaRPr lang="en-US" sz="650" dirty="0"/>
          </a:p>
        </p:txBody>
      </p:sp>
      <p:pic>
        <p:nvPicPr>
          <p:cNvPr id="41"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922859" cy="127000"/>
          </a:xfrm>
          <a:prstGeom prst="roundRect">
            <a:avLst>
              <a:gd name="adj" fmla="val 360000"/>
            </a:avLst>
          </a:prstGeom>
          <a:solidFill>
            <a:srgbClr val="D7EEF9"/>
          </a:solidFill>
          <a:ln/>
        </p:spPr>
      </p:sp>
      <p:sp>
        <p:nvSpPr>
          <p:cNvPr id="3" name="Shape 1"/>
          <p:cNvSpPr/>
          <p:nvPr/>
        </p:nvSpPr>
        <p:spPr>
          <a:xfrm>
            <a:off x="508000" y="2567583"/>
            <a:ext cx="3911699" cy="0"/>
          </a:xfrm>
          <a:prstGeom prst="line">
            <a:avLst/>
          </a:prstGeom>
          <a:noFill/>
          <a:ln w="6350">
            <a:solidFill>
              <a:srgbClr val="E4E8EF"/>
            </a:solidFill>
            <a:prstDash val="solid"/>
          </a:ln>
        </p:spPr>
      </p:sp>
      <p:sp>
        <p:nvSpPr>
          <p:cNvPr id="4" name="Shape 2"/>
          <p:cNvSpPr/>
          <p:nvPr/>
        </p:nvSpPr>
        <p:spPr>
          <a:xfrm>
            <a:off x="4419699" y="2567583"/>
            <a:ext cx="1452860" cy="0"/>
          </a:xfrm>
          <a:prstGeom prst="line">
            <a:avLst/>
          </a:prstGeom>
          <a:noFill/>
          <a:ln w="6350">
            <a:solidFill>
              <a:srgbClr val="E4E8EF"/>
            </a:solidFill>
            <a:prstDash val="solid"/>
          </a:ln>
        </p:spPr>
      </p:sp>
      <p:sp>
        <p:nvSpPr>
          <p:cNvPr id="5" name="Shape 3"/>
          <p:cNvSpPr/>
          <p:nvPr/>
        </p:nvSpPr>
        <p:spPr>
          <a:xfrm>
            <a:off x="5872559" y="2567583"/>
            <a:ext cx="1452860" cy="0"/>
          </a:xfrm>
          <a:prstGeom prst="line">
            <a:avLst/>
          </a:prstGeom>
          <a:noFill/>
          <a:ln w="6350">
            <a:solidFill>
              <a:srgbClr val="E4E8EF"/>
            </a:solidFill>
            <a:prstDash val="solid"/>
          </a:ln>
        </p:spPr>
      </p:sp>
      <p:sp>
        <p:nvSpPr>
          <p:cNvPr id="6" name="Shape 4"/>
          <p:cNvSpPr/>
          <p:nvPr/>
        </p:nvSpPr>
        <p:spPr>
          <a:xfrm>
            <a:off x="7325420" y="2567583"/>
            <a:ext cx="1452860" cy="0"/>
          </a:xfrm>
          <a:prstGeom prst="line">
            <a:avLst/>
          </a:prstGeom>
          <a:noFill/>
          <a:ln w="6350">
            <a:solidFill>
              <a:srgbClr val="E4E8EF"/>
            </a:solidFill>
            <a:prstDash val="solid"/>
          </a:ln>
        </p:spPr>
      </p:sp>
      <p:sp>
        <p:nvSpPr>
          <p:cNvPr id="7" name="Shape 5"/>
          <p:cNvSpPr/>
          <p:nvPr/>
        </p:nvSpPr>
        <p:spPr>
          <a:xfrm>
            <a:off x="8778280" y="2567583"/>
            <a:ext cx="1452860" cy="0"/>
          </a:xfrm>
          <a:prstGeom prst="line">
            <a:avLst/>
          </a:prstGeom>
          <a:noFill/>
          <a:ln w="6350">
            <a:solidFill>
              <a:srgbClr val="E4E8EF"/>
            </a:solidFill>
            <a:prstDash val="solid"/>
          </a:ln>
        </p:spPr>
      </p:sp>
      <p:sp>
        <p:nvSpPr>
          <p:cNvPr id="8" name="Shape 6"/>
          <p:cNvSpPr/>
          <p:nvPr/>
        </p:nvSpPr>
        <p:spPr>
          <a:xfrm>
            <a:off x="10231140" y="2567583"/>
            <a:ext cx="1452860" cy="0"/>
          </a:xfrm>
          <a:prstGeom prst="line">
            <a:avLst/>
          </a:prstGeom>
          <a:noFill/>
          <a:ln w="6350">
            <a:solidFill>
              <a:srgbClr val="E4E8EF"/>
            </a:solidFill>
            <a:prstDash val="solid"/>
          </a:ln>
        </p:spPr>
      </p:sp>
      <p:sp>
        <p:nvSpPr>
          <p:cNvPr id="9" name="Shape 7"/>
          <p:cNvSpPr/>
          <p:nvPr/>
        </p:nvSpPr>
        <p:spPr>
          <a:xfrm>
            <a:off x="508000" y="2829818"/>
            <a:ext cx="3911699" cy="0"/>
          </a:xfrm>
          <a:prstGeom prst="line">
            <a:avLst/>
          </a:prstGeom>
          <a:noFill/>
          <a:ln w="6350">
            <a:solidFill>
              <a:srgbClr val="E4E8EF"/>
            </a:solidFill>
            <a:prstDash val="solid"/>
          </a:ln>
        </p:spPr>
      </p:sp>
      <p:sp>
        <p:nvSpPr>
          <p:cNvPr id="10" name="Shape 8"/>
          <p:cNvSpPr/>
          <p:nvPr/>
        </p:nvSpPr>
        <p:spPr>
          <a:xfrm>
            <a:off x="4419699" y="2829818"/>
            <a:ext cx="1452860" cy="0"/>
          </a:xfrm>
          <a:prstGeom prst="line">
            <a:avLst/>
          </a:prstGeom>
          <a:noFill/>
          <a:ln w="6350">
            <a:solidFill>
              <a:srgbClr val="E4E8EF"/>
            </a:solidFill>
            <a:prstDash val="solid"/>
          </a:ln>
        </p:spPr>
      </p:sp>
      <p:sp>
        <p:nvSpPr>
          <p:cNvPr id="11" name="Shape 9"/>
          <p:cNvSpPr/>
          <p:nvPr/>
        </p:nvSpPr>
        <p:spPr>
          <a:xfrm>
            <a:off x="5872559" y="2829818"/>
            <a:ext cx="1452860" cy="0"/>
          </a:xfrm>
          <a:prstGeom prst="line">
            <a:avLst/>
          </a:prstGeom>
          <a:noFill/>
          <a:ln w="6350">
            <a:solidFill>
              <a:srgbClr val="E4E8EF"/>
            </a:solidFill>
            <a:prstDash val="solid"/>
          </a:ln>
        </p:spPr>
      </p:sp>
      <p:sp>
        <p:nvSpPr>
          <p:cNvPr id="12" name="Shape 10"/>
          <p:cNvSpPr/>
          <p:nvPr/>
        </p:nvSpPr>
        <p:spPr>
          <a:xfrm>
            <a:off x="7325420" y="2829818"/>
            <a:ext cx="1452860" cy="0"/>
          </a:xfrm>
          <a:prstGeom prst="line">
            <a:avLst/>
          </a:prstGeom>
          <a:noFill/>
          <a:ln w="6350">
            <a:solidFill>
              <a:srgbClr val="E4E8EF"/>
            </a:solidFill>
            <a:prstDash val="solid"/>
          </a:ln>
        </p:spPr>
      </p:sp>
      <p:sp>
        <p:nvSpPr>
          <p:cNvPr id="13" name="Shape 11"/>
          <p:cNvSpPr/>
          <p:nvPr/>
        </p:nvSpPr>
        <p:spPr>
          <a:xfrm>
            <a:off x="8778280" y="2829818"/>
            <a:ext cx="1452860" cy="0"/>
          </a:xfrm>
          <a:prstGeom prst="line">
            <a:avLst/>
          </a:prstGeom>
          <a:noFill/>
          <a:ln w="6350">
            <a:solidFill>
              <a:srgbClr val="E4E8EF"/>
            </a:solidFill>
            <a:prstDash val="solid"/>
          </a:ln>
        </p:spPr>
      </p:sp>
      <p:sp>
        <p:nvSpPr>
          <p:cNvPr id="14" name="Shape 12"/>
          <p:cNvSpPr/>
          <p:nvPr/>
        </p:nvSpPr>
        <p:spPr>
          <a:xfrm>
            <a:off x="10231140" y="2829818"/>
            <a:ext cx="1452860" cy="0"/>
          </a:xfrm>
          <a:prstGeom prst="line">
            <a:avLst/>
          </a:prstGeom>
          <a:noFill/>
          <a:ln w="6350">
            <a:solidFill>
              <a:srgbClr val="E4E8EF"/>
            </a:solidFill>
            <a:prstDash val="solid"/>
          </a:ln>
        </p:spPr>
      </p:sp>
      <p:sp>
        <p:nvSpPr>
          <p:cNvPr id="15" name="Shape 13"/>
          <p:cNvSpPr/>
          <p:nvPr/>
        </p:nvSpPr>
        <p:spPr>
          <a:xfrm>
            <a:off x="508000" y="3092053"/>
            <a:ext cx="3911699" cy="0"/>
          </a:xfrm>
          <a:prstGeom prst="line">
            <a:avLst/>
          </a:prstGeom>
          <a:noFill/>
          <a:ln w="6350">
            <a:solidFill>
              <a:srgbClr val="E4E8EF"/>
            </a:solidFill>
            <a:prstDash val="solid"/>
          </a:ln>
        </p:spPr>
      </p:sp>
      <p:sp>
        <p:nvSpPr>
          <p:cNvPr id="16" name="Shape 14"/>
          <p:cNvSpPr/>
          <p:nvPr/>
        </p:nvSpPr>
        <p:spPr>
          <a:xfrm>
            <a:off x="4419699" y="3092053"/>
            <a:ext cx="1452860" cy="0"/>
          </a:xfrm>
          <a:prstGeom prst="line">
            <a:avLst/>
          </a:prstGeom>
          <a:noFill/>
          <a:ln w="6350">
            <a:solidFill>
              <a:srgbClr val="E4E8EF"/>
            </a:solidFill>
            <a:prstDash val="solid"/>
          </a:ln>
        </p:spPr>
      </p:sp>
      <p:sp>
        <p:nvSpPr>
          <p:cNvPr id="17" name="Shape 15"/>
          <p:cNvSpPr/>
          <p:nvPr/>
        </p:nvSpPr>
        <p:spPr>
          <a:xfrm>
            <a:off x="5872559" y="3092053"/>
            <a:ext cx="1452860" cy="0"/>
          </a:xfrm>
          <a:prstGeom prst="line">
            <a:avLst/>
          </a:prstGeom>
          <a:noFill/>
          <a:ln w="6350">
            <a:solidFill>
              <a:srgbClr val="E4E8EF"/>
            </a:solidFill>
            <a:prstDash val="solid"/>
          </a:ln>
        </p:spPr>
      </p:sp>
      <p:sp>
        <p:nvSpPr>
          <p:cNvPr id="18" name="Shape 16"/>
          <p:cNvSpPr/>
          <p:nvPr/>
        </p:nvSpPr>
        <p:spPr>
          <a:xfrm>
            <a:off x="7325420" y="3092053"/>
            <a:ext cx="1452860" cy="0"/>
          </a:xfrm>
          <a:prstGeom prst="line">
            <a:avLst/>
          </a:prstGeom>
          <a:noFill/>
          <a:ln w="6350">
            <a:solidFill>
              <a:srgbClr val="E4E8EF"/>
            </a:solidFill>
            <a:prstDash val="solid"/>
          </a:ln>
        </p:spPr>
      </p:sp>
      <p:sp>
        <p:nvSpPr>
          <p:cNvPr id="19" name="Shape 17"/>
          <p:cNvSpPr/>
          <p:nvPr/>
        </p:nvSpPr>
        <p:spPr>
          <a:xfrm>
            <a:off x="8778280" y="3092053"/>
            <a:ext cx="1452860" cy="0"/>
          </a:xfrm>
          <a:prstGeom prst="line">
            <a:avLst/>
          </a:prstGeom>
          <a:noFill/>
          <a:ln w="6350">
            <a:solidFill>
              <a:srgbClr val="E4E8EF"/>
            </a:solidFill>
            <a:prstDash val="solid"/>
          </a:ln>
        </p:spPr>
      </p:sp>
      <p:sp>
        <p:nvSpPr>
          <p:cNvPr id="20" name="Shape 18"/>
          <p:cNvSpPr/>
          <p:nvPr/>
        </p:nvSpPr>
        <p:spPr>
          <a:xfrm>
            <a:off x="10231140" y="3092053"/>
            <a:ext cx="1452860" cy="0"/>
          </a:xfrm>
          <a:prstGeom prst="line">
            <a:avLst/>
          </a:prstGeom>
          <a:noFill/>
          <a:ln w="6350">
            <a:solidFill>
              <a:srgbClr val="E4E8EF"/>
            </a:solidFill>
            <a:prstDash val="solid"/>
          </a:ln>
        </p:spPr>
      </p:sp>
      <p:sp>
        <p:nvSpPr>
          <p:cNvPr id="21" name="Shape 19"/>
          <p:cNvSpPr/>
          <p:nvPr/>
        </p:nvSpPr>
        <p:spPr>
          <a:xfrm>
            <a:off x="508000" y="3354288"/>
            <a:ext cx="3911699" cy="0"/>
          </a:xfrm>
          <a:prstGeom prst="line">
            <a:avLst/>
          </a:prstGeom>
          <a:noFill/>
          <a:ln w="6350">
            <a:solidFill>
              <a:srgbClr val="E4E8EF"/>
            </a:solidFill>
            <a:prstDash val="solid"/>
          </a:ln>
        </p:spPr>
      </p:sp>
      <p:sp>
        <p:nvSpPr>
          <p:cNvPr id="22" name="Shape 20"/>
          <p:cNvSpPr/>
          <p:nvPr/>
        </p:nvSpPr>
        <p:spPr>
          <a:xfrm>
            <a:off x="4419699" y="3354288"/>
            <a:ext cx="1452860" cy="0"/>
          </a:xfrm>
          <a:prstGeom prst="line">
            <a:avLst/>
          </a:prstGeom>
          <a:noFill/>
          <a:ln w="6350">
            <a:solidFill>
              <a:srgbClr val="E4E8EF"/>
            </a:solidFill>
            <a:prstDash val="solid"/>
          </a:ln>
        </p:spPr>
      </p:sp>
      <p:sp>
        <p:nvSpPr>
          <p:cNvPr id="23" name="Shape 21"/>
          <p:cNvSpPr/>
          <p:nvPr/>
        </p:nvSpPr>
        <p:spPr>
          <a:xfrm>
            <a:off x="5872559" y="3354288"/>
            <a:ext cx="1452860" cy="0"/>
          </a:xfrm>
          <a:prstGeom prst="line">
            <a:avLst/>
          </a:prstGeom>
          <a:noFill/>
          <a:ln w="6350">
            <a:solidFill>
              <a:srgbClr val="E4E8EF"/>
            </a:solidFill>
            <a:prstDash val="solid"/>
          </a:ln>
        </p:spPr>
      </p:sp>
      <p:sp>
        <p:nvSpPr>
          <p:cNvPr id="24" name="Shape 22"/>
          <p:cNvSpPr/>
          <p:nvPr/>
        </p:nvSpPr>
        <p:spPr>
          <a:xfrm>
            <a:off x="7325420" y="3354288"/>
            <a:ext cx="1452860" cy="0"/>
          </a:xfrm>
          <a:prstGeom prst="line">
            <a:avLst/>
          </a:prstGeom>
          <a:noFill/>
          <a:ln w="6350">
            <a:solidFill>
              <a:srgbClr val="E4E8EF"/>
            </a:solidFill>
            <a:prstDash val="solid"/>
          </a:ln>
        </p:spPr>
      </p:sp>
      <p:sp>
        <p:nvSpPr>
          <p:cNvPr id="25" name="Shape 23"/>
          <p:cNvSpPr/>
          <p:nvPr/>
        </p:nvSpPr>
        <p:spPr>
          <a:xfrm>
            <a:off x="8778280" y="3354288"/>
            <a:ext cx="1452860" cy="0"/>
          </a:xfrm>
          <a:prstGeom prst="line">
            <a:avLst/>
          </a:prstGeom>
          <a:noFill/>
          <a:ln w="6350">
            <a:solidFill>
              <a:srgbClr val="E4E8EF"/>
            </a:solidFill>
            <a:prstDash val="solid"/>
          </a:ln>
        </p:spPr>
      </p:sp>
      <p:sp>
        <p:nvSpPr>
          <p:cNvPr id="26" name="Shape 24"/>
          <p:cNvSpPr/>
          <p:nvPr/>
        </p:nvSpPr>
        <p:spPr>
          <a:xfrm>
            <a:off x="10231140" y="3354288"/>
            <a:ext cx="1452860" cy="0"/>
          </a:xfrm>
          <a:prstGeom prst="line">
            <a:avLst/>
          </a:prstGeom>
          <a:noFill/>
          <a:ln w="6350">
            <a:solidFill>
              <a:srgbClr val="E4E8EF"/>
            </a:solidFill>
            <a:prstDash val="solid"/>
          </a:ln>
        </p:spPr>
      </p:sp>
      <p:sp>
        <p:nvSpPr>
          <p:cNvPr id="27" name="Shape 25"/>
          <p:cNvSpPr/>
          <p:nvPr/>
        </p:nvSpPr>
        <p:spPr>
          <a:xfrm>
            <a:off x="508000" y="3616523"/>
            <a:ext cx="3911699" cy="0"/>
          </a:xfrm>
          <a:prstGeom prst="line">
            <a:avLst/>
          </a:prstGeom>
          <a:noFill/>
          <a:ln w="6350">
            <a:solidFill>
              <a:srgbClr val="E4E8EF"/>
            </a:solidFill>
            <a:prstDash val="solid"/>
          </a:ln>
        </p:spPr>
      </p:sp>
      <p:sp>
        <p:nvSpPr>
          <p:cNvPr id="28" name="Shape 26"/>
          <p:cNvSpPr/>
          <p:nvPr/>
        </p:nvSpPr>
        <p:spPr>
          <a:xfrm>
            <a:off x="4419699" y="3616523"/>
            <a:ext cx="1452860" cy="0"/>
          </a:xfrm>
          <a:prstGeom prst="line">
            <a:avLst/>
          </a:prstGeom>
          <a:noFill/>
          <a:ln w="6350">
            <a:solidFill>
              <a:srgbClr val="E4E8EF"/>
            </a:solidFill>
            <a:prstDash val="solid"/>
          </a:ln>
        </p:spPr>
      </p:sp>
      <p:sp>
        <p:nvSpPr>
          <p:cNvPr id="29" name="Shape 27"/>
          <p:cNvSpPr/>
          <p:nvPr/>
        </p:nvSpPr>
        <p:spPr>
          <a:xfrm>
            <a:off x="5872559" y="3616523"/>
            <a:ext cx="1452860" cy="0"/>
          </a:xfrm>
          <a:prstGeom prst="line">
            <a:avLst/>
          </a:prstGeom>
          <a:noFill/>
          <a:ln w="6350">
            <a:solidFill>
              <a:srgbClr val="E4E8EF"/>
            </a:solidFill>
            <a:prstDash val="solid"/>
          </a:ln>
        </p:spPr>
      </p:sp>
      <p:sp>
        <p:nvSpPr>
          <p:cNvPr id="30" name="Shape 28"/>
          <p:cNvSpPr/>
          <p:nvPr/>
        </p:nvSpPr>
        <p:spPr>
          <a:xfrm>
            <a:off x="7325420" y="3616523"/>
            <a:ext cx="1452860" cy="0"/>
          </a:xfrm>
          <a:prstGeom prst="line">
            <a:avLst/>
          </a:prstGeom>
          <a:noFill/>
          <a:ln w="6350">
            <a:solidFill>
              <a:srgbClr val="E4E8EF"/>
            </a:solidFill>
            <a:prstDash val="solid"/>
          </a:ln>
        </p:spPr>
      </p:sp>
      <p:sp>
        <p:nvSpPr>
          <p:cNvPr id="31" name="Shape 29"/>
          <p:cNvSpPr/>
          <p:nvPr/>
        </p:nvSpPr>
        <p:spPr>
          <a:xfrm>
            <a:off x="8778280" y="3616523"/>
            <a:ext cx="1452860" cy="0"/>
          </a:xfrm>
          <a:prstGeom prst="line">
            <a:avLst/>
          </a:prstGeom>
          <a:noFill/>
          <a:ln w="6350">
            <a:solidFill>
              <a:srgbClr val="E4E8EF"/>
            </a:solidFill>
            <a:prstDash val="solid"/>
          </a:ln>
        </p:spPr>
      </p:sp>
      <p:sp>
        <p:nvSpPr>
          <p:cNvPr id="32" name="Shape 30"/>
          <p:cNvSpPr/>
          <p:nvPr/>
        </p:nvSpPr>
        <p:spPr>
          <a:xfrm>
            <a:off x="10231140" y="3616523"/>
            <a:ext cx="1452860" cy="0"/>
          </a:xfrm>
          <a:prstGeom prst="line">
            <a:avLst/>
          </a:prstGeom>
          <a:noFill/>
          <a:ln w="6350">
            <a:solidFill>
              <a:srgbClr val="E4E8EF"/>
            </a:solidFill>
            <a:prstDash val="solid"/>
          </a:ln>
        </p:spPr>
      </p:sp>
      <p:sp>
        <p:nvSpPr>
          <p:cNvPr id="33" name="Shape 31"/>
          <p:cNvSpPr/>
          <p:nvPr/>
        </p:nvSpPr>
        <p:spPr>
          <a:xfrm>
            <a:off x="508000" y="3878759"/>
            <a:ext cx="3911699" cy="0"/>
          </a:xfrm>
          <a:prstGeom prst="line">
            <a:avLst/>
          </a:prstGeom>
          <a:noFill/>
          <a:ln w="6350">
            <a:solidFill>
              <a:srgbClr val="E4E8EF"/>
            </a:solidFill>
            <a:prstDash val="solid"/>
          </a:ln>
        </p:spPr>
      </p:sp>
      <p:sp>
        <p:nvSpPr>
          <p:cNvPr id="34" name="Shape 32"/>
          <p:cNvSpPr/>
          <p:nvPr/>
        </p:nvSpPr>
        <p:spPr>
          <a:xfrm>
            <a:off x="4419699" y="3878759"/>
            <a:ext cx="1452860" cy="0"/>
          </a:xfrm>
          <a:prstGeom prst="line">
            <a:avLst/>
          </a:prstGeom>
          <a:noFill/>
          <a:ln w="6350">
            <a:solidFill>
              <a:srgbClr val="E4E8EF"/>
            </a:solidFill>
            <a:prstDash val="solid"/>
          </a:ln>
        </p:spPr>
      </p:sp>
      <p:sp>
        <p:nvSpPr>
          <p:cNvPr id="35" name="Shape 33"/>
          <p:cNvSpPr/>
          <p:nvPr/>
        </p:nvSpPr>
        <p:spPr>
          <a:xfrm>
            <a:off x="5872559" y="3878759"/>
            <a:ext cx="1452860" cy="0"/>
          </a:xfrm>
          <a:prstGeom prst="line">
            <a:avLst/>
          </a:prstGeom>
          <a:noFill/>
          <a:ln w="6350">
            <a:solidFill>
              <a:srgbClr val="E4E8EF"/>
            </a:solidFill>
            <a:prstDash val="solid"/>
          </a:ln>
        </p:spPr>
      </p:sp>
      <p:sp>
        <p:nvSpPr>
          <p:cNvPr id="36" name="Shape 34"/>
          <p:cNvSpPr/>
          <p:nvPr/>
        </p:nvSpPr>
        <p:spPr>
          <a:xfrm>
            <a:off x="7325420" y="3878759"/>
            <a:ext cx="1452860" cy="0"/>
          </a:xfrm>
          <a:prstGeom prst="line">
            <a:avLst/>
          </a:prstGeom>
          <a:noFill/>
          <a:ln w="6350">
            <a:solidFill>
              <a:srgbClr val="E4E8EF"/>
            </a:solidFill>
            <a:prstDash val="solid"/>
          </a:ln>
        </p:spPr>
      </p:sp>
      <p:sp>
        <p:nvSpPr>
          <p:cNvPr id="37" name="Shape 35"/>
          <p:cNvSpPr/>
          <p:nvPr/>
        </p:nvSpPr>
        <p:spPr>
          <a:xfrm>
            <a:off x="8778280" y="3878759"/>
            <a:ext cx="1452860" cy="0"/>
          </a:xfrm>
          <a:prstGeom prst="line">
            <a:avLst/>
          </a:prstGeom>
          <a:noFill/>
          <a:ln w="6350">
            <a:solidFill>
              <a:srgbClr val="E4E8EF"/>
            </a:solidFill>
            <a:prstDash val="solid"/>
          </a:ln>
        </p:spPr>
      </p:sp>
      <p:sp>
        <p:nvSpPr>
          <p:cNvPr id="38" name="Shape 36"/>
          <p:cNvSpPr/>
          <p:nvPr/>
        </p:nvSpPr>
        <p:spPr>
          <a:xfrm>
            <a:off x="10231140" y="3878759"/>
            <a:ext cx="1452860" cy="0"/>
          </a:xfrm>
          <a:prstGeom prst="line">
            <a:avLst/>
          </a:prstGeom>
          <a:noFill/>
          <a:ln w="6350">
            <a:solidFill>
              <a:srgbClr val="E4E8EF"/>
            </a:solidFill>
            <a:prstDash val="solid"/>
          </a:ln>
        </p:spPr>
      </p:sp>
      <p:sp>
        <p:nvSpPr>
          <p:cNvPr id="39" name="Shape 37"/>
          <p:cNvSpPr/>
          <p:nvPr/>
        </p:nvSpPr>
        <p:spPr>
          <a:xfrm>
            <a:off x="508000" y="4140994"/>
            <a:ext cx="3911699" cy="0"/>
          </a:xfrm>
          <a:prstGeom prst="line">
            <a:avLst/>
          </a:prstGeom>
          <a:noFill/>
          <a:ln w="6350">
            <a:solidFill>
              <a:srgbClr val="E4E8EF"/>
            </a:solidFill>
            <a:prstDash val="solid"/>
          </a:ln>
        </p:spPr>
      </p:sp>
      <p:sp>
        <p:nvSpPr>
          <p:cNvPr id="40" name="Shape 38"/>
          <p:cNvSpPr/>
          <p:nvPr/>
        </p:nvSpPr>
        <p:spPr>
          <a:xfrm>
            <a:off x="4419699" y="4140994"/>
            <a:ext cx="1452860" cy="0"/>
          </a:xfrm>
          <a:prstGeom prst="line">
            <a:avLst/>
          </a:prstGeom>
          <a:noFill/>
          <a:ln w="6350">
            <a:solidFill>
              <a:srgbClr val="E4E8EF"/>
            </a:solidFill>
            <a:prstDash val="solid"/>
          </a:ln>
        </p:spPr>
      </p:sp>
      <p:sp>
        <p:nvSpPr>
          <p:cNvPr id="41" name="Shape 39"/>
          <p:cNvSpPr/>
          <p:nvPr/>
        </p:nvSpPr>
        <p:spPr>
          <a:xfrm>
            <a:off x="5872559" y="4140994"/>
            <a:ext cx="1452860" cy="0"/>
          </a:xfrm>
          <a:prstGeom prst="line">
            <a:avLst/>
          </a:prstGeom>
          <a:noFill/>
          <a:ln w="6350">
            <a:solidFill>
              <a:srgbClr val="E4E8EF"/>
            </a:solidFill>
            <a:prstDash val="solid"/>
          </a:ln>
        </p:spPr>
      </p:sp>
      <p:sp>
        <p:nvSpPr>
          <p:cNvPr id="42" name="Shape 40"/>
          <p:cNvSpPr/>
          <p:nvPr/>
        </p:nvSpPr>
        <p:spPr>
          <a:xfrm>
            <a:off x="7325420" y="4140994"/>
            <a:ext cx="1452860" cy="0"/>
          </a:xfrm>
          <a:prstGeom prst="line">
            <a:avLst/>
          </a:prstGeom>
          <a:noFill/>
          <a:ln w="6350">
            <a:solidFill>
              <a:srgbClr val="E4E8EF"/>
            </a:solidFill>
            <a:prstDash val="solid"/>
          </a:ln>
        </p:spPr>
      </p:sp>
      <p:sp>
        <p:nvSpPr>
          <p:cNvPr id="43" name="Shape 41"/>
          <p:cNvSpPr/>
          <p:nvPr/>
        </p:nvSpPr>
        <p:spPr>
          <a:xfrm>
            <a:off x="8778280" y="4140994"/>
            <a:ext cx="1452860" cy="0"/>
          </a:xfrm>
          <a:prstGeom prst="line">
            <a:avLst/>
          </a:prstGeom>
          <a:noFill/>
          <a:ln w="6350">
            <a:solidFill>
              <a:srgbClr val="E4E8EF"/>
            </a:solidFill>
            <a:prstDash val="solid"/>
          </a:ln>
        </p:spPr>
      </p:sp>
      <p:sp>
        <p:nvSpPr>
          <p:cNvPr id="44" name="Shape 42"/>
          <p:cNvSpPr/>
          <p:nvPr/>
        </p:nvSpPr>
        <p:spPr>
          <a:xfrm>
            <a:off x="10231140" y="4140994"/>
            <a:ext cx="1452860" cy="0"/>
          </a:xfrm>
          <a:prstGeom prst="line">
            <a:avLst/>
          </a:prstGeom>
          <a:noFill/>
          <a:ln w="6350">
            <a:solidFill>
              <a:srgbClr val="E4E8EF"/>
            </a:solidFill>
            <a:prstDash val="solid"/>
          </a:ln>
        </p:spPr>
      </p:sp>
      <p:sp>
        <p:nvSpPr>
          <p:cNvPr id="45" name="Shape 43"/>
          <p:cNvSpPr/>
          <p:nvPr/>
        </p:nvSpPr>
        <p:spPr>
          <a:xfrm>
            <a:off x="508000" y="4403229"/>
            <a:ext cx="3911699" cy="0"/>
          </a:xfrm>
          <a:prstGeom prst="line">
            <a:avLst/>
          </a:prstGeom>
          <a:noFill/>
          <a:ln w="6350">
            <a:solidFill>
              <a:srgbClr val="E4E8EF"/>
            </a:solidFill>
            <a:prstDash val="solid"/>
          </a:ln>
        </p:spPr>
      </p:sp>
      <p:sp>
        <p:nvSpPr>
          <p:cNvPr id="46" name="Shape 44"/>
          <p:cNvSpPr/>
          <p:nvPr/>
        </p:nvSpPr>
        <p:spPr>
          <a:xfrm>
            <a:off x="4419699" y="4403229"/>
            <a:ext cx="1452860" cy="0"/>
          </a:xfrm>
          <a:prstGeom prst="line">
            <a:avLst/>
          </a:prstGeom>
          <a:noFill/>
          <a:ln w="6350">
            <a:solidFill>
              <a:srgbClr val="E4E8EF"/>
            </a:solidFill>
            <a:prstDash val="solid"/>
          </a:ln>
        </p:spPr>
      </p:sp>
      <p:sp>
        <p:nvSpPr>
          <p:cNvPr id="47" name="Shape 45"/>
          <p:cNvSpPr/>
          <p:nvPr/>
        </p:nvSpPr>
        <p:spPr>
          <a:xfrm>
            <a:off x="5872559" y="4403229"/>
            <a:ext cx="1452860" cy="0"/>
          </a:xfrm>
          <a:prstGeom prst="line">
            <a:avLst/>
          </a:prstGeom>
          <a:noFill/>
          <a:ln w="6350">
            <a:solidFill>
              <a:srgbClr val="E4E8EF"/>
            </a:solidFill>
            <a:prstDash val="solid"/>
          </a:ln>
        </p:spPr>
      </p:sp>
      <p:sp>
        <p:nvSpPr>
          <p:cNvPr id="48" name="Shape 46"/>
          <p:cNvSpPr/>
          <p:nvPr/>
        </p:nvSpPr>
        <p:spPr>
          <a:xfrm>
            <a:off x="7325420" y="4403229"/>
            <a:ext cx="1452860" cy="0"/>
          </a:xfrm>
          <a:prstGeom prst="line">
            <a:avLst/>
          </a:prstGeom>
          <a:noFill/>
          <a:ln w="6350">
            <a:solidFill>
              <a:srgbClr val="E4E8EF"/>
            </a:solidFill>
            <a:prstDash val="solid"/>
          </a:ln>
        </p:spPr>
      </p:sp>
      <p:sp>
        <p:nvSpPr>
          <p:cNvPr id="49" name="Shape 47"/>
          <p:cNvSpPr/>
          <p:nvPr/>
        </p:nvSpPr>
        <p:spPr>
          <a:xfrm>
            <a:off x="8778280" y="4403229"/>
            <a:ext cx="1452860" cy="0"/>
          </a:xfrm>
          <a:prstGeom prst="line">
            <a:avLst/>
          </a:prstGeom>
          <a:noFill/>
          <a:ln w="6350">
            <a:solidFill>
              <a:srgbClr val="E4E8EF"/>
            </a:solidFill>
            <a:prstDash val="solid"/>
          </a:ln>
        </p:spPr>
      </p:sp>
      <p:sp>
        <p:nvSpPr>
          <p:cNvPr id="50" name="Shape 48"/>
          <p:cNvSpPr/>
          <p:nvPr/>
        </p:nvSpPr>
        <p:spPr>
          <a:xfrm>
            <a:off x="10231140" y="4403229"/>
            <a:ext cx="1452860" cy="0"/>
          </a:xfrm>
          <a:prstGeom prst="line">
            <a:avLst/>
          </a:prstGeom>
          <a:noFill/>
          <a:ln w="6350">
            <a:solidFill>
              <a:srgbClr val="E4E8EF"/>
            </a:solidFill>
            <a:prstDash val="solid"/>
          </a:ln>
        </p:spPr>
      </p:sp>
      <p:sp>
        <p:nvSpPr>
          <p:cNvPr id="51" name="Shape 49"/>
          <p:cNvSpPr/>
          <p:nvPr/>
        </p:nvSpPr>
        <p:spPr>
          <a:xfrm>
            <a:off x="508000" y="4665464"/>
            <a:ext cx="3911699" cy="0"/>
          </a:xfrm>
          <a:prstGeom prst="line">
            <a:avLst/>
          </a:prstGeom>
          <a:noFill/>
          <a:ln w="6350">
            <a:solidFill>
              <a:srgbClr val="E4E8EF"/>
            </a:solidFill>
            <a:prstDash val="solid"/>
          </a:ln>
        </p:spPr>
      </p:sp>
      <p:sp>
        <p:nvSpPr>
          <p:cNvPr id="52" name="Shape 50"/>
          <p:cNvSpPr/>
          <p:nvPr/>
        </p:nvSpPr>
        <p:spPr>
          <a:xfrm>
            <a:off x="4419699" y="4665464"/>
            <a:ext cx="1452860" cy="0"/>
          </a:xfrm>
          <a:prstGeom prst="line">
            <a:avLst/>
          </a:prstGeom>
          <a:noFill/>
          <a:ln w="6350">
            <a:solidFill>
              <a:srgbClr val="E4E8EF"/>
            </a:solidFill>
            <a:prstDash val="solid"/>
          </a:ln>
        </p:spPr>
      </p:sp>
      <p:sp>
        <p:nvSpPr>
          <p:cNvPr id="53" name="Shape 51"/>
          <p:cNvSpPr/>
          <p:nvPr/>
        </p:nvSpPr>
        <p:spPr>
          <a:xfrm>
            <a:off x="5872559" y="4665464"/>
            <a:ext cx="1452860" cy="0"/>
          </a:xfrm>
          <a:prstGeom prst="line">
            <a:avLst/>
          </a:prstGeom>
          <a:noFill/>
          <a:ln w="6350">
            <a:solidFill>
              <a:srgbClr val="E4E8EF"/>
            </a:solidFill>
            <a:prstDash val="solid"/>
          </a:ln>
        </p:spPr>
      </p:sp>
      <p:sp>
        <p:nvSpPr>
          <p:cNvPr id="54" name="Shape 52"/>
          <p:cNvSpPr/>
          <p:nvPr/>
        </p:nvSpPr>
        <p:spPr>
          <a:xfrm>
            <a:off x="7325420" y="4665464"/>
            <a:ext cx="1452860" cy="0"/>
          </a:xfrm>
          <a:prstGeom prst="line">
            <a:avLst/>
          </a:prstGeom>
          <a:noFill/>
          <a:ln w="6350">
            <a:solidFill>
              <a:srgbClr val="E4E8EF"/>
            </a:solidFill>
            <a:prstDash val="solid"/>
          </a:ln>
        </p:spPr>
      </p:sp>
      <p:sp>
        <p:nvSpPr>
          <p:cNvPr id="55" name="Shape 53"/>
          <p:cNvSpPr/>
          <p:nvPr/>
        </p:nvSpPr>
        <p:spPr>
          <a:xfrm>
            <a:off x="8778280" y="4665464"/>
            <a:ext cx="1452860" cy="0"/>
          </a:xfrm>
          <a:prstGeom prst="line">
            <a:avLst/>
          </a:prstGeom>
          <a:noFill/>
          <a:ln w="6350">
            <a:solidFill>
              <a:srgbClr val="E4E8EF"/>
            </a:solidFill>
            <a:prstDash val="solid"/>
          </a:ln>
        </p:spPr>
      </p:sp>
      <p:sp>
        <p:nvSpPr>
          <p:cNvPr id="56" name="Shape 54"/>
          <p:cNvSpPr/>
          <p:nvPr/>
        </p:nvSpPr>
        <p:spPr>
          <a:xfrm>
            <a:off x="10231140" y="4665464"/>
            <a:ext cx="1452860" cy="0"/>
          </a:xfrm>
          <a:prstGeom prst="line">
            <a:avLst/>
          </a:prstGeom>
          <a:noFill/>
          <a:ln w="6350">
            <a:solidFill>
              <a:srgbClr val="E4E8EF"/>
            </a:solidFill>
            <a:prstDash val="solid"/>
          </a:ln>
        </p:spPr>
      </p:sp>
      <p:sp>
        <p:nvSpPr>
          <p:cNvPr id="57" name="Shape 55"/>
          <p:cNvSpPr/>
          <p:nvPr/>
        </p:nvSpPr>
        <p:spPr>
          <a:xfrm>
            <a:off x="508000" y="4671814"/>
            <a:ext cx="3911699" cy="0"/>
          </a:xfrm>
          <a:prstGeom prst="line">
            <a:avLst/>
          </a:prstGeom>
          <a:noFill/>
          <a:ln w="6350">
            <a:gradFill rotWithShape="1">
              <a:gsLst>
                <a:gs pos="0">
                  <a:srgbClr val="993EF4"/>
                </a:gs>
                <a:gs pos="100000">
                  <a:srgbClr val="00D0CD"/>
                </a:gs>
              </a:gsLst>
              <a:lin ang="0" scaled="0"/>
            </a:gradFill>
            <a:prstDash val="solid"/>
          </a:ln>
        </p:spPr>
      </p:sp>
      <p:sp>
        <p:nvSpPr>
          <p:cNvPr id="58" name="Shape 56"/>
          <p:cNvSpPr/>
          <p:nvPr/>
        </p:nvSpPr>
        <p:spPr>
          <a:xfrm>
            <a:off x="508000" y="4996259"/>
            <a:ext cx="3911699" cy="0"/>
          </a:xfrm>
          <a:prstGeom prst="line">
            <a:avLst/>
          </a:prstGeom>
          <a:noFill/>
          <a:ln w="6350">
            <a:gradFill rotWithShape="1">
              <a:gsLst>
                <a:gs pos="0">
                  <a:srgbClr val="993EF4"/>
                </a:gs>
                <a:gs pos="100000">
                  <a:srgbClr val="00D0CD"/>
                </a:gs>
              </a:gsLst>
              <a:lin ang="0" scaled="0"/>
            </a:gradFill>
            <a:prstDash val="solid"/>
          </a:ln>
        </p:spPr>
      </p:sp>
      <p:sp>
        <p:nvSpPr>
          <p:cNvPr id="59" name="Shape 57"/>
          <p:cNvSpPr/>
          <p:nvPr/>
        </p:nvSpPr>
        <p:spPr>
          <a:xfrm>
            <a:off x="4419699" y="4671814"/>
            <a:ext cx="1452860" cy="0"/>
          </a:xfrm>
          <a:prstGeom prst="line">
            <a:avLst/>
          </a:prstGeom>
          <a:noFill/>
          <a:ln w="6350">
            <a:gradFill rotWithShape="1">
              <a:gsLst>
                <a:gs pos="0">
                  <a:srgbClr val="993EF4"/>
                </a:gs>
                <a:gs pos="100000">
                  <a:srgbClr val="00D0CD"/>
                </a:gs>
              </a:gsLst>
              <a:lin ang="0" scaled="0"/>
            </a:gradFill>
            <a:prstDash val="solid"/>
          </a:ln>
        </p:spPr>
      </p:sp>
      <p:sp>
        <p:nvSpPr>
          <p:cNvPr id="60" name="Shape 58"/>
          <p:cNvSpPr/>
          <p:nvPr/>
        </p:nvSpPr>
        <p:spPr>
          <a:xfrm>
            <a:off x="4419699" y="4996259"/>
            <a:ext cx="1452860" cy="0"/>
          </a:xfrm>
          <a:prstGeom prst="line">
            <a:avLst/>
          </a:prstGeom>
          <a:noFill/>
          <a:ln w="6350">
            <a:gradFill rotWithShape="1">
              <a:gsLst>
                <a:gs pos="0">
                  <a:srgbClr val="993EF4"/>
                </a:gs>
                <a:gs pos="100000">
                  <a:srgbClr val="00D0CD"/>
                </a:gs>
              </a:gsLst>
              <a:lin ang="0" scaled="0"/>
            </a:gradFill>
            <a:prstDash val="solid"/>
          </a:ln>
        </p:spPr>
      </p:sp>
      <p:sp>
        <p:nvSpPr>
          <p:cNvPr id="61" name="Shape 59"/>
          <p:cNvSpPr/>
          <p:nvPr/>
        </p:nvSpPr>
        <p:spPr>
          <a:xfrm>
            <a:off x="5872559" y="4671814"/>
            <a:ext cx="1452860" cy="0"/>
          </a:xfrm>
          <a:prstGeom prst="line">
            <a:avLst/>
          </a:prstGeom>
          <a:noFill/>
          <a:ln w="6350">
            <a:gradFill rotWithShape="1">
              <a:gsLst>
                <a:gs pos="0">
                  <a:srgbClr val="993EF4"/>
                </a:gs>
                <a:gs pos="100000">
                  <a:srgbClr val="00D0CD"/>
                </a:gs>
              </a:gsLst>
              <a:lin ang="0" scaled="0"/>
            </a:gradFill>
            <a:prstDash val="solid"/>
          </a:ln>
        </p:spPr>
      </p:sp>
      <p:sp>
        <p:nvSpPr>
          <p:cNvPr id="62" name="Shape 60"/>
          <p:cNvSpPr/>
          <p:nvPr/>
        </p:nvSpPr>
        <p:spPr>
          <a:xfrm>
            <a:off x="5872559" y="4996259"/>
            <a:ext cx="1452860" cy="0"/>
          </a:xfrm>
          <a:prstGeom prst="line">
            <a:avLst/>
          </a:prstGeom>
          <a:noFill/>
          <a:ln w="6350">
            <a:gradFill rotWithShape="1">
              <a:gsLst>
                <a:gs pos="0">
                  <a:srgbClr val="993EF4"/>
                </a:gs>
                <a:gs pos="100000">
                  <a:srgbClr val="00D0CD"/>
                </a:gs>
              </a:gsLst>
              <a:lin ang="0" scaled="0"/>
            </a:gradFill>
            <a:prstDash val="solid"/>
          </a:ln>
        </p:spPr>
      </p:sp>
      <p:sp>
        <p:nvSpPr>
          <p:cNvPr id="63" name="Shape 61"/>
          <p:cNvSpPr/>
          <p:nvPr/>
        </p:nvSpPr>
        <p:spPr>
          <a:xfrm>
            <a:off x="7325420" y="4671814"/>
            <a:ext cx="1452860" cy="0"/>
          </a:xfrm>
          <a:prstGeom prst="line">
            <a:avLst/>
          </a:prstGeom>
          <a:noFill/>
          <a:ln w="6350">
            <a:gradFill rotWithShape="1">
              <a:gsLst>
                <a:gs pos="0">
                  <a:srgbClr val="993EF4"/>
                </a:gs>
                <a:gs pos="100000">
                  <a:srgbClr val="00D0CD"/>
                </a:gs>
              </a:gsLst>
              <a:lin ang="0" scaled="0"/>
            </a:gradFill>
            <a:prstDash val="solid"/>
          </a:ln>
        </p:spPr>
      </p:sp>
      <p:sp>
        <p:nvSpPr>
          <p:cNvPr id="64" name="Shape 62"/>
          <p:cNvSpPr/>
          <p:nvPr/>
        </p:nvSpPr>
        <p:spPr>
          <a:xfrm>
            <a:off x="7325420" y="4996259"/>
            <a:ext cx="1452860" cy="0"/>
          </a:xfrm>
          <a:prstGeom prst="line">
            <a:avLst/>
          </a:prstGeom>
          <a:noFill/>
          <a:ln w="6350">
            <a:gradFill rotWithShape="1">
              <a:gsLst>
                <a:gs pos="0">
                  <a:srgbClr val="993EF4"/>
                </a:gs>
                <a:gs pos="100000">
                  <a:srgbClr val="00D0CD"/>
                </a:gs>
              </a:gsLst>
              <a:lin ang="0" scaled="0"/>
            </a:gradFill>
            <a:prstDash val="solid"/>
          </a:ln>
        </p:spPr>
      </p:sp>
      <p:sp>
        <p:nvSpPr>
          <p:cNvPr id="65" name="Shape 63"/>
          <p:cNvSpPr/>
          <p:nvPr/>
        </p:nvSpPr>
        <p:spPr>
          <a:xfrm>
            <a:off x="8778280" y="4671814"/>
            <a:ext cx="1452860" cy="0"/>
          </a:xfrm>
          <a:prstGeom prst="line">
            <a:avLst/>
          </a:prstGeom>
          <a:noFill/>
          <a:ln w="6350">
            <a:gradFill rotWithShape="1">
              <a:gsLst>
                <a:gs pos="0">
                  <a:srgbClr val="993EF4"/>
                </a:gs>
                <a:gs pos="100000">
                  <a:srgbClr val="00D0CD"/>
                </a:gs>
              </a:gsLst>
              <a:lin ang="0" scaled="0"/>
            </a:gradFill>
            <a:prstDash val="solid"/>
          </a:ln>
        </p:spPr>
      </p:sp>
      <p:sp>
        <p:nvSpPr>
          <p:cNvPr id="66" name="Shape 64"/>
          <p:cNvSpPr/>
          <p:nvPr/>
        </p:nvSpPr>
        <p:spPr>
          <a:xfrm>
            <a:off x="8778280" y="4996259"/>
            <a:ext cx="1452860" cy="0"/>
          </a:xfrm>
          <a:prstGeom prst="line">
            <a:avLst/>
          </a:prstGeom>
          <a:noFill/>
          <a:ln w="6350">
            <a:gradFill rotWithShape="1">
              <a:gsLst>
                <a:gs pos="0">
                  <a:srgbClr val="993EF4"/>
                </a:gs>
                <a:gs pos="100000">
                  <a:srgbClr val="00D0CD"/>
                </a:gs>
              </a:gsLst>
              <a:lin ang="0" scaled="0"/>
            </a:gradFill>
            <a:prstDash val="solid"/>
          </a:ln>
        </p:spPr>
      </p:sp>
      <p:sp>
        <p:nvSpPr>
          <p:cNvPr id="67" name="Shape 65"/>
          <p:cNvSpPr/>
          <p:nvPr/>
        </p:nvSpPr>
        <p:spPr>
          <a:xfrm>
            <a:off x="10231140" y="4671814"/>
            <a:ext cx="1452860" cy="0"/>
          </a:xfrm>
          <a:prstGeom prst="line">
            <a:avLst/>
          </a:prstGeom>
          <a:noFill/>
          <a:ln w="6350">
            <a:gradFill rotWithShape="1">
              <a:gsLst>
                <a:gs pos="0">
                  <a:srgbClr val="993EF4"/>
                </a:gs>
                <a:gs pos="100000">
                  <a:srgbClr val="00D0CD"/>
                </a:gs>
              </a:gsLst>
              <a:lin ang="0" scaled="0"/>
            </a:gradFill>
            <a:prstDash val="solid"/>
          </a:ln>
        </p:spPr>
      </p:sp>
      <p:sp>
        <p:nvSpPr>
          <p:cNvPr id="68" name="Shape 66"/>
          <p:cNvSpPr/>
          <p:nvPr/>
        </p:nvSpPr>
        <p:spPr>
          <a:xfrm>
            <a:off x="10231140" y="4996259"/>
            <a:ext cx="1452860" cy="0"/>
          </a:xfrm>
          <a:prstGeom prst="line">
            <a:avLst/>
          </a:prstGeom>
          <a:noFill/>
          <a:ln w="6350">
            <a:gradFill rotWithShape="1">
              <a:gsLst>
                <a:gs pos="0">
                  <a:srgbClr val="993EF4"/>
                </a:gs>
                <a:gs pos="100000">
                  <a:srgbClr val="00D0CD"/>
                </a:gs>
              </a:gsLst>
              <a:lin ang="0" scaled="0"/>
            </a:gradFill>
            <a:prstDash val="solid"/>
          </a:ln>
        </p:spPr>
      </p:sp>
      <p:sp>
        <p:nvSpPr>
          <p:cNvPr id="69" name="Shape 67"/>
          <p:cNvSpPr/>
          <p:nvPr/>
        </p:nvSpPr>
        <p:spPr>
          <a:xfrm>
            <a:off x="508000" y="5685234"/>
            <a:ext cx="11176000" cy="0"/>
          </a:xfrm>
          <a:prstGeom prst="line">
            <a:avLst/>
          </a:prstGeom>
          <a:noFill/>
          <a:ln w="6350">
            <a:gradFill rotWithShape="1">
              <a:gsLst>
                <a:gs pos="0">
                  <a:srgbClr val="993EF4"/>
                </a:gs>
                <a:gs pos="100000">
                  <a:srgbClr val="00D0CD"/>
                </a:gs>
              </a:gsLst>
              <a:lin ang="0" scaled="0"/>
            </a:gradFill>
            <a:prstDash val="solid"/>
          </a:ln>
        </p:spPr>
      </p:sp>
      <p:sp>
        <p:nvSpPr>
          <p:cNvPr id="70" name="Shape 6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71" name="Text 69"/>
          <p:cNvSpPr txBox="1"/>
          <p:nvPr/>
        </p:nvSpPr>
        <p:spPr>
          <a:xfrm>
            <a:off x="501650" y="971550"/>
            <a:ext cx="1935559"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ONE STRATEGY, MULTIPLE INTERVENTIONS</a:t>
            </a:r>
            <a:endParaRPr lang="en-US" sz="500" dirty="0"/>
          </a:p>
        </p:txBody>
      </p:sp>
      <p:sp>
        <p:nvSpPr>
          <p:cNvPr id="72" name="Text 7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Each initiative attacks a different part of the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same</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 experience problem.</a:t>
            </a:r>
            <a:endParaRPr lang="en-US" sz="2400" dirty="0"/>
          </a:p>
        </p:txBody>
      </p:sp>
      <p:sp>
        <p:nvSpPr>
          <p:cNvPr id="73" name="Text 7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The roadmap is not a collection of disconnected projects. Each initiative addresses one or more of the structural problems advertisers consistently experience.</a:t>
            </a:r>
            <a:endParaRPr lang="en-US" sz="900" dirty="0"/>
          </a:p>
        </p:txBody>
      </p:sp>
      <p:sp>
        <p:nvSpPr>
          <p:cNvPr id="74" name="Text 72"/>
          <p:cNvSpPr txBox="1"/>
          <p:nvPr/>
        </p:nvSpPr>
        <p:spPr>
          <a:xfrm>
            <a:off x="508000" y="2427883"/>
            <a:ext cx="4128623" cy="85725"/>
          </a:xfrm>
          <a:prstGeom prst="rect">
            <a:avLst/>
          </a:prstGeom>
          <a:noFill/>
          <a:ln/>
        </p:spPr>
        <p:txBody>
          <a:bodyPr wrap="square" lIns="0" tIns="0" rIns="0" bIns="0" rtlCol="0" anchor="t"/>
          <a:lstStyle/>
          <a:p>
            <a:pPr algn="l"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INITIATIVE</a:t>
            </a:r>
            <a:endParaRPr lang="en-US" sz="550" dirty="0"/>
          </a:p>
        </p:txBody>
      </p:sp>
      <p:sp>
        <p:nvSpPr>
          <p:cNvPr id="75" name="Text 73"/>
          <p:cNvSpPr txBox="1"/>
          <p:nvPr/>
        </p:nvSpPr>
        <p:spPr>
          <a:xfrm>
            <a:off x="4343499"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COMPLEX</a:t>
            </a:r>
            <a:endParaRPr lang="en-US" sz="550" dirty="0"/>
          </a:p>
        </p:txBody>
      </p:sp>
      <p:sp>
        <p:nvSpPr>
          <p:cNvPr id="76" name="Text 74"/>
          <p:cNvSpPr txBox="1"/>
          <p:nvPr/>
        </p:nvSpPr>
        <p:spPr>
          <a:xfrm>
            <a:off x="5796359"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FRAGMENTED</a:t>
            </a:r>
            <a:endParaRPr lang="en-US" sz="550" dirty="0"/>
          </a:p>
        </p:txBody>
      </p:sp>
      <p:sp>
        <p:nvSpPr>
          <p:cNvPr id="77" name="Text 75"/>
          <p:cNvSpPr txBox="1"/>
          <p:nvPr/>
        </p:nvSpPr>
        <p:spPr>
          <a:xfrm>
            <a:off x="724922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INCONSISTENT</a:t>
            </a:r>
            <a:endParaRPr lang="en-US" sz="550" dirty="0"/>
          </a:p>
        </p:txBody>
      </p:sp>
      <p:sp>
        <p:nvSpPr>
          <p:cNvPr id="78" name="Text 76"/>
          <p:cNvSpPr txBox="1"/>
          <p:nvPr/>
        </p:nvSpPr>
        <p:spPr>
          <a:xfrm>
            <a:off x="870208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UNCLEAR</a:t>
            </a:r>
            <a:endParaRPr lang="en-US" sz="550" dirty="0"/>
          </a:p>
        </p:txBody>
      </p:sp>
      <p:sp>
        <p:nvSpPr>
          <p:cNvPr id="79" name="Text 77"/>
          <p:cNvSpPr txBox="1"/>
          <p:nvPr/>
        </p:nvSpPr>
        <p:spPr>
          <a:xfrm>
            <a:off x="10154940" y="2427883"/>
            <a:ext cx="1516360" cy="85725"/>
          </a:xfrm>
          <a:prstGeom prst="rect">
            <a:avLst/>
          </a:prstGeom>
          <a:noFill/>
          <a:ln/>
        </p:spPr>
        <p:txBody>
          <a:bodyPr wrap="square" lIns="0" tIns="0" rIns="0" bIns="0" rtlCol="0" anchor="t"/>
          <a:lstStyle/>
          <a:p>
            <a:pPr algn="ctr" indent="0" marL="0">
              <a:lnSpc>
                <a:spcPts val="660"/>
              </a:lnSpc>
              <a:buNone/>
            </a:pPr>
            <a:r>
              <a:rPr lang="en-US" sz="550" spc="66" kern="0" dirty="0">
                <a:solidFill>
                  <a:srgbClr val="0053E2"/>
                </a:solidFill>
                <a:latin typeface="Everyday Sans Mono" pitchFamily="34" charset="0"/>
                <a:ea typeface="Everyday Sans Mono" pitchFamily="34" charset="-122"/>
                <a:cs typeface="Everyday Sans Mono" pitchFamily="34" charset="-120"/>
              </a:rPr>
              <a:t>TIME-CONSUMING</a:t>
            </a:r>
            <a:endParaRPr lang="en-US" sz="550" dirty="0"/>
          </a:p>
        </p:txBody>
      </p:sp>
      <p:sp>
        <p:nvSpPr>
          <p:cNvPr id="80" name="Text 78"/>
          <p:cNvSpPr txBox="1"/>
          <p:nvPr/>
        </p:nvSpPr>
        <p:spPr>
          <a:xfrm>
            <a:off x="508000" y="262155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Seller Center Native Creation</a:t>
            </a:r>
            <a:endParaRPr lang="en-US" sz="850" dirty="0"/>
          </a:p>
        </p:txBody>
      </p:sp>
      <p:sp>
        <p:nvSpPr>
          <p:cNvPr id="81" name="Text 79"/>
          <p:cNvSpPr txBox="1"/>
          <p:nvPr/>
        </p:nvSpPr>
        <p:spPr>
          <a:xfrm>
            <a:off x="4343499"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2" name="Text 80"/>
          <p:cNvSpPr txBox="1"/>
          <p:nvPr/>
        </p:nvSpPr>
        <p:spPr>
          <a:xfrm>
            <a:off x="5796359"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3" name="Text 81"/>
          <p:cNvSpPr txBox="1"/>
          <p:nvPr/>
        </p:nvSpPr>
        <p:spPr>
          <a:xfrm>
            <a:off x="8702080"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4" name="Text 82"/>
          <p:cNvSpPr txBox="1"/>
          <p:nvPr/>
        </p:nvSpPr>
        <p:spPr>
          <a:xfrm>
            <a:off x="10154940" y="262155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5" name="Text 83"/>
          <p:cNvSpPr txBox="1"/>
          <p:nvPr/>
        </p:nvSpPr>
        <p:spPr>
          <a:xfrm>
            <a:off x="508000" y="2883793"/>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Audience Library</a:t>
            </a:r>
            <a:endParaRPr lang="en-US" sz="850" dirty="0"/>
          </a:p>
        </p:txBody>
      </p:sp>
      <p:sp>
        <p:nvSpPr>
          <p:cNvPr id="86" name="Text 84"/>
          <p:cNvSpPr txBox="1"/>
          <p:nvPr/>
        </p:nvSpPr>
        <p:spPr>
          <a:xfrm>
            <a:off x="4343499"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7" name="Text 85"/>
          <p:cNvSpPr txBox="1"/>
          <p:nvPr/>
        </p:nvSpPr>
        <p:spPr>
          <a:xfrm>
            <a:off x="5796359"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8" name="Text 86"/>
          <p:cNvSpPr txBox="1"/>
          <p:nvPr/>
        </p:nvSpPr>
        <p:spPr>
          <a:xfrm>
            <a:off x="724922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89" name="Text 87"/>
          <p:cNvSpPr txBox="1"/>
          <p:nvPr/>
        </p:nvSpPr>
        <p:spPr>
          <a:xfrm>
            <a:off x="870208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0" name="Text 88"/>
          <p:cNvSpPr txBox="1"/>
          <p:nvPr/>
        </p:nvSpPr>
        <p:spPr>
          <a:xfrm>
            <a:off x="10154940" y="288379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1" name="Text 89"/>
          <p:cNvSpPr txBox="1"/>
          <p:nvPr/>
        </p:nvSpPr>
        <p:spPr>
          <a:xfrm>
            <a:off x="508000" y="314602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Unified Measurement + Reporting</a:t>
            </a:r>
            <a:endParaRPr lang="en-US" sz="850" dirty="0"/>
          </a:p>
        </p:txBody>
      </p:sp>
      <p:sp>
        <p:nvSpPr>
          <p:cNvPr id="92" name="Text 90"/>
          <p:cNvSpPr txBox="1"/>
          <p:nvPr/>
        </p:nvSpPr>
        <p:spPr>
          <a:xfrm>
            <a:off x="4343499"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3" name="Text 91"/>
          <p:cNvSpPr txBox="1"/>
          <p:nvPr/>
        </p:nvSpPr>
        <p:spPr>
          <a:xfrm>
            <a:off x="5796359"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4" name="Text 92"/>
          <p:cNvSpPr txBox="1"/>
          <p:nvPr/>
        </p:nvSpPr>
        <p:spPr>
          <a:xfrm>
            <a:off x="724922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5" name="Text 93"/>
          <p:cNvSpPr txBox="1"/>
          <p:nvPr/>
        </p:nvSpPr>
        <p:spPr>
          <a:xfrm>
            <a:off x="870208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6" name="Text 94"/>
          <p:cNvSpPr txBox="1"/>
          <p:nvPr/>
        </p:nvSpPr>
        <p:spPr>
          <a:xfrm>
            <a:off x="10154940" y="314602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7" name="Text 95"/>
          <p:cNvSpPr txBox="1"/>
          <p:nvPr/>
        </p:nvSpPr>
        <p:spPr>
          <a:xfrm>
            <a:off x="508000" y="3408263"/>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Sponsored Workflow Enhancements</a:t>
            </a:r>
            <a:endParaRPr lang="en-US" sz="850" dirty="0"/>
          </a:p>
        </p:txBody>
      </p:sp>
      <p:sp>
        <p:nvSpPr>
          <p:cNvPr id="98" name="Text 96"/>
          <p:cNvSpPr txBox="1"/>
          <p:nvPr/>
        </p:nvSpPr>
        <p:spPr>
          <a:xfrm>
            <a:off x="4343499"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99" name="Text 97"/>
          <p:cNvSpPr txBox="1"/>
          <p:nvPr/>
        </p:nvSpPr>
        <p:spPr>
          <a:xfrm>
            <a:off x="724922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0" name="Text 98"/>
          <p:cNvSpPr txBox="1"/>
          <p:nvPr/>
        </p:nvSpPr>
        <p:spPr>
          <a:xfrm>
            <a:off x="870208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1" name="Text 99"/>
          <p:cNvSpPr txBox="1"/>
          <p:nvPr/>
        </p:nvSpPr>
        <p:spPr>
          <a:xfrm>
            <a:off x="10154940" y="3408263"/>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2" name="Text 100"/>
          <p:cNvSpPr txBox="1"/>
          <p:nvPr/>
        </p:nvSpPr>
        <p:spPr>
          <a:xfrm>
            <a:off x="508000" y="3670498"/>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Display Workflow Enhancements</a:t>
            </a:r>
            <a:endParaRPr lang="en-US" sz="850" dirty="0"/>
          </a:p>
        </p:txBody>
      </p:sp>
      <p:sp>
        <p:nvSpPr>
          <p:cNvPr id="103" name="Text 101"/>
          <p:cNvSpPr txBox="1"/>
          <p:nvPr/>
        </p:nvSpPr>
        <p:spPr>
          <a:xfrm>
            <a:off x="4343499"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4" name="Text 102"/>
          <p:cNvSpPr txBox="1"/>
          <p:nvPr/>
        </p:nvSpPr>
        <p:spPr>
          <a:xfrm>
            <a:off x="724922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5" name="Text 103"/>
          <p:cNvSpPr txBox="1"/>
          <p:nvPr/>
        </p:nvSpPr>
        <p:spPr>
          <a:xfrm>
            <a:off x="870208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6" name="Text 104"/>
          <p:cNvSpPr txBox="1"/>
          <p:nvPr/>
        </p:nvSpPr>
        <p:spPr>
          <a:xfrm>
            <a:off x="10154940" y="3670498"/>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7" name="Text 105"/>
          <p:cNvSpPr txBox="1"/>
          <p:nvPr/>
        </p:nvSpPr>
        <p:spPr>
          <a:xfrm>
            <a:off x="508000" y="3932734"/>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Goal-Based Buying</a:t>
            </a:r>
            <a:endParaRPr lang="en-US" sz="850" dirty="0"/>
          </a:p>
        </p:txBody>
      </p:sp>
      <p:sp>
        <p:nvSpPr>
          <p:cNvPr id="108" name="Text 106"/>
          <p:cNvSpPr txBox="1"/>
          <p:nvPr/>
        </p:nvSpPr>
        <p:spPr>
          <a:xfrm>
            <a:off x="4343499"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09" name="Text 107"/>
          <p:cNvSpPr txBox="1"/>
          <p:nvPr/>
        </p:nvSpPr>
        <p:spPr>
          <a:xfrm>
            <a:off x="8702080"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0" name="Text 108"/>
          <p:cNvSpPr txBox="1"/>
          <p:nvPr/>
        </p:nvSpPr>
        <p:spPr>
          <a:xfrm>
            <a:off x="10154940" y="393273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1" name="Text 109"/>
          <p:cNvSpPr txBox="1"/>
          <p:nvPr/>
        </p:nvSpPr>
        <p:spPr>
          <a:xfrm>
            <a:off x="508000" y="4194969"/>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Recommendation Experience Framework</a:t>
            </a:r>
            <a:endParaRPr lang="en-US" sz="850" dirty="0"/>
          </a:p>
        </p:txBody>
      </p:sp>
      <p:sp>
        <p:nvSpPr>
          <p:cNvPr id="112" name="Text 110"/>
          <p:cNvSpPr txBox="1"/>
          <p:nvPr/>
        </p:nvSpPr>
        <p:spPr>
          <a:xfrm>
            <a:off x="4343499"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3" name="Text 111"/>
          <p:cNvSpPr txBox="1"/>
          <p:nvPr/>
        </p:nvSpPr>
        <p:spPr>
          <a:xfrm>
            <a:off x="724922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4" name="Text 112"/>
          <p:cNvSpPr txBox="1"/>
          <p:nvPr/>
        </p:nvSpPr>
        <p:spPr>
          <a:xfrm>
            <a:off x="870208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5" name="Text 113"/>
          <p:cNvSpPr txBox="1"/>
          <p:nvPr/>
        </p:nvSpPr>
        <p:spPr>
          <a:xfrm>
            <a:off x="10154940" y="4194969"/>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6" name="Text 114"/>
          <p:cNvSpPr txBox="1"/>
          <p:nvPr/>
        </p:nvSpPr>
        <p:spPr>
          <a:xfrm>
            <a:off x="508000" y="4457204"/>
            <a:ext cx="4128623" cy="154285"/>
          </a:xfrm>
          <a:prstGeom prst="rect">
            <a:avLst/>
          </a:prstGeom>
          <a:noFill/>
          <a:ln/>
        </p:spPr>
        <p:txBody>
          <a:bodyPr wrap="square" lIns="0" tIns="0" rIns="0" bIns="0" rtlCol="0" anchor="t"/>
          <a:lstStyle/>
          <a:p>
            <a:pPr algn="l" indent="0" marL="0">
              <a:lnSpc>
                <a:spcPts val="1148"/>
              </a:lnSpc>
              <a:buNone/>
            </a:pPr>
            <a:r>
              <a:rPr lang="en-US" sz="850" dirty="0">
                <a:solidFill>
                  <a:srgbClr val="001E60"/>
                </a:solidFill>
                <a:latin typeface="Everyday Sans UI" pitchFamily="34" charset="0"/>
                <a:ea typeface="Everyday Sans UI" pitchFamily="34" charset="-122"/>
                <a:cs typeface="Everyday Sans UI" pitchFamily="34" charset="-120"/>
              </a:rPr>
              <a:t>Campaign Experiments</a:t>
            </a:r>
            <a:endParaRPr lang="en-US" sz="850" dirty="0"/>
          </a:p>
        </p:txBody>
      </p:sp>
      <p:sp>
        <p:nvSpPr>
          <p:cNvPr id="117" name="Text 115"/>
          <p:cNvSpPr txBox="1"/>
          <p:nvPr/>
        </p:nvSpPr>
        <p:spPr>
          <a:xfrm>
            <a:off x="8702080" y="4457204"/>
            <a:ext cx="1516360" cy="154305"/>
          </a:xfrm>
          <a:prstGeom prst="rect">
            <a:avLst/>
          </a:prstGeom>
          <a:noFill/>
          <a:ln/>
        </p:spPr>
        <p:txBody>
          <a:bodyPr wrap="square" lIns="0" tIns="0" rIns="0" bIns="0" rtlCol="0" anchor="t"/>
          <a:lstStyle/>
          <a:p>
            <a:pPr algn="ctr" indent="0" marL="0">
              <a:lnSpc>
                <a:spcPts val="1215"/>
              </a:lnSpc>
              <a:buNone/>
            </a:pPr>
            <a:r>
              <a:rPr lang="en-US" sz="900" dirty="0">
                <a:solidFill>
                  <a:srgbClr val="0053E2"/>
                </a:solidFill>
                <a:latin typeface="Everyday Sans UI" pitchFamily="34" charset="0"/>
                <a:ea typeface="Everyday Sans UI" pitchFamily="34" charset="-122"/>
                <a:cs typeface="Everyday Sans UI" pitchFamily="34" charset="-120"/>
              </a:rPr>
              <a:t>●</a:t>
            </a:r>
            <a:endParaRPr lang="en-US" sz="900" dirty="0"/>
          </a:p>
        </p:txBody>
      </p:sp>
      <p:sp>
        <p:nvSpPr>
          <p:cNvPr id="118" name="Text 116"/>
          <p:cNvSpPr txBox="1"/>
          <p:nvPr/>
        </p:nvSpPr>
        <p:spPr>
          <a:xfrm>
            <a:off x="508000" y="4725789"/>
            <a:ext cx="4128623" cy="216495"/>
          </a:xfrm>
          <a:prstGeom prst="rect">
            <a:avLst/>
          </a:prstGeom>
          <a:noFill/>
          <a:ln/>
        </p:spPr>
        <p:txBody>
          <a:bodyPr wrap="square" lIns="0" tIns="0" rIns="0" bIns="0" rtlCol="0" anchor="t"/>
          <a:lstStyle/>
          <a:p>
            <a:pPr algn="l" indent="0" marL="0">
              <a:lnSpc>
                <a:spcPts val="81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INITIATIVES ADDRESSING EACH PROBLEM</a:t>
            </a:r>
            <a:endParaRPr lang="en-US" sz="600" dirty="0"/>
          </a:p>
        </p:txBody>
      </p:sp>
      <p:sp>
        <p:nvSpPr>
          <p:cNvPr id="119" name="Text 117"/>
          <p:cNvSpPr txBox="1"/>
          <p:nvPr/>
        </p:nvSpPr>
        <p:spPr>
          <a:xfrm>
            <a:off x="4343499"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7</a:t>
            </a:r>
            <a:endParaRPr lang="en-US" sz="1300" dirty="0"/>
          </a:p>
        </p:txBody>
      </p:sp>
      <p:sp>
        <p:nvSpPr>
          <p:cNvPr id="120" name="Text 118"/>
          <p:cNvSpPr txBox="1"/>
          <p:nvPr/>
        </p:nvSpPr>
        <p:spPr>
          <a:xfrm>
            <a:off x="5796359"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3</a:t>
            </a:r>
            <a:endParaRPr lang="en-US" sz="1300" dirty="0"/>
          </a:p>
        </p:txBody>
      </p:sp>
      <p:sp>
        <p:nvSpPr>
          <p:cNvPr id="121" name="Text 119"/>
          <p:cNvSpPr txBox="1"/>
          <p:nvPr/>
        </p:nvSpPr>
        <p:spPr>
          <a:xfrm>
            <a:off x="724922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5</a:t>
            </a:r>
            <a:endParaRPr lang="en-US" sz="1300" dirty="0"/>
          </a:p>
        </p:txBody>
      </p:sp>
      <p:sp>
        <p:nvSpPr>
          <p:cNvPr id="122" name="Text 120"/>
          <p:cNvSpPr txBox="1"/>
          <p:nvPr/>
        </p:nvSpPr>
        <p:spPr>
          <a:xfrm>
            <a:off x="870208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8</a:t>
            </a:r>
            <a:endParaRPr lang="en-US" sz="1300" dirty="0"/>
          </a:p>
        </p:txBody>
      </p:sp>
      <p:sp>
        <p:nvSpPr>
          <p:cNvPr id="123" name="Text 121"/>
          <p:cNvSpPr txBox="1"/>
          <p:nvPr/>
        </p:nvSpPr>
        <p:spPr>
          <a:xfrm>
            <a:off x="10154940" y="4725789"/>
            <a:ext cx="1516360" cy="222885"/>
          </a:xfrm>
          <a:prstGeom prst="rect">
            <a:avLst/>
          </a:prstGeom>
          <a:noFill/>
          <a:ln/>
        </p:spPr>
        <p:txBody>
          <a:bodyPr wrap="square" lIns="0" tIns="0" rIns="0" bIns="0" rtlCol="0" anchor="t"/>
          <a:lstStyle/>
          <a:p>
            <a:pPr algn="ctr" indent="0" marL="0">
              <a:lnSpc>
                <a:spcPts val="1755"/>
              </a:lnSpc>
              <a:buNone/>
            </a:pPr>
            <a:r>
              <a:rPr lang="en-US" sz="1300" spc="-26" kern="0" dirty="0">
                <a:gradFill rotWithShape="1">
                  <a:gsLst>
                    <a:gs pos="0">
                      <a:srgbClr val="993EF4"/>
                    </a:gs>
                    <a:gs pos="100000">
                      <a:srgbClr val="0053E2"/>
                    </a:gs>
                  </a:gsLst>
                  <a:lin ang="0" scaled="0"/>
                </a:gradFill>
                <a:latin typeface="Everyday Sans Headline Light" pitchFamily="34" charset="0"/>
                <a:ea typeface="Everyday Sans Headline Light" pitchFamily="34" charset="-122"/>
                <a:cs typeface="Everyday Sans Headline Light" pitchFamily="34" charset="-120"/>
              </a:rPr>
              <a:t>7</a:t>
            </a:r>
            <a:endParaRPr lang="en-US" sz="1300" dirty="0"/>
          </a:p>
        </p:txBody>
      </p:sp>
      <p:sp>
        <p:nvSpPr>
          <p:cNvPr id="124" name="Text 122"/>
          <p:cNvSpPr txBox="1"/>
          <p:nvPr/>
        </p:nvSpPr>
        <p:spPr>
          <a:xfrm>
            <a:off x="508000" y="5320109"/>
            <a:ext cx="12070080" cy="133350"/>
          </a:xfrm>
          <a:prstGeom prst="rect">
            <a:avLst/>
          </a:prstGeom>
          <a:noFill/>
          <a:ln/>
        </p:spPr>
        <p:txBody>
          <a:bodyPr wrap="square" lIns="0" tIns="0" rIns="0" bIns="0" rtlCol="0" anchor="t"/>
          <a:lstStyle/>
          <a:p>
            <a:pPr algn="l" indent="0" marL="0">
              <a:lnSpc>
                <a:spcPts val="1050"/>
              </a:lnSpc>
              <a:buNone/>
            </a:pPr>
            <a:r>
              <a:rPr lang="en-US" sz="750" i="1" dirty="0">
                <a:solidFill>
                  <a:srgbClr val="3D4A63"/>
                </a:solidFill>
                <a:latin typeface="Everyday Sans UI" pitchFamily="34" charset="0"/>
                <a:ea typeface="Everyday Sans UI" pitchFamily="34" charset="-122"/>
                <a:cs typeface="Everyday Sans UI" pitchFamily="34" charset="-120"/>
              </a:rPr>
              <a:t>Dots indicate which advertiser pain points each initiative is intended to address. They are not scores, rankings or estimates of relative impact.</a:t>
            </a:r>
            <a:endParaRPr lang="en-US" sz="750" dirty="0"/>
          </a:p>
        </p:txBody>
      </p:sp>
      <p:sp>
        <p:nvSpPr>
          <p:cNvPr id="125" name="Text 123"/>
          <p:cNvSpPr txBox="1"/>
          <p:nvPr/>
        </p:nvSpPr>
        <p:spPr>
          <a:xfrm>
            <a:off x="508000" y="5904309"/>
            <a:ext cx="1549400" cy="87313"/>
          </a:xfrm>
          <a:prstGeom prst="rect">
            <a:avLst/>
          </a:prstGeom>
          <a:noFill/>
          <a:ln/>
        </p:spPr>
        <p:txBody>
          <a:bodyPr wrap="square" lIns="0" tIns="0" rIns="0" bIns="0" rtlCol="0" anchor="t"/>
          <a:lstStyle/>
          <a:p>
            <a:pPr algn="l" indent="0" marL="0">
              <a:lnSpc>
                <a:spcPts val="688"/>
              </a:lnSpc>
              <a:buNone/>
            </a:pPr>
            <a:r>
              <a:rPr lang="en-US" sz="550" spc="77" kern="0" dirty="0">
                <a:solidFill>
                  <a:srgbClr val="0053E2"/>
                </a:solidFill>
                <a:latin typeface="Everyday Sans Mono" pitchFamily="34" charset="0"/>
                <a:ea typeface="Everyday Sans Mono" pitchFamily="34" charset="-122"/>
                <a:cs typeface="Everyday Sans Mono" pitchFamily="34" charset="-120"/>
              </a:rPr>
              <a:t>THE SYSTEM</a:t>
            </a:r>
            <a:endParaRPr lang="en-US" sz="550" dirty="0"/>
          </a:p>
        </p:txBody>
      </p:sp>
      <p:sp>
        <p:nvSpPr>
          <p:cNvPr id="126" name="Text 124"/>
          <p:cNvSpPr txBox="1"/>
          <p:nvPr/>
        </p:nvSpPr>
        <p:spPr>
          <a:xfrm>
            <a:off x="2108200" y="5790009"/>
            <a:ext cx="10341864" cy="222250"/>
          </a:xfrm>
          <a:prstGeom prst="rect">
            <a:avLst/>
          </a:prstGeom>
          <a:noFill/>
          <a:ln/>
        </p:spPr>
        <p:txBody>
          <a:bodyPr wrap="square" lIns="0" tIns="0" rIns="0" bIns="0" rtlCol="0" anchor="t"/>
          <a:lstStyle/>
          <a:p>
            <a:pPr algn="l" indent="0" marL="0">
              <a:lnSpc>
                <a:spcPts val="1750"/>
              </a:lnSpc>
              <a:buNone/>
            </a:pPr>
            <a:r>
              <a:rPr lang="en-US" sz="1400" spc="-28" kern="0" dirty="0">
                <a:solidFill>
                  <a:srgbClr val="001E60"/>
                </a:solidFill>
                <a:latin typeface="Everyday Sans Headline Light" pitchFamily="34" charset="0"/>
                <a:ea typeface="Everyday Sans Headline Light" pitchFamily="34" charset="-122"/>
                <a:cs typeface="Everyday Sans Headline Light" pitchFamily="34" charset="-120"/>
              </a:rPr>
              <a:t>Individual initiatives become more valuable when they work together as part of a coherent experience system.</a:t>
            </a:r>
            <a:endParaRPr lang="en-US" sz="1400" dirty="0"/>
          </a:p>
        </p:txBody>
      </p:sp>
      <p:pic>
        <p:nvPicPr>
          <p:cNvPr id="127"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128" name="Text 125"/>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129" name="Text 126"/>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16 / 18</a:t>
            </a:r>
            <a:endParaRPr lang="en-US" sz="650" dirty="0"/>
          </a:p>
        </p:txBody>
      </p:sp>
      <p:pic>
        <p:nvPicPr>
          <p:cNvPr id="130"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508000" y="939800"/>
            <a:ext cx="1377950" cy="127000"/>
          </a:xfrm>
          <a:prstGeom prst="roundRect">
            <a:avLst>
              <a:gd name="adj" fmla="val 360000"/>
            </a:avLst>
          </a:prstGeom>
          <a:solidFill>
            <a:srgbClr val="D7EEF9"/>
          </a:solidFill>
          <a:ln/>
        </p:spPr>
      </p:sp>
      <p:sp>
        <p:nvSpPr>
          <p:cNvPr id="3" name="Shape 1"/>
          <p:cNvSpPr/>
          <p:nvPr/>
        </p:nvSpPr>
        <p:spPr>
          <a:xfrm>
            <a:off x="508000" y="3100586"/>
            <a:ext cx="11176000" cy="6350"/>
          </a:xfrm>
          <a:prstGeom prst="rect">
            <a:avLst/>
          </a:prstGeom>
          <a:solidFill>
            <a:srgbClr val="0053E2"/>
          </a:solidFill>
          <a:ln/>
        </p:spPr>
      </p:sp>
      <p:sp>
        <p:nvSpPr>
          <p:cNvPr id="4" name="Shape 2"/>
          <p:cNvSpPr/>
          <p:nvPr/>
        </p:nvSpPr>
        <p:spPr>
          <a:xfrm>
            <a:off x="508000" y="3062486"/>
            <a:ext cx="82550" cy="82550"/>
          </a:xfrm>
          <a:prstGeom prst="ellipse">
            <a:avLst/>
          </a:prstGeom>
          <a:solidFill>
            <a:srgbClr val="F5F6F8"/>
          </a:solidFill>
          <a:ln w="6350">
            <a:solidFill>
              <a:srgbClr val="0053E2"/>
            </a:solidFill>
            <a:prstDash val="solid"/>
          </a:ln>
        </p:spPr>
      </p:sp>
      <p:sp>
        <p:nvSpPr>
          <p:cNvPr id="5" name="Shape 3"/>
          <p:cNvSpPr/>
          <p:nvPr/>
        </p:nvSpPr>
        <p:spPr>
          <a:xfrm>
            <a:off x="2783780" y="3062486"/>
            <a:ext cx="82550" cy="82550"/>
          </a:xfrm>
          <a:prstGeom prst="ellipse">
            <a:avLst/>
          </a:prstGeom>
          <a:solidFill>
            <a:srgbClr val="F5F6F8"/>
          </a:solidFill>
          <a:ln w="6350">
            <a:solidFill>
              <a:srgbClr val="0053E2"/>
            </a:solidFill>
            <a:prstDash val="solid"/>
          </a:ln>
        </p:spPr>
      </p:sp>
      <p:sp>
        <p:nvSpPr>
          <p:cNvPr id="6" name="Shape 4"/>
          <p:cNvSpPr/>
          <p:nvPr/>
        </p:nvSpPr>
        <p:spPr>
          <a:xfrm>
            <a:off x="5059660" y="3062486"/>
            <a:ext cx="82550" cy="82550"/>
          </a:xfrm>
          <a:prstGeom prst="ellipse">
            <a:avLst/>
          </a:prstGeom>
          <a:solidFill>
            <a:srgbClr val="F5F6F8"/>
          </a:solidFill>
          <a:ln w="6350">
            <a:solidFill>
              <a:srgbClr val="0053E2"/>
            </a:solidFill>
            <a:prstDash val="solid"/>
          </a:ln>
        </p:spPr>
      </p:sp>
      <p:sp>
        <p:nvSpPr>
          <p:cNvPr id="7" name="Shape 5"/>
          <p:cNvSpPr/>
          <p:nvPr/>
        </p:nvSpPr>
        <p:spPr>
          <a:xfrm>
            <a:off x="7335441" y="3062486"/>
            <a:ext cx="82550" cy="82550"/>
          </a:xfrm>
          <a:prstGeom prst="ellipse">
            <a:avLst/>
          </a:prstGeom>
          <a:solidFill>
            <a:srgbClr val="F5F6F8"/>
          </a:solidFill>
          <a:ln w="6350">
            <a:solidFill>
              <a:srgbClr val="0053E2"/>
            </a:solidFill>
            <a:prstDash val="solid"/>
          </a:ln>
        </p:spPr>
      </p:sp>
      <p:sp>
        <p:nvSpPr>
          <p:cNvPr id="8" name="Shape 6"/>
          <p:cNvSpPr/>
          <p:nvPr/>
        </p:nvSpPr>
        <p:spPr>
          <a:xfrm>
            <a:off x="9611320" y="3062486"/>
            <a:ext cx="82550" cy="82550"/>
          </a:xfrm>
          <a:prstGeom prst="ellipse">
            <a:avLst/>
          </a:prstGeom>
          <a:solidFill>
            <a:srgbClr val="F5F6F8"/>
          </a:solidFill>
          <a:ln w="6350">
            <a:solidFill>
              <a:srgbClr val="0053E2"/>
            </a:solidFill>
            <a:prstDash val="solid"/>
          </a:ln>
        </p:spPr>
      </p:sp>
      <p:sp>
        <p:nvSpPr>
          <p:cNvPr id="9" name="Shape 7"/>
          <p:cNvSpPr/>
          <p:nvPr/>
        </p:nvSpPr>
        <p:spPr>
          <a:xfrm>
            <a:off x="508000" y="4282480"/>
            <a:ext cx="8890000" cy="0"/>
          </a:xfrm>
          <a:prstGeom prst="line">
            <a:avLst/>
          </a:prstGeom>
          <a:noFill/>
          <a:ln w="6350">
            <a:gradFill rotWithShape="1">
              <a:gsLst>
                <a:gs pos="0">
                  <a:srgbClr val="993EF4"/>
                </a:gs>
                <a:gs pos="100000">
                  <a:srgbClr val="00D0CD"/>
                </a:gs>
              </a:gsLst>
              <a:lin ang="0" scaled="0"/>
            </a:gradFill>
            <a:prstDash val="solid"/>
          </a:ln>
        </p:spPr>
      </p:sp>
      <p:sp>
        <p:nvSpPr>
          <p:cNvPr id="10" name="Shape 8"/>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11" name="Text 9"/>
          <p:cNvSpPr txBox="1"/>
          <p:nvPr/>
        </p:nvSpPr>
        <p:spPr>
          <a:xfrm>
            <a:off x="501650" y="971550"/>
            <a:ext cx="139065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THE SYSTEM WE’RE BUILDING</a:t>
            </a:r>
            <a:endParaRPr lang="en-US" sz="500" dirty="0"/>
          </a:p>
        </p:txBody>
      </p:sp>
      <p:sp>
        <p:nvSpPr>
          <p:cNvPr id="12" name="Text 10"/>
          <p:cNvSpPr txBox="1"/>
          <p:nvPr/>
        </p:nvSpPr>
        <p:spPr>
          <a:xfrm>
            <a:off x="508000" y="1212850"/>
            <a:ext cx="12070080" cy="384048"/>
          </a:xfrm>
          <a:prstGeom prst="rect">
            <a:avLst/>
          </a:prstGeom>
          <a:noFill/>
          <a:ln/>
        </p:spPr>
        <p:txBody>
          <a:bodyPr wrap="square" lIns="0" tIns="0" rIns="0" bIns="0" rtlCol="0" anchor="t"/>
          <a:lstStyle/>
          <a:p>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Listen. Diagnose. Simplify. Measure. </a:t>
            </a:r>
            <a:pPr algn="l" indent="0" marL="0">
              <a:lnSpc>
                <a:spcPts val="3024"/>
              </a:lnSpc>
              <a:buNone/>
            </a:pPr>
            <a:r>
              <a:rPr lang="en-US" sz="2400" i="1" spc="-72" kern="0" dirty="0">
                <a:gradFill rotWithShape="1">
                  <a:gsLst>
                    <a:gs pos="0">
                      <a:srgbClr val="993EF4"/>
                    </a:gs>
                    <a:gs pos="100000">
                      <a:srgbClr val="0053E2"/>
                    </a:gs>
                  </a:gsLst>
                  <a:lin ang="0" scaled="0"/>
                </a:gradFill>
                <a:latin typeface="Everyday Sans Light" pitchFamily="34" charset="0"/>
                <a:ea typeface="Everyday Sans Light" pitchFamily="34" charset="-122"/>
                <a:cs typeface="Everyday Sans Light" pitchFamily="34" charset="-120"/>
              </a:rPr>
              <a:t>Learn</a:t>
            </a:r>
            <a:pPr algn="l" indent="0" marL="0">
              <a:lnSpc>
                <a:spcPts val="3024"/>
              </a:lnSpc>
              <a:buNone/>
            </a:pPr>
            <a:r>
              <a:rPr lang="en-US" sz="2400" spc="-72" kern="0" dirty="0">
                <a:solidFill>
                  <a:srgbClr val="001E60"/>
                </a:solidFill>
                <a:latin typeface="Everyday Sans Headline Light" pitchFamily="34" charset="0"/>
                <a:ea typeface="Everyday Sans Headline Light" pitchFamily="34" charset="-122"/>
                <a:cs typeface="Everyday Sans Headline Light" pitchFamily="34" charset="-120"/>
              </a:rPr>
              <a:t>.</a:t>
            </a:r>
            <a:endParaRPr lang="en-US" sz="2400" dirty="0"/>
          </a:p>
        </p:txBody>
      </p:sp>
      <p:sp>
        <p:nvSpPr>
          <p:cNvPr id="13" name="Text 11"/>
          <p:cNvSpPr txBox="1"/>
          <p:nvPr/>
        </p:nvSpPr>
        <p:spPr>
          <a:xfrm>
            <a:off x="508000" y="1698427"/>
            <a:ext cx="12070080" cy="165735"/>
          </a:xfrm>
          <a:prstGeom prst="rect">
            <a:avLst/>
          </a:prstGeom>
          <a:noFill/>
          <a:ln/>
        </p:spPr>
        <p:txBody>
          <a:bodyPr wrap="square" lIns="0" tIns="0" rIns="0" bIns="0" rtlCol="0" anchor="t"/>
          <a:lstStyle/>
          <a:p>
            <a:pPr algn="l" indent="0" marL="0">
              <a:lnSpc>
                <a:spcPts val="1305"/>
              </a:lnSpc>
              <a:buNone/>
            </a:pPr>
            <a:r>
              <a:rPr lang="en-US" sz="900" dirty="0">
                <a:solidFill>
                  <a:srgbClr val="3D4A63"/>
                </a:solidFill>
                <a:latin typeface="Everyday Sans UI" pitchFamily="34" charset="0"/>
                <a:ea typeface="Everyday Sans UI" pitchFamily="34" charset="-122"/>
                <a:cs typeface="Everyday Sans UI" pitchFamily="34" charset="-120"/>
              </a:rPr>
              <a:t>Improving advertiser experience is not a one-time redesign. It is a continuous system for turning advertiser evidence into better experiences and measurable outcomes.</a:t>
            </a:r>
            <a:endParaRPr lang="en-US" sz="900" dirty="0"/>
          </a:p>
        </p:txBody>
      </p:sp>
      <p:sp>
        <p:nvSpPr>
          <p:cNvPr id="14" name="Text 12"/>
          <p:cNvSpPr txBox="1"/>
          <p:nvPr/>
        </p:nvSpPr>
        <p:spPr>
          <a:xfrm>
            <a:off x="50800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LISTEN</a:t>
            </a:r>
            <a:endParaRPr lang="en-US" sz="600" dirty="0"/>
          </a:p>
        </p:txBody>
      </p:sp>
      <p:sp>
        <p:nvSpPr>
          <p:cNvPr id="15" name="Text 13"/>
          <p:cNvSpPr txBox="1"/>
          <p:nvPr/>
        </p:nvSpPr>
        <p:spPr>
          <a:xfrm>
            <a:off x="508000" y="3386336"/>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UXR, VOC, Sales, Support,</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Pendo</a:t>
            </a:r>
            <a:endParaRPr lang="en-US" sz="1300" dirty="0"/>
          </a:p>
        </p:txBody>
      </p:sp>
      <p:sp>
        <p:nvSpPr>
          <p:cNvPr id="16" name="Text 14"/>
          <p:cNvSpPr txBox="1"/>
          <p:nvPr/>
        </p:nvSpPr>
        <p:spPr>
          <a:xfrm>
            <a:off x="2783780" y="3240286"/>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DIAGNOSE</a:t>
            </a:r>
            <a:endParaRPr lang="en-US" sz="600" dirty="0"/>
          </a:p>
        </p:txBody>
      </p:sp>
      <p:sp>
        <p:nvSpPr>
          <p:cNvPr id="17" name="Text 15"/>
          <p:cNvSpPr txBox="1"/>
          <p:nvPr/>
        </p:nvSpPr>
        <p:spPr>
          <a:xfrm>
            <a:off x="2783780" y="3386336"/>
            <a:ext cx="2238494"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Behavior, experience,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performance</a:t>
            </a:r>
            <a:endParaRPr lang="en-US" sz="1300" dirty="0"/>
          </a:p>
        </p:txBody>
      </p:sp>
      <p:sp>
        <p:nvSpPr>
          <p:cNvPr id="18" name="Text 16"/>
          <p:cNvSpPr txBox="1"/>
          <p:nvPr/>
        </p:nvSpPr>
        <p:spPr>
          <a:xfrm>
            <a:off x="505966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SIMPLIFY</a:t>
            </a:r>
            <a:endParaRPr lang="en-US" sz="600" dirty="0"/>
          </a:p>
        </p:txBody>
      </p:sp>
      <p:sp>
        <p:nvSpPr>
          <p:cNvPr id="19" name="Text 17"/>
          <p:cNvSpPr txBox="1"/>
          <p:nvPr/>
        </p:nvSpPr>
        <p:spPr>
          <a:xfrm>
            <a:off x="5059660" y="3386336"/>
            <a:ext cx="2238387" cy="594122"/>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Remove friction with shared</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capabilities and better</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guidance</a:t>
            </a:r>
            <a:endParaRPr lang="en-US" sz="1300" dirty="0"/>
          </a:p>
        </p:txBody>
      </p:sp>
      <p:sp>
        <p:nvSpPr>
          <p:cNvPr id="20" name="Text 18"/>
          <p:cNvSpPr txBox="1"/>
          <p:nvPr/>
        </p:nvSpPr>
        <p:spPr>
          <a:xfrm>
            <a:off x="7335441" y="3240286"/>
            <a:ext cx="2238494"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MEASURE</a:t>
            </a:r>
            <a:endParaRPr lang="en-US" sz="600" dirty="0"/>
          </a:p>
        </p:txBody>
      </p:sp>
      <p:sp>
        <p:nvSpPr>
          <p:cNvPr id="21" name="Text 19"/>
          <p:cNvSpPr txBox="1"/>
          <p:nvPr/>
        </p:nvSpPr>
        <p:spPr>
          <a:xfrm>
            <a:off x="7335441" y="3386336"/>
            <a:ext cx="2238494"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Behavior, adoption, media</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outcomes</a:t>
            </a:r>
            <a:endParaRPr lang="en-US" sz="1300" dirty="0"/>
          </a:p>
        </p:txBody>
      </p:sp>
      <p:sp>
        <p:nvSpPr>
          <p:cNvPr id="22" name="Text 20"/>
          <p:cNvSpPr txBox="1"/>
          <p:nvPr/>
        </p:nvSpPr>
        <p:spPr>
          <a:xfrm>
            <a:off x="9611320" y="3240286"/>
            <a:ext cx="2238387" cy="95250"/>
          </a:xfrm>
          <a:prstGeom prst="rect">
            <a:avLst/>
          </a:prstGeom>
          <a:noFill/>
          <a:ln/>
        </p:spPr>
        <p:txBody>
          <a:bodyPr wrap="square" lIns="0" tIns="0" rIns="0" bIns="0" rtlCol="0" anchor="t"/>
          <a:lstStyle/>
          <a:p>
            <a:pPr algn="l" indent="0" marL="0">
              <a:lnSpc>
                <a:spcPts val="720"/>
              </a:lnSpc>
              <a:buNone/>
            </a:pPr>
            <a:r>
              <a:rPr lang="en-US" sz="600" spc="84" kern="0" dirty="0">
                <a:solidFill>
                  <a:srgbClr val="0053E2"/>
                </a:solidFill>
                <a:latin typeface="Everyday Sans Mono" pitchFamily="34" charset="0"/>
                <a:ea typeface="Everyday Sans Mono" pitchFamily="34" charset="-122"/>
                <a:cs typeface="Everyday Sans Mono" pitchFamily="34" charset="-120"/>
              </a:rPr>
              <a:t>LEARN</a:t>
            </a:r>
            <a:endParaRPr lang="en-US" sz="600" dirty="0"/>
          </a:p>
        </p:txBody>
      </p:sp>
      <p:sp>
        <p:nvSpPr>
          <p:cNvPr id="23" name="Text 21"/>
          <p:cNvSpPr txBox="1"/>
          <p:nvPr/>
        </p:nvSpPr>
        <p:spPr>
          <a:xfrm>
            <a:off x="9611320" y="3386336"/>
            <a:ext cx="2238387" cy="396081"/>
          </a:xfrm>
          <a:prstGeom prst="rect">
            <a:avLst/>
          </a:prstGeom>
          <a:noFill/>
          <a:ln/>
        </p:spPr>
        <p:txBody>
          <a:bodyPr wrap="square" lIns="0" tIns="0" rIns="0" bIns="0" rtlCol="0" anchor="t"/>
          <a:lstStyle/>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Decide what to improve,</a:t>
            </a:r>
            <a:endParaRPr lang="en-US" sz="1300" dirty="0"/>
          </a:p>
          <a:p>
            <a:pPr algn="l" indent="0" marL="0">
              <a:lnSpc>
                <a:spcPts val="1560"/>
              </a:lnSpc>
              <a:buNone/>
            </a:pPr>
            <a:r>
              <a:rPr lang="en-US" sz="1300" spc="-39" kern="0" dirty="0">
                <a:solidFill>
                  <a:srgbClr val="001E60"/>
                </a:solidFill>
                <a:latin typeface="Everyday Sans Headline Light" pitchFamily="34" charset="0"/>
                <a:ea typeface="Everyday Sans Headline Light" pitchFamily="34" charset="-122"/>
                <a:cs typeface="Everyday Sans Headline Light" pitchFamily="34" charset="-120"/>
              </a:rPr>
              <a:t>refine or scale next</a:t>
            </a:r>
            <a:endParaRPr lang="en-US" sz="1300" dirty="0"/>
          </a:p>
        </p:txBody>
      </p:sp>
      <p:sp>
        <p:nvSpPr>
          <p:cNvPr id="24" name="Text 22"/>
          <p:cNvSpPr txBox="1"/>
          <p:nvPr/>
        </p:nvSpPr>
        <p:spPr>
          <a:xfrm>
            <a:off x="9611320" y="3922117"/>
            <a:ext cx="2238387" cy="128588"/>
          </a:xfrm>
          <a:prstGeom prst="rect">
            <a:avLst/>
          </a:prstGeom>
          <a:noFill/>
          <a:ln/>
        </p:spPr>
        <p:txBody>
          <a:bodyPr wrap="square" lIns="0" tIns="0" rIns="0" bIns="0" rtlCol="0" anchor="t"/>
          <a:lstStyle/>
          <a:p>
            <a:pPr algn="l" indent="0" marL="0">
              <a:lnSpc>
                <a:spcPts val="1013"/>
              </a:lnSpc>
              <a:buNone/>
            </a:pPr>
            <a:r>
              <a:rPr lang="en-US" sz="750" spc="105" kern="0" dirty="0">
                <a:solidFill>
                  <a:srgbClr val="3D4A63"/>
                </a:solidFill>
                <a:latin typeface="Everyday Sans Mono" pitchFamily="34" charset="0"/>
                <a:ea typeface="Everyday Sans Mono" pitchFamily="34" charset="-122"/>
                <a:cs typeface="Everyday Sans Mono" pitchFamily="34" charset="-120"/>
              </a:rPr>
              <a:t>↺ REPEAT</a:t>
            </a:r>
            <a:endParaRPr lang="en-US" sz="750" dirty="0"/>
          </a:p>
        </p:txBody>
      </p:sp>
      <p:sp>
        <p:nvSpPr>
          <p:cNvPr id="25" name="Text 23"/>
          <p:cNvSpPr txBox="1"/>
          <p:nvPr/>
        </p:nvSpPr>
        <p:spPr>
          <a:xfrm>
            <a:off x="508000" y="4412655"/>
            <a:ext cx="9601200" cy="609600"/>
          </a:xfrm>
          <a:prstGeom prst="rect">
            <a:avLst/>
          </a:prstGeom>
          <a:noFill/>
          <a:ln/>
        </p:spPr>
        <p:txBody>
          <a:bodyPr wrap="square" lIns="0" tIns="0" rIns="0" bIns="0" rtlCol="0" anchor="t"/>
          <a:lstStyle/>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We don’t need advertisers to trust that Walmart Ads is getting better. We need to</a:t>
            </a:r>
            <a:endParaRPr lang="en-US" sz="2000" dirty="0"/>
          </a:p>
          <a:p>
            <a:pPr algn="l" indent="0" marL="0">
              <a:lnSpc>
                <a:spcPts val="2400"/>
              </a:lnSpc>
              <a:buNone/>
            </a:pPr>
            <a:r>
              <a:rPr lang="en-US" sz="2000" spc="-60" kern="0" dirty="0">
                <a:solidFill>
                  <a:srgbClr val="001E60"/>
                </a:solidFill>
                <a:latin typeface="Everyday Sans Headline Light" pitchFamily="34" charset="0"/>
                <a:ea typeface="Everyday Sans Headline Light" pitchFamily="34" charset="-122"/>
                <a:cs typeface="Everyday Sans Headline Light" pitchFamily="34" charset="-120"/>
              </a:rPr>
              <a:t>give them an experience, evidence and outcomes that prove it.</a:t>
            </a:r>
            <a:endParaRPr lang="en-US" sz="2000" dirty="0"/>
          </a:p>
        </p:txBody>
      </p:sp>
      <p:pic>
        <p:nvPicPr>
          <p:cNvPr id="2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27" name="Text 24"/>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3D4A63"/>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28" name="Text 2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3D4A63"/>
                </a:solidFill>
                <a:latin typeface="Everyday Sans Mono" pitchFamily="34" charset="0"/>
                <a:ea typeface="Everyday Sans Mono" pitchFamily="34" charset="-122"/>
                <a:cs typeface="Everyday Sans Mono" pitchFamily="34" charset="-120"/>
              </a:rPr>
              <a:t>17 / 18</a:t>
            </a:r>
            <a:endParaRPr lang="en-US" sz="650" dirty="0"/>
          </a:p>
        </p:txBody>
      </p:sp>
      <p:pic>
        <p:nvPicPr>
          <p:cNvPr id="29"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E60"/>
        </a:solidFill>
      </p:bgPr>
    </p:bg>
    <p:spTree>
      <p:nvGrpSpPr>
        <p:cNvPr id="1" name=""/>
        <p:cNvGrpSpPr/>
        <p:nvPr/>
      </p:nvGrpSpPr>
      <p:grpSpPr>
        <a:xfrm>
          <a:off x="0" y="0"/>
          <a:ext cx="0" cy="0"/>
          <a:chOff x="0" y="0"/>
          <a:chExt cx="0" cy="0"/>
        </a:xfrm>
      </p:grpSpPr>
      <p:sp>
        <p:nvSpPr>
          <p:cNvPr id="2" name="Shape 0"/>
          <p:cNvSpPr/>
          <p:nvPr/>
        </p:nvSpPr>
        <p:spPr>
          <a:xfrm>
            <a:off x="508000" y="939800"/>
            <a:ext cx="734120" cy="127000"/>
          </a:xfrm>
          <a:prstGeom prst="roundRect">
            <a:avLst>
              <a:gd name="adj" fmla="val 360000"/>
            </a:avLst>
          </a:prstGeom>
          <a:solidFill>
            <a:srgbClr val="D7EEF9"/>
          </a:solidFill>
          <a:ln/>
        </p:spPr>
      </p:sp>
      <p:sp>
        <p:nvSpPr>
          <p:cNvPr id="3" name="Shape 1"/>
          <p:cNvSpPr/>
          <p:nvPr/>
        </p:nvSpPr>
        <p:spPr>
          <a:xfrm>
            <a:off x="508000" y="2506464"/>
            <a:ext cx="3048000" cy="0"/>
          </a:xfrm>
          <a:prstGeom prst="line">
            <a:avLst/>
          </a:prstGeom>
          <a:noFill/>
          <a:ln w="6350">
            <a:gradFill rotWithShape="1">
              <a:gsLst>
                <a:gs pos="0">
                  <a:srgbClr val="993EF4"/>
                </a:gs>
                <a:gs pos="100000">
                  <a:srgbClr val="00D0CD"/>
                </a:gs>
              </a:gsLst>
              <a:lin ang="0" scaled="0"/>
            </a:gradFill>
            <a:prstDash val="solid"/>
          </a:ln>
        </p:spPr>
      </p:sp>
      <p:sp>
        <p:nvSpPr>
          <p:cNvPr id="4" name="Shape 2"/>
          <p:cNvSpPr/>
          <p:nvPr/>
        </p:nvSpPr>
        <p:spPr>
          <a:xfrm>
            <a:off x="3810000" y="2506464"/>
            <a:ext cx="3048000" cy="0"/>
          </a:xfrm>
          <a:prstGeom prst="line">
            <a:avLst/>
          </a:prstGeom>
          <a:noFill/>
          <a:ln w="6350">
            <a:gradFill rotWithShape="1">
              <a:gsLst>
                <a:gs pos="0">
                  <a:srgbClr val="993EF4"/>
                </a:gs>
                <a:gs pos="100000">
                  <a:srgbClr val="00D0CD"/>
                </a:gs>
              </a:gsLst>
              <a:lin ang="0" scaled="0"/>
            </a:gradFill>
            <a:prstDash val="solid"/>
          </a:ln>
        </p:spPr>
      </p:sp>
      <p:sp>
        <p:nvSpPr>
          <p:cNvPr id="5" name="Shape 3"/>
          <p:cNvSpPr/>
          <p:nvPr/>
        </p:nvSpPr>
        <p:spPr>
          <a:xfrm>
            <a:off x="7112000" y="2506464"/>
            <a:ext cx="3048000" cy="0"/>
          </a:xfrm>
          <a:prstGeom prst="line">
            <a:avLst/>
          </a:prstGeom>
          <a:noFill/>
          <a:ln w="6350">
            <a:gradFill rotWithShape="1">
              <a:gsLst>
                <a:gs pos="0">
                  <a:srgbClr val="993EF4"/>
                </a:gs>
                <a:gs pos="100000">
                  <a:srgbClr val="00D0CD"/>
                </a:gs>
              </a:gsLst>
              <a:lin ang="0" scaled="0"/>
            </a:gradFill>
            <a:prstDash val="solid"/>
          </a:ln>
        </p:spPr>
      </p:sp>
      <p:sp>
        <p:nvSpPr>
          <p:cNvPr id="6" name="Shape 4"/>
          <p:cNvSpPr/>
          <p:nvPr/>
        </p:nvSpPr>
        <p:spPr>
          <a:xfrm>
            <a:off x="0" y="0"/>
            <a:ext cx="12192000" cy="50800"/>
          </a:xfrm>
          <a:prstGeom prst="rect">
            <a:avLst/>
          </a:prstGeom>
          <a:gradFill rotWithShape="1">
            <a:gsLst>
              <a:gs pos="0">
                <a:srgbClr val="001E60"/>
              </a:gs>
              <a:gs pos="16666">
                <a:srgbClr val="001E60"/>
              </a:gs>
              <a:gs pos="16667">
                <a:srgbClr val="FFFFFF"/>
              </a:gs>
              <a:gs pos="33332">
                <a:srgbClr val="FFFFFF"/>
              </a:gs>
              <a:gs pos="33333">
                <a:srgbClr val="4DBDF5"/>
              </a:gs>
              <a:gs pos="49999">
                <a:srgbClr val="4DBDF5"/>
              </a:gs>
              <a:gs pos="50000">
                <a:srgbClr val="0053E2"/>
              </a:gs>
              <a:gs pos="66666">
                <a:srgbClr val="0053E2"/>
              </a:gs>
              <a:gs pos="66667">
                <a:srgbClr val="993EF4"/>
              </a:gs>
              <a:gs pos="83332">
                <a:srgbClr val="993EF4"/>
              </a:gs>
              <a:gs pos="83333">
                <a:srgbClr val="00D0CD"/>
              </a:gs>
              <a:gs pos="99999">
                <a:srgbClr val="00D0CD"/>
              </a:gs>
            </a:gsLst>
            <a:lin ang="0" scaled="0"/>
          </a:gradFill>
          <a:ln/>
        </p:spPr>
      </p:sp>
      <p:sp>
        <p:nvSpPr>
          <p:cNvPr id="7" name="Text 5"/>
          <p:cNvSpPr txBox="1"/>
          <p:nvPr/>
        </p:nvSpPr>
        <p:spPr>
          <a:xfrm>
            <a:off x="501650" y="971550"/>
            <a:ext cx="746820" cy="63500"/>
          </a:xfrm>
          <a:prstGeom prst="rect">
            <a:avLst/>
          </a:prstGeom>
          <a:noFill/>
          <a:ln/>
        </p:spPr>
        <p:txBody>
          <a:bodyPr wrap="square" lIns="0" tIns="0" rIns="0" bIns="0" rtlCol="0" anchor="ctr"/>
          <a:lstStyle/>
          <a:p>
            <a:pPr algn="ctr" indent="0" marL="0">
              <a:lnSpc>
                <a:spcPts val="500"/>
              </a:lnSpc>
              <a:buNone/>
            </a:pPr>
            <a:r>
              <a:rPr lang="en-US" sz="500" spc="90" kern="0" dirty="0">
                <a:solidFill>
                  <a:srgbClr val="0053E2"/>
                </a:solidFill>
                <a:latin typeface="Everyday Sans Mono" pitchFamily="34" charset="0"/>
                <a:ea typeface="Everyday Sans Mono" pitchFamily="34" charset="-122"/>
                <a:cs typeface="Everyday Sans Mono" pitchFamily="34" charset="-120"/>
              </a:rPr>
              <a:t>WHAT WE NEED</a:t>
            </a:r>
            <a:endParaRPr lang="en-US" sz="500" dirty="0"/>
          </a:p>
        </p:txBody>
      </p:sp>
      <p:sp>
        <p:nvSpPr>
          <p:cNvPr id="8" name="Text 6"/>
          <p:cNvSpPr txBox="1"/>
          <p:nvPr/>
        </p:nvSpPr>
        <p:spPr>
          <a:xfrm>
            <a:off x="508000" y="1212850"/>
            <a:ext cx="7878342" cy="576072"/>
          </a:xfrm>
          <a:prstGeom prst="rect">
            <a:avLst/>
          </a:prstGeom>
          <a:noFill/>
          <a:ln/>
        </p:spPr>
        <p:txBody>
          <a:bodyPr wrap="square" lIns="0" tIns="0" rIns="0" bIns="0" rtlCol="0" anchor="t"/>
          <a:lstStyle/>
          <a:p>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Three commitments make this </a:t>
            </a:r>
            <a:pPr algn="l" indent="0" marL="0">
              <a:lnSpc>
                <a:spcPts val="4536"/>
              </a:lnSpc>
              <a:buNone/>
            </a:pPr>
            <a:r>
              <a:rPr lang="en-US" sz="3600" i="1" spc="-108" kern="0" dirty="0">
                <a:gradFill rotWithShape="1">
                  <a:gsLst>
                    <a:gs pos="0">
                      <a:srgbClr val="993EF4"/>
                    </a:gs>
                    <a:gs pos="100000">
                      <a:srgbClr val="00D0CD"/>
                    </a:gs>
                  </a:gsLst>
                  <a:lin ang="0" scaled="0"/>
                </a:gradFill>
                <a:latin typeface="Everyday Sans Light" pitchFamily="34" charset="0"/>
                <a:ea typeface="Everyday Sans Light" pitchFamily="34" charset="-122"/>
                <a:cs typeface="Everyday Sans Light" pitchFamily="34" charset="-120"/>
              </a:rPr>
              <a:t>work</a:t>
            </a:r>
            <a:pPr algn="l" indent="0" marL="0">
              <a:lnSpc>
                <a:spcPts val="4536"/>
              </a:lnSpc>
              <a:buNone/>
            </a:pPr>
            <a:r>
              <a:rPr lang="en-US" sz="3600" spc="-108" kern="0" dirty="0">
                <a:solidFill>
                  <a:srgbClr val="FFFFFF"/>
                </a:solidFill>
                <a:latin typeface="Everyday Sans Headline Light" pitchFamily="34" charset="0"/>
                <a:ea typeface="Everyday Sans Headline Light" pitchFamily="34" charset="-122"/>
                <a:cs typeface="Everyday Sans Headline Light" pitchFamily="34" charset="-120"/>
              </a:rPr>
              <a:t>.</a:t>
            </a:r>
            <a:endParaRPr lang="en-US" sz="3600" dirty="0"/>
          </a:p>
        </p:txBody>
      </p:sp>
      <p:sp>
        <p:nvSpPr>
          <p:cNvPr id="9" name="Text 7"/>
          <p:cNvSpPr txBox="1"/>
          <p:nvPr/>
        </p:nvSpPr>
        <p:spPr>
          <a:xfrm>
            <a:off x="508000" y="1890514"/>
            <a:ext cx="6720840" cy="460375"/>
          </a:xfrm>
          <a:prstGeom prst="rect">
            <a:avLst/>
          </a:prstGeom>
          <a:noFill/>
          <a:ln/>
        </p:spPr>
        <p:txBody>
          <a:bodyPr wrap="square" lIns="0" tIns="0" rIns="0" bIns="0" rtlCol="0" anchor="t"/>
          <a:lstStyle/>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The strategy only holds if diagnosis, ownership and measurement are agreed before</a:t>
            </a:r>
            <a:endParaRPr lang="en-US" sz="1250" dirty="0"/>
          </a:p>
          <a:p>
            <a:pPr algn="l" indent="0" marL="0">
              <a:lnSpc>
                <a:spcPts val="1813"/>
              </a:lnSpc>
              <a:buNone/>
            </a:pPr>
            <a:r>
              <a:rPr lang="en-US" sz="1250" i="1" dirty="0">
                <a:solidFill>
                  <a:srgbClr val="FFFFFF"/>
                </a:solidFill>
                <a:latin typeface="Everyday Sans UI" pitchFamily="34" charset="0"/>
                <a:ea typeface="Everyday Sans UI" pitchFamily="34" charset="-122"/>
                <a:cs typeface="Everyday Sans UI" pitchFamily="34" charset="-120"/>
              </a:rPr>
              <a:t>solutions scale.</a:t>
            </a:r>
            <a:endParaRPr lang="en-US" sz="1250" dirty="0"/>
          </a:p>
        </p:txBody>
      </p:sp>
      <p:sp>
        <p:nvSpPr>
          <p:cNvPr id="10" name="Text 8"/>
          <p:cNvSpPr txBox="1"/>
          <p:nvPr/>
        </p:nvSpPr>
        <p:spPr>
          <a:xfrm>
            <a:off x="508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ALIGN</a:t>
            </a:r>
            <a:endParaRPr lang="en-US" sz="600" dirty="0"/>
          </a:p>
        </p:txBody>
      </p:sp>
      <p:sp>
        <p:nvSpPr>
          <p:cNvPr id="11" name="Text 9"/>
          <p:cNvSpPr txBox="1"/>
          <p:nvPr/>
        </p:nvSpPr>
        <p:spPr>
          <a:xfrm>
            <a:off x="508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Diagnose Display across all three contributors before prescribing a</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solution, and use it as the first proof point for this approach.</a:t>
            </a:r>
            <a:endParaRPr lang="en-US" sz="800" dirty="0"/>
          </a:p>
        </p:txBody>
      </p:sp>
      <p:sp>
        <p:nvSpPr>
          <p:cNvPr id="12" name="Text 10"/>
          <p:cNvSpPr txBox="1"/>
          <p:nvPr/>
        </p:nvSpPr>
        <p:spPr>
          <a:xfrm>
            <a:off x="3810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STAFF</a:t>
            </a:r>
            <a:endParaRPr lang="en-US" sz="600" dirty="0"/>
          </a:p>
        </p:txBody>
      </p:sp>
      <p:sp>
        <p:nvSpPr>
          <p:cNvPr id="13" name="Text 11"/>
          <p:cNvSpPr txBox="1"/>
          <p:nvPr/>
        </p:nvSpPr>
        <p:spPr>
          <a:xfrm>
            <a:off x="3810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Stand up a joint diagnosis with Display Product, Sales and Media Insights,</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with shared access to behavioral, setup and delivery data.</a:t>
            </a:r>
            <a:endParaRPr lang="en-US" sz="800" dirty="0"/>
          </a:p>
        </p:txBody>
      </p:sp>
      <p:sp>
        <p:nvSpPr>
          <p:cNvPr id="14" name="Text 12"/>
          <p:cNvSpPr txBox="1"/>
          <p:nvPr/>
        </p:nvSpPr>
        <p:spPr>
          <a:xfrm>
            <a:off x="7112000" y="2598539"/>
            <a:ext cx="3291840" cy="95250"/>
          </a:xfrm>
          <a:prstGeom prst="rect">
            <a:avLst/>
          </a:prstGeom>
          <a:noFill/>
          <a:ln/>
        </p:spPr>
        <p:txBody>
          <a:bodyPr wrap="square" lIns="0" tIns="0" rIns="0" bIns="0" rtlCol="0" anchor="t"/>
          <a:lstStyle/>
          <a:p>
            <a:pPr algn="l" indent="0" marL="0">
              <a:lnSpc>
                <a:spcPts val="720"/>
              </a:lnSpc>
              <a:buNone/>
            </a:pPr>
            <a:r>
              <a:rPr lang="en-US" sz="600" spc="60" kern="0" dirty="0">
                <a:solidFill>
                  <a:srgbClr val="4DBDF5"/>
                </a:solidFill>
                <a:latin typeface="Everyday Sans UI Medium" pitchFamily="34" charset="0"/>
                <a:ea typeface="Everyday Sans UI Medium" pitchFamily="34" charset="-122"/>
                <a:cs typeface="Everyday Sans UI Medium" pitchFamily="34" charset="-120"/>
              </a:rPr>
              <a:t>MEASURE</a:t>
            </a:r>
            <a:endParaRPr lang="en-US" sz="600" dirty="0"/>
          </a:p>
        </p:txBody>
      </p:sp>
      <p:sp>
        <p:nvSpPr>
          <p:cNvPr id="15" name="Text 13"/>
          <p:cNvSpPr txBox="1"/>
          <p:nvPr/>
        </p:nvSpPr>
        <p:spPr>
          <a:xfrm>
            <a:off x="7112000" y="2744589"/>
            <a:ext cx="3291840" cy="268089"/>
          </a:xfrm>
          <a:prstGeom prst="rect">
            <a:avLst/>
          </a:prstGeom>
          <a:noFill/>
          <a:ln/>
        </p:spPr>
        <p:txBody>
          <a:bodyPr wrap="square" lIns="0" tIns="0" rIns="0" bIns="0" rtlCol="0" anchor="t"/>
          <a:lstStyle/>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Agree the outcome measures for Goal-Based Buying, recommendations</a:t>
            </a:r>
            <a:endParaRPr lang="en-US" sz="800" dirty="0"/>
          </a:p>
          <a:p>
            <a:pPr algn="l" indent="0" marL="0">
              <a:lnSpc>
                <a:spcPts val="1056"/>
              </a:lnSpc>
              <a:buNone/>
            </a:pPr>
            <a:r>
              <a:rPr lang="en-US" sz="800" dirty="0">
                <a:solidFill>
                  <a:srgbClr val="FFFFFF"/>
                </a:solidFill>
                <a:latin typeface="Everyday Sans UI" pitchFamily="34" charset="0"/>
                <a:ea typeface="Everyday Sans UI" pitchFamily="34" charset="-122"/>
                <a:cs typeface="Everyday Sans UI" pitchFamily="34" charset="-120"/>
              </a:rPr>
              <a:t>and shared capabilities before any of them scale.</a:t>
            </a:r>
            <a:endParaRPr lang="en-US" sz="800" dirty="0"/>
          </a:p>
        </p:txBody>
      </p:sp>
      <p:pic>
        <p:nvPicPr>
          <p:cNvPr id="16" name="Image 0" descr="Walmart Spark">    </p:cNvPr>
          <p:cNvPicPr>
            <a:picLocks noChangeAspect="1"/>
          </p:cNvPicPr>
          <p:nvPr/>
        </p:nvPicPr>
        <p:blipFill>
          <a:blip r:embed="rId1"/>
          <a:stretch>
            <a:fillRect/>
          </a:stretch>
        </p:blipFill>
        <p:spPr>
          <a:xfrm>
            <a:off x="508000" y="6362700"/>
            <a:ext cx="127000" cy="127000"/>
          </a:xfrm>
          <a:prstGeom prst="rect">
            <a:avLst/>
          </a:prstGeom>
        </p:spPr>
      </p:pic>
      <p:sp>
        <p:nvSpPr>
          <p:cNvPr id="17" name="Text 14"/>
          <p:cNvSpPr txBox="1"/>
          <p:nvPr/>
        </p:nvSpPr>
        <p:spPr>
          <a:xfrm>
            <a:off x="1789113" y="6362700"/>
            <a:ext cx="1439366" cy="127000"/>
          </a:xfrm>
          <a:prstGeom prst="rect">
            <a:avLst/>
          </a:prstGeom>
          <a:noFill/>
          <a:ln/>
        </p:spPr>
        <p:txBody>
          <a:bodyPr wrap="square" lIns="0" tIns="0" rIns="0" bIns="0" rtlCol="0" anchor="ctr"/>
          <a:lstStyle/>
          <a:p>
            <a:pPr indent="0" marL="0">
              <a:buNone/>
            </a:pPr>
            <a:r>
              <a:rPr lang="en-US" sz="550" dirty="0">
                <a:solidFill>
                  <a:srgbClr val="FFFFFF"/>
                </a:solidFill>
                <a:latin typeface="Everyday Sans UI" pitchFamily="34" charset="0"/>
                <a:ea typeface="Everyday Sans UI" pitchFamily="34" charset="-122"/>
                <a:cs typeface="Everyday Sans UI" pitchFamily="34" charset="-120"/>
              </a:rPr>
              <a:t>Advertiser Experience Strategy · draft</a:t>
            </a:r>
            <a:endParaRPr lang="en-US" sz="550" dirty="0"/>
          </a:p>
        </p:txBody>
      </p:sp>
      <p:sp>
        <p:nvSpPr>
          <p:cNvPr id="18" name="Text 15"/>
          <p:cNvSpPr txBox="1"/>
          <p:nvPr/>
        </p:nvSpPr>
        <p:spPr>
          <a:xfrm>
            <a:off x="10414000" y="6362700"/>
            <a:ext cx="1270000" cy="127000"/>
          </a:xfrm>
          <a:prstGeom prst="rect">
            <a:avLst/>
          </a:prstGeom>
          <a:noFill/>
          <a:ln/>
        </p:spPr>
        <p:txBody>
          <a:bodyPr wrap="square" lIns="0" tIns="0" rIns="0" bIns="0" rtlCol="0" anchor="ctr"/>
          <a:lstStyle/>
          <a:p>
            <a:pPr algn="r" indent="0" marL="0">
              <a:buNone/>
            </a:pPr>
            <a:r>
              <a:rPr lang="en-US" sz="650" spc="78" kern="0" dirty="0">
                <a:solidFill>
                  <a:srgbClr val="D0D5DE"/>
                </a:solidFill>
                <a:latin typeface="Everyday Sans Mono" pitchFamily="34" charset="0"/>
                <a:ea typeface="Everyday Sans Mono" pitchFamily="34" charset="-122"/>
                <a:cs typeface="Everyday Sans Mono" pitchFamily="34" charset="-120"/>
              </a:rPr>
              <a:t>18 / 18</a:t>
            </a:r>
            <a:endParaRPr lang="en-US" sz="650" dirty="0"/>
          </a:p>
        </p:txBody>
      </p:sp>
      <p:pic>
        <p:nvPicPr>
          <p:cNvPr id="19" name="Image 1" descr="Walmart Connect">    </p:cNvPr>
          <p:cNvPicPr>
            <a:picLocks noChangeAspect="1"/>
          </p:cNvPicPr>
          <p:nvPr/>
        </p:nvPicPr>
        <p:blipFill>
          <a:blip r:embed="rId2"/>
          <a:stretch>
            <a:fillRect/>
          </a:stretch>
        </p:blipFill>
        <p:spPr>
          <a:xfrm>
            <a:off x="711200" y="6378575"/>
            <a:ext cx="1001713" cy="95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Advertiser Experience Strategy</dc:title>
  <dc:subject>PptxGenJS Presentation</dc:subject>
  <dc:creator>Advertiser Experience</dc:creator>
  <cp:lastModifiedBy>Advertiser Experience</cp:lastModifiedBy>
  <cp:revision>1</cp:revision>
  <dcterms:created xsi:type="dcterms:W3CDTF">2026-10-02T02:24:42Z</dcterms:created>
  <dcterms:modified xsi:type="dcterms:W3CDTF">2026-10-02T02:24:42Z</dcterms:modified>
</cp:coreProperties>
</file>