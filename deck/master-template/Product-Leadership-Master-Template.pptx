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1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charts/chart2.xml" ContentType="application/vnd.openxmlformats-officedocument.drawingml.chart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charts/chart3.xml" ContentType="application/vnd.openxmlformats-officedocument.drawingml.chart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notesMasterIdLst>
    <p:notesMasterId r:id="rId6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C3C6CD"/>
            </a:solidFill>
            <a:effectLst/>
          </c:spPr>
          <c:invertIfNegative val="0"/>
          <c:dLbls>
            <c:numFmt formatCode="0&quot;% of starts&quot;;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1E60"/>
                    </a:solidFill>
                    <a:latin typeface="Everyday Sans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Objective</c:v>
                  </c:pt>
                  <c:pt idx="1">
                    <c:v>Audience</c:v>
                  </c:pt>
                  <c:pt idx="2">
                    <c:v>Budget</c:v>
                  </c:pt>
                  <c:pt idx="3">
                    <c:v>Bid</c:v>
                  </c:pt>
                  <c:pt idx="4">
                    <c:v>Creative</c:v>
                  </c:pt>
                  <c:pt idx="5">
                    <c:v>Review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0</c:v>
                </c:pt>
                <c:pt idx="2">
                  <c:v>0</c:v>
                </c:pt>
                <c:pt idx="3">
                  <c:v>9</c:v>
                </c:pt>
                <c:pt idx="4">
                  <c:v>4</c:v>
                </c:pt>
                <c:pt idx="5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Focus</c:v>
                </c:pt>
              </c:strCache>
            </c:strRef>
          </c:tx>
          <c:spPr>
            <a:solidFill>
              <a:srgbClr val="0053E2"/>
            </a:solidFill>
            <a:effectLst/>
          </c:spPr>
          <c:invertIfNegative val="0"/>
          <c:dLbls>
            <c:numFmt formatCode="0&quot;% of starts&quot;;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1E60"/>
                    </a:solidFill>
                    <a:latin typeface="Everyday Sans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Objective</c:v>
                  </c:pt>
                  <c:pt idx="1">
                    <c:v>Audience</c:v>
                  </c:pt>
                  <c:pt idx="2">
                    <c:v>Budget</c:v>
                  </c:pt>
                  <c:pt idx="3">
                    <c:v>Bid</c:v>
                  </c:pt>
                  <c:pt idx="4">
                    <c:v>Creative</c:v>
                  </c:pt>
                  <c:pt idx="5">
                    <c:v>Review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21</c:v>
                </c:pt>
                <c:pt idx="2">
                  <c:v>17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0&quot;% of starts&quot;;;;" sourceLinked="0"/>
          <c:txPr>
            <a:bodyPr/>
            <a:lstStyle/>
            <a:p>
              <a:pPr>
                <a:defRPr b="0" i="0" strike="noStrike" sz="900" u="none">
                  <a:solidFill>
                    <a:srgbClr val="001E60"/>
                  </a:solidFill>
                  <a:latin typeface="Everyday Sans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3C6CD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4A63"/>
                </a:solidFill>
                <a:latin typeface="Everyday Sans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36E"/>
                </a:solidFill>
                <a:latin typeface="Everyday Sans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6F8"/>
        </a:solidFill>
        <a:ln>
          <a:noFill/>
        </a:ln>
        <a:effectLst/>
      </c:spPr>
    </c:plotArea>
    <c:plotVisOnly val="1"/>
    <c:dispBlanksAs val="span"/>
  </c:chart>
  <c:spPr>
    <a:solidFill>
      <a:srgbClr val="F5F6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</c:v>
                </c:pt>
              </c:strCache>
            </c:strRef>
          </c:tx>
          <c:spPr>
            <a:solidFill>
              <a:srgbClr val="0053E2"/>
            </a:solidFill>
            <a:ln w="25400" cap="flat">
              <a:solidFill>
                <a:srgbClr val="0053E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1E60"/>
                    </a:solidFill>
                    <a:latin typeface="Everyday Sans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53E2"/>
              </a:solidFill>
              <a:ln w="9525" cap="flat">
                <a:solidFill>
                  <a:srgbClr val="0053E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49</c:v>
                </c:pt>
                <c:pt idx="1">
                  <c:v>50</c:v>
                </c:pt>
                <c:pt idx="2">
                  <c:v>49</c:v>
                </c:pt>
                <c:pt idx="3">
                  <c:v>51</c:v>
                </c:pt>
                <c:pt idx="4">
                  <c:v>57</c:v>
                </c:pt>
                <c:pt idx="5">
                  <c:v>58</c:v>
                </c:pt>
                <c:pt idx="6">
                  <c:v>59</c:v>
                </c:pt>
                <c:pt idx="7">
                  <c:v>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C3C6CD"/>
            </a:solidFill>
            <a:ln w="25400" cap="flat">
              <a:solidFill>
                <a:srgbClr val="C3C6C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1E60"/>
                    </a:solidFill>
                    <a:latin typeface="Everyday Sans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3C6CD"/>
              </a:solidFill>
              <a:ln w="9525" cap="flat">
                <a:solidFill>
                  <a:srgbClr val="C3C6C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70</c:v>
                </c:pt>
                <c:pt idx="1">
                  <c:v>70</c:v>
                </c:pt>
                <c:pt idx="2">
                  <c:v>70</c:v>
                </c:pt>
                <c:pt idx="3">
                  <c:v>70</c:v>
                </c:pt>
                <c:pt idx="4">
                  <c:v>70</c:v>
                </c:pt>
                <c:pt idx="5">
                  <c:v>70</c:v>
                </c:pt>
                <c:pt idx="6">
                  <c:v>70</c:v>
                </c:pt>
                <c:pt idx="7">
                  <c:v>70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1E60"/>
                  </a:solidFill>
                  <a:latin typeface="Everyday Sans U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3C6CD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4A63"/>
                </a:solidFill>
                <a:latin typeface="Everyday Sans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  <c:min val="40"/>
        </c:scaling>
        <c:delete val="0"/>
        <c:axPos val="l"/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36E"/>
                </a:solidFill>
                <a:latin typeface="Everyday Sans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6F8"/>
        </a:solidFill>
        <a:ln>
          <a:noFill/>
        </a:ln>
        <a:effectLst/>
      </c:spPr>
    </c:plotArea>
    <c:plotVisOnly val="1"/>
    <c:dispBlanksAs val="span"/>
  </c:chart>
  <c:spPr>
    <a:solidFill>
      <a:srgbClr val="F5F6F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C3C6CD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1E60"/>
                    </a:solidFill>
                    <a:latin typeface="Everyday Sans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Managed</c:v>
                  </c:pt>
                  <c:pt idx="1">
                    <c:v>Returning self-serve</c:v>
                  </c:pt>
                  <c:pt idx="2">
                    <c:v>Marketplace sellers</c:v>
                  </c:pt>
                  <c:pt idx="3">
                    <c:v>New self-serve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31</c:v>
                </c:pt>
                <c:pt idx="2">
                  <c:v>36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Focus</c:v>
                </c:pt>
              </c:strCache>
            </c:strRef>
          </c:tx>
          <c:spPr>
            <a:solidFill>
              <a:srgbClr val="0053E2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1E60"/>
                    </a:solidFill>
                    <a:latin typeface="Everyday Sans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Managed</c:v>
                  </c:pt>
                  <c:pt idx="1">
                    <c:v>Returning self-serve</c:v>
                  </c:pt>
                  <c:pt idx="2">
                    <c:v>Marketplace sellers</c:v>
                  </c:pt>
                  <c:pt idx="3">
                    <c:v>New self-serve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43</c:v>
                </c:pt>
              </c:numCache>
            </c:numRef>
          </c:val>
        </c:ser>
        <c:dLbls>
          <c:numFmt formatCode="0&quot;%&quot;;;;" sourceLinked="0"/>
          <c:txPr>
            <a:bodyPr/>
            <a:lstStyle/>
            <a:p>
              <a:pPr>
                <a:defRPr b="0" i="0" strike="noStrike" sz="900" u="none">
                  <a:solidFill>
                    <a:srgbClr val="001E60"/>
                  </a:solidFill>
                  <a:latin typeface="Everyday Sans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3C6CD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4A63"/>
                </a:solidFill>
                <a:latin typeface="Everyday Sans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36E"/>
                </a:solidFill>
                <a:latin typeface="Everyday Sans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6F8"/>
        </a:solidFill>
        <a:ln>
          <a:noFill/>
        </a:ln>
        <a:effectLst/>
      </c:spPr>
    </c:plotArea>
    <c:plotVisOnly val="1"/>
    <c:dispBlanksAs val="span"/>
  </c:chart>
  <c:spPr>
    <a:solidFill>
      <a:srgbClr val="F5F6F8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C3C6CD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1E60"/>
                    </a:solidFill>
                    <a:latin typeface="Everyday Sans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Objective</c:v>
                  </c:pt>
                  <c:pt idx="1">
                    <c:v>Audience</c:v>
                  </c:pt>
                  <c:pt idx="2">
                    <c:v>Budget</c:v>
                  </c:pt>
                  <c:pt idx="3">
                    <c:v>Bid</c:v>
                  </c:pt>
                  <c:pt idx="4">
                    <c:v>Creative</c:v>
                  </c:pt>
                  <c:pt idx="5">
                    <c:v>Review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0</c:v>
                </c:pt>
                <c:pt idx="2">
                  <c:v>0</c:v>
                </c:pt>
                <c:pt idx="3">
                  <c:v>9</c:v>
                </c:pt>
                <c:pt idx="4">
                  <c:v>4</c:v>
                </c:pt>
                <c:pt idx="5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Focus</c:v>
                </c:pt>
              </c:strCache>
            </c:strRef>
          </c:tx>
          <c:spPr>
            <a:solidFill>
              <a:srgbClr val="0053E2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1E60"/>
                    </a:solidFill>
                    <a:latin typeface="Everyday Sans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Objective</c:v>
                  </c:pt>
                  <c:pt idx="1">
                    <c:v>Audience</c:v>
                  </c:pt>
                  <c:pt idx="2">
                    <c:v>Budget</c:v>
                  </c:pt>
                  <c:pt idx="3">
                    <c:v>Bid</c:v>
                  </c:pt>
                  <c:pt idx="4">
                    <c:v>Creative</c:v>
                  </c:pt>
                  <c:pt idx="5">
                    <c:v>Review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21</c:v>
                </c:pt>
                <c:pt idx="2">
                  <c:v>17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0&quot;%&quot;;;;" sourceLinked="0"/>
          <c:txPr>
            <a:bodyPr/>
            <a:lstStyle/>
            <a:p>
              <a:pPr>
                <a:defRPr b="0" i="0" strike="noStrike" sz="900" u="none">
                  <a:solidFill>
                    <a:srgbClr val="001E60"/>
                  </a:solidFill>
                  <a:latin typeface="Everyday Sans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3C6CD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4A63"/>
                </a:solidFill>
                <a:latin typeface="Everyday Sans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36E"/>
                </a:solidFill>
                <a:latin typeface="Everyday Sans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6F8"/>
        </a:solidFill>
        <a:ln>
          <a:noFill/>
        </a:ln>
        <a:effectLst/>
      </c:spPr>
    </c:plotArea>
    <c:plotVisOnly val="1"/>
    <c:dispBlanksAs val="span"/>
  </c:chart>
  <c:spPr>
    <a:solidFill>
      <a:srgbClr val="F5F6F8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Launched</c:v>
                </c:pt>
              </c:strCache>
            </c:strRef>
          </c:tx>
          <c:spPr>
            <a:solidFill>
              <a:srgbClr val="0053E2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Everyday Sans U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Managed</c:v>
                  </c:pt>
                  <c:pt idx="1">
                    <c:v>Returning</c:v>
                  </c:pt>
                  <c:pt idx="2">
                    <c:v>Sellers</c:v>
                  </c:pt>
                  <c:pt idx="3">
                    <c:v>New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</c:v>
                </c:pt>
                <c:pt idx="1">
                  <c:v>69</c:v>
                </c:pt>
                <c:pt idx="2">
                  <c:v>64</c:v>
                </c:pt>
                <c:pt idx="3">
                  <c:v>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Saved draft</c:v>
                </c:pt>
              </c:strCache>
            </c:strRef>
          </c:tx>
          <c:spPr>
            <a:solidFill>
              <a:srgbClr val="5E636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Everyday Sans U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Managed</c:v>
                  </c:pt>
                  <c:pt idx="1">
                    <c:v>Returning</c:v>
                  </c:pt>
                  <c:pt idx="2">
                    <c:v>Sellers</c:v>
                  </c:pt>
                  <c:pt idx="3">
                    <c:v>New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</c:v>
                </c:pt>
                <c:pt idx="1">
                  <c:v>16</c:v>
                </c:pt>
                <c:pt idx="2">
                  <c:v>15</c:v>
                </c:pt>
                <c:pt idx="3">
                  <c:v>14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Abandoned</c:v>
                </c:pt>
              </c:strCache>
            </c:strRef>
          </c:tx>
          <c:spPr>
            <a:solidFill>
              <a:srgbClr val="97999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Everyday Sans U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Managed</c:v>
                  </c:pt>
                  <c:pt idx="1">
                    <c:v>Returning</c:v>
                  </c:pt>
                  <c:pt idx="2">
                    <c:v>Sellers</c:v>
                  </c:pt>
                  <c:pt idx="3">
                    <c:v>New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</c:v>
                </c:pt>
                <c:pt idx="1">
                  <c:v>15</c:v>
                </c:pt>
                <c:pt idx="2">
                  <c:v>21</c:v>
                </c:pt>
                <c:pt idx="3">
                  <c:v>29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Everyday Sans U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3C6CD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4A63"/>
                </a:solidFill>
                <a:latin typeface="Everyday Sans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36E"/>
                </a:solidFill>
                <a:latin typeface="Everyday Sans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6F8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D4A63"/>
              </a:solidFill>
              <a:latin typeface="Everyday Sans UI"/>
              <a:cs typeface="Everyday Sans UI"/>
            </a:defRPr>
          </a:pPr>
          <a:endParaRPr lang="en-US"/>
        </a:p>
      </c:txPr>
    </c:legend>
    <c:plotVisOnly val="1"/>
    <c:dispBlanksAs val="span"/>
  </c:chart>
  <c:spPr>
    <a:solidFill>
      <a:srgbClr val="F5F6F8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Managed</c:v>
                </c:pt>
              </c:strCache>
            </c:strRef>
          </c:tx>
          <c:spPr>
            <a:solidFill>
              <a:srgbClr val="C3C6CD"/>
            </a:solidFill>
            <a:ln w="25400" cap="flat">
              <a:solidFill>
                <a:srgbClr val="C3C6C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1E60"/>
                    </a:solidFill>
                    <a:latin typeface="Everyday Sans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3C6CD"/>
              </a:solidFill>
              <a:ln w="9525" cap="flat">
                <a:solidFill>
                  <a:srgbClr val="C3C6C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76</c:v>
                </c:pt>
                <c:pt idx="1">
                  <c:v>77</c:v>
                </c:pt>
                <c:pt idx="2">
                  <c:v>76</c:v>
                </c:pt>
                <c:pt idx="3">
                  <c:v>78</c:v>
                </c:pt>
                <c:pt idx="4">
                  <c:v>78</c:v>
                </c:pt>
                <c:pt idx="5">
                  <c:v>79</c:v>
                </c:pt>
                <c:pt idx="6">
                  <c:v>78</c:v>
                </c:pt>
                <c:pt idx="7">
                  <c:v>78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Returning</c:v>
                </c:pt>
              </c:strCache>
            </c:strRef>
          </c:tx>
          <c:spPr>
            <a:solidFill>
              <a:srgbClr val="C3C6CD"/>
            </a:solidFill>
            <a:ln w="25400" cap="flat">
              <a:solidFill>
                <a:srgbClr val="C3C6C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1E60"/>
                    </a:solidFill>
                    <a:latin typeface="Everyday Sans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3C6CD"/>
              </a:solidFill>
              <a:ln w="9525" cap="flat">
                <a:solidFill>
                  <a:srgbClr val="C3C6C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63</c:v>
                </c:pt>
                <c:pt idx="1">
                  <c:v>64</c:v>
                </c:pt>
                <c:pt idx="2">
                  <c:v>63</c:v>
                </c:pt>
                <c:pt idx="3">
                  <c:v>65</c:v>
                </c:pt>
                <c:pt idx="4">
                  <c:v>68</c:v>
                </c:pt>
                <c:pt idx="5">
                  <c:v>69</c:v>
                </c:pt>
                <c:pt idx="6">
                  <c:v>69</c:v>
                </c:pt>
                <c:pt idx="7">
                  <c:v>69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self-serve</c:v>
                </c:pt>
              </c:strCache>
            </c:strRef>
          </c:tx>
          <c:spPr>
            <a:solidFill>
              <a:srgbClr val="0053E2"/>
            </a:solidFill>
            <a:ln w="25400" cap="flat">
              <a:solidFill>
                <a:srgbClr val="0053E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1E60"/>
                    </a:solidFill>
                    <a:latin typeface="Everyday Sans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53E2"/>
              </a:solidFill>
              <a:ln w="9525" cap="flat">
                <a:solidFill>
                  <a:srgbClr val="0053E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44</c:v>
                </c:pt>
                <c:pt idx="1">
                  <c:v>45</c:v>
                </c:pt>
                <c:pt idx="2">
                  <c:v>44</c:v>
                </c:pt>
                <c:pt idx="3">
                  <c:v>46</c:v>
                </c:pt>
                <c:pt idx="4">
                  <c:v>53</c:v>
                </c:pt>
                <c:pt idx="5">
                  <c:v>56</c:v>
                </c:pt>
                <c:pt idx="6">
                  <c:v>57</c:v>
                </c:pt>
                <c:pt idx="7">
                  <c:v>57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1E60"/>
                  </a:solidFill>
                  <a:latin typeface="Everyday Sans U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3C6CD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4A63"/>
                </a:solidFill>
                <a:latin typeface="Everyday Sans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40"/>
        </c:scaling>
        <c:delete val="0"/>
        <c:axPos val="l"/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36E"/>
                </a:solidFill>
                <a:latin typeface="Everyday Sans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6F8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D4A63"/>
              </a:solidFill>
              <a:latin typeface="Everyday Sans UI"/>
              <a:cs typeface="Everyday Sans UI"/>
            </a:defRPr>
          </a:pPr>
          <a:endParaRPr lang="en-US"/>
        </a:p>
      </c:txPr>
    </c:legend>
    <c:plotVisOnly val="1"/>
    <c:dispBlanksAs val="span"/>
  </c:chart>
  <c:spPr>
    <a:solidFill>
      <a:srgbClr val="F5F6F8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F5F6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1E60"/>
                    </a:solidFill>
                    <a:latin typeface="Everyday Sans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Start</c:v>
                  </c:pt>
                  <c:pt idx="1">
                    <c:v>Reorder</c:v>
                  </c:pt>
                  <c:pt idx="2">
                    <c:v>Defaults</c:v>
                  </c:pt>
                  <c:pt idx="3">
                    <c:v>Guidance</c:v>
                  </c:pt>
                  <c:pt idx="4">
                    <c:v>End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50</c:v>
                </c:pt>
                <c:pt idx="2">
                  <c:v>55</c:v>
                </c:pt>
                <c:pt idx="3">
                  <c:v>57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Change</c:v>
                </c:pt>
              </c:strCache>
            </c:strRef>
          </c:tx>
          <c:spPr>
            <a:solidFill>
              <a:srgbClr val="0053E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1E60"/>
                    </a:solidFill>
                    <a:latin typeface="Everyday Sans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Start</c:v>
                  </c:pt>
                  <c:pt idx="1">
                    <c:v>Reorder</c:v>
                  </c:pt>
                  <c:pt idx="2">
                    <c:v>Defaults</c:v>
                  </c:pt>
                  <c:pt idx="3">
                    <c:v>Guidance</c:v>
                  </c:pt>
                  <c:pt idx="4">
                    <c:v>End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50</c:v>
                </c:pt>
                <c:pt idx="1">
                  <c:v>5</c:v>
                </c:pt>
                <c:pt idx="2">
                  <c:v>2</c:v>
                </c:pt>
                <c:pt idx="3">
                  <c:v>1</c:v>
                </c:pt>
                <c:pt idx="4">
                  <c:v>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1E60"/>
                  </a:solidFill>
                  <a:latin typeface="Everyday Sans U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3C6CD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4A63"/>
                </a:solidFill>
                <a:latin typeface="Everyday Sans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36E"/>
                </a:solidFill>
                <a:latin typeface="Everyday Sans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6F8"/>
        </a:solidFill>
        <a:ln>
          <a:noFill/>
        </a:ln>
        <a:effectLst/>
      </c:spPr>
    </c:plotArea>
    <c:plotVisOnly val="1"/>
    <c:dispBlanksAs val="span"/>
  </c:chart>
  <c:spPr>
    <a:solidFill>
      <a:srgbClr val="F5F6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here. Delete the system slides (1–20) when you build a real deck; keep the layouts, which live in Home → Layout.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overflow order is the most important rule in the system: never shrink until it fits.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1-1.png"/><Relationship Id="rId2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2-1.png"/><Relationship Id="rId2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3-1.png"/><Relationship Id="rId2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4-1.png"/><Relationship Id="rId2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5-1.png"/><Relationship Id="rId2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6-1.png"/><Relationship Id="rId2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7-1.png"/><Relationship Id="rId2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8-1.png"/><Relationship Id="rId2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9-1.png"/><Relationship Id="rId2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0-1.png"/><Relationship Id="rId2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1-1.png"/><Relationship Id="rId2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2-1.png"/><Relationship Id="rId2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3-1.png"/><Relationship Id="rId2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4-1.png"/><Relationship Id="rId2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5-1.png"/><Relationship Id="rId2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6-1.png"/><Relationship Id="rId2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7-1.png"/><Relationship Id="rId2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8-1.png"/><Relationship Id="rId2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9-1.png"/><Relationship Id="rId2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0-1.png"/><Relationship Id="rId2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1-1.png"/><Relationship Id="rId2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2-1.png"/><Relationship Id="rId2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3-1.png"/><Relationship Id="rId2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4-1.png"/><Relationship Id="rId2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5-1.png"/><Relationship Id="rId2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6-1.png"/><Relationship Id="rId2" Type="http://schemas.openxmlformats.org/officeDocument/2006/relationships/slideMaster" Target="../slideMasters/slideMaster1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1 Cover — Minimal">
    <p:bg>
      <p:bgPr>
        <a:solidFill>
          <a:srgbClr val="001E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40" kern="0" dirty="0">
                <a:solidFill>
                  <a:srgbClr val="4DBDF5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40" kern="0" dirty="0">
                <a:solidFill>
                  <a:srgbClr val="4DBDF5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EYEBROW · CONTEXT LABEL</a:t>
            </a:r>
            <a:endParaRPr lang="en-US" sz="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6426220"/>
            <a:ext cx="139720" cy="1397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23930" y="6438930"/>
            <a:ext cx="38100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FE0FB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Walmart Ads</a:t>
            </a:r>
            <a:endParaRPr lang="en-US" sz="8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508041" y="2286000"/>
            <a:ext cx="8889980" cy="19049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lnSpc>
                <a:spcPct val="102000"/>
              </a:lnSpc>
              <a:buNone/>
              <a:defRPr lang="en-US" sz="4400" spc="-120" kern="0" dirty="0">
                <a:solidFill>
                  <a:srgbClr val="FFFFFF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02000"/>
              </a:lnSpc>
              <a:buNone/>
            </a:pPr>
            <a:r>
              <a:rPr lang="en-US" sz="4400" spc="-120" kern="0" dirty="0">
                <a:solidFill>
                  <a:srgbClr val="FFFFFF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Presentation title states the point of the deck</a:t>
            </a:r>
            <a:endParaRPr lang="en-US" sz="4400" dirty="0"/>
          </a:p>
        </p:txBody>
      </p:sp>
      <p:sp>
        <p:nvSpPr>
          <p:cNvPr id="6" name="Subtitle"/>
          <p:cNvSpPr/>
          <p:nvPr>
            <p:ph idx="104" type="body" hasCustomPrompt="1"/>
          </p:nvPr>
        </p:nvSpPr>
        <p:spPr>
          <a:xfrm>
            <a:off x="508041" y="4343400"/>
            <a:ext cx="698501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400" dirty="0">
                <a:solidFill>
                  <a:srgbClr val="CFE0FB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FE0FB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One line on what this deck is for and who it is for.</a:t>
            </a:r>
            <a:endParaRPr lang="en-US" sz="1400" dirty="0"/>
          </a:p>
        </p:txBody>
      </p:sp>
      <p:sp>
        <p:nvSpPr>
          <p:cNvPr id="7" name="Meta"/>
          <p:cNvSpPr/>
          <p:nvPr>
            <p:ph idx="105" type="body" hasCustomPrompt="1"/>
          </p:nvPr>
        </p:nvSpPr>
        <p:spPr>
          <a:xfrm>
            <a:off x="508041" y="558799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4DBDF5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4DBDF5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PRESENTER · TEAM · MONTH YEAR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FE0FB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2 Cover — Editorial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EYEBROW · CONTEXT LABEL</a:t>
            </a:r>
            <a:endParaRPr lang="en-US" sz="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6426220"/>
            <a:ext cx="139720" cy="1397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23930" y="6438930"/>
            <a:ext cx="38100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Walmart Ads</a:t>
            </a:r>
            <a:endParaRPr lang="en-US" sz="8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508041" y="1397020"/>
            <a:ext cx="9525030" cy="24130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lnSpc>
                <a:spcPct val="102000"/>
              </a:lnSpc>
              <a:buNone/>
              <a:defRPr lang="en-US" sz="5200" spc="-12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02000"/>
              </a:lnSpc>
              <a:buNone/>
            </a:pPr>
            <a:r>
              <a:rPr lang="en-US" sz="5200" spc="-12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Presentation title states the point of the deck</a:t>
            </a:r>
            <a:endParaRPr lang="en-US" sz="5200" dirty="0"/>
          </a:p>
        </p:txBody>
      </p:sp>
      <p:sp>
        <p:nvSpPr>
          <p:cNvPr id="6" name="Shape 1"/>
          <p:cNvSpPr/>
          <p:nvPr/>
        </p:nvSpPr>
        <p:spPr>
          <a:xfrm>
            <a:off x="508041" y="4013210"/>
            <a:ext cx="11175980" cy="0"/>
          </a:xfrm>
          <a:prstGeom prst="line">
            <a:avLst/>
          </a:prstGeom>
          <a:noFill/>
          <a:ln w="19050">
            <a:solidFill>
              <a:srgbClr val="0053E2"/>
            </a:solidFill>
            <a:prstDash val="solid"/>
          </a:ln>
        </p:spPr>
      </p:sp>
      <p:sp>
        <p:nvSpPr>
          <p:cNvPr id="7" name="Subtitle"/>
          <p:cNvSpPr/>
          <p:nvPr>
            <p:ph idx="105" type="body" hasCustomPrompt="1"/>
          </p:nvPr>
        </p:nvSpPr>
        <p:spPr>
          <a:xfrm>
            <a:off x="508041" y="4190970"/>
            <a:ext cx="6434633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One or two lines on what this deck is for and what you need from the room.</a:t>
            </a:r>
            <a:endParaRPr lang="en-US" sz="1400" dirty="0"/>
          </a:p>
        </p:txBody>
      </p:sp>
      <p:sp>
        <p:nvSpPr>
          <p:cNvPr id="8" name="Meta"/>
          <p:cNvSpPr/>
          <p:nvPr>
            <p:ph idx="106" type="body" hasCustomPrompt="1"/>
          </p:nvPr>
        </p:nvSpPr>
        <p:spPr>
          <a:xfrm>
            <a:off x="8094177" y="4190970"/>
            <a:ext cx="3589843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r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PRESENTER · TEAM</a:t>
            </a:r>
            <a:endParaRPr lang="en-US" sz="800" dirty="0"/>
          </a:p>
          <a:p>
            <a:pPr algn="r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MONTH YEAR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 Cover — Visual">
    <p:bg>
      <p:bgPr>
        <a:solidFill>
          <a:srgbClr val="001E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40" kern="0" dirty="0">
                <a:solidFill>
                  <a:srgbClr val="4DBDF5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40" kern="0" dirty="0">
                <a:solidFill>
                  <a:srgbClr val="4DBDF5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EYEBROW · CONTEXT LABEL</a:t>
            </a:r>
            <a:endParaRPr lang="en-US" sz="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6426220"/>
            <a:ext cx="139720" cy="1397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23930" y="6438930"/>
            <a:ext cx="38100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FE0FB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Walmart Ads</a:t>
            </a:r>
            <a:endParaRPr lang="en-US" sz="800" dirty="0"/>
          </a:p>
        </p:txBody>
      </p:sp>
      <p:sp>
        <p:nvSpPr>
          <p:cNvPr id="5" name="Picture"/>
          <p:cNvSpPr/>
          <p:nvPr>
            <p:ph idx="103" hasCustomPrompt="1"/>
          </p:nvPr>
        </p:nvSpPr>
        <p:spPr>
          <a:xfrm>
            <a:off x="6603980" y="0"/>
            <a:ext cx="5587990" cy="685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200" dirty="0"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Drop a product image here</a:t>
            </a:r>
            <a:endParaRPr lang="en-US" sz="1200" dirty="0"/>
          </a:p>
        </p:txBody>
      </p:sp>
      <p:sp>
        <p:nvSpPr>
          <p:cNvPr id="6" name="Title"/>
          <p:cNvSpPr/>
          <p:nvPr>
            <p:ph idx="104" type="title" hasCustomPrompt="1"/>
          </p:nvPr>
        </p:nvSpPr>
        <p:spPr>
          <a:xfrm>
            <a:off x="508041" y="2286000"/>
            <a:ext cx="5460980" cy="19049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lnSpc>
                <a:spcPct val="102000"/>
              </a:lnSpc>
              <a:buNone/>
              <a:defRPr lang="en-US" sz="4000" spc="-120" kern="0" dirty="0">
                <a:solidFill>
                  <a:srgbClr val="FFFFFF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02000"/>
              </a:lnSpc>
              <a:buNone/>
            </a:pPr>
            <a:r>
              <a:rPr lang="en-US" sz="4000" spc="-120" kern="0" dirty="0">
                <a:solidFill>
                  <a:srgbClr val="FFFFFF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Title states the point of the deck</a:t>
            </a:r>
            <a:endParaRPr lang="en-US" sz="4000" dirty="0"/>
          </a:p>
        </p:txBody>
      </p:sp>
      <p:sp>
        <p:nvSpPr>
          <p:cNvPr id="7" name="Subtitle"/>
          <p:cNvSpPr/>
          <p:nvPr>
            <p:ph idx="105" type="body" hasCustomPrompt="1"/>
          </p:nvPr>
        </p:nvSpPr>
        <p:spPr>
          <a:xfrm>
            <a:off x="508041" y="4343400"/>
            <a:ext cx="5206959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400" dirty="0">
                <a:solidFill>
                  <a:srgbClr val="CFE0FB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FE0FB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One line on what this deck is for.</a:t>
            </a:r>
            <a:endParaRPr lang="en-US" sz="1400" dirty="0"/>
          </a:p>
        </p:txBody>
      </p:sp>
      <p:sp>
        <p:nvSpPr>
          <p:cNvPr id="8" name="Meta"/>
          <p:cNvSpPr/>
          <p:nvPr>
            <p:ph idx="106" type="body" hasCustomPrompt="1"/>
          </p:nvPr>
        </p:nvSpPr>
        <p:spPr>
          <a:xfrm>
            <a:off x="508041" y="5587990"/>
            <a:ext cx="5206959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4DBDF5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4DBDF5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PRESENTER · MONTH YEAR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FE0FB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4 Agenda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EYEBROW · CONTEXT LABEL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r" indent="0" marL="0">
              <a:buNone/>
              <a:def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SECTION NAME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6426220"/>
            <a:ext cx="139720" cy="1397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23930" y="6438930"/>
            <a:ext cx="38100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Walmart Ads</a:t>
            </a:r>
            <a:endParaRPr lang="en-US" sz="800" dirty="0"/>
          </a:p>
        </p:txBody>
      </p:sp>
      <p:sp>
        <p:nvSpPr>
          <p:cNvPr id="6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lnSpc>
                <a:spcPct val="110000"/>
              </a:lnSpc>
              <a:buNone/>
              <a:def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Headline states the takeaway, not the topic</a:t>
            </a:r>
            <a:endParaRPr lang="en-US" sz="2800" dirty="0"/>
          </a:p>
        </p:txBody>
      </p:sp>
      <p:sp>
        <p:nvSpPr>
          <p:cNvPr id="7" name="Shape 1"/>
          <p:cNvSpPr/>
          <p:nvPr/>
        </p:nvSpPr>
        <p:spPr>
          <a:xfrm>
            <a:off x="508041" y="2438430"/>
            <a:ext cx="11175980" cy="0"/>
          </a:xfrm>
          <a:prstGeom prst="line">
            <a:avLst/>
          </a:prstGeom>
          <a:noFill/>
          <a:ln w="9525">
            <a:solidFill>
              <a:srgbClr val="DEE1E6"/>
            </a:solidFill>
            <a:prstDash val="solid"/>
          </a:ln>
        </p:spPr>
      </p:sp>
      <p:sp>
        <p:nvSpPr>
          <p:cNvPr id="8" name="N1"/>
          <p:cNvSpPr/>
          <p:nvPr>
            <p:ph idx="106" type="body" hasCustomPrompt="1"/>
          </p:nvPr>
        </p:nvSpPr>
        <p:spPr>
          <a:xfrm>
            <a:off x="508041" y="2578059"/>
            <a:ext cx="74505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2400" spc="-3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2400" spc="-3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1"/>
          <p:cNvSpPr/>
          <p:nvPr>
            <p:ph idx="107" type="body" hasCustomPrompt="1"/>
          </p:nvPr>
        </p:nvSpPr>
        <p:spPr>
          <a:xfrm>
            <a:off x="1456273" y="2603480"/>
            <a:ext cx="3589843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Section name</a:t>
            </a:r>
            <a:endParaRPr lang="en-US" sz="1800" dirty="0"/>
          </a:p>
        </p:txBody>
      </p:sp>
      <p:sp>
        <p:nvSpPr>
          <p:cNvPr id="10" name="D1"/>
          <p:cNvSpPr/>
          <p:nvPr>
            <p:ph idx="108" type="body" hasCustomPrompt="1"/>
          </p:nvPr>
        </p:nvSpPr>
        <p:spPr>
          <a:xfrm>
            <a:off x="5249296" y="2628900"/>
            <a:ext cx="643463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What this section answers, in one line.</a:t>
            </a:r>
            <a:endParaRPr lang="en-US" sz="1200" dirty="0"/>
          </a:p>
        </p:txBody>
      </p:sp>
      <p:sp>
        <p:nvSpPr>
          <p:cNvPr id="11" name="Shape 2"/>
          <p:cNvSpPr/>
          <p:nvPr/>
        </p:nvSpPr>
        <p:spPr>
          <a:xfrm>
            <a:off x="508041" y="3022641"/>
            <a:ext cx="11175980" cy="0"/>
          </a:xfrm>
          <a:prstGeom prst="line">
            <a:avLst/>
          </a:prstGeom>
          <a:noFill/>
          <a:ln w="9525">
            <a:solidFill>
              <a:srgbClr val="DEE1E6"/>
            </a:solidFill>
            <a:prstDash val="solid"/>
          </a:ln>
        </p:spPr>
      </p:sp>
      <p:sp>
        <p:nvSpPr>
          <p:cNvPr id="12" name="N2"/>
          <p:cNvSpPr/>
          <p:nvPr>
            <p:ph idx="110" type="body" hasCustomPrompt="1"/>
          </p:nvPr>
        </p:nvSpPr>
        <p:spPr>
          <a:xfrm>
            <a:off x="508041" y="3162270"/>
            <a:ext cx="74505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2400" spc="-3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2400" spc="-3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2"/>
          <p:cNvSpPr/>
          <p:nvPr>
            <p:ph idx="111" type="body" hasCustomPrompt="1"/>
          </p:nvPr>
        </p:nvSpPr>
        <p:spPr>
          <a:xfrm>
            <a:off x="1456273" y="3187690"/>
            <a:ext cx="3589843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Section name</a:t>
            </a:r>
            <a:endParaRPr lang="en-US" sz="1800" dirty="0"/>
          </a:p>
        </p:txBody>
      </p:sp>
      <p:sp>
        <p:nvSpPr>
          <p:cNvPr id="14" name="D2"/>
          <p:cNvSpPr/>
          <p:nvPr>
            <p:ph idx="112" type="body" hasCustomPrompt="1"/>
          </p:nvPr>
        </p:nvSpPr>
        <p:spPr>
          <a:xfrm>
            <a:off x="5249296" y="3213110"/>
            <a:ext cx="643463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What this section answers, in one line.</a:t>
            </a:r>
            <a:endParaRPr lang="en-US" sz="1200" dirty="0"/>
          </a:p>
        </p:txBody>
      </p:sp>
      <p:sp>
        <p:nvSpPr>
          <p:cNvPr id="15" name="Shape 3"/>
          <p:cNvSpPr/>
          <p:nvPr/>
        </p:nvSpPr>
        <p:spPr>
          <a:xfrm>
            <a:off x="508041" y="3606759"/>
            <a:ext cx="11175980" cy="0"/>
          </a:xfrm>
          <a:prstGeom prst="line">
            <a:avLst/>
          </a:prstGeom>
          <a:noFill/>
          <a:ln w="9525">
            <a:solidFill>
              <a:srgbClr val="DEE1E6"/>
            </a:solidFill>
            <a:prstDash val="solid"/>
          </a:ln>
        </p:spPr>
      </p:sp>
      <p:sp>
        <p:nvSpPr>
          <p:cNvPr id="16" name="N3"/>
          <p:cNvSpPr/>
          <p:nvPr>
            <p:ph idx="114" type="body" hasCustomPrompt="1"/>
          </p:nvPr>
        </p:nvSpPr>
        <p:spPr>
          <a:xfrm>
            <a:off x="508041" y="3746480"/>
            <a:ext cx="74505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2400" spc="-3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2400" spc="-3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3"/>
          <p:cNvSpPr/>
          <p:nvPr>
            <p:ph idx="115" type="body" hasCustomPrompt="1"/>
          </p:nvPr>
        </p:nvSpPr>
        <p:spPr>
          <a:xfrm>
            <a:off x="1456273" y="3771900"/>
            <a:ext cx="3589843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Section name</a:t>
            </a:r>
            <a:endParaRPr lang="en-US" sz="1800" dirty="0"/>
          </a:p>
        </p:txBody>
      </p:sp>
      <p:sp>
        <p:nvSpPr>
          <p:cNvPr id="18" name="D3"/>
          <p:cNvSpPr/>
          <p:nvPr>
            <p:ph idx="116" type="body" hasCustomPrompt="1"/>
          </p:nvPr>
        </p:nvSpPr>
        <p:spPr>
          <a:xfrm>
            <a:off x="5249296" y="3797320"/>
            <a:ext cx="643463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What this section answers, in one line.</a:t>
            </a:r>
            <a:endParaRPr lang="en-US" sz="1200" dirty="0"/>
          </a:p>
        </p:txBody>
      </p:sp>
      <p:sp>
        <p:nvSpPr>
          <p:cNvPr id="19" name="Shape 4"/>
          <p:cNvSpPr/>
          <p:nvPr/>
        </p:nvSpPr>
        <p:spPr>
          <a:xfrm>
            <a:off x="508041" y="4190970"/>
            <a:ext cx="11175980" cy="0"/>
          </a:xfrm>
          <a:prstGeom prst="line">
            <a:avLst/>
          </a:prstGeom>
          <a:noFill/>
          <a:ln w="9525">
            <a:solidFill>
              <a:srgbClr val="DEE1E6"/>
            </a:solidFill>
            <a:prstDash val="solid"/>
          </a:ln>
        </p:spPr>
      </p:sp>
      <p:sp>
        <p:nvSpPr>
          <p:cNvPr id="20" name="N4"/>
          <p:cNvSpPr/>
          <p:nvPr>
            <p:ph idx="118" type="body" hasCustomPrompt="1"/>
          </p:nvPr>
        </p:nvSpPr>
        <p:spPr>
          <a:xfrm>
            <a:off x="508041" y="4330690"/>
            <a:ext cx="74505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2400" spc="-3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2400" spc="-3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04</a:t>
            </a:r>
            <a:endParaRPr lang="en-US" sz="2400" dirty="0"/>
          </a:p>
        </p:txBody>
      </p:sp>
      <p:sp>
        <p:nvSpPr>
          <p:cNvPr id="21" name="T4"/>
          <p:cNvSpPr/>
          <p:nvPr>
            <p:ph idx="119" type="body" hasCustomPrompt="1"/>
          </p:nvPr>
        </p:nvSpPr>
        <p:spPr>
          <a:xfrm>
            <a:off x="1456273" y="4356110"/>
            <a:ext cx="3589843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Section name</a:t>
            </a:r>
            <a:endParaRPr lang="en-US" sz="1800" dirty="0"/>
          </a:p>
        </p:txBody>
      </p:sp>
      <p:sp>
        <p:nvSpPr>
          <p:cNvPr id="22" name="D4"/>
          <p:cNvSpPr/>
          <p:nvPr>
            <p:ph idx="120" type="body" hasCustomPrompt="1"/>
          </p:nvPr>
        </p:nvSpPr>
        <p:spPr>
          <a:xfrm>
            <a:off x="5249296" y="4381530"/>
            <a:ext cx="643463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What this section answers, in one line.</a:t>
            </a:r>
            <a:endParaRPr lang="en-US" sz="1200" dirty="0"/>
          </a:p>
        </p:txBody>
      </p:sp>
      <p:sp>
        <p:nvSpPr>
          <p:cNvPr id="23" name="Shape 5"/>
          <p:cNvSpPr/>
          <p:nvPr/>
        </p:nvSpPr>
        <p:spPr>
          <a:xfrm>
            <a:off x="508041" y="4775180"/>
            <a:ext cx="11175980" cy="0"/>
          </a:xfrm>
          <a:prstGeom prst="line">
            <a:avLst/>
          </a:prstGeom>
          <a:noFill/>
          <a:ln w="9525">
            <a:solidFill>
              <a:srgbClr val="DEE1E6"/>
            </a:solidFill>
            <a:prstDash val="solid"/>
          </a:ln>
        </p:spPr>
      </p:sp>
      <p:sp>
        <p:nvSpPr>
          <p:cNvPr id="24" name="N5"/>
          <p:cNvSpPr/>
          <p:nvPr>
            <p:ph idx="122" type="body" hasCustomPrompt="1"/>
          </p:nvPr>
        </p:nvSpPr>
        <p:spPr>
          <a:xfrm>
            <a:off x="508041" y="4914900"/>
            <a:ext cx="74505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2400" spc="-3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2400" spc="-3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05</a:t>
            </a:r>
            <a:endParaRPr lang="en-US" sz="2400" dirty="0"/>
          </a:p>
        </p:txBody>
      </p:sp>
      <p:sp>
        <p:nvSpPr>
          <p:cNvPr id="25" name="T5"/>
          <p:cNvSpPr/>
          <p:nvPr>
            <p:ph idx="123" type="body" hasCustomPrompt="1"/>
          </p:nvPr>
        </p:nvSpPr>
        <p:spPr>
          <a:xfrm>
            <a:off x="1456273" y="4940320"/>
            <a:ext cx="3589843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Section name</a:t>
            </a:r>
            <a:endParaRPr lang="en-US" sz="1800" dirty="0"/>
          </a:p>
        </p:txBody>
      </p:sp>
      <p:sp>
        <p:nvSpPr>
          <p:cNvPr id="26" name="D5"/>
          <p:cNvSpPr/>
          <p:nvPr>
            <p:ph idx="124" type="body" hasCustomPrompt="1"/>
          </p:nvPr>
        </p:nvSpPr>
        <p:spPr>
          <a:xfrm>
            <a:off x="5249296" y="4965741"/>
            <a:ext cx="643463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What this section answers, in one line.</a:t>
            </a:r>
            <a:endParaRPr lang="en-US" sz="1200" dirty="0"/>
          </a:p>
        </p:txBody>
      </p:sp>
      <p:sp>
        <p:nvSpPr>
          <p:cNvPr id="27" name="Shape 6"/>
          <p:cNvSpPr/>
          <p:nvPr/>
        </p:nvSpPr>
        <p:spPr>
          <a:xfrm>
            <a:off x="508041" y="5359390"/>
            <a:ext cx="11175980" cy="0"/>
          </a:xfrm>
          <a:prstGeom prst="line">
            <a:avLst/>
          </a:prstGeom>
          <a:noFill/>
          <a:ln w="9525">
            <a:solidFill>
              <a:srgbClr val="DEE1E6"/>
            </a:solidFill>
            <a:prstDash val="solid"/>
          </a:ln>
        </p:spPr>
      </p:sp>
      <p:sp>
        <p:nvSpPr>
          <p:cNvPr id="28" name="N6"/>
          <p:cNvSpPr/>
          <p:nvPr>
            <p:ph idx="126" type="body" hasCustomPrompt="1"/>
          </p:nvPr>
        </p:nvSpPr>
        <p:spPr>
          <a:xfrm>
            <a:off x="508041" y="5499110"/>
            <a:ext cx="74505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2400" spc="-3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2400" spc="-3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06</a:t>
            </a:r>
            <a:endParaRPr lang="en-US" sz="2400" dirty="0"/>
          </a:p>
        </p:txBody>
      </p:sp>
      <p:sp>
        <p:nvSpPr>
          <p:cNvPr id="29" name="T6"/>
          <p:cNvSpPr/>
          <p:nvPr>
            <p:ph idx="127" type="body" hasCustomPrompt="1"/>
          </p:nvPr>
        </p:nvSpPr>
        <p:spPr>
          <a:xfrm>
            <a:off x="1456273" y="5524530"/>
            <a:ext cx="3589843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Section name</a:t>
            </a:r>
            <a:endParaRPr lang="en-US" sz="1800" dirty="0"/>
          </a:p>
        </p:txBody>
      </p:sp>
      <p:sp>
        <p:nvSpPr>
          <p:cNvPr id="30" name="D6"/>
          <p:cNvSpPr/>
          <p:nvPr>
            <p:ph idx="128" type="body" hasCustomPrompt="1"/>
          </p:nvPr>
        </p:nvSpPr>
        <p:spPr>
          <a:xfrm>
            <a:off x="5249296" y="5549859"/>
            <a:ext cx="643463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What this section answers, in one line.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 Section Divider">
    <p:bg>
      <p:bgPr>
        <a:solidFill>
          <a:srgbClr val="001E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/>
          <p:nvPr>
            <p:ph idx="100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r" indent="0" marL="0">
              <a:buNone/>
              <a:defRPr lang="en-US" cap="all" sz="800" spc="110" kern="0" dirty="0">
                <a:solidFill>
                  <a:srgbClr val="CFE0FB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cap="all" sz="800" spc="110" kern="0" dirty="0">
                <a:solidFill>
                  <a:srgbClr val="CFE0FB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SECTION NAME</a:t>
            </a:r>
            <a:endParaRPr lang="en-US" sz="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6426220"/>
            <a:ext cx="139720" cy="1397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23930" y="6438930"/>
            <a:ext cx="38100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FE0FB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Walmart Ads</a:t>
            </a:r>
            <a:endParaRPr lang="en-US" sz="800" dirty="0"/>
          </a:p>
        </p:txBody>
      </p:sp>
      <p:sp>
        <p:nvSpPr>
          <p:cNvPr id="5" name="Number"/>
          <p:cNvSpPr/>
          <p:nvPr>
            <p:ph idx="103" type="body" hasCustomPrompt="1"/>
          </p:nvPr>
        </p:nvSpPr>
        <p:spPr>
          <a:xfrm>
            <a:off x="508041" y="2413010"/>
            <a:ext cx="5080041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4DBDF5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4DBDF5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SECTION 01</a:t>
            </a:r>
            <a:endParaRPr lang="en-US" sz="800" dirty="0"/>
          </a:p>
        </p:txBody>
      </p:sp>
      <p:sp>
        <p:nvSpPr>
          <p:cNvPr id="6" name="Title"/>
          <p:cNvSpPr/>
          <p:nvPr>
            <p:ph idx="104" type="title" hasCustomPrompt="1"/>
          </p:nvPr>
        </p:nvSpPr>
        <p:spPr>
          <a:xfrm>
            <a:off x="508041" y="2667030"/>
            <a:ext cx="9525030" cy="1206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05000"/>
              </a:lnSpc>
              <a:buNone/>
              <a:defRPr lang="en-US" sz="5600" spc="-100" kern="0" dirty="0">
                <a:solidFill>
                  <a:srgbClr val="FFFFFF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5600" spc="-100" kern="0" dirty="0">
                <a:solidFill>
                  <a:srgbClr val="FFFFFF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Section name</a:t>
            </a:r>
            <a:endParaRPr lang="en-US" sz="5600" dirty="0"/>
          </a:p>
        </p:txBody>
      </p:sp>
      <p:sp>
        <p:nvSpPr>
          <p:cNvPr id="7" name="Subtitle"/>
          <p:cNvSpPr/>
          <p:nvPr>
            <p:ph idx="105" type="body" hasCustomPrompt="1"/>
          </p:nvPr>
        </p:nvSpPr>
        <p:spPr>
          <a:xfrm>
            <a:off x="508041" y="4063959"/>
            <a:ext cx="698501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800" spc="-30" kern="0" dirty="0">
                <a:solidFill>
                  <a:srgbClr val="CFE0FB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CFE0FB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The section’s argument in one sentence.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FE0FB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6 Section Divider — Statement">
    <p:bg>
      <p:bgPr>
        <a:solidFill>
          <a:srgbClr val="005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/>
          <p:nvPr>
            <p:ph idx="100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r" indent="0" marL="0">
              <a:buNone/>
              <a:defRPr lang="en-US" cap="all" sz="800" spc="110" kern="0" dirty="0">
                <a:solidFill>
                  <a:srgbClr val="CFE0FB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cap="all" sz="800" spc="110" kern="0" dirty="0">
                <a:solidFill>
                  <a:srgbClr val="CFE0FB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SECTION NAME</a:t>
            </a:r>
            <a:endParaRPr lang="en-US" sz="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6426220"/>
            <a:ext cx="139720" cy="1397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23930" y="6438930"/>
            <a:ext cx="38100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FE0FB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Walmart Ads</a:t>
            </a:r>
            <a:endParaRPr lang="en-US" sz="800" dirty="0"/>
          </a:p>
        </p:txBody>
      </p:sp>
      <p:sp>
        <p:nvSpPr>
          <p:cNvPr id="5" name="Number"/>
          <p:cNvSpPr/>
          <p:nvPr>
            <p:ph idx="103" type="body" hasCustomPrompt="1"/>
          </p:nvPr>
        </p:nvSpPr>
        <p:spPr>
          <a:xfrm>
            <a:off x="508041" y="1904970"/>
            <a:ext cx="5080041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FFFFFF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FFFFFF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SECTION 02</a:t>
            </a:r>
            <a:endParaRPr lang="en-US" sz="800" dirty="0"/>
          </a:p>
        </p:txBody>
      </p:sp>
      <p:sp>
        <p:nvSpPr>
          <p:cNvPr id="6" name="Title"/>
          <p:cNvSpPr/>
          <p:nvPr>
            <p:ph idx="104" type="title" hasCustomPrompt="1"/>
          </p:nvPr>
        </p:nvSpPr>
        <p:spPr>
          <a:xfrm>
            <a:off x="508041" y="2158990"/>
            <a:ext cx="9525030" cy="254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02000"/>
              </a:lnSpc>
              <a:buNone/>
              <a:defRPr lang="en-US" sz="4800" spc="-120" kern="0" dirty="0">
                <a:solidFill>
                  <a:srgbClr val="FFFFFF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02000"/>
              </a:lnSpc>
              <a:buNone/>
            </a:pPr>
            <a:r>
              <a:rPr lang="en-US" sz="4800" spc="-120" kern="0" dirty="0">
                <a:solidFill>
                  <a:srgbClr val="FFFFFF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A statement that turns the argument toward what comes next.</a:t>
            </a:r>
            <a:endParaRPr lang="en-US" sz="4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FE0FB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7 Hero Statement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EYEBROW · CONTEXT LABEL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r" indent="0" marL="0">
              <a:buNone/>
              <a:def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SECTION NAME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6426220"/>
            <a:ext cx="139720" cy="1397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23930" y="6438930"/>
            <a:ext cx="38100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Walmart Ads</a:t>
            </a:r>
            <a:endParaRPr lang="en-US" sz="800" dirty="0"/>
          </a:p>
        </p:txBody>
      </p:sp>
      <p:sp>
        <p:nvSpPr>
          <p:cNvPr id="6" name="Title"/>
          <p:cNvSpPr/>
          <p:nvPr>
            <p:ph idx="104" type="title" hasCustomPrompt="1"/>
          </p:nvPr>
        </p:nvSpPr>
        <p:spPr>
          <a:xfrm>
            <a:off x="508041" y="1777959"/>
            <a:ext cx="9279423" cy="26670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lnSpc>
                <a:spcPct val="112000"/>
              </a:lnSpc>
              <a:buNone/>
              <a:defRPr lang="en-US" sz="4000" spc="-8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12000"/>
              </a:lnSpc>
              <a:buNone/>
            </a:pPr>
            <a:r>
              <a:rPr lang="en-US" sz="4000" spc="-8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One idea, stated plainly enough that the room could repeat it.</a:t>
            </a:r>
            <a:endParaRPr lang="en-US" sz="4000" dirty="0"/>
          </a:p>
        </p:txBody>
      </p:sp>
      <p:sp>
        <p:nvSpPr>
          <p:cNvPr id="7" name="Shape 1"/>
          <p:cNvSpPr/>
          <p:nvPr/>
        </p:nvSpPr>
        <p:spPr>
          <a:xfrm>
            <a:off x="508041" y="4622841"/>
            <a:ext cx="9279423" cy="0"/>
          </a:xfrm>
          <a:prstGeom prst="line">
            <a:avLst/>
          </a:prstGeom>
          <a:noFill/>
          <a:ln w="19050">
            <a:solidFill>
              <a:srgbClr val="0053E2"/>
            </a:solidFill>
            <a:prstDash val="solid"/>
          </a:ln>
        </p:spPr>
      </p:sp>
      <p:sp>
        <p:nvSpPr>
          <p:cNvPr id="8" name="Subtitle"/>
          <p:cNvSpPr/>
          <p:nvPr>
            <p:ph idx="106" type="body" hasCustomPrompt="1"/>
          </p:nvPr>
        </p:nvSpPr>
        <p:spPr>
          <a:xfrm>
            <a:off x="508041" y="4775180"/>
            <a:ext cx="7382957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Supporting line: why it matters or what it changes.</a:t>
            </a:r>
            <a:endParaRPr lang="en-US" sz="1400" dirty="0"/>
          </a:p>
        </p:txBody>
      </p:sp>
      <p:sp>
        <p:nvSpPr>
          <p:cNvPr id="9" name="Source"/>
          <p:cNvSpPr/>
          <p:nvPr>
            <p:ph idx="107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buNone/>
              <a:def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Source: name, date range, sample size. Delete if not needed.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8 Statement + Evidence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EYEBROW · CONTEXT LABEL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r" indent="0" marL="0">
              <a:buNone/>
              <a:def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SECTION NAME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6426220"/>
            <a:ext cx="139720" cy="1397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23930" y="6438930"/>
            <a:ext cx="38100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Walmart Ads</a:t>
            </a:r>
            <a:endParaRPr lang="en-US" sz="800" dirty="0"/>
          </a:p>
        </p:txBody>
      </p:sp>
      <p:sp>
        <p:nvSpPr>
          <p:cNvPr id="6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lnSpc>
                <a:spcPct val="110000"/>
              </a:lnSpc>
              <a:buNone/>
              <a:def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Headline states the takeaway, not the topic</a:t>
            </a:r>
            <a:endParaRPr lang="en-US" sz="2800" dirty="0"/>
          </a:p>
        </p:txBody>
      </p:sp>
      <p:sp>
        <p:nvSpPr>
          <p:cNvPr id="7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Optional supporting line: context, scope or the one fact the headline rests on.</a:t>
            </a:r>
            <a:endParaRPr lang="en-US" sz="1400" dirty="0"/>
          </a:p>
        </p:txBody>
      </p:sp>
      <p:sp>
        <p:nvSpPr>
          <p:cNvPr id="8" name="Claim"/>
          <p:cNvSpPr/>
          <p:nvPr>
            <p:ph idx="106" type="body" hasCustomPrompt="1"/>
          </p:nvPr>
        </p:nvSpPr>
        <p:spPr>
          <a:xfrm>
            <a:off x="508041" y="2438430"/>
            <a:ext cx="5486400" cy="190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2000"/>
              </a:lnSpc>
              <a:buNone/>
              <a:defRPr lang="en-US" sz="2800" spc="-8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12000"/>
              </a:lnSpc>
              <a:buNone/>
            </a:pPr>
            <a:r>
              <a:rPr lang="en-US" sz="2800" spc="-8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The claim, in one or two sentences.</a:t>
            </a:r>
            <a:endParaRPr lang="en-US" sz="2800" dirty="0"/>
          </a:p>
        </p:txBody>
      </p:sp>
      <p:sp>
        <p:nvSpPr>
          <p:cNvPr id="9" name="Claim body"/>
          <p:cNvSpPr/>
          <p:nvPr>
            <p:ph idx="107" type="body" hasCustomPrompt="1"/>
          </p:nvPr>
        </p:nvSpPr>
        <p:spPr>
          <a:xfrm>
            <a:off x="508041" y="4470410"/>
            <a:ext cx="5486400" cy="127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What the evidence means together. Interpretation, not a restatement of the numbers.</a:t>
            </a:r>
            <a:endParaRPr lang="en-US" sz="1200" dirty="0"/>
          </a:p>
        </p:txBody>
      </p:sp>
      <p:sp>
        <p:nvSpPr>
          <p:cNvPr id="10" name="Shape 1"/>
          <p:cNvSpPr/>
          <p:nvPr/>
        </p:nvSpPr>
        <p:spPr>
          <a:xfrm>
            <a:off x="7145853" y="2438430"/>
            <a:ext cx="4538167" cy="0"/>
          </a:xfrm>
          <a:prstGeom prst="line">
            <a:avLst/>
          </a:prstGeom>
          <a:noFill/>
          <a:ln w="19050">
            <a:solidFill>
              <a:srgbClr val="0053E2"/>
            </a:solidFill>
            <a:prstDash val="solid"/>
          </a:ln>
        </p:spPr>
      </p:sp>
      <p:sp>
        <p:nvSpPr>
          <p:cNvPr id="11" name="E1 value"/>
          <p:cNvSpPr/>
          <p:nvPr>
            <p:ph idx="109" type="body" hasCustomPrompt="1"/>
          </p:nvPr>
        </p:nvSpPr>
        <p:spPr>
          <a:xfrm>
            <a:off x="7145853" y="2565441"/>
            <a:ext cx="4538167" cy="40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95000"/>
              </a:lnSpc>
              <a:buNone/>
              <a:defRPr lang="en-US" sz="4000" spc="-12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4000" spc="-12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00%</a:t>
            </a:r>
            <a:endParaRPr lang="en-US" sz="4000" dirty="0"/>
          </a:p>
        </p:txBody>
      </p:sp>
      <p:sp>
        <p:nvSpPr>
          <p:cNvPr id="12" name="E1 label"/>
          <p:cNvSpPr/>
          <p:nvPr>
            <p:ph idx="110" type="body" hasCustomPrompt="1"/>
          </p:nvPr>
        </p:nvSpPr>
        <p:spPr>
          <a:xfrm>
            <a:off x="7145853" y="3022641"/>
            <a:ext cx="4538167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What the number measures, and for whom.</a:t>
            </a:r>
            <a:endParaRPr lang="en-US" sz="1050" dirty="0"/>
          </a:p>
        </p:txBody>
      </p:sp>
      <p:sp>
        <p:nvSpPr>
          <p:cNvPr id="13" name="Shape 2"/>
          <p:cNvSpPr/>
          <p:nvPr/>
        </p:nvSpPr>
        <p:spPr>
          <a:xfrm>
            <a:off x="7145853" y="3606759"/>
            <a:ext cx="4538167" cy="0"/>
          </a:xfrm>
          <a:prstGeom prst="line">
            <a:avLst/>
          </a:prstGeom>
          <a:noFill/>
          <a:ln w="19050">
            <a:solidFill>
              <a:srgbClr val="0053E2"/>
            </a:solidFill>
            <a:prstDash val="solid"/>
          </a:ln>
        </p:spPr>
      </p:sp>
      <p:sp>
        <p:nvSpPr>
          <p:cNvPr id="14" name="E2 value"/>
          <p:cNvSpPr/>
          <p:nvPr>
            <p:ph idx="112" type="body" hasCustomPrompt="1"/>
          </p:nvPr>
        </p:nvSpPr>
        <p:spPr>
          <a:xfrm>
            <a:off x="7145853" y="3733770"/>
            <a:ext cx="4538167" cy="40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95000"/>
              </a:lnSpc>
              <a:buNone/>
              <a:defRPr lang="en-US" sz="4000" spc="-12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4000" spc="-12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00%</a:t>
            </a:r>
            <a:endParaRPr lang="en-US" sz="4000" dirty="0"/>
          </a:p>
        </p:txBody>
      </p:sp>
      <p:sp>
        <p:nvSpPr>
          <p:cNvPr id="15" name="E2 label"/>
          <p:cNvSpPr/>
          <p:nvPr>
            <p:ph idx="113" type="body" hasCustomPrompt="1"/>
          </p:nvPr>
        </p:nvSpPr>
        <p:spPr>
          <a:xfrm>
            <a:off x="7145853" y="4190970"/>
            <a:ext cx="4538167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What the number measures, and for whom.</a:t>
            </a:r>
            <a:endParaRPr lang="en-US" sz="1050" dirty="0"/>
          </a:p>
        </p:txBody>
      </p:sp>
      <p:sp>
        <p:nvSpPr>
          <p:cNvPr id="16" name="Shape 3"/>
          <p:cNvSpPr/>
          <p:nvPr/>
        </p:nvSpPr>
        <p:spPr>
          <a:xfrm>
            <a:off x="7145853" y="4775180"/>
            <a:ext cx="4538167" cy="0"/>
          </a:xfrm>
          <a:prstGeom prst="line">
            <a:avLst/>
          </a:prstGeom>
          <a:noFill/>
          <a:ln w="19050">
            <a:solidFill>
              <a:srgbClr val="0053E2"/>
            </a:solidFill>
            <a:prstDash val="solid"/>
          </a:ln>
        </p:spPr>
      </p:sp>
      <p:sp>
        <p:nvSpPr>
          <p:cNvPr id="17" name="E3 value"/>
          <p:cNvSpPr/>
          <p:nvPr>
            <p:ph idx="115" type="body" hasCustomPrompt="1"/>
          </p:nvPr>
        </p:nvSpPr>
        <p:spPr>
          <a:xfrm>
            <a:off x="7145853" y="4902190"/>
            <a:ext cx="4538167" cy="40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95000"/>
              </a:lnSpc>
              <a:buNone/>
              <a:defRPr lang="en-US" sz="4000" spc="-12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4000" spc="-12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00%</a:t>
            </a:r>
            <a:endParaRPr lang="en-US" sz="4000" dirty="0"/>
          </a:p>
        </p:txBody>
      </p:sp>
      <p:sp>
        <p:nvSpPr>
          <p:cNvPr id="18" name="E3 label"/>
          <p:cNvSpPr/>
          <p:nvPr>
            <p:ph idx="116" type="body" hasCustomPrompt="1"/>
          </p:nvPr>
        </p:nvSpPr>
        <p:spPr>
          <a:xfrm>
            <a:off x="7145853" y="5359390"/>
            <a:ext cx="4538167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What the number measures, and for whom.</a:t>
            </a:r>
            <a:endParaRPr lang="en-US" sz="1050" dirty="0"/>
          </a:p>
        </p:txBody>
      </p:sp>
      <p:sp>
        <p:nvSpPr>
          <p:cNvPr id="19" name="Source"/>
          <p:cNvSpPr/>
          <p:nvPr>
            <p:ph idx="117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buNone/>
              <a:def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Source: name, date range, sample size. Delete if not needed.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9 Title Only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EYEBROW · CONTEXT LABEL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r" indent="0" marL="0">
              <a:buNone/>
              <a:def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SECTION NAME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6426220"/>
            <a:ext cx="139720" cy="1397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23930" y="6438930"/>
            <a:ext cx="38100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Walmart Ads</a:t>
            </a:r>
            <a:endParaRPr lang="en-US" sz="800" dirty="0"/>
          </a:p>
        </p:txBody>
      </p:sp>
      <p:sp>
        <p:nvSpPr>
          <p:cNvPr id="6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lnSpc>
                <a:spcPct val="110000"/>
              </a:lnSpc>
              <a:buNone/>
              <a:def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Headline states the takeaway, not the topic</a:t>
            </a:r>
            <a:endParaRPr lang="en-US" sz="2800" dirty="0"/>
          </a:p>
        </p:txBody>
      </p:sp>
      <p:sp>
        <p:nvSpPr>
          <p:cNvPr id="7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Optional supporting line: context, scope or the one fact the headline rests on.</a:t>
            </a:r>
            <a:endParaRPr lang="en-US" sz="1400" dirty="0"/>
          </a:p>
        </p:txBody>
      </p:sp>
      <p:sp>
        <p:nvSpPr>
          <p:cNvPr id="8" name="Source"/>
          <p:cNvSpPr/>
          <p:nvPr>
            <p:ph idx="106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buNone/>
              <a:def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Source: name, date range, sample size. Delete if not needed.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Title + Body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EYEBROW · CONTEXT LABEL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r" indent="0" marL="0">
              <a:buNone/>
              <a:def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SECTION NAME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6426220"/>
            <a:ext cx="139720" cy="1397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23930" y="6438930"/>
            <a:ext cx="38100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Walmart Ads</a:t>
            </a:r>
            <a:endParaRPr lang="en-US" sz="800" dirty="0"/>
          </a:p>
        </p:txBody>
      </p:sp>
      <p:sp>
        <p:nvSpPr>
          <p:cNvPr id="6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lnSpc>
                <a:spcPct val="110000"/>
              </a:lnSpc>
              <a:buNone/>
              <a:def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Headline states the takeaway, not the topic</a:t>
            </a:r>
            <a:endParaRPr lang="en-US" sz="2800" dirty="0"/>
          </a:p>
        </p:txBody>
      </p:sp>
      <p:sp>
        <p:nvSpPr>
          <p:cNvPr id="7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Optional supporting line: context, scope or the one fact the headline rests on.</a:t>
            </a:r>
            <a:endParaRPr lang="en-US" sz="1400" dirty="0"/>
          </a:p>
        </p:txBody>
      </p:sp>
      <p:sp>
        <p:nvSpPr>
          <p:cNvPr id="8" name="Body"/>
          <p:cNvSpPr/>
          <p:nvPr>
            <p:ph idx="106" type="body" hasCustomPrompt="1"/>
          </p:nvPr>
        </p:nvSpPr>
        <p:spPr>
          <a:xfrm>
            <a:off x="508041" y="2438430"/>
            <a:ext cx="8331190" cy="3556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Body text at a readable measure. Nine columns wide on purpose: the container aligns to the grid, the text stops before the line gets too long.</a:t>
            </a:r>
            <a:endParaRPr lang="en-US" sz="1400" dirty="0"/>
          </a:p>
        </p:txBody>
      </p:sp>
      <p:sp>
        <p:nvSpPr>
          <p:cNvPr id="9" name="Source"/>
          <p:cNvSpPr/>
          <p:nvPr>
            <p:ph idx="107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buNone/>
              <a:def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Source: name, date range, sample size. Delete if not needed.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 Two Column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EYEBROW · CONTEXT LABEL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r" indent="0" marL="0">
              <a:buNone/>
              <a:def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SECTION NAME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6426220"/>
            <a:ext cx="139720" cy="1397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23930" y="6438930"/>
            <a:ext cx="38100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Walmart Ads</a:t>
            </a:r>
            <a:endParaRPr lang="en-US" sz="800" dirty="0"/>
          </a:p>
        </p:txBody>
      </p:sp>
      <p:sp>
        <p:nvSpPr>
          <p:cNvPr id="6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lnSpc>
                <a:spcPct val="110000"/>
              </a:lnSpc>
              <a:buNone/>
              <a:def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Headline states the takeaway, not the topic</a:t>
            </a:r>
            <a:endParaRPr lang="en-US" sz="2800" dirty="0"/>
          </a:p>
        </p:txBody>
      </p:sp>
      <p:sp>
        <p:nvSpPr>
          <p:cNvPr id="7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Optional supporting line: context, scope or the one fact the headline rests on.</a:t>
            </a:r>
            <a:endParaRPr lang="en-US" sz="1400" dirty="0"/>
          </a:p>
        </p:txBody>
      </p:sp>
      <p:sp>
        <p:nvSpPr>
          <p:cNvPr id="8" name="Shape 1"/>
          <p:cNvSpPr/>
          <p:nvPr/>
        </p:nvSpPr>
        <p:spPr>
          <a:xfrm>
            <a:off x="508041" y="2438430"/>
            <a:ext cx="5486400" cy="0"/>
          </a:xfrm>
          <a:prstGeom prst="line">
            <a:avLst/>
          </a:prstGeom>
          <a:noFill/>
          <a:ln w="19050">
            <a:solidFill>
              <a:srgbClr val="0053E2"/>
            </a:solidFill>
            <a:prstDash val="solid"/>
          </a:ln>
        </p:spPr>
      </p:sp>
      <p:sp>
        <p:nvSpPr>
          <p:cNvPr id="9" name="C1 label"/>
          <p:cNvSpPr/>
          <p:nvPr>
            <p:ph idx="107" type="body" hasCustomPrompt="1"/>
          </p:nvPr>
        </p:nvSpPr>
        <p:spPr>
          <a:xfrm>
            <a:off x="508041" y="2540020"/>
            <a:ext cx="548640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LABEL</a:t>
            </a:r>
            <a:endParaRPr lang="en-US" sz="800" dirty="0"/>
          </a:p>
        </p:txBody>
      </p:sp>
      <p:sp>
        <p:nvSpPr>
          <p:cNvPr id="10" name="C1 title"/>
          <p:cNvSpPr/>
          <p:nvPr>
            <p:ph idx="108" type="body" hasCustomPrompt="1"/>
          </p:nvPr>
        </p:nvSpPr>
        <p:spPr>
          <a:xfrm>
            <a:off x="508041" y="27177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Module title</a:t>
            </a:r>
            <a:endParaRPr lang="en-US" sz="1800" dirty="0"/>
          </a:p>
        </p:txBody>
      </p:sp>
      <p:sp>
        <p:nvSpPr>
          <p:cNvPr id="11" name="C1 body"/>
          <p:cNvSpPr/>
          <p:nvPr>
            <p:ph idx="109" type="body" hasCustomPrompt="1"/>
          </p:nvPr>
        </p:nvSpPr>
        <p:spPr>
          <a:xfrm>
            <a:off x="508041" y="3225820"/>
            <a:ext cx="5486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One to three sentences. Keep peers to the same length so the row stays even.</a:t>
            </a:r>
            <a:endParaRPr lang="en-US" sz="1200" dirty="0"/>
          </a:p>
        </p:txBody>
      </p:sp>
      <p:sp>
        <p:nvSpPr>
          <p:cNvPr id="12" name="Shape 2"/>
          <p:cNvSpPr/>
          <p:nvPr/>
        </p:nvSpPr>
        <p:spPr>
          <a:xfrm>
            <a:off x="6197620" y="2438430"/>
            <a:ext cx="5486400" cy="0"/>
          </a:xfrm>
          <a:prstGeom prst="line">
            <a:avLst/>
          </a:prstGeom>
          <a:noFill/>
          <a:ln w="19050">
            <a:solidFill>
              <a:srgbClr val="0053E2"/>
            </a:solidFill>
            <a:prstDash val="solid"/>
          </a:ln>
        </p:spPr>
      </p:sp>
      <p:sp>
        <p:nvSpPr>
          <p:cNvPr id="13" name="C2 label"/>
          <p:cNvSpPr/>
          <p:nvPr>
            <p:ph idx="111" type="body" hasCustomPrompt="1"/>
          </p:nvPr>
        </p:nvSpPr>
        <p:spPr>
          <a:xfrm>
            <a:off x="6197620" y="2540020"/>
            <a:ext cx="548640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LABEL</a:t>
            </a:r>
            <a:endParaRPr lang="en-US" sz="800" dirty="0"/>
          </a:p>
        </p:txBody>
      </p:sp>
      <p:sp>
        <p:nvSpPr>
          <p:cNvPr id="14" name="C2 title"/>
          <p:cNvSpPr/>
          <p:nvPr>
            <p:ph idx="112" type="body" hasCustomPrompt="1"/>
          </p:nvPr>
        </p:nvSpPr>
        <p:spPr>
          <a:xfrm>
            <a:off x="6197620" y="27177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Module title</a:t>
            </a:r>
            <a:endParaRPr lang="en-US" sz="1800" dirty="0"/>
          </a:p>
        </p:txBody>
      </p:sp>
      <p:sp>
        <p:nvSpPr>
          <p:cNvPr id="15" name="C2 body"/>
          <p:cNvSpPr/>
          <p:nvPr>
            <p:ph idx="113" type="body" hasCustomPrompt="1"/>
          </p:nvPr>
        </p:nvSpPr>
        <p:spPr>
          <a:xfrm>
            <a:off x="6197620" y="3225820"/>
            <a:ext cx="5486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One to three sentences. Keep peers to the same length so the row stays even.</a:t>
            </a:r>
            <a:endParaRPr lang="en-US" sz="1200" dirty="0"/>
          </a:p>
        </p:txBody>
      </p:sp>
      <p:sp>
        <p:nvSpPr>
          <p:cNvPr id="16" name="Source"/>
          <p:cNvSpPr/>
          <p:nvPr>
            <p:ph idx="114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buNone/>
              <a:def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Source: name, date range, sample size. Delete if not needed.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Split 8 +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EYEBROW · CONTEXT LABEL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r" indent="0" marL="0">
              <a:buNone/>
              <a:def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SECTION NAME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6426220"/>
            <a:ext cx="139720" cy="1397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23930" y="6438930"/>
            <a:ext cx="38100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Walmart Ads</a:t>
            </a:r>
            <a:endParaRPr lang="en-US" sz="800" dirty="0"/>
          </a:p>
        </p:txBody>
      </p:sp>
      <p:sp>
        <p:nvSpPr>
          <p:cNvPr id="6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lnSpc>
                <a:spcPct val="110000"/>
              </a:lnSpc>
              <a:buNone/>
              <a:def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Headline states the takeaway, not the topic</a:t>
            </a:r>
            <a:endParaRPr lang="en-US" sz="2800" dirty="0"/>
          </a:p>
        </p:txBody>
      </p:sp>
      <p:sp>
        <p:nvSpPr>
          <p:cNvPr id="7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Optional supporting line: context, scope or the one fact the headline rests on.</a:t>
            </a:r>
            <a:endParaRPr lang="en-US" sz="1400" dirty="0"/>
          </a:p>
        </p:txBody>
      </p:sp>
      <p:sp>
        <p:nvSpPr>
          <p:cNvPr id="8" name="Content"/>
          <p:cNvSpPr/>
          <p:nvPr>
            <p:ph idx="106" type="body" hasCustomPrompt="1"/>
          </p:nvPr>
        </p:nvSpPr>
        <p:spPr>
          <a:xfrm>
            <a:off x="508041" y="2438430"/>
            <a:ext cx="7382957" cy="3556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2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Main content: paste a chart, table, screenshot or diagram here.</a:t>
            </a:r>
            <a:endParaRPr lang="en-US" sz="1200" dirty="0"/>
          </a:p>
        </p:txBody>
      </p:sp>
      <p:sp>
        <p:nvSpPr>
          <p:cNvPr id="9" name="Shape 1"/>
          <p:cNvSpPr/>
          <p:nvPr/>
        </p:nvSpPr>
        <p:spPr>
          <a:xfrm>
            <a:off x="8094177" y="2438430"/>
            <a:ext cx="3589843" cy="0"/>
          </a:xfrm>
          <a:prstGeom prst="line">
            <a:avLst/>
          </a:prstGeom>
          <a:noFill/>
          <a:ln w="19050">
            <a:solidFill>
              <a:srgbClr val="0053E2"/>
            </a:solidFill>
            <a:prstDash val="solid"/>
          </a:ln>
        </p:spPr>
      </p:sp>
      <p:sp>
        <p:nvSpPr>
          <p:cNvPr id="10" name="Rail label"/>
          <p:cNvSpPr/>
          <p:nvPr>
            <p:ph idx="108" type="body" hasCustomPrompt="1"/>
          </p:nvPr>
        </p:nvSpPr>
        <p:spPr>
          <a:xfrm>
            <a:off x="8094177" y="2540020"/>
            <a:ext cx="358984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SO WHAT</a:t>
            </a:r>
            <a:endParaRPr lang="en-US" sz="800" dirty="0"/>
          </a:p>
        </p:txBody>
      </p:sp>
      <p:sp>
        <p:nvSpPr>
          <p:cNvPr id="11" name="Rail title"/>
          <p:cNvSpPr/>
          <p:nvPr>
            <p:ph idx="109" type="body" hasCustomPrompt="1"/>
          </p:nvPr>
        </p:nvSpPr>
        <p:spPr>
          <a:xfrm>
            <a:off x="8094177" y="2717780"/>
            <a:ext cx="3589843" cy="1015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The interpretation in one sentence.</a:t>
            </a:r>
            <a:endParaRPr lang="en-US" sz="1800" dirty="0"/>
          </a:p>
        </p:txBody>
      </p:sp>
      <p:sp>
        <p:nvSpPr>
          <p:cNvPr id="12" name="Rail body"/>
          <p:cNvSpPr/>
          <p:nvPr>
            <p:ph idx="110" type="body" hasCustomPrompt="1"/>
          </p:nvPr>
        </p:nvSpPr>
        <p:spPr>
          <a:xfrm>
            <a:off x="8094177" y="3835359"/>
            <a:ext cx="3589843" cy="1968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Why it matters and what to do about it.</a:t>
            </a:r>
            <a:endParaRPr lang="en-US" sz="1200" dirty="0"/>
          </a:p>
        </p:txBody>
      </p:sp>
      <p:sp>
        <p:nvSpPr>
          <p:cNvPr id="13" name="Source"/>
          <p:cNvSpPr/>
          <p:nvPr>
            <p:ph idx="111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buNone/>
              <a:def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Source: name, date range, sample size. Delete if not needed.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Three Column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EYEBROW · CONTEXT LABEL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r" indent="0" marL="0">
              <a:buNone/>
              <a:def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SECTION NAME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6426220"/>
            <a:ext cx="139720" cy="1397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23930" y="6438930"/>
            <a:ext cx="38100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Walmart Ads</a:t>
            </a:r>
            <a:endParaRPr lang="en-US" sz="800" dirty="0"/>
          </a:p>
        </p:txBody>
      </p:sp>
      <p:sp>
        <p:nvSpPr>
          <p:cNvPr id="6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lnSpc>
                <a:spcPct val="110000"/>
              </a:lnSpc>
              <a:buNone/>
              <a:def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Headline states the takeaway, not the topic</a:t>
            </a:r>
            <a:endParaRPr lang="en-US" sz="2800" dirty="0"/>
          </a:p>
        </p:txBody>
      </p:sp>
      <p:sp>
        <p:nvSpPr>
          <p:cNvPr id="7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Optional supporting line: context, scope or the one fact the headline rests on.</a:t>
            </a:r>
            <a:endParaRPr lang="en-US" sz="1400" dirty="0"/>
          </a:p>
        </p:txBody>
      </p:sp>
      <p:sp>
        <p:nvSpPr>
          <p:cNvPr id="8" name="Shape 1"/>
          <p:cNvSpPr/>
          <p:nvPr/>
        </p:nvSpPr>
        <p:spPr>
          <a:xfrm>
            <a:off x="508041" y="2438430"/>
            <a:ext cx="3589843" cy="0"/>
          </a:xfrm>
          <a:prstGeom prst="line">
            <a:avLst/>
          </a:prstGeom>
          <a:noFill/>
          <a:ln w="19050">
            <a:solidFill>
              <a:srgbClr val="0053E2"/>
            </a:solidFill>
            <a:prstDash val="solid"/>
          </a:ln>
        </p:spPr>
      </p:sp>
      <p:sp>
        <p:nvSpPr>
          <p:cNvPr id="9" name="C1 label"/>
          <p:cNvSpPr/>
          <p:nvPr>
            <p:ph idx="107" type="body" hasCustomPrompt="1"/>
          </p:nvPr>
        </p:nvSpPr>
        <p:spPr>
          <a:xfrm>
            <a:off x="508041" y="2540020"/>
            <a:ext cx="358984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LABEL</a:t>
            </a:r>
            <a:endParaRPr lang="en-US" sz="800" dirty="0"/>
          </a:p>
        </p:txBody>
      </p:sp>
      <p:sp>
        <p:nvSpPr>
          <p:cNvPr id="10" name="C1 title"/>
          <p:cNvSpPr/>
          <p:nvPr>
            <p:ph idx="108" type="body" hasCustomPrompt="1"/>
          </p:nvPr>
        </p:nvSpPr>
        <p:spPr>
          <a:xfrm>
            <a:off x="508041" y="2717780"/>
            <a:ext cx="35898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Module title</a:t>
            </a:r>
            <a:endParaRPr lang="en-US" sz="1800" dirty="0"/>
          </a:p>
        </p:txBody>
      </p:sp>
      <p:sp>
        <p:nvSpPr>
          <p:cNvPr id="11" name="C1 body"/>
          <p:cNvSpPr/>
          <p:nvPr>
            <p:ph idx="109" type="body" hasCustomPrompt="1"/>
          </p:nvPr>
        </p:nvSpPr>
        <p:spPr>
          <a:xfrm>
            <a:off x="508041" y="3225820"/>
            <a:ext cx="3589843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One to three sentences. Keep peers to the same length so the row stays even.</a:t>
            </a:r>
            <a:endParaRPr lang="en-US" sz="1200" dirty="0"/>
          </a:p>
        </p:txBody>
      </p:sp>
      <p:sp>
        <p:nvSpPr>
          <p:cNvPr id="12" name="Shape 2"/>
          <p:cNvSpPr/>
          <p:nvPr/>
        </p:nvSpPr>
        <p:spPr>
          <a:xfrm>
            <a:off x="4301063" y="2438430"/>
            <a:ext cx="3589843" cy="0"/>
          </a:xfrm>
          <a:prstGeom prst="line">
            <a:avLst/>
          </a:prstGeom>
          <a:noFill/>
          <a:ln w="19050">
            <a:solidFill>
              <a:srgbClr val="0053E2"/>
            </a:solidFill>
            <a:prstDash val="solid"/>
          </a:ln>
        </p:spPr>
      </p:sp>
      <p:sp>
        <p:nvSpPr>
          <p:cNvPr id="13" name="C2 label"/>
          <p:cNvSpPr/>
          <p:nvPr>
            <p:ph idx="111" type="body" hasCustomPrompt="1"/>
          </p:nvPr>
        </p:nvSpPr>
        <p:spPr>
          <a:xfrm>
            <a:off x="4301063" y="2540020"/>
            <a:ext cx="358984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LABEL</a:t>
            </a:r>
            <a:endParaRPr lang="en-US" sz="800" dirty="0"/>
          </a:p>
        </p:txBody>
      </p:sp>
      <p:sp>
        <p:nvSpPr>
          <p:cNvPr id="14" name="C2 title"/>
          <p:cNvSpPr/>
          <p:nvPr>
            <p:ph idx="112" type="body" hasCustomPrompt="1"/>
          </p:nvPr>
        </p:nvSpPr>
        <p:spPr>
          <a:xfrm>
            <a:off x="4301063" y="2717780"/>
            <a:ext cx="35898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Module title</a:t>
            </a:r>
            <a:endParaRPr lang="en-US" sz="1800" dirty="0"/>
          </a:p>
        </p:txBody>
      </p:sp>
      <p:sp>
        <p:nvSpPr>
          <p:cNvPr id="15" name="C2 body"/>
          <p:cNvSpPr/>
          <p:nvPr>
            <p:ph idx="113" type="body" hasCustomPrompt="1"/>
          </p:nvPr>
        </p:nvSpPr>
        <p:spPr>
          <a:xfrm>
            <a:off x="4301063" y="3225820"/>
            <a:ext cx="3589843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One to three sentences. Keep peers to the same length so the row stays even.</a:t>
            </a:r>
            <a:endParaRPr lang="en-US" sz="1200" dirty="0"/>
          </a:p>
        </p:txBody>
      </p:sp>
      <p:sp>
        <p:nvSpPr>
          <p:cNvPr id="16" name="Shape 3"/>
          <p:cNvSpPr/>
          <p:nvPr/>
        </p:nvSpPr>
        <p:spPr>
          <a:xfrm>
            <a:off x="8094177" y="2438430"/>
            <a:ext cx="3589843" cy="0"/>
          </a:xfrm>
          <a:prstGeom prst="line">
            <a:avLst/>
          </a:prstGeom>
          <a:noFill/>
          <a:ln w="19050">
            <a:solidFill>
              <a:srgbClr val="0053E2"/>
            </a:solidFill>
            <a:prstDash val="solid"/>
          </a:ln>
        </p:spPr>
      </p:sp>
      <p:sp>
        <p:nvSpPr>
          <p:cNvPr id="17" name="C3 label"/>
          <p:cNvSpPr/>
          <p:nvPr>
            <p:ph idx="115" type="body" hasCustomPrompt="1"/>
          </p:nvPr>
        </p:nvSpPr>
        <p:spPr>
          <a:xfrm>
            <a:off x="8094177" y="2540020"/>
            <a:ext cx="358984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LABEL</a:t>
            </a:r>
            <a:endParaRPr lang="en-US" sz="800" dirty="0"/>
          </a:p>
        </p:txBody>
      </p:sp>
      <p:sp>
        <p:nvSpPr>
          <p:cNvPr id="18" name="C3 title"/>
          <p:cNvSpPr/>
          <p:nvPr>
            <p:ph idx="116" type="body" hasCustomPrompt="1"/>
          </p:nvPr>
        </p:nvSpPr>
        <p:spPr>
          <a:xfrm>
            <a:off x="8094177" y="2717780"/>
            <a:ext cx="35898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Module title</a:t>
            </a:r>
            <a:endParaRPr lang="en-US" sz="1800" dirty="0"/>
          </a:p>
        </p:txBody>
      </p:sp>
      <p:sp>
        <p:nvSpPr>
          <p:cNvPr id="19" name="C3 body"/>
          <p:cNvSpPr/>
          <p:nvPr>
            <p:ph idx="117" type="body" hasCustomPrompt="1"/>
          </p:nvPr>
        </p:nvSpPr>
        <p:spPr>
          <a:xfrm>
            <a:off x="8094177" y="3225820"/>
            <a:ext cx="3589843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One to three sentences. Keep peers to the same length so the row stays even.</a:t>
            </a:r>
            <a:endParaRPr lang="en-US" sz="1200" dirty="0"/>
          </a:p>
        </p:txBody>
      </p:sp>
      <p:sp>
        <p:nvSpPr>
          <p:cNvPr id="20" name="Source"/>
          <p:cNvSpPr/>
          <p:nvPr>
            <p:ph idx="118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buNone/>
              <a:def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Source: name, date range, sample size. Delete if not needed.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1014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 Four Column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EYEBROW · CONTEXT LABEL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r" indent="0" marL="0">
              <a:buNone/>
              <a:def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SECTION NAME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6426220"/>
            <a:ext cx="139720" cy="1397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23930" y="6438930"/>
            <a:ext cx="38100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Walmart Ads</a:t>
            </a:r>
            <a:endParaRPr lang="en-US" sz="800" dirty="0"/>
          </a:p>
        </p:txBody>
      </p:sp>
      <p:sp>
        <p:nvSpPr>
          <p:cNvPr id="6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lnSpc>
                <a:spcPct val="110000"/>
              </a:lnSpc>
              <a:buNone/>
              <a:def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Headline states the takeaway, not the topic</a:t>
            </a:r>
            <a:endParaRPr lang="en-US" sz="2800" dirty="0"/>
          </a:p>
        </p:txBody>
      </p:sp>
      <p:sp>
        <p:nvSpPr>
          <p:cNvPr id="7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Optional supporting line: context, scope or the one fact the headline rests on.</a:t>
            </a:r>
            <a:endParaRPr lang="en-US" sz="1400" dirty="0"/>
          </a:p>
        </p:txBody>
      </p:sp>
      <p:sp>
        <p:nvSpPr>
          <p:cNvPr id="8" name="Shape 1"/>
          <p:cNvSpPr/>
          <p:nvPr/>
        </p:nvSpPr>
        <p:spPr>
          <a:xfrm>
            <a:off x="508041" y="2438430"/>
            <a:ext cx="2641610" cy="0"/>
          </a:xfrm>
          <a:prstGeom prst="line">
            <a:avLst/>
          </a:prstGeom>
          <a:noFill/>
          <a:ln w="19050">
            <a:solidFill>
              <a:srgbClr val="0053E2"/>
            </a:solidFill>
            <a:prstDash val="solid"/>
          </a:ln>
        </p:spPr>
      </p:sp>
      <p:sp>
        <p:nvSpPr>
          <p:cNvPr id="9" name="C1 label"/>
          <p:cNvSpPr/>
          <p:nvPr>
            <p:ph idx="107" type="body" hasCustomPrompt="1"/>
          </p:nvPr>
        </p:nvSpPr>
        <p:spPr>
          <a:xfrm>
            <a:off x="508041" y="2540020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LABEL</a:t>
            </a:r>
            <a:endParaRPr lang="en-US" sz="800" dirty="0"/>
          </a:p>
        </p:txBody>
      </p:sp>
      <p:sp>
        <p:nvSpPr>
          <p:cNvPr id="10" name="C1 title"/>
          <p:cNvSpPr/>
          <p:nvPr>
            <p:ph idx="108" type="body" hasCustomPrompt="1"/>
          </p:nvPr>
        </p:nvSpPr>
        <p:spPr>
          <a:xfrm>
            <a:off x="508041" y="2717780"/>
            <a:ext cx="2641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Module title</a:t>
            </a:r>
            <a:endParaRPr lang="en-US" sz="1800" dirty="0"/>
          </a:p>
        </p:txBody>
      </p:sp>
      <p:sp>
        <p:nvSpPr>
          <p:cNvPr id="11" name="C1 body"/>
          <p:cNvSpPr/>
          <p:nvPr>
            <p:ph idx="109" type="body" hasCustomPrompt="1"/>
          </p:nvPr>
        </p:nvSpPr>
        <p:spPr>
          <a:xfrm>
            <a:off x="508041" y="3225820"/>
            <a:ext cx="264161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One to three sentences. Keep peers to the same length so the row stays even.</a:t>
            </a:r>
            <a:endParaRPr lang="en-US" sz="1200" dirty="0"/>
          </a:p>
        </p:txBody>
      </p:sp>
      <p:sp>
        <p:nvSpPr>
          <p:cNvPr id="12" name="Shape 2"/>
          <p:cNvSpPr/>
          <p:nvPr/>
        </p:nvSpPr>
        <p:spPr>
          <a:xfrm>
            <a:off x="3352830" y="2438430"/>
            <a:ext cx="2641610" cy="0"/>
          </a:xfrm>
          <a:prstGeom prst="line">
            <a:avLst/>
          </a:prstGeom>
          <a:noFill/>
          <a:ln w="19050">
            <a:solidFill>
              <a:srgbClr val="0053E2"/>
            </a:solidFill>
            <a:prstDash val="solid"/>
          </a:ln>
        </p:spPr>
      </p:sp>
      <p:sp>
        <p:nvSpPr>
          <p:cNvPr id="13" name="C2 label"/>
          <p:cNvSpPr/>
          <p:nvPr>
            <p:ph idx="111" type="body" hasCustomPrompt="1"/>
          </p:nvPr>
        </p:nvSpPr>
        <p:spPr>
          <a:xfrm>
            <a:off x="3352830" y="2540020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LABEL</a:t>
            </a:r>
            <a:endParaRPr lang="en-US" sz="800" dirty="0"/>
          </a:p>
        </p:txBody>
      </p:sp>
      <p:sp>
        <p:nvSpPr>
          <p:cNvPr id="14" name="C2 title"/>
          <p:cNvSpPr/>
          <p:nvPr>
            <p:ph idx="112" type="body" hasCustomPrompt="1"/>
          </p:nvPr>
        </p:nvSpPr>
        <p:spPr>
          <a:xfrm>
            <a:off x="3352830" y="2717780"/>
            <a:ext cx="2641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Module title</a:t>
            </a:r>
            <a:endParaRPr lang="en-US" sz="1800" dirty="0"/>
          </a:p>
        </p:txBody>
      </p:sp>
      <p:sp>
        <p:nvSpPr>
          <p:cNvPr id="15" name="C2 body"/>
          <p:cNvSpPr/>
          <p:nvPr>
            <p:ph idx="113" type="body" hasCustomPrompt="1"/>
          </p:nvPr>
        </p:nvSpPr>
        <p:spPr>
          <a:xfrm>
            <a:off x="3352830" y="3225820"/>
            <a:ext cx="264161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One to three sentences. Keep peers to the same length so the row stays even.</a:t>
            </a:r>
            <a:endParaRPr lang="en-US" sz="1200" dirty="0"/>
          </a:p>
        </p:txBody>
      </p:sp>
      <p:sp>
        <p:nvSpPr>
          <p:cNvPr id="16" name="Shape 3"/>
          <p:cNvSpPr/>
          <p:nvPr/>
        </p:nvSpPr>
        <p:spPr>
          <a:xfrm>
            <a:off x="6197620" y="2438430"/>
            <a:ext cx="2641610" cy="0"/>
          </a:xfrm>
          <a:prstGeom prst="line">
            <a:avLst/>
          </a:prstGeom>
          <a:noFill/>
          <a:ln w="19050">
            <a:solidFill>
              <a:srgbClr val="0053E2"/>
            </a:solidFill>
            <a:prstDash val="solid"/>
          </a:ln>
        </p:spPr>
      </p:sp>
      <p:sp>
        <p:nvSpPr>
          <p:cNvPr id="17" name="C3 label"/>
          <p:cNvSpPr/>
          <p:nvPr>
            <p:ph idx="115" type="body" hasCustomPrompt="1"/>
          </p:nvPr>
        </p:nvSpPr>
        <p:spPr>
          <a:xfrm>
            <a:off x="6197620" y="2540020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LABEL</a:t>
            </a:r>
            <a:endParaRPr lang="en-US" sz="800" dirty="0"/>
          </a:p>
        </p:txBody>
      </p:sp>
      <p:sp>
        <p:nvSpPr>
          <p:cNvPr id="18" name="C3 title"/>
          <p:cNvSpPr/>
          <p:nvPr>
            <p:ph idx="116" type="body" hasCustomPrompt="1"/>
          </p:nvPr>
        </p:nvSpPr>
        <p:spPr>
          <a:xfrm>
            <a:off x="6197620" y="2717780"/>
            <a:ext cx="2641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Module title</a:t>
            </a:r>
            <a:endParaRPr lang="en-US" sz="1800" dirty="0"/>
          </a:p>
        </p:txBody>
      </p:sp>
      <p:sp>
        <p:nvSpPr>
          <p:cNvPr id="19" name="C3 body"/>
          <p:cNvSpPr/>
          <p:nvPr>
            <p:ph idx="117" type="body" hasCustomPrompt="1"/>
          </p:nvPr>
        </p:nvSpPr>
        <p:spPr>
          <a:xfrm>
            <a:off x="6197620" y="3225820"/>
            <a:ext cx="264161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One to three sentences. Keep peers to the same length so the row stays even.</a:t>
            </a:r>
            <a:endParaRPr lang="en-US" sz="1200" dirty="0"/>
          </a:p>
        </p:txBody>
      </p:sp>
      <p:sp>
        <p:nvSpPr>
          <p:cNvPr id="20" name="Shape 4"/>
          <p:cNvSpPr/>
          <p:nvPr/>
        </p:nvSpPr>
        <p:spPr>
          <a:xfrm>
            <a:off x="9042410" y="2438430"/>
            <a:ext cx="2641610" cy="0"/>
          </a:xfrm>
          <a:prstGeom prst="line">
            <a:avLst/>
          </a:prstGeom>
          <a:noFill/>
          <a:ln w="19050">
            <a:solidFill>
              <a:srgbClr val="0053E2"/>
            </a:solidFill>
            <a:prstDash val="solid"/>
          </a:ln>
        </p:spPr>
      </p:sp>
      <p:sp>
        <p:nvSpPr>
          <p:cNvPr id="21" name="C4 label"/>
          <p:cNvSpPr/>
          <p:nvPr>
            <p:ph idx="119" type="body" hasCustomPrompt="1"/>
          </p:nvPr>
        </p:nvSpPr>
        <p:spPr>
          <a:xfrm>
            <a:off x="9042410" y="2540020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LABEL</a:t>
            </a:r>
            <a:endParaRPr lang="en-US" sz="800" dirty="0"/>
          </a:p>
        </p:txBody>
      </p:sp>
      <p:sp>
        <p:nvSpPr>
          <p:cNvPr id="22" name="C4 title"/>
          <p:cNvSpPr/>
          <p:nvPr>
            <p:ph idx="120" type="body" hasCustomPrompt="1"/>
          </p:nvPr>
        </p:nvSpPr>
        <p:spPr>
          <a:xfrm>
            <a:off x="9042410" y="2717780"/>
            <a:ext cx="2641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Module title</a:t>
            </a:r>
            <a:endParaRPr lang="en-US" sz="1800" dirty="0"/>
          </a:p>
        </p:txBody>
      </p:sp>
      <p:sp>
        <p:nvSpPr>
          <p:cNvPr id="23" name="C4 body"/>
          <p:cNvSpPr/>
          <p:nvPr>
            <p:ph idx="121" type="body" hasCustomPrompt="1"/>
          </p:nvPr>
        </p:nvSpPr>
        <p:spPr>
          <a:xfrm>
            <a:off x="9042410" y="3225820"/>
            <a:ext cx="264161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One to three sentences. Keep peers to the same length so the row stays even.</a:t>
            </a:r>
            <a:endParaRPr lang="en-US" sz="1200" dirty="0"/>
          </a:p>
        </p:txBody>
      </p:sp>
      <p:sp>
        <p:nvSpPr>
          <p:cNvPr id="24" name="Source"/>
          <p:cNvSpPr/>
          <p:nvPr>
            <p:ph idx="122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buNone/>
              <a:def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Source: name, date range, sample size. Delete if not needed.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1015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 Label Rail — 4 Rows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EYEBROW · CONTEXT LABEL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r" indent="0" marL="0">
              <a:buNone/>
              <a:def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SECTION NAME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6426220"/>
            <a:ext cx="139720" cy="1397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23930" y="6438930"/>
            <a:ext cx="38100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Walmart Ads</a:t>
            </a:r>
            <a:endParaRPr lang="en-US" sz="800" dirty="0"/>
          </a:p>
        </p:txBody>
      </p:sp>
      <p:sp>
        <p:nvSpPr>
          <p:cNvPr id="6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lnSpc>
                <a:spcPct val="110000"/>
              </a:lnSpc>
              <a:buNone/>
              <a:def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Headline states the takeaway, not the topic</a:t>
            </a:r>
            <a:endParaRPr lang="en-US" sz="2800" dirty="0"/>
          </a:p>
        </p:txBody>
      </p:sp>
      <p:sp>
        <p:nvSpPr>
          <p:cNvPr id="7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Optional supporting line: context, scope or the one fact the headline rests on.</a:t>
            </a:r>
            <a:endParaRPr lang="en-US" sz="1400" dirty="0"/>
          </a:p>
        </p:txBody>
      </p:sp>
      <p:sp>
        <p:nvSpPr>
          <p:cNvPr id="8" name="Shape 1"/>
          <p:cNvSpPr/>
          <p:nvPr/>
        </p:nvSpPr>
        <p:spPr>
          <a:xfrm>
            <a:off x="508041" y="2438430"/>
            <a:ext cx="11175980" cy="0"/>
          </a:xfrm>
          <a:prstGeom prst="line">
            <a:avLst/>
          </a:prstGeom>
          <a:noFill/>
          <a:ln w="19050">
            <a:solidFill>
              <a:srgbClr val="0053E2"/>
            </a:solidFill>
            <a:prstDash val="solid"/>
          </a:ln>
        </p:spPr>
      </p:sp>
      <p:sp>
        <p:nvSpPr>
          <p:cNvPr id="9" name="R1 label"/>
          <p:cNvSpPr/>
          <p:nvPr>
            <p:ph idx="107" type="body" hasCustomPrompt="1"/>
          </p:nvPr>
        </p:nvSpPr>
        <p:spPr>
          <a:xfrm>
            <a:off x="508041" y="2578059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ROW LABEL</a:t>
            </a:r>
            <a:endParaRPr lang="en-US" sz="800" dirty="0"/>
          </a:p>
        </p:txBody>
      </p:sp>
      <p:sp>
        <p:nvSpPr>
          <p:cNvPr id="10" name="R1 text"/>
          <p:cNvSpPr/>
          <p:nvPr>
            <p:ph idx="108" type="body" hasCustomPrompt="1"/>
          </p:nvPr>
        </p:nvSpPr>
        <p:spPr>
          <a:xfrm>
            <a:off x="3352830" y="2540020"/>
            <a:ext cx="833119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A statement for this row. One claim, not a paragraph.</a:t>
            </a:r>
            <a:endParaRPr lang="en-US" sz="1800" dirty="0"/>
          </a:p>
        </p:txBody>
      </p:sp>
      <p:sp>
        <p:nvSpPr>
          <p:cNvPr id="11" name="Shape 2"/>
          <p:cNvSpPr/>
          <p:nvPr/>
        </p:nvSpPr>
        <p:spPr>
          <a:xfrm>
            <a:off x="508041" y="3314700"/>
            <a:ext cx="11175980" cy="0"/>
          </a:xfrm>
          <a:prstGeom prst="line">
            <a:avLst/>
          </a:prstGeom>
          <a:noFill/>
          <a:ln w="9525">
            <a:solidFill>
              <a:srgbClr val="DEE1E6"/>
            </a:solidFill>
            <a:prstDash val="solid"/>
          </a:ln>
        </p:spPr>
      </p:sp>
      <p:sp>
        <p:nvSpPr>
          <p:cNvPr id="12" name="R2 label"/>
          <p:cNvSpPr/>
          <p:nvPr>
            <p:ph idx="110" type="body" hasCustomPrompt="1"/>
          </p:nvPr>
        </p:nvSpPr>
        <p:spPr>
          <a:xfrm>
            <a:off x="508041" y="3454420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ROW LABEL</a:t>
            </a:r>
            <a:endParaRPr lang="en-US" sz="800" dirty="0"/>
          </a:p>
        </p:txBody>
      </p:sp>
      <p:sp>
        <p:nvSpPr>
          <p:cNvPr id="13" name="R2 text"/>
          <p:cNvSpPr/>
          <p:nvPr>
            <p:ph idx="111" type="body" hasCustomPrompt="1"/>
          </p:nvPr>
        </p:nvSpPr>
        <p:spPr>
          <a:xfrm>
            <a:off x="3352830" y="3416290"/>
            <a:ext cx="833119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A statement for this row. One claim, not a paragraph.</a:t>
            </a:r>
            <a:endParaRPr lang="en-US" sz="1800" dirty="0"/>
          </a:p>
        </p:txBody>
      </p:sp>
      <p:sp>
        <p:nvSpPr>
          <p:cNvPr id="14" name="Shape 3"/>
          <p:cNvSpPr/>
          <p:nvPr/>
        </p:nvSpPr>
        <p:spPr>
          <a:xfrm>
            <a:off x="508041" y="4190970"/>
            <a:ext cx="11175980" cy="0"/>
          </a:xfrm>
          <a:prstGeom prst="line">
            <a:avLst/>
          </a:prstGeom>
          <a:noFill/>
          <a:ln w="9525">
            <a:solidFill>
              <a:srgbClr val="DEE1E6"/>
            </a:solidFill>
            <a:prstDash val="solid"/>
          </a:ln>
        </p:spPr>
      </p:sp>
      <p:sp>
        <p:nvSpPr>
          <p:cNvPr id="15" name="R3 label"/>
          <p:cNvSpPr/>
          <p:nvPr>
            <p:ph idx="113" type="body" hasCustomPrompt="1"/>
          </p:nvPr>
        </p:nvSpPr>
        <p:spPr>
          <a:xfrm>
            <a:off x="508041" y="4330690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ROW LABEL</a:t>
            </a:r>
            <a:endParaRPr lang="en-US" sz="800" dirty="0"/>
          </a:p>
        </p:txBody>
      </p:sp>
      <p:sp>
        <p:nvSpPr>
          <p:cNvPr id="16" name="R3 text"/>
          <p:cNvSpPr/>
          <p:nvPr>
            <p:ph idx="114" type="body" hasCustomPrompt="1"/>
          </p:nvPr>
        </p:nvSpPr>
        <p:spPr>
          <a:xfrm>
            <a:off x="3352830" y="4292559"/>
            <a:ext cx="833119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A statement for this row. One claim, not a paragraph.</a:t>
            </a:r>
            <a:endParaRPr lang="en-US" sz="1800" dirty="0"/>
          </a:p>
        </p:txBody>
      </p:sp>
      <p:sp>
        <p:nvSpPr>
          <p:cNvPr id="17" name="Shape 4"/>
          <p:cNvSpPr/>
          <p:nvPr/>
        </p:nvSpPr>
        <p:spPr>
          <a:xfrm>
            <a:off x="508041" y="5067330"/>
            <a:ext cx="11175980" cy="0"/>
          </a:xfrm>
          <a:prstGeom prst="line">
            <a:avLst/>
          </a:prstGeom>
          <a:noFill/>
          <a:ln w="9525">
            <a:solidFill>
              <a:srgbClr val="DEE1E6"/>
            </a:solidFill>
            <a:prstDash val="solid"/>
          </a:ln>
        </p:spPr>
      </p:sp>
      <p:sp>
        <p:nvSpPr>
          <p:cNvPr id="18" name="R4 label"/>
          <p:cNvSpPr/>
          <p:nvPr>
            <p:ph idx="116" type="body" hasCustomPrompt="1"/>
          </p:nvPr>
        </p:nvSpPr>
        <p:spPr>
          <a:xfrm>
            <a:off x="508041" y="5206959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ROW LABEL</a:t>
            </a:r>
            <a:endParaRPr lang="en-US" sz="800" dirty="0"/>
          </a:p>
        </p:txBody>
      </p:sp>
      <p:sp>
        <p:nvSpPr>
          <p:cNvPr id="19" name="R4 text"/>
          <p:cNvSpPr/>
          <p:nvPr>
            <p:ph idx="117" type="body" hasCustomPrompt="1"/>
          </p:nvPr>
        </p:nvSpPr>
        <p:spPr>
          <a:xfrm>
            <a:off x="3352830" y="5168920"/>
            <a:ext cx="833119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A statement for this row. One claim, not a paragraph.</a:t>
            </a:r>
            <a:endParaRPr lang="en-US" sz="1800" dirty="0"/>
          </a:p>
        </p:txBody>
      </p:sp>
      <p:sp>
        <p:nvSpPr>
          <p:cNvPr id="20" name="Source"/>
          <p:cNvSpPr/>
          <p:nvPr>
            <p:ph idx="118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buNone/>
              <a:def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Source: name, date range, sample size. Delete if not needed.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1016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 Current → Future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EYEBROW · CONTEXT LABEL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r" indent="0" marL="0">
              <a:buNone/>
              <a:def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SECTION NAME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6426220"/>
            <a:ext cx="139720" cy="1397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23930" y="6438930"/>
            <a:ext cx="38100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Walmart Ads</a:t>
            </a:r>
            <a:endParaRPr lang="en-US" sz="800" dirty="0"/>
          </a:p>
        </p:txBody>
      </p:sp>
      <p:sp>
        <p:nvSpPr>
          <p:cNvPr id="6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lnSpc>
                <a:spcPct val="110000"/>
              </a:lnSpc>
              <a:buNone/>
              <a:def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Headline states the takeaway, not the topic</a:t>
            </a:r>
            <a:endParaRPr lang="en-US" sz="2800" dirty="0"/>
          </a:p>
        </p:txBody>
      </p:sp>
      <p:sp>
        <p:nvSpPr>
          <p:cNvPr id="7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Optional supporting line: context, scope or the one fact the headline rests on.</a:t>
            </a:r>
            <a:endParaRPr lang="en-US" sz="1400" dirty="0"/>
          </a:p>
        </p:txBody>
      </p:sp>
      <p:sp>
        <p:nvSpPr>
          <p:cNvPr id="8" name="Shape 1"/>
          <p:cNvSpPr/>
          <p:nvPr/>
        </p:nvSpPr>
        <p:spPr>
          <a:xfrm>
            <a:off x="508041" y="2438430"/>
            <a:ext cx="4538167" cy="0"/>
          </a:xfrm>
          <a:prstGeom prst="line">
            <a:avLst/>
          </a:prstGeom>
          <a:noFill/>
          <a:ln w="19050">
            <a:solidFill>
              <a:srgbClr val="C3C6CD"/>
            </a:solidFill>
            <a:prstDash val="solid"/>
          </a:ln>
        </p:spPr>
      </p:sp>
      <p:sp>
        <p:nvSpPr>
          <p:cNvPr id="9" name="Now label"/>
          <p:cNvSpPr/>
          <p:nvPr>
            <p:ph idx="107" type="body" hasCustomPrompt="1"/>
          </p:nvPr>
        </p:nvSpPr>
        <p:spPr>
          <a:xfrm>
            <a:off x="508041" y="2540020"/>
            <a:ext cx="4538167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LABEL</a:t>
            </a:r>
            <a:endParaRPr lang="en-US" sz="800" dirty="0"/>
          </a:p>
        </p:txBody>
      </p:sp>
      <p:sp>
        <p:nvSpPr>
          <p:cNvPr id="10" name="Now title"/>
          <p:cNvSpPr/>
          <p:nvPr>
            <p:ph idx="108" type="body" hasCustomPrompt="1"/>
          </p:nvPr>
        </p:nvSpPr>
        <p:spPr>
          <a:xfrm>
            <a:off x="508041" y="2717780"/>
            <a:ext cx="45381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Module title</a:t>
            </a:r>
            <a:endParaRPr lang="en-US" sz="1800" dirty="0"/>
          </a:p>
        </p:txBody>
      </p:sp>
      <p:sp>
        <p:nvSpPr>
          <p:cNvPr id="11" name="Now body"/>
          <p:cNvSpPr/>
          <p:nvPr>
            <p:ph idx="109" type="body" hasCustomPrompt="1"/>
          </p:nvPr>
        </p:nvSpPr>
        <p:spPr>
          <a:xfrm>
            <a:off x="508041" y="3225820"/>
            <a:ext cx="4538167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One to three sentences. Keep peers to the same length so the row stays even.</a:t>
            </a:r>
            <a:endParaRPr lang="en-US" sz="1200" dirty="0"/>
          </a:p>
        </p:txBody>
      </p:sp>
      <p:sp>
        <p:nvSpPr>
          <p:cNvPr id="12" name="Text 2"/>
          <p:cNvSpPr/>
          <p:nvPr/>
        </p:nvSpPr>
        <p:spPr>
          <a:xfrm>
            <a:off x="5249296" y="3581430"/>
            <a:ext cx="1693377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53E2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→</a:t>
            </a:r>
            <a:endParaRPr lang="en-US" sz="4000" dirty="0"/>
          </a:p>
        </p:txBody>
      </p:sp>
      <p:sp>
        <p:nvSpPr>
          <p:cNvPr id="13" name="Shape 3"/>
          <p:cNvSpPr/>
          <p:nvPr/>
        </p:nvSpPr>
        <p:spPr>
          <a:xfrm>
            <a:off x="7145853" y="2438430"/>
            <a:ext cx="4538167" cy="0"/>
          </a:xfrm>
          <a:prstGeom prst="line">
            <a:avLst/>
          </a:prstGeom>
          <a:noFill/>
          <a:ln w="19050">
            <a:solidFill>
              <a:srgbClr val="0053E2"/>
            </a:solidFill>
            <a:prstDash val="solid"/>
          </a:ln>
        </p:spPr>
      </p:sp>
      <p:sp>
        <p:nvSpPr>
          <p:cNvPr id="14" name="Next label"/>
          <p:cNvSpPr/>
          <p:nvPr>
            <p:ph idx="112" type="body" hasCustomPrompt="1"/>
          </p:nvPr>
        </p:nvSpPr>
        <p:spPr>
          <a:xfrm>
            <a:off x="7145853" y="2540020"/>
            <a:ext cx="4538167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LABEL</a:t>
            </a:r>
            <a:endParaRPr lang="en-US" sz="800" dirty="0"/>
          </a:p>
        </p:txBody>
      </p:sp>
      <p:sp>
        <p:nvSpPr>
          <p:cNvPr id="15" name="Next title"/>
          <p:cNvSpPr/>
          <p:nvPr>
            <p:ph idx="113" type="body" hasCustomPrompt="1"/>
          </p:nvPr>
        </p:nvSpPr>
        <p:spPr>
          <a:xfrm>
            <a:off x="7145853" y="2717780"/>
            <a:ext cx="45381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Module title</a:t>
            </a:r>
            <a:endParaRPr lang="en-US" sz="1800" dirty="0"/>
          </a:p>
        </p:txBody>
      </p:sp>
      <p:sp>
        <p:nvSpPr>
          <p:cNvPr id="16" name="Next body"/>
          <p:cNvSpPr/>
          <p:nvPr>
            <p:ph idx="114" type="body" hasCustomPrompt="1"/>
          </p:nvPr>
        </p:nvSpPr>
        <p:spPr>
          <a:xfrm>
            <a:off x="7145853" y="3225820"/>
            <a:ext cx="4538167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One to three sentences. Keep peers to the same length so the row stays even.</a:t>
            </a:r>
            <a:endParaRPr lang="en-US" sz="1200" dirty="0"/>
          </a:p>
        </p:txBody>
      </p:sp>
      <p:sp>
        <p:nvSpPr>
          <p:cNvPr id="17" name="Source"/>
          <p:cNvSpPr/>
          <p:nvPr>
            <p:ph idx="115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buNone/>
              <a:def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Source: name, date range, sample size. Delete if not needed.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1017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 Grid 2 ×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EYEBROW · CONTEXT LABEL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r" indent="0" marL="0">
              <a:buNone/>
              <a:def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SECTION NAME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6426220"/>
            <a:ext cx="139720" cy="1397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23930" y="6438930"/>
            <a:ext cx="38100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Walmart Ads</a:t>
            </a:r>
            <a:endParaRPr lang="en-US" sz="800" dirty="0"/>
          </a:p>
        </p:txBody>
      </p:sp>
      <p:sp>
        <p:nvSpPr>
          <p:cNvPr id="6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lnSpc>
                <a:spcPct val="110000"/>
              </a:lnSpc>
              <a:buNone/>
              <a:def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Headline states the takeaway, not the topic</a:t>
            </a:r>
            <a:endParaRPr lang="en-US" sz="2800" dirty="0"/>
          </a:p>
        </p:txBody>
      </p:sp>
      <p:sp>
        <p:nvSpPr>
          <p:cNvPr id="7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Optional supporting line: context, scope or the one fact the headline rests on.</a:t>
            </a:r>
            <a:endParaRPr lang="en-US" sz="1400" dirty="0"/>
          </a:p>
        </p:txBody>
      </p:sp>
      <p:sp>
        <p:nvSpPr>
          <p:cNvPr id="8" name="Shape 1"/>
          <p:cNvSpPr/>
          <p:nvPr/>
        </p:nvSpPr>
        <p:spPr>
          <a:xfrm>
            <a:off x="508041" y="2438430"/>
            <a:ext cx="5486400" cy="1701790"/>
          </a:xfrm>
          <a:prstGeom prst="rect">
            <a:avLst>
              <a:gd name="adj" fmla="val 4476"/>
            </a:avLst>
          </a:prstGeom>
          <a:solidFill>
            <a:srgbClr val="E9EEF3"/>
          </a:solidFill>
          <a:ln/>
        </p:spPr>
      </p:sp>
      <p:sp>
        <p:nvSpPr>
          <p:cNvPr id="9" name="G1 label"/>
          <p:cNvSpPr/>
          <p:nvPr>
            <p:ph idx="107" type="body" hasCustomPrompt="1"/>
          </p:nvPr>
        </p:nvSpPr>
        <p:spPr>
          <a:xfrm>
            <a:off x="660380" y="2590770"/>
            <a:ext cx="51816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LABEL</a:t>
            </a:r>
            <a:endParaRPr lang="en-US" sz="800" dirty="0"/>
          </a:p>
        </p:txBody>
      </p:sp>
      <p:sp>
        <p:nvSpPr>
          <p:cNvPr id="10" name="G1 title"/>
          <p:cNvSpPr/>
          <p:nvPr>
            <p:ph idx="108" type="body" hasCustomPrompt="1"/>
          </p:nvPr>
        </p:nvSpPr>
        <p:spPr>
          <a:xfrm>
            <a:off x="660380" y="2768620"/>
            <a:ext cx="51816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Card title, one line ideally</a:t>
            </a:r>
            <a:endParaRPr lang="en-US" sz="1400" dirty="0"/>
          </a:p>
        </p:txBody>
      </p:sp>
      <p:sp>
        <p:nvSpPr>
          <p:cNvPr id="11" name="G1 body"/>
          <p:cNvSpPr/>
          <p:nvPr>
            <p:ph idx="109" type="body" hasCustomPrompt="1"/>
          </p:nvPr>
        </p:nvSpPr>
        <p:spPr>
          <a:xfrm>
            <a:off x="660380" y="3174980"/>
            <a:ext cx="5181630" cy="81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Two or three lines of supporting detail. Same anatomy on every card.</a:t>
            </a:r>
            <a:endParaRPr lang="en-US" sz="1100" dirty="0"/>
          </a:p>
        </p:txBody>
      </p:sp>
      <p:sp>
        <p:nvSpPr>
          <p:cNvPr id="12" name="Shape 2"/>
          <p:cNvSpPr/>
          <p:nvPr/>
        </p:nvSpPr>
        <p:spPr>
          <a:xfrm>
            <a:off x="6197620" y="2438430"/>
            <a:ext cx="5486400" cy="1701790"/>
          </a:xfrm>
          <a:prstGeom prst="rect">
            <a:avLst>
              <a:gd name="adj" fmla="val 4476"/>
            </a:avLst>
          </a:prstGeom>
          <a:solidFill>
            <a:srgbClr val="E9EEF3"/>
          </a:solidFill>
          <a:ln/>
        </p:spPr>
      </p:sp>
      <p:sp>
        <p:nvSpPr>
          <p:cNvPr id="13" name="G2 label"/>
          <p:cNvSpPr/>
          <p:nvPr>
            <p:ph idx="111" type="body" hasCustomPrompt="1"/>
          </p:nvPr>
        </p:nvSpPr>
        <p:spPr>
          <a:xfrm>
            <a:off x="6349959" y="2590770"/>
            <a:ext cx="51816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LABEL</a:t>
            </a:r>
            <a:endParaRPr lang="en-US" sz="800" dirty="0"/>
          </a:p>
        </p:txBody>
      </p:sp>
      <p:sp>
        <p:nvSpPr>
          <p:cNvPr id="14" name="G2 title"/>
          <p:cNvSpPr/>
          <p:nvPr>
            <p:ph idx="112" type="body" hasCustomPrompt="1"/>
          </p:nvPr>
        </p:nvSpPr>
        <p:spPr>
          <a:xfrm>
            <a:off x="6349959" y="2768620"/>
            <a:ext cx="51816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Card title, one line ideally</a:t>
            </a:r>
            <a:endParaRPr lang="en-US" sz="1400" dirty="0"/>
          </a:p>
        </p:txBody>
      </p:sp>
      <p:sp>
        <p:nvSpPr>
          <p:cNvPr id="15" name="G2 body"/>
          <p:cNvSpPr/>
          <p:nvPr>
            <p:ph idx="113" type="body" hasCustomPrompt="1"/>
          </p:nvPr>
        </p:nvSpPr>
        <p:spPr>
          <a:xfrm>
            <a:off x="6349959" y="3174980"/>
            <a:ext cx="5181630" cy="81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Two or three lines of supporting detail. Same anatomy on every card.</a:t>
            </a:r>
            <a:endParaRPr lang="en-US" sz="1100" dirty="0"/>
          </a:p>
        </p:txBody>
      </p:sp>
      <p:sp>
        <p:nvSpPr>
          <p:cNvPr id="16" name="Shape 3"/>
          <p:cNvSpPr/>
          <p:nvPr/>
        </p:nvSpPr>
        <p:spPr>
          <a:xfrm>
            <a:off x="508041" y="4241810"/>
            <a:ext cx="5486400" cy="1701790"/>
          </a:xfrm>
          <a:prstGeom prst="rect">
            <a:avLst>
              <a:gd name="adj" fmla="val 4476"/>
            </a:avLst>
          </a:prstGeom>
          <a:solidFill>
            <a:srgbClr val="E9EEF3"/>
          </a:solidFill>
          <a:ln/>
        </p:spPr>
      </p:sp>
      <p:sp>
        <p:nvSpPr>
          <p:cNvPr id="17" name="G3 label"/>
          <p:cNvSpPr/>
          <p:nvPr>
            <p:ph idx="115" type="body" hasCustomPrompt="1"/>
          </p:nvPr>
        </p:nvSpPr>
        <p:spPr>
          <a:xfrm>
            <a:off x="660380" y="4394241"/>
            <a:ext cx="51816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LABEL</a:t>
            </a:r>
            <a:endParaRPr lang="en-US" sz="800" dirty="0"/>
          </a:p>
        </p:txBody>
      </p:sp>
      <p:sp>
        <p:nvSpPr>
          <p:cNvPr id="18" name="G3 title"/>
          <p:cNvSpPr/>
          <p:nvPr>
            <p:ph idx="116" type="body" hasCustomPrompt="1"/>
          </p:nvPr>
        </p:nvSpPr>
        <p:spPr>
          <a:xfrm>
            <a:off x="660380" y="4572000"/>
            <a:ext cx="51816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Card title, one line ideally</a:t>
            </a:r>
            <a:endParaRPr lang="en-US" sz="1400" dirty="0"/>
          </a:p>
        </p:txBody>
      </p:sp>
      <p:sp>
        <p:nvSpPr>
          <p:cNvPr id="19" name="G3 body"/>
          <p:cNvSpPr/>
          <p:nvPr>
            <p:ph idx="117" type="body" hasCustomPrompt="1"/>
          </p:nvPr>
        </p:nvSpPr>
        <p:spPr>
          <a:xfrm>
            <a:off x="660380" y="4978359"/>
            <a:ext cx="5181630" cy="81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Two or three lines of supporting detail. Same anatomy on every card.</a:t>
            </a:r>
            <a:endParaRPr lang="en-US" sz="1100" dirty="0"/>
          </a:p>
        </p:txBody>
      </p:sp>
      <p:sp>
        <p:nvSpPr>
          <p:cNvPr id="20" name="Shape 4"/>
          <p:cNvSpPr/>
          <p:nvPr/>
        </p:nvSpPr>
        <p:spPr>
          <a:xfrm>
            <a:off x="6197620" y="4241810"/>
            <a:ext cx="5486400" cy="1701790"/>
          </a:xfrm>
          <a:prstGeom prst="rect">
            <a:avLst>
              <a:gd name="adj" fmla="val 4476"/>
            </a:avLst>
          </a:prstGeom>
          <a:solidFill>
            <a:srgbClr val="E9EEF3"/>
          </a:solidFill>
          <a:ln/>
        </p:spPr>
      </p:sp>
      <p:sp>
        <p:nvSpPr>
          <p:cNvPr id="21" name="G4 label"/>
          <p:cNvSpPr/>
          <p:nvPr>
            <p:ph idx="119" type="body" hasCustomPrompt="1"/>
          </p:nvPr>
        </p:nvSpPr>
        <p:spPr>
          <a:xfrm>
            <a:off x="6349959" y="4394241"/>
            <a:ext cx="51816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LABEL</a:t>
            </a:r>
            <a:endParaRPr lang="en-US" sz="800" dirty="0"/>
          </a:p>
        </p:txBody>
      </p:sp>
      <p:sp>
        <p:nvSpPr>
          <p:cNvPr id="22" name="G4 title"/>
          <p:cNvSpPr/>
          <p:nvPr>
            <p:ph idx="120" type="body" hasCustomPrompt="1"/>
          </p:nvPr>
        </p:nvSpPr>
        <p:spPr>
          <a:xfrm>
            <a:off x="6349959" y="4572000"/>
            <a:ext cx="51816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Card title, one line ideally</a:t>
            </a:r>
            <a:endParaRPr lang="en-US" sz="1400" dirty="0"/>
          </a:p>
        </p:txBody>
      </p:sp>
      <p:sp>
        <p:nvSpPr>
          <p:cNvPr id="23" name="G4 body"/>
          <p:cNvSpPr/>
          <p:nvPr>
            <p:ph idx="121" type="body" hasCustomPrompt="1"/>
          </p:nvPr>
        </p:nvSpPr>
        <p:spPr>
          <a:xfrm>
            <a:off x="6349959" y="4978359"/>
            <a:ext cx="5181630" cy="81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Two or three lines of supporting detail. Same anatomy on every card.</a:t>
            </a:r>
            <a:endParaRPr lang="en-US" sz="1100" dirty="0"/>
          </a:p>
        </p:txBody>
      </p:sp>
      <p:sp>
        <p:nvSpPr>
          <p:cNvPr id="24" name="Source"/>
          <p:cNvSpPr/>
          <p:nvPr>
            <p:ph idx="122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buNone/>
              <a:def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Source: name, date range, sample size. Delete if not needed.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1018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 Grid 3 ×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EYEBROW · CONTEXT LABEL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r" indent="0" marL="0">
              <a:buNone/>
              <a:def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SECTION NAME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6426220"/>
            <a:ext cx="139720" cy="1397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23930" y="6438930"/>
            <a:ext cx="38100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Walmart Ads</a:t>
            </a:r>
            <a:endParaRPr lang="en-US" sz="800" dirty="0"/>
          </a:p>
        </p:txBody>
      </p:sp>
      <p:sp>
        <p:nvSpPr>
          <p:cNvPr id="6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lnSpc>
                <a:spcPct val="110000"/>
              </a:lnSpc>
              <a:buNone/>
              <a:def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Headline states the takeaway, not the topic</a:t>
            </a:r>
            <a:endParaRPr lang="en-US" sz="2800" dirty="0"/>
          </a:p>
        </p:txBody>
      </p:sp>
      <p:sp>
        <p:nvSpPr>
          <p:cNvPr id="7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Optional supporting line: context, scope or the one fact the headline rests on.</a:t>
            </a:r>
            <a:endParaRPr lang="en-US" sz="1400" dirty="0"/>
          </a:p>
        </p:txBody>
      </p:sp>
      <p:sp>
        <p:nvSpPr>
          <p:cNvPr id="8" name="Shape 1"/>
          <p:cNvSpPr/>
          <p:nvPr/>
        </p:nvSpPr>
        <p:spPr>
          <a:xfrm>
            <a:off x="508041" y="2438430"/>
            <a:ext cx="3589843" cy="1701790"/>
          </a:xfrm>
          <a:prstGeom prst="rect">
            <a:avLst>
              <a:gd name="adj" fmla="val 4476"/>
            </a:avLst>
          </a:prstGeom>
          <a:solidFill>
            <a:srgbClr val="E9EEF3"/>
          </a:solidFill>
          <a:ln/>
        </p:spPr>
      </p:sp>
      <p:sp>
        <p:nvSpPr>
          <p:cNvPr id="9" name="G1 label"/>
          <p:cNvSpPr/>
          <p:nvPr>
            <p:ph idx="107" type="body" hasCustomPrompt="1"/>
          </p:nvPr>
        </p:nvSpPr>
        <p:spPr>
          <a:xfrm>
            <a:off x="660380" y="2590770"/>
            <a:ext cx="328507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LABEL</a:t>
            </a:r>
            <a:endParaRPr lang="en-US" sz="800" dirty="0"/>
          </a:p>
        </p:txBody>
      </p:sp>
      <p:sp>
        <p:nvSpPr>
          <p:cNvPr id="10" name="G1 title"/>
          <p:cNvSpPr/>
          <p:nvPr>
            <p:ph idx="108" type="body" hasCustomPrompt="1"/>
          </p:nvPr>
        </p:nvSpPr>
        <p:spPr>
          <a:xfrm>
            <a:off x="660380" y="2768620"/>
            <a:ext cx="3285073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Card title, one line ideally</a:t>
            </a:r>
            <a:endParaRPr lang="en-US" sz="1400" dirty="0"/>
          </a:p>
        </p:txBody>
      </p:sp>
      <p:sp>
        <p:nvSpPr>
          <p:cNvPr id="11" name="G1 body"/>
          <p:cNvSpPr/>
          <p:nvPr>
            <p:ph idx="109" type="body" hasCustomPrompt="1"/>
          </p:nvPr>
        </p:nvSpPr>
        <p:spPr>
          <a:xfrm>
            <a:off x="660380" y="3174980"/>
            <a:ext cx="3285073" cy="81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Two or three lines of supporting detail. Same anatomy on every card.</a:t>
            </a:r>
            <a:endParaRPr lang="en-US" sz="1100" dirty="0"/>
          </a:p>
        </p:txBody>
      </p:sp>
      <p:sp>
        <p:nvSpPr>
          <p:cNvPr id="12" name="Shape 2"/>
          <p:cNvSpPr/>
          <p:nvPr/>
        </p:nvSpPr>
        <p:spPr>
          <a:xfrm>
            <a:off x="4301063" y="2438430"/>
            <a:ext cx="3589843" cy="1701790"/>
          </a:xfrm>
          <a:prstGeom prst="rect">
            <a:avLst>
              <a:gd name="adj" fmla="val 4476"/>
            </a:avLst>
          </a:prstGeom>
          <a:solidFill>
            <a:srgbClr val="E9EEF3"/>
          </a:solidFill>
          <a:ln/>
        </p:spPr>
      </p:sp>
      <p:sp>
        <p:nvSpPr>
          <p:cNvPr id="13" name="G2 label"/>
          <p:cNvSpPr/>
          <p:nvPr>
            <p:ph idx="111" type="body" hasCustomPrompt="1"/>
          </p:nvPr>
        </p:nvSpPr>
        <p:spPr>
          <a:xfrm>
            <a:off x="4453494" y="2590770"/>
            <a:ext cx="328507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LABEL</a:t>
            </a:r>
            <a:endParaRPr lang="en-US" sz="800" dirty="0"/>
          </a:p>
        </p:txBody>
      </p:sp>
      <p:sp>
        <p:nvSpPr>
          <p:cNvPr id="14" name="G2 title"/>
          <p:cNvSpPr/>
          <p:nvPr>
            <p:ph idx="112" type="body" hasCustomPrompt="1"/>
          </p:nvPr>
        </p:nvSpPr>
        <p:spPr>
          <a:xfrm>
            <a:off x="4453494" y="2768620"/>
            <a:ext cx="3285073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Card title, one line ideally</a:t>
            </a:r>
            <a:endParaRPr lang="en-US" sz="1400" dirty="0"/>
          </a:p>
        </p:txBody>
      </p:sp>
      <p:sp>
        <p:nvSpPr>
          <p:cNvPr id="15" name="G2 body"/>
          <p:cNvSpPr/>
          <p:nvPr>
            <p:ph idx="113" type="body" hasCustomPrompt="1"/>
          </p:nvPr>
        </p:nvSpPr>
        <p:spPr>
          <a:xfrm>
            <a:off x="4453494" y="3174980"/>
            <a:ext cx="3285073" cy="81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Two or three lines of supporting detail. Same anatomy on every card.</a:t>
            </a:r>
            <a:endParaRPr lang="en-US" sz="1100" dirty="0"/>
          </a:p>
        </p:txBody>
      </p:sp>
      <p:sp>
        <p:nvSpPr>
          <p:cNvPr id="16" name="Shape 3"/>
          <p:cNvSpPr/>
          <p:nvPr/>
        </p:nvSpPr>
        <p:spPr>
          <a:xfrm>
            <a:off x="8094177" y="2438430"/>
            <a:ext cx="3589843" cy="1701790"/>
          </a:xfrm>
          <a:prstGeom prst="rect">
            <a:avLst>
              <a:gd name="adj" fmla="val 4476"/>
            </a:avLst>
          </a:prstGeom>
          <a:solidFill>
            <a:srgbClr val="E9EEF3"/>
          </a:solidFill>
          <a:ln/>
        </p:spPr>
      </p:sp>
      <p:sp>
        <p:nvSpPr>
          <p:cNvPr id="17" name="G3 label"/>
          <p:cNvSpPr/>
          <p:nvPr>
            <p:ph idx="115" type="body" hasCustomPrompt="1"/>
          </p:nvPr>
        </p:nvSpPr>
        <p:spPr>
          <a:xfrm>
            <a:off x="8246516" y="2590770"/>
            <a:ext cx="328507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LABEL</a:t>
            </a:r>
            <a:endParaRPr lang="en-US" sz="800" dirty="0"/>
          </a:p>
        </p:txBody>
      </p:sp>
      <p:sp>
        <p:nvSpPr>
          <p:cNvPr id="18" name="G3 title"/>
          <p:cNvSpPr/>
          <p:nvPr>
            <p:ph idx="116" type="body" hasCustomPrompt="1"/>
          </p:nvPr>
        </p:nvSpPr>
        <p:spPr>
          <a:xfrm>
            <a:off x="8246516" y="2768620"/>
            <a:ext cx="3285073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Card title, one line ideally</a:t>
            </a:r>
            <a:endParaRPr lang="en-US" sz="1400" dirty="0"/>
          </a:p>
        </p:txBody>
      </p:sp>
      <p:sp>
        <p:nvSpPr>
          <p:cNvPr id="19" name="G3 body"/>
          <p:cNvSpPr/>
          <p:nvPr>
            <p:ph idx="117" type="body" hasCustomPrompt="1"/>
          </p:nvPr>
        </p:nvSpPr>
        <p:spPr>
          <a:xfrm>
            <a:off x="8246516" y="3174980"/>
            <a:ext cx="3285073" cy="81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Two or three lines of supporting detail. Same anatomy on every card.</a:t>
            </a:r>
            <a:endParaRPr lang="en-US" sz="1100" dirty="0"/>
          </a:p>
        </p:txBody>
      </p:sp>
      <p:sp>
        <p:nvSpPr>
          <p:cNvPr id="20" name="Shape 4"/>
          <p:cNvSpPr/>
          <p:nvPr/>
        </p:nvSpPr>
        <p:spPr>
          <a:xfrm>
            <a:off x="508041" y="4241810"/>
            <a:ext cx="3589843" cy="1701790"/>
          </a:xfrm>
          <a:prstGeom prst="rect">
            <a:avLst>
              <a:gd name="adj" fmla="val 4476"/>
            </a:avLst>
          </a:prstGeom>
          <a:solidFill>
            <a:srgbClr val="E9EEF3"/>
          </a:solidFill>
          <a:ln/>
        </p:spPr>
      </p:sp>
      <p:sp>
        <p:nvSpPr>
          <p:cNvPr id="21" name="G4 label"/>
          <p:cNvSpPr/>
          <p:nvPr>
            <p:ph idx="119" type="body" hasCustomPrompt="1"/>
          </p:nvPr>
        </p:nvSpPr>
        <p:spPr>
          <a:xfrm>
            <a:off x="660380" y="4394241"/>
            <a:ext cx="328507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LABEL</a:t>
            </a:r>
            <a:endParaRPr lang="en-US" sz="800" dirty="0"/>
          </a:p>
        </p:txBody>
      </p:sp>
      <p:sp>
        <p:nvSpPr>
          <p:cNvPr id="22" name="G4 title"/>
          <p:cNvSpPr/>
          <p:nvPr>
            <p:ph idx="120" type="body" hasCustomPrompt="1"/>
          </p:nvPr>
        </p:nvSpPr>
        <p:spPr>
          <a:xfrm>
            <a:off x="660380" y="4572000"/>
            <a:ext cx="3285073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Card title, one line ideally</a:t>
            </a:r>
            <a:endParaRPr lang="en-US" sz="1400" dirty="0"/>
          </a:p>
        </p:txBody>
      </p:sp>
      <p:sp>
        <p:nvSpPr>
          <p:cNvPr id="23" name="G4 body"/>
          <p:cNvSpPr/>
          <p:nvPr>
            <p:ph idx="121" type="body" hasCustomPrompt="1"/>
          </p:nvPr>
        </p:nvSpPr>
        <p:spPr>
          <a:xfrm>
            <a:off x="660380" y="4978359"/>
            <a:ext cx="3285073" cy="81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Two or three lines of supporting detail. Same anatomy on every card.</a:t>
            </a:r>
            <a:endParaRPr lang="en-US" sz="1100" dirty="0"/>
          </a:p>
        </p:txBody>
      </p:sp>
      <p:sp>
        <p:nvSpPr>
          <p:cNvPr id="24" name="Shape 5"/>
          <p:cNvSpPr/>
          <p:nvPr/>
        </p:nvSpPr>
        <p:spPr>
          <a:xfrm>
            <a:off x="4301063" y="4241810"/>
            <a:ext cx="3589843" cy="1701790"/>
          </a:xfrm>
          <a:prstGeom prst="rect">
            <a:avLst>
              <a:gd name="adj" fmla="val 4476"/>
            </a:avLst>
          </a:prstGeom>
          <a:solidFill>
            <a:srgbClr val="E9EEF3"/>
          </a:solidFill>
          <a:ln/>
        </p:spPr>
      </p:sp>
      <p:sp>
        <p:nvSpPr>
          <p:cNvPr id="25" name="G5 label"/>
          <p:cNvSpPr/>
          <p:nvPr>
            <p:ph idx="123" type="body" hasCustomPrompt="1"/>
          </p:nvPr>
        </p:nvSpPr>
        <p:spPr>
          <a:xfrm>
            <a:off x="4453494" y="4394241"/>
            <a:ext cx="328507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LABEL</a:t>
            </a:r>
            <a:endParaRPr lang="en-US" sz="800" dirty="0"/>
          </a:p>
        </p:txBody>
      </p:sp>
      <p:sp>
        <p:nvSpPr>
          <p:cNvPr id="26" name="G5 title"/>
          <p:cNvSpPr/>
          <p:nvPr>
            <p:ph idx="124" type="body" hasCustomPrompt="1"/>
          </p:nvPr>
        </p:nvSpPr>
        <p:spPr>
          <a:xfrm>
            <a:off x="4453494" y="4572000"/>
            <a:ext cx="3285073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Card title, one line ideally</a:t>
            </a:r>
            <a:endParaRPr lang="en-US" sz="1400" dirty="0"/>
          </a:p>
        </p:txBody>
      </p:sp>
      <p:sp>
        <p:nvSpPr>
          <p:cNvPr id="27" name="G5 body"/>
          <p:cNvSpPr/>
          <p:nvPr>
            <p:ph idx="125" type="body" hasCustomPrompt="1"/>
          </p:nvPr>
        </p:nvSpPr>
        <p:spPr>
          <a:xfrm>
            <a:off x="4453494" y="4978359"/>
            <a:ext cx="3285073" cy="81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Two or three lines of supporting detail. Same anatomy on every card.</a:t>
            </a:r>
            <a:endParaRPr lang="en-US" sz="1100" dirty="0"/>
          </a:p>
        </p:txBody>
      </p:sp>
      <p:sp>
        <p:nvSpPr>
          <p:cNvPr id="28" name="Shape 6"/>
          <p:cNvSpPr/>
          <p:nvPr/>
        </p:nvSpPr>
        <p:spPr>
          <a:xfrm>
            <a:off x="8094177" y="4241810"/>
            <a:ext cx="3589843" cy="1701790"/>
          </a:xfrm>
          <a:prstGeom prst="rect">
            <a:avLst>
              <a:gd name="adj" fmla="val 4476"/>
            </a:avLst>
          </a:prstGeom>
          <a:solidFill>
            <a:srgbClr val="E9EEF3"/>
          </a:solidFill>
          <a:ln/>
        </p:spPr>
      </p:sp>
      <p:sp>
        <p:nvSpPr>
          <p:cNvPr id="29" name="G6 label"/>
          <p:cNvSpPr/>
          <p:nvPr>
            <p:ph idx="127" type="body" hasCustomPrompt="1"/>
          </p:nvPr>
        </p:nvSpPr>
        <p:spPr>
          <a:xfrm>
            <a:off x="8246516" y="4394241"/>
            <a:ext cx="328507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LABEL</a:t>
            </a:r>
            <a:endParaRPr lang="en-US" sz="800" dirty="0"/>
          </a:p>
        </p:txBody>
      </p:sp>
      <p:sp>
        <p:nvSpPr>
          <p:cNvPr id="30" name="G6 title"/>
          <p:cNvSpPr/>
          <p:nvPr>
            <p:ph idx="128" type="body" hasCustomPrompt="1"/>
          </p:nvPr>
        </p:nvSpPr>
        <p:spPr>
          <a:xfrm>
            <a:off x="8246516" y="4572000"/>
            <a:ext cx="3285073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Card title, one line ideally</a:t>
            </a:r>
            <a:endParaRPr lang="en-US" sz="1400" dirty="0"/>
          </a:p>
        </p:txBody>
      </p:sp>
      <p:sp>
        <p:nvSpPr>
          <p:cNvPr id="31" name="G6 body"/>
          <p:cNvSpPr/>
          <p:nvPr>
            <p:ph idx="129" type="body" hasCustomPrompt="1"/>
          </p:nvPr>
        </p:nvSpPr>
        <p:spPr>
          <a:xfrm>
            <a:off x="8246516" y="4978359"/>
            <a:ext cx="3285073" cy="81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Two or three lines of supporting detail. Same anatomy on every card.</a:t>
            </a:r>
            <a:endParaRPr lang="en-US" sz="1100" dirty="0"/>
          </a:p>
        </p:txBody>
      </p:sp>
      <p:sp>
        <p:nvSpPr>
          <p:cNvPr id="32" name="Source"/>
          <p:cNvSpPr/>
          <p:nvPr>
            <p:ph idx="130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buNone/>
              <a:def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Source: name, date range, sample size. Delete if not needed.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1019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 Process — 5 Steps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EYEBROW · CONTEXT LABEL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r" indent="0" marL="0">
              <a:buNone/>
              <a:def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SECTION NAME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6426220"/>
            <a:ext cx="139720" cy="1397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23930" y="6438930"/>
            <a:ext cx="38100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Walmart Ads</a:t>
            </a:r>
            <a:endParaRPr lang="en-US" sz="800" dirty="0"/>
          </a:p>
        </p:txBody>
      </p:sp>
      <p:sp>
        <p:nvSpPr>
          <p:cNvPr id="6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lnSpc>
                <a:spcPct val="110000"/>
              </a:lnSpc>
              <a:buNone/>
              <a:def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Headline states the takeaway, not the topic</a:t>
            </a:r>
            <a:endParaRPr lang="en-US" sz="2800" dirty="0"/>
          </a:p>
        </p:txBody>
      </p:sp>
      <p:sp>
        <p:nvSpPr>
          <p:cNvPr id="7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Optional supporting line: context, scope or the one fact the headline rests on.</a:t>
            </a:r>
            <a:endParaRPr lang="en-US" sz="1400" dirty="0"/>
          </a:p>
        </p:txBody>
      </p:sp>
      <p:sp>
        <p:nvSpPr>
          <p:cNvPr id="8" name="Shape 1"/>
          <p:cNvSpPr/>
          <p:nvPr/>
        </p:nvSpPr>
        <p:spPr>
          <a:xfrm>
            <a:off x="508041" y="2501890"/>
            <a:ext cx="11175980" cy="0"/>
          </a:xfrm>
          <a:prstGeom prst="line">
            <a:avLst/>
          </a:prstGeom>
          <a:noFill/>
          <a:ln w="12700">
            <a:solidFill>
              <a:srgbClr val="0053E2"/>
            </a:solidFill>
            <a:prstDash val="solid"/>
          </a:ln>
        </p:spPr>
      </p:sp>
      <p:sp>
        <p:nvSpPr>
          <p:cNvPr id="9" name="Text 2"/>
          <p:cNvSpPr/>
          <p:nvPr/>
        </p:nvSpPr>
        <p:spPr>
          <a:xfrm>
            <a:off x="508041" y="2457450"/>
            <a:ext cx="88880" cy="88880"/>
          </a:xfrm>
          <a:prstGeom prst="ellipse">
            <a:avLst/>
          </a:prstGeom>
          <a:solidFill>
            <a:srgbClr val="F5F6F8"/>
          </a:solidFill>
          <a:ln w="19050">
            <a:solidFill>
              <a:srgbClr val="0053E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1 label"/>
          <p:cNvSpPr/>
          <p:nvPr>
            <p:ph idx="108" type="body" hasCustomPrompt="1"/>
          </p:nvPr>
        </p:nvSpPr>
        <p:spPr>
          <a:xfrm>
            <a:off x="508041" y="2692359"/>
            <a:ext cx="207267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STEP 01</a:t>
            </a:r>
            <a:endParaRPr lang="en-US" sz="800" dirty="0"/>
          </a:p>
        </p:txBody>
      </p:sp>
      <p:sp>
        <p:nvSpPr>
          <p:cNvPr id="11" name="S1 title"/>
          <p:cNvSpPr/>
          <p:nvPr>
            <p:ph idx="109" type="body" hasCustomPrompt="1"/>
          </p:nvPr>
        </p:nvSpPr>
        <p:spPr>
          <a:xfrm>
            <a:off x="508041" y="2870210"/>
            <a:ext cx="207267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20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20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Step name</a:t>
            </a:r>
            <a:endParaRPr lang="en-US" sz="2000" dirty="0"/>
          </a:p>
        </p:txBody>
      </p:sp>
      <p:sp>
        <p:nvSpPr>
          <p:cNvPr id="12" name="S1 body"/>
          <p:cNvSpPr/>
          <p:nvPr>
            <p:ph idx="110" type="body" hasCustomPrompt="1"/>
          </p:nvPr>
        </p:nvSpPr>
        <p:spPr>
          <a:xfrm>
            <a:off x="508041" y="3517880"/>
            <a:ext cx="2072670" cy="2031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What happens here and what it unlocks.</a:t>
            </a:r>
            <a:endParaRPr lang="en-US" sz="1200" dirty="0"/>
          </a:p>
        </p:txBody>
      </p:sp>
      <p:sp>
        <p:nvSpPr>
          <p:cNvPr id="13" name="Text 3"/>
          <p:cNvSpPr/>
          <p:nvPr/>
        </p:nvSpPr>
        <p:spPr>
          <a:xfrm>
            <a:off x="2783799" y="2457450"/>
            <a:ext cx="88880" cy="88880"/>
          </a:xfrm>
          <a:prstGeom prst="ellipse">
            <a:avLst/>
          </a:prstGeom>
          <a:solidFill>
            <a:srgbClr val="F5F6F8"/>
          </a:solidFill>
          <a:ln w="19050">
            <a:solidFill>
              <a:srgbClr val="0053E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2 label"/>
          <p:cNvSpPr/>
          <p:nvPr>
            <p:ph idx="112" type="body" hasCustomPrompt="1"/>
          </p:nvPr>
        </p:nvSpPr>
        <p:spPr>
          <a:xfrm>
            <a:off x="2783799" y="2692359"/>
            <a:ext cx="207267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STEP 02</a:t>
            </a:r>
            <a:endParaRPr lang="en-US" sz="800" dirty="0"/>
          </a:p>
        </p:txBody>
      </p:sp>
      <p:sp>
        <p:nvSpPr>
          <p:cNvPr id="15" name="S2 title"/>
          <p:cNvSpPr/>
          <p:nvPr>
            <p:ph idx="113" type="body" hasCustomPrompt="1"/>
          </p:nvPr>
        </p:nvSpPr>
        <p:spPr>
          <a:xfrm>
            <a:off x="2783799" y="2870210"/>
            <a:ext cx="207267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20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20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Step name</a:t>
            </a:r>
            <a:endParaRPr lang="en-US" sz="2000" dirty="0"/>
          </a:p>
        </p:txBody>
      </p:sp>
      <p:sp>
        <p:nvSpPr>
          <p:cNvPr id="16" name="S2 body"/>
          <p:cNvSpPr/>
          <p:nvPr>
            <p:ph idx="114" type="body" hasCustomPrompt="1"/>
          </p:nvPr>
        </p:nvSpPr>
        <p:spPr>
          <a:xfrm>
            <a:off x="2783799" y="3517880"/>
            <a:ext cx="2072670" cy="2031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What happens here and what it unlocks.</a:t>
            </a:r>
            <a:endParaRPr lang="en-US" sz="1200" dirty="0"/>
          </a:p>
        </p:txBody>
      </p:sp>
      <p:sp>
        <p:nvSpPr>
          <p:cNvPr id="17" name="Text 4"/>
          <p:cNvSpPr/>
          <p:nvPr/>
        </p:nvSpPr>
        <p:spPr>
          <a:xfrm>
            <a:off x="5059650" y="2457450"/>
            <a:ext cx="88880" cy="88880"/>
          </a:xfrm>
          <a:prstGeom prst="ellipse">
            <a:avLst/>
          </a:prstGeom>
          <a:solidFill>
            <a:srgbClr val="F5F6F8"/>
          </a:solidFill>
          <a:ln w="19050">
            <a:solidFill>
              <a:srgbClr val="0053E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3 label"/>
          <p:cNvSpPr/>
          <p:nvPr>
            <p:ph idx="116" type="body" hasCustomPrompt="1"/>
          </p:nvPr>
        </p:nvSpPr>
        <p:spPr>
          <a:xfrm>
            <a:off x="5059650" y="2692359"/>
            <a:ext cx="207267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STEP 03</a:t>
            </a:r>
            <a:endParaRPr lang="en-US" sz="800" dirty="0"/>
          </a:p>
        </p:txBody>
      </p:sp>
      <p:sp>
        <p:nvSpPr>
          <p:cNvPr id="19" name="S3 title"/>
          <p:cNvSpPr/>
          <p:nvPr>
            <p:ph idx="117" type="body" hasCustomPrompt="1"/>
          </p:nvPr>
        </p:nvSpPr>
        <p:spPr>
          <a:xfrm>
            <a:off x="5059650" y="2870210"/>
            <a:ext cx="207267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20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20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Step name</a:t>
            </a:r>
            <a:endParaRPr lang="en-US" sz="2000" dirty="0"/>
          </a:p>
        </p:txBody>
      </p:sp>
      <p:sp>
        <p:nvSpPr>
          <p:cNvPr id="20" name="S3 body"/>
          <p:cNvSpPr/>
          <p:nvPr>
            <p:ph idx="118" type="body" hasCustomPrompt="1"/>
          </p:nvPr>
        </p:nvSpPr>
        <p:spPr>
          <a:xfrm>
            <a:off x="5059650" y="3517880"/>
            <a:ext cx="2072670" cy="2031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What happens here and what it unlocks.</a:t>
            </a:r>
            <a:endParaRPr lang="en-US" sz="1200" dirty="0"/>
          </a:p>
        </p:txBody>
      </p:sp>
      <p:sp>
        <p:nvSpPr>
          <p:cNvPr id="21" name="Text 5"/>
          <p:cNvSpPr/>
          <p:nvPr/>
        </p:nvSpPr>
        <p:spPr>
          <a:xfrm>
            <a:off x="7335500" y="2457450"/>
            <a:ext cx="88880" cy="88880"/>
          </a:xfrm>
          <a:prstGeom prst="ellipse">
            <a:avLst/>
          </a:prstGeom>
          <a:solidFill>
            <a:srgbClr val="F5F6F8"/>
          </a:solidFill>
          <a:ln w="19050">
            <a:solidFill>
              <a:srgbClr val="0053E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4 label"/>
          <p:cNvSpPr/>
          <p:nvPr>
            <p:ph idx="120" type="body" hasCustomPrompt="1"/>
          </p:nvPr>
        </p:nvSpPr>
        <p:spPr>
          <a:xfrm>
            <a:off x="7335500" y="2692359"/>
            <a:ext cx="207267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STEP 04</a:t>
            </a:r>
            <a:endParaRPr lang="en-US" sz="800" dirty="0"/>
          </a:p>
        </p:txBody>
      </p:sp>
      <p:sp>
        <p:nvSpPr>
          <p:cNvPr id="23" name="S4 title"/>
          <p:cNvSpPr/>
          <p:nvPr>
            <p:ph idx="121" type="body" hasCustomPrompt="1"/>
          </p:nvPr>
        </p:nvSpPr>
        <p:spPr>
          <a:xfrm>
            <a:off x="7335500" y="2870210"/>
            <a:ext cx="207267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20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20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Step name</a:t>
            </a:r>
            <a:endParaRPr lang="en-US" sz="2000" dirty="0"/>
          </a:p>
        </p:txBody>
      </p:sp>
      <p:sp>
        <p:nvSpPr>
          <p:cNvPr id="24" name="S4 body"/>
          <p:cNvSpPr/>
          <p:nvPr>
            <p:ph idx="122" type="body" hasCustomPrompt="1"/>
          </p:nvPr>
        </p:nvSpPr>
        <p:spPr>
          <a:xfrm>
            <a:off x="7335500" y="3517880"/>
            <a:ext cx="2072670" cy="2031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What happens here and what it unlocks.</a:t>
            </a:r>
            <a:endParaRPr lang="en-US" sz="1200" dirty="0"/>
          </a:p>
        </p:txBody>
      </p:sp>
      <p:sp>
        <p:nvSpPr>
          <p:cNvPr id="25" name="Text 6"/>
          <p:cNvSpPr/>
          <p:nvPr/>
        </p:nvSpPr>
        <p:spPr>
          <a:xfrm>
            <a:off x="9611350" y="2457450"/>
            <a:ext cx="88880" cy="88880"/>
          </a:xfrm>
          <a:prstGeom prst="ellipse">
            <a:avLst/>
          </a:prstGeom>
          <a:solidFill>
            <a:srgbClr val="F5F6F8"/>
          </a:solidFill>
          <a:ln w="19050">
            <a:solidFill>
              <a:srgbClr val="0053E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5 label"/>
          <p:cNvSpPr/>
          <p:nvPr>
            <p:ph idx="124" type="body" hasCustomPrompt="1"/>
          </p:nvPr>
        </p:nvSpPr>
        <p:spPr>
          <a:xfrm>
            <a:off x="9611350" y="2692359"/>
            <a:ext cx="207267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STEP 05</a:t>
            </a:r>
            <a:endParaRPr lang="en-US" sz="800" dirty="0"/>
          </a:p>
        </p:txBody>
      </p:sp>
      <p:sp>
        <p:nvSpPr>
          <p:cNvPr id="27" name="S5 title"/>
          <p:cNvSpPr/>
          <p:nvPr>
            <p:ph idx="125" type="body" hasCustomPrompt="1"/>
          </p:nvPr>
        </p:nvSpPr>
        <p:spPr>
          <a:xfrm>
            <a:off x="9611350" y="2870210"/>
            <a:ext cx="207267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20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20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Step name</a:t>
            </a:r>
            <a:endParaRPr lang="en-US" sz="2000" dirty="0"/>
          </a:p>
        </p:txBody>
      </p:sp>
      <p:sp>
        <p:nvSpPr>
          <p:cNvPr id="28" name="S5 body"/>
          <p:cNvSpPr/>
          <p:nvPr>
            <p:ph idx="126" type="body" hasCustomPrompt="1"/>
          </p:nvPr>
        </p:nvSpPr>
        <p:spPr>
          <a:xfrm>
            <a:off x="9611350" y="3517880"/>
            <a:ext cx="2072670" cy="2031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What happens here and what it unlocks.</a:t>
            </a:r>
            <a:endParaRPr lang="en-US" sz="1200" dirty="0"/>
          </a:p>
        </p:txBody>
      </p:sp>
      <p:sp>
        <p:nvSpPr>
          <p:cNvPr id="29" name="Source"/>
          <p:cNvSpPr/>
          <p:nvPr>
            <p:ph idx="127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buNone/>
              <a:def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Source: name, date range, sample size. Delete if not needed.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1020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 Now / Next / Later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EYEBROW · CONTEXT LABEL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r" indent="0" marL="0">
              <a:buNone/>
              <a:def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SECTION NAME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6426220"/>
            <a:ext cx="139720" cy="1397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23930" y="6438930"/>
            <a:ext cx="38100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Walmart Ads</a:t>
            </a:r>
            <a:endParaRPr lang="en-US" sz="800" dirty="0"/>
          </a:p>
        </p:txBody>
      </p:sp>
      <p:sp>
        <p:nvSpPr>
          <p:cNvPr id="6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lnSpc>
                <a:spcPct val="110000"/>
              </a:lnSpc>
              <a:buNone/>
              <a:def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Headline states the takeaway, not the topic</a:t>
            </a:r>
            <a:endParaRPr lang="en-US" sz="2800" dirty="0"/>
          </a:p>
        </p:txBody>
      </p:sp>
      <p:sp>
        <p:nvSpPr>
          <p:cNvPr id="7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Optional supporting line: context, scope or the one fact the headline rests on.</a:t>
            </a:r>
            <a:endParaRPr lang="en-US" sz="1400" dirty="0"/>
          </a:p>
        </p:txBody>
      </p:sp>
      <p:sp>
        <p:nvSpPr>
          <p:cNvPr id="8" name="Shape 1"/>
          <p:cNvSpPr/>
          <p:nvPr/>
        </p:nvSpPr>
        <p:spPr>
          <a:xfrm>
            <a:off x="508041" y="2438430"/>
            <a:ext cx="3589843" cy="482620"/>
          </a:xfrm>
          <a:prstGeom prst="rect">
            <a:avLst>
              <a:gd name="adj" fmla="val 15783"/>
            </a:avLst>
          </a:prstGeom>
          <a:solidFill>
            <a:srgbClr val="0053E2"/>
          </a:solidFill>
          <a:ln/>
        </p:spPr>
      </p:sp>
      <p:sp>
        <p:nvSpPr>
          <p:cNvPr id="9" name="H1 label"/>
          <p:cNvSpPr/>
          <p:nvPr>
            <p:ph idx="107" type="body" hasCustomPrompt="1"/>
          </p:nvPr>
        </p:nvSpPr>
        <p:spPr>
          <a:xfrm>
            <a:off x="660380" y="2540020"/>
            <a:ext cx="328507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FFFFFF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FFFFFF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NOW</a:t>
            </a:r>
            <a:endParaRPr lang="en-US" sz="800" dirty="0"/>
          </a:p>
        </p:txBody>
      </p:sp>
      <p:sp>
        <p:nvSpPr>
          <p:cNvPr id="10" name="H1 when"/>
          <p:cNvSpPr/>
          <p:nvPr>
            <p:ph idx="108" type="body" hasCustomPrompt="1"/>
          </p:nvPr>
        </p:nvSpPr>
        <p:spPr>
          <a:xfrm>
            <a:off x="660380" y="2692359"/>
            <a:ext cx="3285073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050" dirty="0">
                <a:solidFill>
                  <a:srgbClr val="FFFF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0–3 months</a:t>
            </a:r>
            <a:endParaRPr lang="en-US" sz="1050" dirty="0"/>
          </a:p>
        </p:txBody>
      </p:sp>
      <p:sp>
        <p:nvSpPr>
          <p:cNvPr id="11" name="H1 body"/>
          <p:cNvSpPr/>
          <p:nvPr>
            <p:ph idx="109" type="body" hasCustomPrompt="1"/>
          </p:nvPr>
        </p:nvSpPr>
        <p:spPr>
          <a:xfrm>
            <a:off x="508041" y="3073390"/>
            <a:ext cx="3589843" cy="279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spcAft>
                <a:spcPts val="800"/>
              </a:spcAft>
              <a:buNone/>
              <a:defRPr lang="en-US" sz="120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Initiative or outcome, one per line.</a:t>
            </a:r>
            <a:endParaRPr lang="en-US" sz="1200" dirty="0"/>
          </a:p>
          <a:p>
            <a:pPr algn="l"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Confidence falls left to right: say so.</a:t>
            </a:r>
            <a:endParaRPr lang="en-US" sz="1200" dirty="0"/>
          </a:p>
        </p:txBody>
      </p:sp>
      <p:sp>
        <p:nvSpPr>
          <p:cNvPr id="12" name="Shape 2"/>
          <p:cNvSpPr/>
          <p:nvPr/>
        </p:nvSpPr>
        <p:spPr>
          <a:xfrm>
            <a:off x="4301063" y="2438430"/>
            <a:ext cx="3589843" cy="482620"/>
          </a:xfrm>
          <a:prstGeom prst="rect">
            <a:avLst>
              <a:gd name="adj" fmla="val 15783"/>
            </a:avLst>
          </a:prstGeom>
          <a:solidFill>
            <a:srgbClr val="E9EEF3"/>
          </a:solidFill>
          <a:ln/>
        </p:spPr>
      </p:sp>
      <p:sp>
        <p:nvSpPr>
          <p:cNvPr id="13" name="H2 label"/>
          <p:cNvSpPr/>
          <p:nvPr>
            <p:ph idx="111" type="body" hasCustomPrompt="1"/>
          </p:nvPr>
        </p:nvSpPr>
        <p:spPr>
          <a:xfrm>
            <a:off x="4453494" y="2540020"/>
            <a:ext cx="328507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NEXT</a:t>
            </a:r>
            <a:endParaRPr lang="en-US" sz="800" dirty="0"/>
          </a:p>
        </p:txBody>
      </p:sp>
      <p:sp>
        <p:nvSpPr>
          <p:cNvPr id="14" name="H2 when"/>
          <p:cNvSpPr/>
          <p:nvPr>
            <p:ph idx="112" type="body" hasCustomPrompt="1"/>
          </p:nvPr>
        </p:nvSpPr>
        <p:spPr>
          <a:xfrm>
            <a:off x="4453494" y="2692359"/>
            <a:ext cx="3285073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3–9 months</a:t>
            </a:r>
            <a:endParaRPr lang="en-US" sz="1050" dirty="0"/>
          </a:p>
        </p:txBody>
      </p:sp>
      <p:sp>
        <p:nvSpPr>
          <p:cNvPr id="15" name="H2 body"/>
          <p:cNvSpPr/>
          <p:nvPr>
            <p:ph idx="113" type="body" hasCustomPrompt="1"/>
          </p:nvPr>
        </p:nvSpPr>
        <p:spPr>
          <a:xfrm>
            <a:off x="4301063" y="3073390"/>
            <a:ext cx="3589843" cy="279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spcAft>
                <a:spcPts val="800"/>
              </a:spcAft>
              <a:buNone/>
              <a:defRPr lang="en-US" sz="120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Initiative or outcome, one per line.</a:t>
            </a:r>
            <a:endParaRPr lang="en-US" sz="1200" dirty="0"/>
          </a:p>
          <a:p>
            <a:pPr algn="l"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Confidence falls left to right: say so.</a:t>
            </a:r>
            <a:endParaRPr lang="en-US" sz="1200" dirty="0"/>
          </a:p>
        </p:txBody>
      </p:sp>
      <p:sp>
        <p:nvSpPr>
          <p:cNvPr id="16" name="Shape 3"/>
          <p:cNvSpPr/>
          <p:nvPr/>
        </p:nvSpPr>
        <p:spPr>
          <a:xfrm>
            <a:off x="8094177" y="2438430"/>
            <a:ext cx="3589843" cy="482620"/>
          </a:xfrm>
          <a:prstGeom prst="rect">
            <a:avLst>
              <a:gd name="adj" fmla="val 15783"/>
            </a:avLst>
          </a:prstGeom>
          <a:solidFill>
            <a:srgbClr val="E9EEF3"/>
          </a:solidFill>
          <a:ln/>
        </p:spPr>
      </p:sp>
      <p:sp>
        <p:nvSpPr>
          <p:cNvPr id="17" name="H3 label"/>
          <p:cNvSpPr/>
          <p:nvPr>
            <p:ph idx="115" type="body" hasCustomPrompt="1"/>
          </p:nvPr>
        </p:nvSpPr>
        <p:spPr>
          <a:xfrm>
            <a:off x="8246516" y="2540020"/>
            <a:ext cx="328507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LATER</a:t>
            </a:r>
            <a:endParaRPr lang="en-US" sz="800" dirty="0"/>
          </a:p>
        </p:txBody>
      </p:sp>
      <p:sp>
        <p:nvSpPr>
          <p:cNvPr id="18" name="H3 when"/>
          <p:cNvSpPr/>
          <p:nvPr>
            <p:ph idx="116" type="body" hasCustomPrompt="1"/>
          </p:nvPr>
        </p:nvSpPr>
        <p:spPr>
          <a:xfrm>
            <a:off x="8246516" y="2692359"/>
            <a:ext cx="3285073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9–18 months</a:t>
            </a:r>
            <a:endParaRPr lang="en-US" sz="1050" dirty="0"/>
          </a:p>
        </p:txBody>
      </p:sp>
      <p:sp>
        <p:nvSpPr>
          <p:cNvPr id="19" name="H3 body"/>
          <p:cNvSpPr/>
          <p:nvPr>
            <p:ph idx="117" type="body" hasCustomPrompt="1"/>
          </p:nvPr>
        </p:nvSpPr>
        <p:spPr>
          <a:xfrm>
            <a:off x="8094177" y="3073390"/>
            <a:ext cx="3589843" cy="279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spcAft>
                <a:spcPts val="800"/>
              </a:spcAft>
              <a:buNone/>
              <a:defRPr lang="en-US" sz="120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Initiative or outcome, one per line.</a:t>
            </a:r>
            <a:endParaRPr lang="en-US" sz="1200" dirty="0"/>
          </a:p>
          <a:p>
            <a:pPr algn="l"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Confidence falls left to right: say so.</a:t>
            </a:r>
            <a:endParaRPr lang="en-US" sz="1200" dirty="0"/>
          </a:p>
        </p:txBody>
      </p:sp>
      <p:sp>
        <p:nvSpPr>
          <p:cNvPr id="20" name="Source"/>
          <p:cNvSpPr/>
          <p:nvPr>
            <p:ph idx="118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buNone/>
              <a:def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Source: name, date range, sample size. Delete if not needed.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1021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 Hero Metric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EYEBROW · CONTEXT LABEL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r" indent="0" marL="0">
              <a:buNone/>
              <a:def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SECTION NAME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6426220"/>
            <a:ext cx="139720" cy="1397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23930" y="6438930"/>
            <a:ext cx="38100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Walmart Ads</a:t>
            </a:r>
            <a:endParaRPr lang="en-US" sz="800" dirty="0"/>
          </a:p>
        </p:txBody>
      </p:sp>
      <p:sp>
        <p:nvSpPr>
          <p:cNvPr id="6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lnSpc>
                <a:spcPct val="110000"/>
              </a:lnSpc>
              <a:buNone/>
              <a:def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Headline states the takeaway, not the topic</a:t>
            </a:r>
            <a:endParaRPr lang="en-US" sz="2800" dirty="0"/>
          </a:p>
        </p:txBody>
      </p:sp>
      <p:sp>
        <p:nvSpPr>
          <p:cNvPr id="7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Optional supporting line: context, scope or the one fact the headline rests on.</a:t>
            </a:r>
            <a:endParaRPr lang="en-US" sz="1400" dirty="0"/>
          </a:p>
        </p:txBody>
      </p:sp>
      <p:sp>
        <p:nvSpPr>
          <p:cNvPr id="8" name="Shape 1"/>
          <p:cNvSpPr/>
          <p:nvPr/>
        </p:nvSpPr>
        <p:spPr>
          <a:xfrm>
            <a:off x="508041" y="2438430"/>
            <a:ext cx="5486400" cy="0"/>
          </a:xfrm>
          <a:prstGeom prst="line">
            <a:avLst/>
          </a:prstGeom>
          <a:noFill/>
          <a:ln w="19050">
            <a:solidFill>
              <a:srgbClr val="0053E2"/>
            </a:solidFill>
            <a:prstDash val="solid"/>
          </a:ln>
        </p:spPr>
      </p:sp>
      <p:sp>
        <p:nvSpPr>
          <p:cNvPr id="9" name="Value"/>
          <p:cNvSpPr/>
          <p:nvPr>
            <p:ph idx="107" type="body" hasCustomPrompt="1"/>
          </p:nvPr>
        </p:nvSpPr>
        <p:spPr>
          <a:xfrm>
            <a:off x="508041" y="2641610"/>
            <a:ext cx="5486400" cy="1206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90000"/>
              </a:lnSpc>
              <a:buNone/>
              <a:defRPr lang="en-US" sz="9600" spc="-30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90000"/>
              </a:lnSpc>
              <a:buNone/>
            </a:pPr>
            <a:r>
              <a:rPr lang="en-US" sz="9600" spc="-30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00%</a:t>
            </a:r>
            <a:endParaRPr lang="en-US" sz="9600" dirty="0"/>
          </a:p>
        </p:txBody>
      </p:sp>
      <p:sp>
        <p:nvSpPr>
          <p:cNvPr id="10" name="Value label"/>
          <p:cNvSpPr/>
          <p:nvPr>
            <p:ph idx="108" type="body" hasCustomPrompt="1"/>
          </p:nvPr>
        </p:nvSpPr>
        <p:spPr>
          <a:xfrm>
            <a:off x="508041" y="3962370"/>
            <a:ext cx="548640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5000"/>
              </a:lnSpc>
              <a:buNone/>
              <a:def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defRPr>
            </a:lvl1pPr>
          </a:lstStyle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What the number measures</a:t>
            </a:r>
            <a:endParaRPr lang="en-US" sz="1400" dirty="0"/>
          </a:p>
        </p:txBody>
      </p:sp>
      <p:sp>
        <p:nvSpPr>
          <p:cNvPr id="11" name="Value context"/>
          <p:cNvSpPr/>
          <p:nvPr>
            <p:ph idx="109" type="body" hasCustomPrompt="1"/>
          </p:nvPr>
        </p:nvSpPr>
        <p:spPr>
          <a:xfrm>
            <a:off x="508041" y="4343400"/>
            <a:ext cx="5486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Population, period and comparison point.</a:t>
            </a:r>
            <a:endParaRPr lang="en-US" sz="1200" dirty="0"/>
          </a:p>
        </p:txBody>
      </p:sp>
      <p:sp>
        <p:nvSpPr>
          <p:cNvPr id="12" name="Shape 2"/>
          <p:cNvSpPr/>
          <p:nvPr/>
        </p:nvSpPr>
        <p:spPr>
          <a:xfrm>
            <a:off x="7145853" y="2438430"/>
            <a:ext cx="4538167" cy="0"/>
          </a:xfrm>
          <a:prstGeom prst="line">
            <a:avLst/>
          </a:prstGeom>
          <a:noFill/>
          <a:ln w="9525">
            <a:solidFill>
              <a:srgbClr val="DEE1E6"/>
            </a:solidFill>
            <a:prstDash val="solid"/>
          </a:ln>
        </p:spPr>
      </p:sp>
      <p:sp>
        <p:nvSpPr>
          <p:cNvPr id="13" name="Read label"/>
          <p:cNvSpPr/>
          <p:nvPr>
            <p:ph idx="111" type="body" hasCustomPrompt="1"/>
          </p:nvPr>
        </p:nvSpPr>
        <p:spPr>
          <a:xfrm>
            <a:off x="7145853" y="2540020"/>
            <a:ext cx="4538167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WHAT IT MEANS</a:t>
            </a:r>
            <a:endParaRPr lang="en-US" sz="800" dirty="0"/>
          </a:p>
        </p:txBody>
      </p:sp>
      <p:sp>
        <p:nvSpPr>
          <p:cNvPr id="14" name="Read"/>
          <p:cNvSpPr/>
          <p:nvPr>
            <p:ph idx="112" type="body" hasCustomPrompt="1"/>
          </p:nvPr>
        </p:nvSpPr>
        <p:spPr>
          <a:xfrm>
            <a:off x="7145853" y="2717780"/>
            <a:ext cx="4538167" cy="254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The interpretation, including what the number does not tell you.</a:t>
            </a:r>
            <a:endParaRPr lang="en-US" sz="1800" dirty="0"/>
          </a:p>
        </p:txBody>
      </p:sp>
      <p:sp>
        <p:nvSpPr>
          <p:cNvPr id="15" name="Source"/>
          <p:cNvSpPr/>
          <p:nvPr>
            <p:ph idx="113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buNone/>
              <a:def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Source: name, date range, sample size. Delete if not needed.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1022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 KPI Row —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EYEBROW · CONTEXT LABEL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r" indent="0" marL="0">
              <a:buNone/>
              <a:def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SECTION NAME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6426220"/>
            <a:ext cx="139720" cy="1397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23930" y="6438930"/>
            <a:ext cx="38100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Walmart Ads</a:t>
            </a:r>
            <a:endParaRPr lang="en-US" sz="800" dirty="0"/>
          </a:p>
        </p:txBody>
      </p:sp>
      <p:sp>
        <p:nvSpPr>
          <p:cNvPr id="6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lnSpc>
                <a:spcPct val="110000"/>
              </a:lnSpc>
              <a:buNone/>
              <a:def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Headline states the takeaway, not the topic</a:t>
            </a:r>
            <a:endParaRPr lang="en-US" sz="2800" dirty="0"/>
          </a:p>
        </p:txBody>
      </p:sp>
      <p:sp>
        <p:nvSpPr>
          <p:cNvPr id="7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Optional supporting line: context, scope or the one fact the headline rests on.</a:t>
            </a:r>
            <a:endParaRPr lang="en-US" sz="1400" dirty="0"/>
          </a:p>
        </p:txBody>
      </p:sp>
      <p:sp>
        <p:nvSpPr>
          <p:cNvPr id="8" name="Shape 1"/>
          <p:cNvSpPr/>
          <p:nvPr/>
        </p:nvSpPr>
        <p:spPr>
          <a:xfrm>
            <a:off x="508041" y="2438430"/>
            <a:ext cx="2641610" cy="0"/>
          </a:xfrm>
          <a:prstGeom prst="line">
            <a:avLst/>
          </a:prstGeom>
          <a:noFill/>
          <a:ln w="19050">
            <a:solidFill>
              <a:srgbClr val="0053E2"/>
            </a:solidFill>
            <a:prstDash val="solid"/>
          </a:ln>
        </p:spPr>
      </p:sp>
      <p:sp>
        <p:nvSpPr>
          <p:cNvPr id="9" name="K1 value"/>
          <p:cNvSpPr/>
          <p:nvPr>
            <p:ph idx="107" type="body" hasCustomPrompt="1"/>
          </p:nvPr>
        </p:nvSpPr>
        <p:spPr>
          <a:xfrm>
            <a:off x="508041" y="2616190"/>
            <a:ext cx="2641610" cy="50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95000"/>
              </a:lnSpc>
              <a:buNone/>
              <a:defRPr lang="en-US" sz="4800" spc="-12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4800" spc="-12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00</a:t>
            </a:r>
            <a:endParaRPr lang="en-US" sz="4800" dirty="0"/>
          </a:p>
        </p:txBody>
      </p:sp>
      <p:sp>
        <p:nvSpPr>
          <p:cNvPr id="10" name="K1 label"/>
          <p:cNvSpPr/>
          <p:nvPr>
            <p:ph idx="108" type="body" hasCustomPrompt="1"/>
          </p:nvPr>
        </p:nvSpPr>
        <p:spPr>
          <a:xfrm>
            <a:off x="508041" y="3200400"/>
            <a:ext cx="264161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5000"/>
              </a:lnSpc>
              <a:buNone/>
              <a:def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defRPr>
            </a:lvl1pPr>
          </a:lstStyle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Metric name</a:t>
            </a:r>
            <a:endParaRPr lang="en-US" sz="1100" dirty="0"/>
          </a:p>
        </p:txBody>
      </p:sp>
      <p:sp>
        <p:nvSpPr>
          <p:cNvPr id="11" name="K1 context"/>
          <p:cNvSpPr/>
          <p:nvPr>
            <p:ph idx="109" type="body" hasCustomPrompt="1"/>
          </p:nvPr>
        </p:nvSpPr>
        <p:spPr>
          <a:xfrm>
            <a:off x="508041" y="3505170"/>
            <a:ext cx="264161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Period, population, direction vs target.</a:t>
            </a:r>
            <a:endParaRPr lang="en-US" sz="1050" dirty="0"/>
          </a:p>
        </p:txBody>
      </p:sp>
      <p:sp>
        <p:nvSpPr>
          <p:cNvPr id="12" name="Shape 2"/>
          <p:cNvSpPr/>
          <p:nvPr/>
        </p:nvSpPr>
        <p:spPr>
          <a:xfrm>
            <a:off x="3352830" y="2438430"/>
            <a:ext cx="2641610" cy="0"/>
          </a:xfrm>
          <a:prstGeom prst="line">
            <a:avLst/>
          </a:prstGeom>
          <a:noFill/>
          <a:ln w="19050">
            <a:solidFill>
              <a:srgbClr val="0053E2"/>
            </a:solidFill>
            <a:prstDash val="solid"/>
          </a:ln>
        </p:spPr>
      </p:sp>
      <p:sp>
        <p:nvSpPr>
          <p:cNvPr id="13" name="K2 value"/>
          <p:cNvSpPr/>
          <p:nvPr>
            <p:ph idx="111" type="body" hasCustomPrompt="1"/>
          </p:nvPr>
        </p:nvSpPr>
        <p:spPr>
          <a:xfrm>
            <a:off x="3352830" y="2616190"/>
            <a:ext cx="2641610" cy="50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95000"/>
              </a:lnSpc>
              <a:buNone/>
              <a:defRPr lang="en-US" sz="4800" spc="-12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4800" spc="-12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00</a:t>
            </a:r>
            <a:endParaRPr lang="en-US" sz="4800" dirty="0"/>
          </a:p>
        </p:txBody>
      </p:sp>
      <p:sp>
        <p:nvSpPr>
          <p:cNvPr id="14" name="K2 label"/>
          <p:cNvSpPr/>
          <p:nvPr>
            <p:ph idx="112" type="body" hasCustomPrompt="1"/>
          </p:nvPr>
        </p:nvSpPr>
        <p:spPr>
          <a:xfrm>
            <a:off x="3352830" y="3200400"/>
            <a:ext cx="264161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5000"/>
              </a:lnSpc>
              <a:buNone/>
              <a:def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defRPr>
            </a:lvl1pPr>
          </a:lstStyle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Metric name</a:t>
            </a:r>
            <a:endParaRPr lang="en-US" sz="1100" dirty="0"/>
          </a:p>
        </p:txBody>
      </p:sp>
      <p:sp>
        <p:nvSpPr>
          <p:cNvPr id="15" name="K2 context"/>
          <p:cNvSpPr/>
          <p:nvPr>
            <p:ph idx="113" type="body" hasCustomPrompt="1"/>
          </p:nvPr>
        </p:nvSpPr>
        <p:spPr>
          <a:xfrm>
            <a:off x="3352830" y="3505170"/>
            <a:ext cx="264161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Period, population, direction vs target.</a:t>
            </a:r>
            <a:endParaRPr lang="en-US" sz="1050" dirty="0"/>
          </a:p>
        </p:txBody>
      </p:sp>
      <p:sp>
        <p:nvSpPr>
          <p:cNvPr id="16" name="Shape 3"/>
          <p:cNvSpPr/>
          <p:nvPr/>
        </p:nvSpPr>
        <p:spPr>
          <a:xfrm>
            <a:off x="6197620" y="2438430"/>
            <a:ext cx="2641610" cy="0"/>
          </a:xfrm>
          <a:prstGeom prst="line">
            <a:avLst/>
          </a:prstGeom>
          <a:noFill/>
          <a:ln w="19050">
            <a:solidFill>
              <a:srgbClr val="0053E2"/>
            </a:solidFill>
            <a:prstDash val="solid"/>
          </a:ln>
        </p:spPr>
      </p:sp>
      <p:sp>
        <p:nvSpPr>
          <p:cNvPr id="17" name="K3 value"/>
          <p:cNvSpPr/>
          <p:nvPr>
            <p:ph idx="115" type="body" hasCustomPrompt="1"/>
          </p:nvPr>
        </p:nvSpPr>
        <p:spPr>
          <a:xfrm>
            <a:off x="6197620" y="2616190"/>
            <a:ext cx="2641610" cy="50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95000"/>
              </a:lnSpc>
              <a:buNone/>
              <a:defRPr lang="en-US" sz="4800" spc="-12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4800" spc="-12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00</a:t>
            </a:r>
            <a:endParaRPr lang="en-US" sz="4800" dirty="0"/>
          </a:p>
        </p:txBody>
      </p:sp>
      <p:sp>
        <p:nvSpPr>
          <p:cNvPr id="18" name="K3 label"/>
          <p:cNvSpPr/>
          <p:nvPr>
            <p:ph idx="116" type="body" hasCustomPrompt="1"/>
          </p:nvPr>
        </p:nvSpPr>
        <p:spPr>
          <a:xfrm>
            <a:off x="6197620" y="3200400"/>
            <a:ext cx="264161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5000"/>
              </a:lnSpc>
              <a:buNone/>
              <a:def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defRPr>
            </a:lvl1pPr>
          </a:lstStyle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Metric name</a:t>
            </a:r>
            <a:endParaRPr lang="en-US" sz="1100" dirty="0"/>
          </a:p>
        </p:txBody>
      </p:sp>
      <p:sp>
        <p:nvSpPr>
          <p:cNvPr id="19" name="K3 context"/>
          <p:cNvSpPr/>
          <p:nvPr>
            <p:ph idx="117" type="body" hasCustomPrompt="1"/>
          </p:nvPr>
        </p:nvSpPr>
        <p:spPr>
          <a:xfrm>
            <a:off x="6197620" y="3505170"/>
            <a:ext cx="264161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Period, population, direction vs target.</a:t>
            </a:r>
            <a:endParaRPr lang="en-US" sz="1050" dirty="0"/>
          </a:p>
        </p:txBody>
      </p:sp>
      <p:sp>
        <p:nvSpPr>
          <p:cNvPr id="20" name="Shape 4"/>
          <p:cNvSpPr/>
          <p:nvPr/>
        </p:nvSpPr>
        <p:spPr>
          <a:xfrm>
            <a:off x="9042410" y="2438430"/>
            <a:ext cx="2641610" cy="0"/>
          </a:xfrm>
          <a:prstGeom prst="line">
            <a:avLst/>
          </a:prstGeom>
          <a:noFill/>
          <a:ln w="19050">
            <a:solidFill>
              <a:srgbClr val="0053E2"/>
            </a:solidFill>
            <a:prstDash val="solid"/>
          </a:ln>
        </p:spPr>
      </p:sp>
      <p:sp>
        <p:nvSpPr>
          <p:cNvPr id="21" name="K4 value"/>
          <p:cNvSpPr/>
          <p:nvPr>
            <p:ph idx="119" type="body" hasCustomPrompt="1"/>
          </p:nvPr>
        </p:nvSpPr>
        <p:spPr>
          <a:xfrm>
            <a:off x="9042410" y="2616190"/>
            <a:ext cx="2641610" cy="50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95000"/>
              </a:lnSpc>
              <a:buNone/>
              <a:defRPr lang="en-US" sz="4800" spc="-12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4800" spc="-12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00</a:t>
            </a:r>
            <a:endParaRPr lang="en-US" sz="4800" dirty="0"/>
          </a:p>
        </p:txBody>
      </p:sp>
      <p:sp>
        <p:nvSpPr>
          <p:cNvPr id="22" name="K4 label"/>
          <p:cNvSpPr/>
          <p:nvPr>
            <p:ph idx="120" type="body" hasCustomPrompt="1"/>
          </p:nvPr>
        </p:nvSpPr>
        <p:spPr>
          <a:xfrm>
            <a:off x="9042410" y="3200400"/>
            <a:ext cx="264161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5000"/>
              </a:lnSpc>
              <a:buNone/>
              <a:def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defRPr>
            </a:lvl1pPr>
          </a:lstStyle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Metric name</a:t>
            </a:r>
            <a:endParaRPr lang="en-US" sz="1100" dirty="0"/>
          </a:p>
        </p:txBody>
      </p:sp>
      <p:sp>
        <p:nvSpPr>
          <p:cNvPr id="23" name="K4 context"/>
          <p:cNvSpPr/>
          <p:nvPr>
            <p:ph idx="121" type="body" hasCustomPrompt="1"/>
          </p:nvPr>
        </p:nvSpPr>
        <p:spPr>
          <a:xfrm>
            <a:off x="9042410" y="3505170"/>
            <a:ext cx="264161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Period, population, direction vs target.</a:t>
            </a:r>
            <a:endParaRPr lang="en-US" sz="1050" dirty="0"/>
          </a:p>
        </p:txBody>
      </p:sp>
      <p:sp>
        <p:nvSpPr>
          <p:cNvPr id="24" name="Shape 5"/>
          <p:cNvSpPr/>
          <p:nvPr/>
        </p:nvSpPr>
        <p:spPr>
          <a:xfrm>
            <a:off x="508041" y="4622841"/>
            <a:ext cx="11175980" cy="0"/>
          </a:xfrm>
          <a:prstGeom prst="line">
            <a:avLst/>
          </a:prstGeom>
          <a:noFill/>
          <a:ln w="12700">
            <a:solidFill>
              <a:srgbClr val="0053E2"/>
            </a:solidFill>
            <a:prstDash val="solid"/>
          </a:ln>
        </p:spPr>
      </p:sp>
      <p:sp>
        <p:nvSpPr>
          <p:cNvPr id="25" name="Read label"/>
          <p:cNvSpPr/>
          <p:nvPr>
            <p:ph idx="123" type="body" hasCustomPrompt="1"/>
          </p:nvPr>
        </p:nvSpPr>
        <p:spPr>
          <a:xfrm>
            <a:off x="508041" y="4787890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WHAT IT ADDS UP TO</a:t>
            </a:r>
            <a:endParaRPr lang="en-US" sz="800" dirty="0"/>
          </a:p>
        </p:txBody>
      </p:sp>
      <p:sp>
        <p:nvSpPr>
          <p:cNvPr id="26" name="Read"/>
          <p:cNvSpPr/>
          <p:nvPr>
            <p:ph idx="124" type="body" hasCustomPrompt="1"/>
          </p:nvPr>
        </p:nvSpPr>
        <p:spPr>
          <a:xfrm>
            <a:off x="3352830" y="4737141"/>
            <a:ext cx="8331190" cy="952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22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22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One sentence the four numbers support together.</a:t>
            </a:r>
            <a:endParaRPr lang="en-US" sz="2200" dirty="0"/>
          </a:p>
        </p:txBody>
      </p:sp>
      <p:sp>
        <p:nvSpPr>
          <p:cNvPr id="27" name="Source"/>
          <p:cNvSpPr/>
          <p:nvPr>
            <p:ph idx="125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buNone/>
              <a:def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Source: name, date range, sample size. Delete if not needed.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1023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 Chart + Insight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EYEBROW · CONTEXT LABEL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r" indent="0" marL="0">
              <a:buNone/>
              <a:def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SECTION NAME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6426220"/>
            <a:ext cx="139720" cy="1397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23930" y="6438930"/>
            <a:ext cx="38100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Walmart Ads</a:t>
            </a:r>
            <a:endParaRPr lang="en-US" sz="800" dirty="0"/>
          </a:p>
        </p:txBody>
      </p:sp>
      <p:sp>
        <p:nvSpPr>
          <p:cNvPr id="6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lnSpc>
                <a:spcPct val="110000"/>
              </a:lnSpc>
              <a:buNone/>
              <a:def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Headline states the takeaway, not the topic</a:t>
            </a:r>
            <a:endParaRPr lang="en-US" sz="2800" dirty="0"/>
          </a:p>
        </p:txBody>
      </p:sp>
      <p:sp>
        <p:nvSpPr>
          <p:cNvPr id="7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Optional supporting line: context, scope or the one fact the headline rests on.</a:t>
            </a:r>
            <a:endParaRPr lang="en-US" sz="1400" dirty="0"/>
          </a:p>
        </p:txBody>
      </p:sp>
      <p:sp>
        <p:nvSpPr>
          <p:cNvPr id="8" name="Chart"/>
          <p:cNvSpPr/>
          <p:nvPr>
            <p:ph idx="106" type="chart" hasCustomPrompt="1"/>
          </p:nvPr>
        </p:nvSpPr>
        <p:spPr>
          <a:xfrm>
            <a:off x="508041" y="2438430"/>
            <a:ext cx="7382957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200" dirty="0"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endParaRPr lang="en-US" sz="1200" dirty="0"/>
          </a:p>
        </p:txBody>
      </p:sp>
      <p:sp>
        <p:nvSpPr>
          <p:cNvPr id="9" name="Shape 1"/>
          <p:cNvSpPr/>
          <p:nvPr/>
        </p:nvSpPr>
        <p:spPr>
          <a:xfrm>
            <a:off x="8094177" y="2438430"/>
            <a:ext cx="3589843" cy="0"/>
          </a:xfrm>
          <a:prstGeom prst="line">
            <a:avLst/>
          </a:prstGeom>
          <a:noFill/>
          <a:ln w="19050">
            <a:solidFill>
              <a:srgbClr val="0053E2"/>
            </a:solidFill>
            <a:prstDash val="solid"/>
          </a:ln>
        </p:spPr>
      </p:sp>
      <p:sp>
        <p:nvSpPr>
          <p:cNvPr id="10" name="Rail label"/>
          <p:cNvSpPr/>
          <p:nvPr>
            <p:ph idx="108" type="body" hasCustomPrompt="1"/>
          </p:nvPr>
        </p:nvSpPr>
        <p:spPr>
          <a:xfrm>
            <a:off x="8094177" y="2540020"/>
            <a:ext cx="358984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THE INSIGHT</a:t>
            </a:r>
            <a:endParaRPr lang="en-US" sz="800" dirty="0"/>
          </a:p>
        </p:txBody>
      </p:sp>
      <p:sp>
        <p:nvSpPr>
          <p:cNvPr id="11" name="Rail title"/>
          <p:cNvSpPr/>
          <p:nvPr>
            <p:ph idx="109" type="body" hasCustomPrompt="1"/>
          </p:nvPr>
        </p:nvSpPr>
        <p:spPr>
          <a:xfrm>
            <a:off x="8094177" y="2717780"/>
            <a:ext cx="3589843" cy="1015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What the chart shows, stated as a finding.</a:t>
            </a:r>
            <a:endParaRPr lang="en-US" sz="1800" dirty="0"/>
          </a:p>
        </p:txBody>
      </p:sp>
      <p:sp>
        <p:nvSpPr>
          <p:cNvPr id="12" name="Rail body"/>
          <p:cNvSpPr/>
          <p:nvPr>
            <p:ph idx="110" type="body" hasCustomPrompt="1"/>
          </p:nvPr>
        </p:nvSpPr>
        <p:spPr>
          <a:xfrm>
            <a:off x="8094177" y="3835359"/>
            <a:ext cx="3589843" cy="190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Definition, caveats and what to do next.</a:t>
            </a:r>
            <a:endParaRPr lang="en-US" sz="1200" dirty="0"/>
          </a:p>
        </p:txBody>
      </p:sp>
      <p:sp>
        <p:nvSpPr>
          <p:cNvPr id="13" name="Source"/>
          <p:cNvSpPr/>
          <p:nvPr>
            <p:ph idx="111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buNone/>
              <a:def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Source: name, date range, sample size. Delete if not needed.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1024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 Chart — Full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EYEBROW · CONTEXT LABEL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r" indent="0" marL="0">
              <a:buNone/>
              <a:def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SECTION NAME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6426220"/>
            <a:ext cx="139720" cy="1397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23930" y="6438930"/>
            <a:ext cx="38100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Walmart Ads</a:t>
            </a:r>
            <a:endParaRPr lang="en-US" sz="800" dirty="0"/>
          </a:p>
        </p:txBody>
      </p:sp>
      <p:sp>
        <p:nvSpPr>
          <p:cNvPr id="6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lnSpc>
                <a:spcPct val="110000"/>
              </a:lnSpc>
              <a:buNone/>
              <a:def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Headline states the takeaway, not the topic</a:t>
            </a:r>
            <a:endParaRPr lang="en-US" sz="2800" dirty="0"/>
          </a:p>
        </p:txBody>
      </p:sp>
      <p:sp>
        <p:nvSpPr>
          <p:cNvPr id="7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Optional supporting line: context, scope or the one fact the headline rests on.</a:t>
            </a:r>
            <a:endParaRPr lang="en-US" sz="1400" dirty="0"/>
          </a:p>
        </p:txBody>
      </p:sp>
      <p:sp>
        <p:nvSpPr>
          <p:cNvPr id="8" name="Chart"/>
          <p:cNvSpPr/>
          <p:nvPr>
            <p:ph idx="106" type="chart" hasCustomPrompt="1"/>
          </p:nvPr>
        </p:nvSpPr>
        <p:spPr>
          <a:xfrm>
            <a:off x="508041" y="2438430"/>
            <a:ext cx="11175980" cy="3174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200" dirty="0"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endParaRPr lang="en-US" sz="1200" dirty="0"/>
          </a:p>
        </p:txBody>
      </p:sp>
      <p:sp>
        <p:nvSpPr>
          <p:cNvPr id="9" name="Annotation"/>
          <p:cNvSpPr/>
          <p:nvPr>
            <p:ph idx="107" type="body" hasCustomPrompt="1"/>
          </p:nvPr>
        </p:nvSpPr>
        <p:spPr>
          <a:xfrm>
            <a:off x="508041" y="5715000"/>
            <a:ext cx="1117598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0000"/>
              </a:lnSpc>
              <a:buNone/>
              <a:defRPr lang="en-US" sz="100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So what: one line under the chart.</a:t>
            </a:r>
            <a:endParaRPr lang="en-US" sz="1000" dirty="0"/>
          </a:p>
        </p:txBody>
      </p:sp>
      <p:sp>
        <p:nvSpPr>
          <p:cNvPr id="10" name="Source"/>
          <p:cNvSpPr/>
          <p:nvPr>
            <p:ph idx="108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buNone/>
              <a:def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Source: name, date range, sample size. Delete if not needed.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1025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 Table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EYEBROW · CONTEXT LABEL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r" indent="0" marL="0">
              <a:buNone/>
              <a:def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SECTION NAME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6426220"/>
            <a:ext cx="139720" cy="1397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23930" y="6438930"/>
            <a:ext cx="38100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Walmart Ads</a:t>
            </a:r>
            <a:endParaRPr lang="en-US" sz="800" dirty="0"/>
          </a:p>
        </p:txBody>
      </p:sp>
      <p:sp>
        <p:nvSpPr>
          <p:cNvPr id="6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lnSpc>
                <a:spcPct val="110000"/>
              </a:lnSpc>
              <a:buNone/>
              <a:def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Headline states the takeaway, not the topic</a:t>
            </a:r>
            <a:endParaRPr lang="en-US" sz="2800" dirty="0"/>
          </a:p>
        </p:txBody>
      </p:sp>
      <p:sp>
        <p:nvSpPr>
          <p:cNvPr id="7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Optional supporting line: context, scope or the one fact the headline rests on.</a:t>
            </a:r>
            <a:endParaRPr lang="en-US" sz="1400" dirty="0"/>
          </a:p>
        </p:txBody>
      </p:sp>
      <p:sp>
        <p:nvSpPr>
          <p:cNvPr id="8" name="Table"/>
          <p:cNvSpPr/>
          <p:nvPr>
            <p:ph idx="106" hasCustomPrompt="1"/>
          </p:nvPr>
        </p:nvSpPr>
        <p:spPr>
          <a:xfrm>
            <a:off x="508041" y="2438430"/>
            <a:ext cx="111759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5000"/>
              </a:lnSpc>
              <a:buNone/>
              <a:defRPr lang="en-US" sz="1050" dirty="0"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25000"/>
              </a:lnSpc>
              <a:buNone/>
            </a:pPr>
            <a:endParaRPr lang="en-US" sz="1050" dirty="0"/>
          </a:p>
        </p:txBody>
      </p:sp>
      <p:sp>
        <p:nvSpPr>
          <p:cNvPr id="9" name="Source"/>
          <p:cNvSpPr/>
          <p:nvPr>
            <p:ph idx="107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buNone/>
              <a:def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Source: name, date range, sample size. Delete if not needed.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1026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 Dense — Title + Body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EYEBROW · CONTEXT LABEL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r" indent="0" marL="0">
              <a:buNone/>
              <a:def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SECTION NAME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6426220"/>
            <a:ext cx="139720" cy="1397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23930" y="6438930"/>
            <a:ext cx="38100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Walmart Ads</a:t>
            </a:r>
            <a:endParaRPr lang="en-US" sz="800" dirty="0"/>
          </a:p>
        </p:txBody>
      </p:sp>
      <p:sp>
        <p:nvSpPr>
          <p:cNvPr id="6" name="Title"/>
          <p:cNvSpPr/>
          <p:nvPr>
            <p:ph idx="104" type="title" hasCustomPrompt="1"/>
          </p:nvPr>
        </p:nvSpPr>
        <p:spPr>
          <a:xfrm>
            <a:off x="508041" y="558790"/>
            <a:ext cx="11175980" cy="4063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lnSpc>
                <a:spcPct val="110000"/>
              </a:lnSpc>
              <a:buNone/>
              <a:defRPr lang="en-US" sz="2200" spc="-5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2200" spc="-5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Dense headline states the takeaway in one line</a:t>
            </a:r>
            <a:endParaRPr lang="en-US" sz="2200" dirty="0"/>
          </a:p>
        </p:txBody>
      </p:sp>
      <p:sp>
        <p:nvSpPr>
          <p:cNvPr id="7" name="Body"/>
          <p:cNvSpPr/>
          <p:nvPr>
            <p:ph idx="105" type="body" hasCustomPrompt="1"/>
          </p:nvPr>
        </p:nvSpPr>
        <p:spPr>
          <a:xfrm>
            <a:off x="508041" y="1168420"/>
            <a:ext cx="11175980" cy="482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Dense content: paste a table, detailed timeline or reference list. This is a different composition, not a normal slide with smaller type.</a:t>
            </a:r>
            <a:endParaRPr lang="en-US" sz="1050" dirty="0"/>
          </a:p>
        </p:txBody>
      </p:sp>
      <p:sp>
        <p:nvSpPr>
          <p:cNvPr id="8" name="Source"/>
          <p:cNvSpPr/>
          <p:nvPr>
            <p:ph idx="106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buNone/>
              <a:def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Source: name, date range, sample size. Delete if not needed.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1027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 Quote — Hero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EYEBROW · CONTEXT LABEL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r" indent="0" marL="0">
              <a:buNone/>
              <a:def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SECTION NAME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6426220"/>
            <a:ext cx="139720" cy="1397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23930" y="6438930"/>
            <a:ext cx="38100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Walmart Ads</a:t>
            </a:r>
            <a:endParaRPr lang="en-US" sz="800" dirty="0"/>
          </a:p>
        </p:txBody>
      </p:sp>
      <p:sp>
        <p:nvSpPr>
          <p:cNvPr id="6" name="Text 1"/>
          <p:cNvSpPr/>
          <p:nvPr/>
        </p:nvSpPr>
        <p:spPr>
          <a:xfrm>
            <a:off x="457200" y="1143000"/>
            <a:ext cx="1270010" cy="127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0" spc="-120" kern="0" dirty="0">
                <a:solidFill>
                  <a:srgbClr val="0053E2"/>
                </a:solidFill>
                <a:latin typeface="Everyday Sans Light" pitchFamily="34" charset="0"/>
                <a:ea typeface="Everyday Sans Light" pitchFamily="34" charset="-122"/>
                <a:cs typeface="Everyday Sans Light" pitchFamily="34" charset="-120"/>
              </a:rPr>
              <a:t>“</a:t>
            </a:r>
            <a:endParaRPr lang="en-US" sz="16000" dirty="0"/>
          </a:p>
        </p:txBody>
      </p:sp>
      <p:sp>
        <p:nvSpPr>
          <p:cNvPr id="7" name="Title"/>
          <p:cNvSpPr/>
          <p:nvPr>
            <p:ph idx="105" type="title" hasCustomPrompt="1"/>
          </p:nvPr>
        </p:nvSpPr>
        <p:spPr>
          <a:xfrm>
            <a:off x="1456273" y="2158990"/>
            <a:ext cx="927942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3200" i="1" spc="-40" kern="0" dirty="0">
                <a:solidFill>
                  <a:srgbClr val="001E60"/>
                </a:solidFill>
                <a:latin typeface="Everyday Sans Light" pitchFamily="34" charset="0"/>
                <a:ea typeface="Everyday Sans Light" pitchFamily="34" charset="-122"/>
                <a:cs typeface="Everyday Sans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3200" i="1" spc="-40" kern="0" dirty="0">
                <a:solidFill>
                  <a:srgbClr val="001E60"/>
                </a:solidFill>
                <a:latin typeface="Everyday Sans Light" pitchFamily="34" charset="0"/>
                <a:ea typeface="Everyday Sans Light" pitchFamily="34" charset="-122"/>
                <a:cs typeface="Everyday Sans Light" pitchFamily="34" charset="-120"/>
              </a:rPr>
              <a:t>A verbatim quote that carries the finding, trimmed but never reworded.</a:t>
            </a:r>
            <a:endParaRPr lang="en-US" sz="3200" dirty="0"/>
          </a:p>
        </p:txBody>
      </p:sp>
      <p:sp>
        <p:nvSpPr>
          <p:cNvPr id="8" name="Shape 2"/>
          <p:cNvSpPr/>
          <p:nvPr/>
        </p:nvSpPr>
        <p:spPr>
          <a:xfrm>
            <a:off x="1456273" y="4673590"/>
            <a:ext cx="761970" cy="0"/>
          </a:xfrm>
          <a:prstGeom prst="line">
            <a:avLst/>
          </a:prstGeom>
          <a:noFill/>
          <a:ln w="19050">
            <a:solidFill>
              <a:srgbClr val="0053E2"/>
            </a:solidFill>
            <a:prstDash val="solid"/>
          </a:ln>
        </p:spPr>
      </p:sp>
      <p:sp>
        <p:nvSpPr>
          <p:cNvPr id="9" name="Attribution"/>
          <p:cNvSpPr/>
          <p:nvPr>
            <p:ph idx="107" type="body" hasCustomPrompt="1"/>
          </p:nvPr>
        </p:nvSpPr>
        <p:spPr>
          <a:xfrm>
            <a:off x="1456273" y="4800600"/>
            <a:ext cx="9279423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ROLE · SEGMENT · SOURCE, DATE</a:t>
            </a:r>
            <a:endParaRPr lang="en-US" sz="800" dirty="0"/>
          </a:p>
        </p:txBody>
      </p:sp>
      <p:sp>
        <p:nvSpPr>
          <p:cNvPr id="10" name="Implication"/>
          <p:cNvSpPr/>
          <p:nvPr>
            <p:ph idx="108" type="body" hasCustomPrompt="1"/>
          </p:nvPr>
        </p:nvSpPr>
        <p:spPr>
          <a:xfrm>
            <a:off x="1456273" y="5080041"/>
            <a:ext cx="738295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Optional: what this tells us, in one sentence.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1028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 Quote Wall —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EYEBROW · CONTEXT LABEL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r" indent="0" marL="0">
              <a:buNone/>
              <a:def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SECTION NAME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6426220"/>
            <a:ext cx="139720" cy="1397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23930" y="6438930"/>
            <a:ext cx="38100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Walmart Ads</a:t>
            </a:r>
            <a:endParaRPr lang="en-US" sz="800" dirty="0"/>
          </a:p>
        </p:txBody>
      </p:sp>
      <p:sp>
        <p:nvSpPr>
          <p:cNvPr id="6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lnSpc>
                <a:spcPct val="110000"/>
              </a:lnSpc>
              <a:buNone/>
              <a:def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Headline states the takeaway, not the topic</a:t>
            </a:r>
            <a:endParaRPr lang="en-US" sz="2800" dirty="0"/>
          </a:p>
        </p:txBody>
      </p:sp>
      <p:sp>
        <p:nvSpPr>
          <p:cNvPr id="7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Optional supporting line: context, scope or the one fact the headline rests on.</a:t>
            </a:r>
            <a:endParaRPr lang="en-US" sz="1400" dirty="0"/>
          </a:p>
        </p:txBody>
      </p:sp>
      <p:sp>
        <p:nvSpPr>
          <p:cNvPr id="8" name="Shape 1"/>
          <p:cNvSpPr/>
          <p:nvPr/>
        </p:nvSpPr>
        <p:spPr>
          <a:xfrm>
            <a:off x="508041" y="2438430"/>
            <a:ext cx="5486400" cy="0"/>
          </a:xfrm>
          <a:prstGeom prst="line">
            <a:avLst/>
          </a:prstGeom>
          <a:noFill/>
          <a:ln w="9525">
            <a:solidFill>
              <a:srgbClr val="DEE1E6"/>
            </a:solidFill>
            <a:prstDash val="solid"/>
          </a:ln>
        </p:spPr>
      </p:sp>
      <p:sp>
        <p:nvSpPr>
          <p:cNvPr id="9" name="Q1 theme"/>
          <p:cNvSpPr/>
          <p:nvPr>
            <p:ph idx="107" type="body" hasCustomPrompt="1"/>
          </p:nvPr>
        </p:nvSpPr>
        <p:spPr>
          <a:xfrm>
            <a:off x="508041" y="2540020"/>
            <a:ext cx="548640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THEME</a:t>
            </a:r>
            <a:endParaRPr lang="en-US" sz="800" dirty="0"/>
          </a:p>
        </p:txBody>
      </p:sp>
      <p:sp>
        <p:nvSpPr>
          <p:cNvPr id="10" name="Q1 text"/>
          <p:cNvSpPr/>
          <p:nvPr>
            <p:ph idx="108" type="body" hasCustomPrompt="1"/>
          </p:nvPr>
        </p:nvSpPr>
        <p:spPr>
          <a:xfrm>
            <a:off x="508041" y="2717780"/>
            <a:ext cx="5486400" cy="1015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0000"/>
              </a:lnSpc>
              <a:buNone/>
              <a:defRPr lang="en-US" sz="1700" i="1" dirty="0">
                <a:solidFill>
                  <a:srgbClr val="001E60"/>
                </a:solidFill>
                <a:latin typeface="Everyday Sans Light" pitchFamily="34" charset="0"/>
                <a:ea typeface="Everyday Sans Light" pitchFamily="34" charset="-122"/>
                <a:cs typeface="Everyday Sans Light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001E60"/>
                </a:solidFill>
                <a:latin typeface="Everyday Sans Light" pitchFamily="34" charset="0"/>
                <a:ea typeface="Everyday Sans Light" pitchFamily="34" charset="-122"/>
                <a:cs typeface="Everyday Sans Light" pitchFamily="34" charset="-120"/>
              </a:rPr>
              <a:t>“Verbatim quote, trimmed but never reworded.”</a:t>
            </a:r>
            <a:endParaRPr lang="en-US" sz="1700" dirty="0"/>
          </a:p>
        </p:txBody>
      </p:sp>
      <p:sp>
        <p:nvSpPr>
          <p:cNvPr id="11" name="Q1 attr"/>
          <p:cNvSpPr/>
          <p:nvPr>
            <p:ph idx="109" type="body" hasCustomPrompt="1"/>
          </p:nvPr>
        </p:nvSpPr>
        <p:spPr>
          <a:xfrm>
            <a:off x="508041" y="3784610"/>
            <a:ext cx="548640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ROLE · SEGMENT</a:t>
            </a:r>
            <a:endParaRPr lang="en-US" sz="800" dirty="0"/>
          </a:p>
        </p:txBody>
      </p:sp>
      <p:sp>
        <p:nvSpPr>
          <p:cNvPr id="12" name="Shape 2"/>
          <p:cNvSpPr/>
          <p:nvPr/>
        </p:nvSpPr>
        <p:spPr>
          <a:xfrm>
            <a:off x="6197620" y="2438430"/>
            <a:ext cx="5486400" cy="0"/>
          </a:xfrm>
          <a:prstGeom prst="line">
            <a:avLst/>
          </a:prstGeom>
          <a:noFill/>
          <a:ln w="9525">
            <a:solidFill>
              <a:srgbClr val="DEE1E6"/>
            </a:solidFill>
            <a:prstDash val="solid"/>
          </a:ln>
        </p:spPr>
      </p:sp>
      <p:sp>
        <p:nvSpPr>
          <p:cNvPr id="13" name="Q2 theme"/>
          <p:cNvSpPr/>
          <p:nvPr>
            <p:ph idx="111" type="body" hasCustomPrompt="1"/>
          </p:nvPr>
        </p:nvSpPr>
        <p:spPr>
          <a:xfrm>
            <a:off x="6197620" y="2540020"/>
            <a:ext cx="548640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THEME</a:t>
            </a:r>
            <a:endParaRPr lang="en-US" sz="800" dirty="0"/>
          </a:p>
        </p:txBody>
      </p:sp>
      <p:sp>
        <p:nvSpPr>
          <p:cNvPr id="14" name="Q2 text"/>
          <p:cNvSpPr/>
          <p:nvPr>
            <p:ph idx="112" type="body" hasCustomPrompt="1"/>
          </p:nvPr>
        </p:nvSpPr>
        <p:spPr>
          <a:xfrm>
            <a:off x="6197620" y="2717780"/>
            <a:ext cx="5486400" cy="1015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0000"/>
              </a:lnSpc>
              <a:buNone/>
              <a:defRPr lang="en-US" sz="1700" i="1" dirty="0">
                <a:solidFill>
                  <a:srgbClr val="001E60"/>
                </a:solidFill>
                <a:latin typeface="Everyday Sans Light" pitchFamily="34" charset="0"/>
                <a:ea typeface="Everyday Sans Light" pitchFamily="34" charset="-122"/>
                <a:cs typeface="Everyday Sans Light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001E60"/>
                </a:solidFill>
                <a:latin typeface="Everyday Sans Light" pitchFamily="34" charset="0"/>
                <a:ea typeface="Everyday Sans Light" pitchFamily="34" charset="-122"/>
                <a:cs typeface="Everyday Sans Light" pitchFamily="34" charset="-120"/>
              </a:rPr>
              <a:t>“Verbatim quote, trimmed but never reworded.”</a:t>
            </a:r>
            <a:endParaRPr lang="en-US" sz="1700" dirty="0"/>
          </a:p>
        </p:txBody>
      </p:sp>
      <p:sp>
        <p:nvSpPr>
          <p:cNvPr id="15" name="Q2 attr"/>
          <p:cNvSpPr/>
          <p:nvPr>
            <p:ph idx="113" type="body" hasCustomPrompt="1"/>
          </p:nvPr>
        </p:nvSpPr>
        <p:spPr>
          <a:xfrm>
            <a:off x="6197620" y="3784610"/>
            <a:ext cx="548640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ROLE · SEGMENT</a:t>
            </a:r>
            <a:endParaRPr lang="en-US" sz="800" dirty="0"/>
          </a:p>
        </p:txBody>
      </p:sp>
      <p:sp>
        <p:nvSpPr>
          <p:cNvPr id="16" name="Shape 3"/>
          <p:cNvSpPr/>
          <p:nvPr/>
        </p:nvSpPr>
        <p:spPr>
          <a:xfrm>
            <a:off x="508041" y="4216390"/>
            <a:ext cx="5486400" cy="0"/>
          </a:xfrm>
          <a:prstGeom prst="line">
            <a:avLst/>
          </a:prstGeom>
          <a:noFill/>
          <a:ln w="9525">
            <a:solidFill>
              <a:srgbClr val="DEE1E6"/>
            </a:solidFill>
            <a:prstDash val="solid"/>
          </a:ln>
        </p:spPr>
      </p:sp>
      <p:sp>
        <p:nvSpPr>
          <p:cNvPr id="17" name="Q3 theme"/>
          <p:cNvSpPr/>
          <p:nvPr>
            <p:ph idx="115" type="body" hasCustomPrompt="1"/>
          </p:nvPr>
        </p:nvSpPr>
        <p:spPr>
          <a:xfrm>
            <a:off x="508041" y="4317980"/>
            <a:ext cx="548640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THEME</a:t>
            </a:r>
            <a:endParaRPr lang="en-US" sz="800" dirty="0"/>
          </a:p>
        </p:txBody>
      </p:sp>
      <p:sp>
        <p:nvSpPr>
          <p:cNvPr id="18" name="Q3 text"/>
          <p:cNvSpPr/>
          <p:nvPr>
            <p:ph idx="116" type="body" hasCustomPrompt="1"/>
          </p:nvPr>
        </p:nvSpPr>
        <p:spPr>
          <a:xfrm>
            <a:off x="508041" y="4495830"/>
            <a:ext cx="5486400" cy="1015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0000"/>
              </a:lnSpc>
              <a:buNone/>
              <a:defRPr lang="en-US" sz="1700" i="1" dirty="0">
                <a:solidFill>
                  <a:srgbClr val="001E60"/>
                </a:solidFill>
                <a:latin typeface="Everyday Sans Light" pitchFamily="34" charset="0"/>
                <a:ea typeface="Everyday Sans Light" pitchFamily="34" charset="-122"/>
                <a:cs typeface="Everyday Sans Light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001E60"/>
                </a:solidFill>
                <a:latin typeface="Everyday Sans Light" pitchFamily="34" charset="0"/>
                <a:ea typeface="Everyday Sans Light" pitchFamily="34" charset="-122"/>
                <a:cs typeface="Everyday Sans Light" pitchFamily="34" charset="-120"/>
              </a:rPr>
              <a:t>“Verbatim quote, trimmed but never reworded.”</a:t>
            </a:r>
            <a:endParaRPr lang="en-US" sz="1700" dirty="0"/>
          </a:p>
        </p:txBody>
      </p:sp>
      <p:sp>
        <p:nvSpPr>
          <p:cNvPr id="19" name="Q3 attr"/>
          <p:cNvSpPr/>
          <p:nvPr>
            <p:ph idx="117" type="body" hasCustomPrompt="1"/>
          </p:nvPr>
        </p:nvSpPr>
        <p:spPr>
          <a:xfrm>
            <a:off x="508041" y="5562570"/>
            <a:ext cx="548640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ROLE · SEGMENT</a:t>
            </a:r>
            <a:endParaRPr lang="en-US" sz="800" dirty="0"/>
          </a:p>
        </p:txBody>
      </p:sp>
      <p:sp>
        <p:nvSpPr>
          <p:cNvPr id="20" name="Shape 4"/>
          <p:cNvSpPr/>
          <p:nvPr/>
        </p:nvSpPr>
        <p:spPr>
          <a:xfrm>
            <a:off x="6197620" y="4216390"/>
            <a:ext cx="5486400" cy="0"/>
          </a:xfrm>
          <a:prstGeom prst="line">
            <a:avLst/>
          </a:prstGeom>
          <a:noFill/>
          <a:ln w="9525">
            <a:solidFill>
              <a:srgbClr val="DEE1E6"/>
            </a:solidFill>
            <a:prstDash val="solid"/>
          </a:ln>
        </p:spPr>
      </p:sp>
      <p:sp>
        <p:nvSpPr>
          <p:cNvPr id="21" name="Q4 theme"/>
          <p:cNvSpPr/>
          <p:nvPr>
            <p:ph idx="119" type="body" hasCustomPrompt="1"/>
          </p:nvPr>
        </p:nvSpPr>
        <p:spPr>
          <a:xfrm>
            <a:off x="6197620" y="4317980"/>
            <a:ext cx="548640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THEME</a:t>
            </a:r>
            <a:endParaRPr lang="en-US" sz="800" dirty="0"/>
          </a:p>
        </p:txBody>
      </p:sp>
      <p:sp>
        <p:nvSpPr>
          <p:cNvPr id="22" name="Q4 text"/>
          <p:cNvSpPr/>
          <p:nvPr>
            <p:ph idx="120" type="body" hasCustomPrompt="1"/>
          </p:nvPr>
        </p:nvSpPr>
        <p:spPr>
          <a:xfrm>
            <a:off x="6197620" y="4495830"/>
            <a:ext cx="5486400" cy="1015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0000"/>
              </a:lnSpc>
              <a:buNone/>
              <a:defRPr lang="en-US" sz="1700" i="1" dirty="0">
                <a:solidFill>
                  <a:srgbClr val="001E60"/>
                </a:solidFill>
                <a:latin typeface="Everyday Sans Light" pitchFamily="34" charset="0"/>
                <a:ea typeface="Everyday Sans Light" pitchFamily="34" charset="-122"/>
                <a:cs typeface="Everyday Sans Light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001E60"/>
                </a:solidFill>
                <a:latin typeface="Everyday Sans Light" pitchFamily="34" charset="0"/>
                <a:ea typeface="Everyday Sans Light" pitchFamily="34" charset="-122"/>
                <a:cs typeface="Everyday Sans Light" pitchFamily="34" charset="-120"/>
              </a:rPr>
              <a:t>“Verbatim quote, trimmed but never reworded.”</a:t>
            </a:r>
            <a:endParaRPr lang="en-US" sz="1700" dirty="0"/>
          </a:p>
        </p:txBody>
      </p:sp>
      <p:sp>
        <p:nvSpPr>
          <p:cNvPr id="23" name="Q4 attr"/>
          <p:cNvSpPr/>
          <p:nvPr>
            <p:ph idx="121" type="body" hasCustomPrompt="1"/>
          </p:nvPr>
        </p:nvSpPr>
        <p:spPr>
          <a:xfrm>
            <a:off x="6197620" y="5562570"/>
            <a:ext cx="548640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ROLE · SEGMENT</a:t>
            </a:r>
            <a:endParaRPr lang="en-US" sz="800" dirty="0"/>
          </a:p>
        </p:txBody>
      </p:sp>
      <p:sp>
        <p:nvSpPr>
          <p:cNvPr id="24" name="Source"/>
          <p:cNvSpPr/>
          <p:nvPr>
            <p:ph idx="122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buNone/>
              <a:def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Source: name, date range, sample size. Delete if not needed.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1029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 Screenshot — Hero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EYEBROW · CONTEXT LABEL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r" indent="0" marL="0">
              <a:buNone/>
              <a:def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SECTION NAME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6426220"/>
            <a:ext cx="139720" cy="1397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23930" y="6438930"/>
            <a:ext cx="38100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Walmart Ads</a:t>
            </a:r>
            <a:endParaRPr lang="en-US" sz="800" dirty="0"/>
          </a:p>
        </p:txBody>
      </p:sp>
      <p:sp>
        <p:nvSpPr>
          <p:cNvPr id="6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lnSpc>
                <a:spcPct val="110000"/>
              </a:lnSpc>
              <a:buNone/>
              <a:def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Headline states the takeaway, not the topic</a:t>
            </a:r>
            <a:endParaRPr lang="en-US" sz="2800" dirty="0"/>
          </a:p>
        </p:txBody>
      </p:sp>
      <p:sp>
        <p:nvSpPr>
          <p:cNvPr id="7" name="Shape 1"/>
          <p:cNvSpPr/>
          <p:nvPr/>
        </p:nvSpPr>
        <p:spPr>
          <a:xfrm>
            <a:off x="508041" y="1981230"/>
            <a:ext cx="11175980" cy="3962370"/>
          </a:xfrm>
          <a:prstGeom prst="rect">
            <a:avLst>
              <a:gd name="adj" fmla="val 1922"/>
            </a:avLst>
          </a:prstGeom>
          <a:solidFill>
            <a:srgbClr val="E9EEF3"/>
          </a:solidFill>
          <a:ln/>
        </p:spPr>
      </p:sp>
      <p:sp>
        <p:nvSpPr>
          <p:cNvPr id="8" name="Picture"/>
          <p:cNvSpPr/>
          <p:nvPr>
            <p:ph idx="106" hasCustomPrompt="1"/>
          </p:nvPr>
        </p:nvSpPr>
        <p:spPr>
          <a:xfrm>
            <a:off x="812810" y="2184410"/>
            <a:ext cx="10566441" cy="3556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200" dirty="0"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Drop a screenshot here</a:t>
            </a:r>
            <a:endParaRPr lang="en-US" sz="1200" dirty="0"/>
          </a:p>
        </p:txBody>
      </p:sp>
      <p:sp>
        <p:nvSpPr>
          <p:cNvPr id="9" name="Source"/>
          <p:cNvSpPr/>
          <p:nvPr>
            <p:ph idx="107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buNone/>
              <a:def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Source: name, date range, sample size. Delete if not needed.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1030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 Screenshot + Annotations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EYEBROW · CONTEXT LABEL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r" indent="0" marL="0">
              <a:buNone/>
              <a:def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SECTION NAME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6426220"/>
            <a:ext cx="139720" cy="1397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23930" y="6438930"/>
            <a:ext cx="38100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Walmart Ads</a:t>
            </a:r>
            <a:endParaRPr lang="en-US" sz="800" dirty="0"/>
          </a:p>
        </p:txBody>
      </p:sp>
      <p:sp>
        <p:nvSpPr>
          <p:cNvPr id="6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lnSpc>
                <a:spcPct val="110000"/>
              </a:lnSpc>
              <a:buNone/>
              <a:def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Headline states the takeaway, not the topic</a:t>
            </a:r>
            <a:endParaRPr lang="en-US" sz="2800" dirty="0"/>
          </a:p>
        </p:txBody>
      </p:sp>
      <p:sp>
        <p:nvSpPr>
          <p:cNvPr id="7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Optional supporting line: context, scope or the one fact the headline rests on.</a:t>
            </a:r>
            <a:endParaRPr lang="en-US" sz="1400" dirty="0"/>
          </a:p>
        </p:txBody>
      </p:sp>
      <p:sp>
        <p:nvSpPr>
          <p:cNvPr id="8" name="Shape 1"/>
          <p:cNvSpPr/>
          <p:nvPr/>
        </p:nvSpPr>
        <p:spPr>
          <a:xfrm>
            <a:off x="508041" y="2438430"/>
            <a:ext cx="7382957" cy="3505170"/>
          </a:xfrm>
          <a:prstGeom prst="rect">
            <a:avLst>
              <a:gd name="adj" fmla="val 2173"/>
            </a:avLst>
          </a:prstGeom>
          <a:solidFill>
            <a:srgbClr val="E9EEF3"/>
          </a:solidFill>
          <a:ln/>
        </p:spPr>
      </p:sp>
      <p:sp>
        <p:nvSpPr>
          <p:cNvPr id="9" name="Picture"/>
          <p:cNvSpPr/>
          <p:nvPr>
            <p:ph idx="107" hasCustomPrompt="1"/>
          </p:nvPr>
        </p:nvSpPr>
        <p:spPr>
          <a:xfrm>
            <a:off x="711220" y="2641610"/>
            <a:ext cx="6976506" cy="3098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200" dirty="0"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Drop a screenshot here</a:t>
            </a:r>
            <a:endParaRPr lang="en-US" sz="1200" dirty="0"/>
          </a:p>
        </p:txBody>
      </p:sp>
      <p:sp>
        <p:nvSpPr>
          <p:cNvPr id="10" name="Shape 2"/>
          <p:cNvSpPr/>
          <p:nvPr/>
        </p:nvSpPr>
        <p:spPr>
          <a:xfrm>
            <a:off x="8094177" y="2438430"/>
            <a:ext cx="3589843" cy="0"/>
          </a:xfrm>
          <a:prstGeom prst="line">
            <a:avLst/>
          </a:prstGeom>
          <a:noFill/>
          <a:ln w="9525">
            <a:solidFill>
              <a:srgbClr val="DEE1E6"/>
            </a:solidFill>
            <a:prstDash val="solid"/>
          </a:ln>
        </p:spPr>
      </p:sp>
      <p:sp>
        <p:nvSpPr>
          <p:cNvPr id="11" name="Text 3"/>
          <p:cNvSpPr/>
          <p:nvPr/>
        </p:nvSpPr>
        <p:spPr>
          <a:xfrm>
            <a:off x="8094177" y="2565441"/>
            <a:ext cx="203180" cy="203180"/>
          </a:xfrm>
          <a:prstGeom prst="ellipse">
            <a:avLst/>
          </a:prstGeom>
          <a:solidFill>
            <a:srgbClr val="0053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A1 title"/>
          <p:cNvSpPr/>
          <p:nvPr>
            <p:ph idx="110" type="body" hasCustomPrompt="1"/>
          </p:nvPr>
        </p:nvSpPr>
        <p:spPr>
          <a:xfrm>
            <a:off x="8398947" y="2578059"/>
            <a:ext cx="3285073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What to notice</a:t>
            </a:r>
            <a:endParaRPr lang="en-US" sz="1400" dirty="0"/>
          </a:p>
        </p:txBody>
      </p:sp>
      <p:sp>
        <p:nvSpPr>
          <p:cNvPr id="13" name="A1 body"/>
          <p:cNvSpPr/>
          <p:nvPr>
            <p:ph idx="111" type="body" hasCustomPrompt="1"/>
          </p:nvPr>
        </p:nvSpPr>
        <p:spPr>
          <a:xfrm>
            <a:off x="8398947" y="2806659"/>
            <a:ext cx="3285073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Why it matters for the advertiser.</a:t>
            </a:r>
            <a:endParaRPr lang="en-US" sz="1050" dirty="0"/>
          </a:p>
        </p:txBody>
      </p:sp>
      <p:sp>
        <p:nvSpPr>
          <p:cNvPr id="14" name="Shape 4"/>
          <p:cNvSpPr/>
          <p:nvPr/>
        </p:nvSpPr>
        <p:spPr>
          <a:xfrm>
            <a:off x="8094177" y="3606759"/>
            <a:ext cx="3589843" cy="0"/>
          </a:xfrm>
          <a:prstGeom prst="line">
            <a:avLst/>
          </a:prstGeom>
          <a:noFill/>
          <a:ln w="9525">
            <a:solidFill>
              <a:srgbClr val="DEE1E6"/>
            </a:solidFill>
            <a:prstDash val="solid"/>
          </a:ln>
        </p:spPr>
      </p:sp>
      <p:sp>
        <p:nvSpPr>
          <p:cNvPr id="15" name="Text 5"/>
          <p:cNvSpPr/>
          <p:nvPr/>
        </p:nvSpPr>
        <p:spPr>
          <a:xfrm>
            <a:off x="8094177" y="3733770"/>
            <a:ext cx="203180" cy="203180"/>
          </a:xfrm>
          <a:prstGeom prst="ellipse">
            <a:avLst/>
          </a:prstGeom>
          <a:solidFill>
            <a:srgbClr val="0053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A2 title"/>
          <p:cNvSpPr/>
          <p:nvPr>
            <p:ph idx="114" type="body" hasCustomPrompt="1"/>
          </p:nvPr>
        </p:nvSpPr>
        <p:spPr>
          <a:xfrm>
            <a:off x="8398947" y="3746480"/>
            <a:ext cx="3285073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What to notice</a:t>
            </a:r>
            <a:endParaRPr lang="en-US" sz="1400" dirty="0"/>
          </a:p>
        </p:txBody>
      </p:sp>
      <p:sp>
        <p:nvSpPr>
          <p:cNvPr id="17" name="A2 body"/>
          <p:cNvSpPr/>
          <p:nvPr>
            <p:ph idx="115" type="body" hasCustomPrompt="1"/>
          </p:nvPr>
        </p:nvSpPr>
        <p:spPr>
          <a:xfrm>
            <a:off x="8398947" y="3975080"/>
            <a:ext cx="3285073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Why it matters for the advertiser.</a:t>
            </a:r>
            <a:endParaRPr lang="en-US" sz="1050" dirty="0"/>
          </a:p>
        </p:txBody>
      </p:sp>
      <p:sp>
        <p:nvSpPr>
          <p:cNvPr id="18" name="Shape 6"/>
          <p:cNvSpPr/>
          <p:nvPr/>
        </p:nvSpPr>
        <p:spPr>
          <a:xfrm>
            <a:off x="8094177" y="4775180"/>
            <a:ext cx="3589843" cy="0"/>
          </a:xfrm>
          <a:prstGeom prst="line">
            <a:avLst/>
          </a:prstGeom>
          <a:noFill/>
          <a:ln w="9525">
            <a:solidFill>
              <a:srgbClr val="DEE1E6"/>
            </a:solidFill>
            <a:prstDash val="solid"/>
          </a:ln>
        </p:spPr>
      </p:sp>
      <p:sp>
        <p:nvSpPr>
          <p:cNvPr id="19" name="Text 7"/>
          <p:cNvSpPr/>
          <p:nvPr/>
        </p:nvSpPr>
        <p:spPr>
          <a:xfrm>
            <a:off x="8094177" y="4902190"/>
            <a:ext cx="203180" cy="203180"/>
          </a:xfrm>
          <a:prstGeom prst="ellipse">
            <a:avLst/>
          </a:prstGeom>
          <a:solidFill>
            <a:srgbClr val="0053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A3 title"/>
          <p:cNvSpPr/>
          <p:nvPr>
            <p:ph idx="118" type="body" hasCustomPrompt="1"/>
          </p:nvPr>
        </p:nvSpPr>
        <p:spPr>
          <a:xfrm>
            <a:off x="8398947" y="4914900"/>
            <a:ext cx="3285073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What to notice</a:t>
            </a:r>
            <a:endParaRPr lang="en-US" sz="1400" dirty="0"/>
          </a:p>
        </p:txBody>
      </p:sp>
      <p:sp>
        <p:nvSpPr>
          <p:cNvPr id="21" name="A3 body"/>
          <p:cNvSpPr/>
          <p:nvPr>
            <p:ph idx="119" type="body" hasCustomPrompt="1"/>
          </p:nvPr>
        </p:nvSpPr>
        <p:spPr>
          <a:xfrm>
            <a:off x="8398947" y="5143500"/>
            <a:ext cx="3285073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Why it matters for the advertiser.</a:t>
            </a:r>
            <a:endParaRPr lang="en-US" sz="1050" dirty="0"/>
          </a:p>
        </p:txBody>
      </p:sp>
      <p:sp>
        <p:nvSpPr>
          <p:cNvPr id="22" name="Source"/>
          <p:cNvSpPr/>
          <p:nvPr>
            <p:ph idx="120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buNone/>
              <a:def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Source: name, date range, sample size. Delete if not needed.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1031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 Recommendation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EYEBROW · CONTEXT LABEL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r" indent="0" marL="0">
              <a:buNone/>
              <a:def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SECTION NAME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6426220"/>
            <a:ext cx="139720" cy="1397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23930" y="6438930"/>
            <a:ext cx="38100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Walmart Ads</a:t>
            </a:r>
            <a:endParaRPr lang="en-US" sz="800" dirty="0"/>
          </a:p>
        </p:txBody>
      </p:sp>
      <p:sp>
        <p:nvSpPr>
          <p:cNvPr id="6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lnSpc>
                <a:spcPct val="110000"/>
              </a:lnSpc>
              <a:buNone/>
              <a:def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Headline states the takeaway, not the topic</a:t>
            </a:r>
            <a:endParaRPr lang="en-US" sz="2800" dirty="0"/>
          </a:p>
        </p:txBody>
      </p:sp>
      <p:sp>
        <p:nvSpPr>
          <p:cNvPr id="7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Optional supporting line: context, scope or the one fact the headline rests on.</a:t>
            </a:r>
            <a:endParaRPr lang="en-US" sz="1400" dirty="0"/>
          </a:p>
        </p:txBody>
      </p:sp>
      <p:sp>
        <p:nvSpPr>
          <p:cNvPr id="8" name="Shape 1"/>
          <p:cNvSpPr/>
          <p:nvPr/>
        </p:nvSpPr>
        <p:spPr>
          <a:xfrm>
            <a:off x="508041" y="2438430"/>
            <a:ext cx="6434633" cy="0"/>
          </a:xfrm>
          <a:prstGeom prst="line">
            <a:avLst/>
          </a:prstGeom>
          <a:noFill/>
          <a:ln w="19050">
            <a:solidFill>
              <a:srgbClr val="0053E2"/>
            </a:solidFill>
            <a:prstDash val="solid"/>
          </a:ln>
        </p:spPr>
      </p:sp>
      <p:sp>
        <p:nvSpPr>
          <p:cNvPr id="9" name="Rec label"/>
          <p:cNvSpPr/>
          <p:nvPr>
            <p:ph idx="107" type="body" hasCustomPrompt="1"/>
          </p:nvPr>
        </p:nvSpPr>
        <p:spPr>
          <a:xfrm>
            <a:off x="508041" y="2540020"/>
            <a:ext cx="643463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RECOMMENDATION</a:t>
            </a:r>
            <a:endParaRPr lang="en-US" sz="800" dirty="0"/>
          </a:p>
        </p:txBody>
      </p:sp>
      <p:sp>
        <p:nvSpPr>
          <p:cNvPr id="10" name="Rec"/>
          <p:cNvSpPr/>
          <p:nvPr>
            <p:ph idx="108" type="body" hasCustomPrompt="1"/>
          </p:nvPr>
        </p:nvSpPr>
        <p:spPr>
          <a:xfrm>
            <a:off x="508041" y="2743200"/>
            <a:ext cx="6434633" cy="127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2000"/>
              </a:lnSpc>
              <a:buNone/>
              <a:defRPr lang="en-US" sz="2800" spc="-8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12000"/>
              </a:lnSpc>
              <a:buNone/>
            </a:pPr>
            <a:r>
              <a:rPr lang="en-US" sz="2800" spc="-8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We recommend one specific thing, for one reason.</a:t>
            </a:r>
            <a:endParaRPr lang="en-US" sz="2800" dirty="0"/>
          </a:p>
        </p:txBody>
      </p:sp>
      <p:sp>
        <p:nvSpPr>
          <p:cNvPr id="11" name="Rec body"/>
          <p:cNvSpPr/>
          <p:nvPr>
            <p:ph idx="109" type="body" hasCustomPrompt="1"/>
          </p:nvPr>
        </p:nvSpPr>
        <p:spPr>
          <a:xfrm>
            <a:off x="508041" y="4343400"/>
            <a:ext cx="6434633" cy="146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Rationale, the tradeoff we accept, and what we will not do.</a:t>
            </a:r>
            <a:endParaRPr lang="en-US" sz="1200" dirty="0"/>
          </a:p>
        </p:txBody>
      </p:sp>
      <p:sp>
        <p:nvSpPr>
          <p:cNvPr id="12" name="Shape 2"/>
          <p:cNvSpPr/>
          <p:nvPr/>
        </p:nvSpPr>
        <p:spPr>
          <a:xfrm>
            <a:off x="8094177" y="2438430"/>
            <a:ext cx="3589843" cy="3505170"/>
          </a:xfrm>
          <a:prstGeom prst="rect">
            <a:avLst>
              <a:gd name="adj" fmla="val 2173"/>
            </a:avLst>
          </a:prstGeom>
          <a:solidFill>
            <a:srgbClr val="001E60"/>
          </a:solidFill>
          <a:ln/>
        </p:spPr>
      </p:sp>
      <p:sp>
        <p:nvSpPr>
          <p:cNvPr id="13" name="Dec label"/>
          <p:cNvSpPr/>
          <p:nvPr>
            <p:ph idx="111" type="body" hasCustomPrompt="1"/>
          </p:nvPr>
        </p:nvSpPr>
        <p:spPr>
          <a:xfrm>
            <a:off x="8297357" y="2641610"/>
            <a:ext cx="3183484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4DBDF5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4DBDF5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DECISION NEEDED</a:t>
            </a:r>
            <a:endParaRPr lang="en-US" sz="800" dirty="0"/>
          </a:p>
        </p:txBody>
      </p:sp>
      <p:sp>
        <p:nvSpPr>
          <p:cNvPr id="14" name="Dec"/>
          <p:cNvSpPr/>
          <p:nvPr>
            <p:ph idx="112" type="body" hasCustomPrompt="1"/>
          </p:nvPr>
        </p:nvSpPr>
        <p:spPr>
          <a:xfrm>
            <a:off x="8297357" y="2844790"/>
            <a:ext cx="3183484" cy="127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2000" spc="-30" kern="0" dirty="0">
                <a:solidFill>
                  <a:srgbClr val="FFFFFF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2000" spc="-30" kern="0" dirty="0">
                <a:solidFill>
                  <a:srgbClr val="FFFFFF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The yes / no question the room answers today.</a:t>
            </a:r>
            <a:endParaRPr lang="en-US" sz="2000" dirty="0"/>
          </a:p>
        </p:txBody>
      </p:sp>
      <p:sp>
        <p:nvSpPr>
          <p:cNvPr id="15" name="Shape 3"/>
          <p:cNvSpPr/>
          <p:nvPr/>
        </p:nvSpPr>
        <p:spPr>
          <a:xfrm>
            <a:off x="8297357" y="4343400"/>
            <a:ext cx="3183484" cy="0"/>
          </a:xfrm>
          <a:prstGeom prst="line">
            <a:avLst/>
          </a:prstGeom>
          <a:noFill/>
          <a:ln w="9525">
            <a:solidFill>
              <a:srgbClr val="4A5E8C"/>
            </a:solidFill>
            <a:prstDash val="solid"/>
          </a:ln>
        </p:spPr>
      </p:sp>
      <p:sp>
        <p:nvSpPr>
          <p:cNvPr id="16" name="Owner label"/>
          <p:cNvSpPr/>
          <p:nvPr>
            <p:ph idx="114" type="body" hasCustomPrompt="1"/>
          </p:nvPr>
        </p:nvSpPr>
        <p:spPr>
          <a:xfrm>
            <a:off x="8297357" y="4470410"/>
            <a:ext cx="3183484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4DBDF5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4DBDF5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OWNER</a:t>
            </a:r>
            <a:endParaRPr lang="en-US" sz="800" dirty="0"/>
          </a:p>
        </p:txBody>
      </p:sp>
      <p:sp>
        <p:nvSpPr>
          <p:cNvPr id="17" name="Owner"/>
          <p:cNvSpPr/>
          <p:nvPr>
            <p:ph idx="115" type="body" hasCustomPrompt="1"/>
          </p:nvPr>
        </p:nvSpPr>
        <p:spPr>
          <a:xfrm>
            <a:off x="8297357" y="4635459"/>
            <a:ext cx="3183484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200" dirty="0">
                <a:solidFill>
                  <a:srgbClr val="FFFF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Name, role</a:t>
            </a:r>
            <a:endParaRPr lang="en-US" sz="1200" dirty="0"/>
          </a:p>
        </p:txBody>
      </p:sp>
      <p:sp>
        <p:nvSpPr>
          <p:cNvPr id="18" name="By label"/>
          <p:cNvSpPr/>
          <p:nvPr>
            <p:ph idx="116" type="body" hasCustomPrompt="1"/>
          </p:nvPr>
        </p:nvSpPr>
        <p:spPr>
          <a:xfrm>
            <a:off x="8297357" y="4978359"/>
            <a:ext cx="3183484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4DBDF5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4DBDF5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NEEDED BY</a:t>
            </a:r>
            <a:endParaRPr lang="en-US" sz="800" dirty="0"/>
          </a:p>
        </p:txBody>
      </p:sp>
      <p:sp>
        <p:nvSpPr>
          <p:cNvPr id="19" name="By"/>
          <p:cNvSpPr/>
          <p:nvPr>
            <p:ph idx="117" type="body" hasCustomPrompt="1"/>
          </p:nvPr>
        </p:nvSpPr>
        <p:spPr>
          <a:xfrm>
            <a:off x="8297357" y="5143500"/>
            <a:ext cx="3183484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200" dirty="0">
                <a:solidFill>
                  <a:srgbClr val="FFFF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Date, and what slips if it is late</a:t>
            </a:r>
            <a:endParaRPr lang="en-US" sz="1200" dirty="0"/>
          </a:p>
        </p:txBody>
      </p:sp>
      <p:sp>
        <p:nvSpPr>
          <p:cNvPr id="20" name="Source"/>
          <p:cNvSpPr/>
          <p:nvPr>
            <p:ph idx="118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buNone/>
              <a:def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Source: name, date range, sample size. Delete if not needed.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1032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 Options —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EYEBROW · CONTEXT LABEL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r" indent="0" marL="0">
              <a:buNone/>
              <a:def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SECTION NAME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6426220"/>
            <a:ext cx="139720" cy="1397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23930" y="6438930"/>
            <a:ext cx="38100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Walmart Ads</a:t>
            </a:r>
            <a:endParaRPr lang="en-US" sz="800" dirty="0"/>
          </a:p>
        </p:txBody>
      </p:sp>
      <p:sp>
        <p:nvSpPr>
          <p:cNvPr id="6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lnSpc>
                <a:spcPct val="110000"/>
              </a:lnSpc>
              <a:buNone/>
              <a:def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Headline states the takeaway, not the topic</a:t>
            </a:r>
            <a:endParaRPr lang="en-US" sz="2800" dirty="0"/>
          </a:p>
        </p:txBody>
      </p:sp>
      <p:sp>
        <p:nvSpPr>
          <p:cNvPr id="7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Optional supporting line: context, scope or the one fact the headline rests on.</a:t>
            </a:r>
            <a:endParaRPr lang="en-US" sz="1400" dirty="0"/>
          </a:p>
        </p:txBody>
      </p:sp>
      <p:sp>
        <p:nvSpPr>
          <p:cNvPr id="8" name="Shape 1"/>
          <p:cNvSpPr/>
          <p:nvPr/>
        </p:nvSpPr>
        <p:spPr>
          <a:xfrm>
            <a:off x="508041" y="2438430"/>
            <a:ext cx="3589843" cy="0"/>
          </a:xfrm>
          <a:prstGeom prst="line">
            <a:avLst/>
          </a:prstGeom>
          <a:noFill/>
          <a:ln w="19050">
            <a:solidFill>
              <a:srgbClr val="0053E2"/>
            </a:solidFill>
            <a:prstDash val="solid"/>
          </a:ln>
        </p:spPr>
      </p:sp>
      <p:sp>
        <p:nvSpPr>
          <p:cNvPr id="9" name="O1 label"/>
          <p:cNvSpPr/>
          <p:nvPr>
            <p:ph idx="107" type="body" hasCustomPrompt="1"/>
          </p:nvPr>
        </p:nvSpPr>
        <p:spPr>
          <a:xfrm>
            <a:off x="508041" y="2540020"/>
            <a:ext cx="358984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LABEL</a:t>
            </a:r>
            <a:endParaRPr lang="en-US" sz="800" dirty="0"/>
          </a:p>
        </p:txBody>
      </p:sp>
      <p:sp>
        <p:nvSpPr>
          <p:cNvPr id="10" name="O1 title"/>
          <p:cNvSpPr/>
          <p:nvPr>
            <p:ph idx="108" type="body" hasCustomPrompt="1"/>
          </p:nvPr>
        </p:nvSpPr>
        <p:spPr>
          <a:xfrm>
            <a:off x="508041" y="2717780"/>
            <a:ext cx="35898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Module title</a:t>
            </a:r>
            <a:endParaRPr lang="en-US" sz="1800" dirty="0"/>
          </a:p>
        </p:txBody>
      </p:sp>
      <p:sp>
        <p:nvSpPr>
          <p:cNvPr id="11" name="O1 body"/>
          <p:cNvSpPr/>
          <p:nvPr>
            <p:ph idx="109" type="body" hasCustomPrompt="1"/>
          </p:nvPr>
        </p:nvSpPr>
        <p:spPr>
          <a:xfrm>
            <a:off x="508041" y="3225820"/>
            <a:ext cx="3589843" cy="111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One to three sentences. Keep peers to the same length so the row stays even.</a:t>
            </a:r>
            <a:endParaRPr lang="en-US" sz="1200" dirty="0"/>
          </a:p>
        </p:txBody>
      </p:sp>
      <p:sp>
        <p:nvSpPr>
          <p:cNvPr id="12" name="Shape 2"/>
          <p:cNvSpPr/>
          <p:nvPr/>
        </p:nvSpPr>
        <p:spPr>
          <a:xfrm>
            <a:off x="508041" y="4470410"/>
            <a:ext cx="3589843" cy="0"/>
          </a:xfrm>
          <a:prstGeom prst="line">
            <a:avLst/>
          </a:prstGeom>
          <a:noFill/>
          <a:ln w="9525">
            <a:solidFill>
              <a:srgbClr val="DEE1E6"/>
            </a:solidFill>
            <a:prstDash val="solid"/>
          </a:ln>
        </p:spPr>
      </p:sp>
      <p:sp>
        <p:nvSpPr>
          <p:cNvPr id="13" name="O1 trade label"/>
          <p:cNvSpPr/>
          <p:nvPr>
            <p:ph idx="111" type="body" hasCustomPrompt="1"/>
          </p:nvPr>
        </p:nvSpPr>
        <p:spPr>
          <a:xfrm>
            <a:off x="508041" y="4572000"/>
            <a:ext cx="358984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TRADEOFF</a:t>
            </a:r>
            <a:endParaRPr lang="en-US" sz="800" dirty="0"/>
          </a:p>
        </p:txBody>
      </p:sp>
      <p:sp>
        <p:nvSpPr>
          <p:cNvPr id="14" name="O1 trade"/>
          <p:cNvSpPr/>
          <p:nvPr>
            <p:ph idx="112" type="body" hasCustomPrompt="1"/>
          </p:nvPr>
        </p:nvSpPr>
        <p:spPr>
          <a:xfrm>
            <a:off x="508041" y="4737141"/>
            <a:ext cx="358984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What we give up if we choose this.</a:t>
            </a:r>
            <a:endParaRPr lang="en-US" sz="1050" dirty="0"/>
          </a:p>
        </p:txBody>
      </p:sp>
      <p:sp>
        <p:nvSpPr>
          <p:cNvPr id="15" name="Shape 3"/>
          <p:cNvSpPr/>
          <p:nvPr/>
        </p:nvSpPr>
        <p:spPr>
          <a:xfrm>
            <a:off x="4301063" y="2438430"/>
            <a:ext cx="3589843" cy="0"/>
          </a:xfrm>
          <a:prstGeom prst="line">
            <a:avLst/>
          </a:prstGeom>
          <a:noFill/>
          <a:ln w="19050">
            <a:solidFill>
              <a:srgbClr val="0053E2"/>
            </a:solidFill>
            <a:prstDash val="solid"/>
          </a:ln>
        </p:spPr>
      </p:sp>
      <p:sp>
        <p:nvSpPr>
          <p:cNvPr id="16" name="O2 label"/>
          <p:cNvSpPr/>
          <p:nvPr>
            <p:ph idx="114" type="body" hasCustomPrompt="1"/>
          </p:nvPr>
        </p:nvSpPr>
        <p:spPr>
          <a:xfrm>
            <a:off x="4301063" y="2540020"/>
            <a:ext cx="358984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LABEL</a:t>
            </a:r>
            <a:endParaRPr lang="en-US" sz="800" dirty="0"/>
          </a:p>
        </p:txBody>
      </p:sp>
      <p:sp>
        <p:nvSpPr>
          <p:cNvPr id="17" name="O2 title"/>
          <p:cNvSpPr/>
          <p:nvPr>
            <p:ph idx="115" type="body" hasCustomPrompt="1"/>
          </p:nvPr>
        </p:nvSpPr>
        <p:spPr>
          <a:xfrm>
            <a:off x="4301063" y="2717780"/>
            <a:ext cx="35898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Module title</a:t>
            </a:r>
            <a:endParaRPr lang="en-US" sz="1800" dirty="0"/>
          </a:p>
        </p:txBody>
      </p:sp>
      <p:sp>
        <p:nvSpPr>
          <p:cNvPr id="18" name="O2 body"/>
          <p:cNvSpPr/>
          <p:nvPr>
            <p:ph idx="116" type="body" hasCustomPrompt="1"/>
          </p:nvPr>
        </p:nvSpPr>
        <p:spPr>
          <a:xfrm>
            <a:off x="4301063" y="3225820"/>
            <a:ext cx="3589843" cy="111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One to three sentences. Keep peers to the same length so the row stays even.</a:t>
            </a:r>
            <a:endParaRPr lang="en-US" sz="1200" dirty="0"/>
          </a:p>
        </p:txBody>
      </p:sp>
      <p:sp>
        <p:nvSpPr>
          <p:cNvPr id="19" name="Shape 4"/>
          <p:cNvSpPr/>
          <p:nvPr/>
        </p:nvSpPr>
        <p:spPr>
          <a:xfrm>
            <a:off x="4301063" y="4470410"/>
            <a:ext cx="3589843" cy="0"/>
          </a:xfrm>
          <a:prstGeom prst="line">
            <a:avLst/>
          </a:prstGeom>
          <a:noFill/>
          <a:ln w="9525">
            <a:solidFill>
              <a:srgbClr val="DEE1E6"/>
            </a:solidFill>
            <a:prstDash val="solid"/>
          </a:ln>
        </p:spPr>
      </p:sp>
      <p:sp>
        <p:nvSpPr>
          <p:cNvPr id="20" name="O2 trade label"/>
          <p:cNvSpPr/>
          <p:nvPr>
            <p:ph idx="118" type="body" hasCustomPrompt="1"/>
          </p:nvPr>
        </p:nvSpPr>
        <p:spPr>
          <a:xfrm>
            <a:off x="4301063" y="4572000"/>
            <a:ext cx="358984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TRADEOFF</a:t>
            </a:r>
            <a:endParaRPr lang="en-US" sz="800" dirty="0"/>
          </a:p>
        </p:txBody>
      </p:sp>
      <p:sp>
        <p:nvSpPr>
          <p:cNvPr id="21" name="O2 trade"/>
          <p:cNvSpPr/>
          <p:nvPr>
            <p:ph idx="119" type="body" hasCustomPrompt="1"/>
          </p:nvPr>
        </p:nvSpPr>
        <p:spPr>
          <a:xfrm>
            <a:off x="4301063" y="4737141"/>
            <a:ext cx="358984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What we give up if we choose this.</a:t>
            </a:r>
            <a:endParaRPr lang="en-US" sz="1050" dirty="0"/>
          </a:p>
        </p:txBody>
      </p:sp>
      <p:sp>
        <p:nvSpPr>
          <p:cNvPr id="22" name="Shape 5"/>
          <p:cNvSpPr/>
          <p:nvPr/>
        </p:nvSpPr>
        <p:spPr>
          <a:xfrm>
            <a:off x="8094177" y="2438430"/>
            <a:ext cx="3589843" cy="0"/>
          </a:xfrm>
          <a:prstGeom prst="line">
            <a:avLst/>
          </a:prstGeom>
          <a:noFill/>
          <a:ln w="19050">
            <a:solidFill>
              <a:srgbClr val="0053E2"/>
            </a:solidFill>
            <a:prstDash val="solid"/>
          </a:ln>
        </p:spPr>
      </p:sp>
      <p:sp>
        <p:nvSpPr>
          <p:cNvPr id="23" name="O3 label"/>
          <p:cNvSpPr/>
          <p:nvPr>
            <p:ph idx="121" type="body" hasCustomPrompt="1"/>
          </p:nvPr>
        </p:nvSpPr>
        <p:spPr>
          <a:xfrm>
            <a:off x="8094177" y="2540020"/>
            <a:ext cx="358984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LABEL</a:t>
            </a:r>
            <a:endParaRPr lang="en-US" sz="800" dirty="0"/>
          </a:p>
        </p:txBody>
      </p:sp>
      <p:sp>
        <p:nvSpPr>
          <p:cNvPr id="24" name="O3 title"/>
          <p:cNvSpPr/>
          <p:nvPr>
            <p:ph idx="122" type="body" hasCustomPrompt="1"/>
          </p:nvPr>
        </p:nvSpPr>
        <p:spPr>
          <a:xfrm>
            <a:off x="8094177" y="2717780"/>
            <a:ext cx="35898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Module title</a:t>
            </a:r>
            <a:endParaRPr lang="en-US" sz="1800" dirty="0"/>
          </a:p>
        </p:txBody>
      </p:sp>
      <p:sp>
        <p:nvSpPr>
          <p:cNvPr id="25" name="O3 body"/>
          <p:cNvSpPr/>
          <p:nvPr>
            <p:ph idx="123" type="body" hasCustomPrompt="1"/>
          </p:nvPr>
        </p:nvSpPr>
        <p:spPr>
          <a:xfrm>
            <a:off x="8094177" y="3225820"/>
            <a:ext cx="3589843" cy="111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One to three sentences. Keep peers to the same length so the row stays even.</a:t>
            </a:r>
            <a:endParaRPr lang="en-US" sz="1200" dirty="0"/>
          </a:p>
        </p:txBody>
      </p:sp>
      <p:sp>
        <p:nvSpPr>
          <p:cNvPr id="26" name="Shape 6"/>
          <p:cNvSpPr/>
          <p:nvPr/>
        </p:nvSpPr>
        <p:spPr>
          <a:xfrm>
            <a:off x="8094177" y="4470410"/>
            <a:ext cx="3589843" cy="0"/>
          </a:xfrm>
          <a:prstGeom prst="line">
            <a:avLst/>
          </a:prstGeom>
          <a:noFill/>
          <a:ln w="9525">
            <a:solidFill>
              <a:srgbClr val="DEE1E6"/>
            </a:solidFill>
            <a:prstDash val="solid"/>
          </a:ln>
        </p:spPr>
      </p:sp>
      <p:sp>
        <p:nvSpPr>
          <p:cNvPr id="27" name="O3 trade label"/>
          <p:cNvSpPr/>
          <p:nvPr>
            <p:ph idx="125" type="body" hasCustomPrompt="1"/>
          </p:nvPr>
        </p:nvSpPr>
        <p:spPr>
          <a:xfrm>
            <a:off x="8094177" y="4572000"/>
            <a:ext cx="358984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TRADEOFF</a:t>
            </a:r>
            <a:endParaRPr lang="en-US" sz="800" dirty="0"/>
          </a:p>
        </p:txBody>
      </p:sp>
      <p:sp>
        <p:nvSpPr>
          <p:cNvPr id="28" name="O3 trade"/>
          <p:cNvSpPr/>
          <p:nvPr>
            <p:ph idx="126" type="body" hasCustomPrompt="1"/>
          </p:nvPr>
        </p:nvSpPr>
        <p:spPr>
          <a:xfrm>
            <a:off x="8094177" y="4737141"/>
            <a:ext cx="358984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What we give up if we choose this.</a:t>
            </a:r>
            <a:endParaRPr lang="en-US" sz="1050" dirty="0"/>
          </a:p>
        </p:txBody>
      </p:sp>
      <p:sp>
        <p:nvSpPr>
          <p:cNvPr id="29" name="Pick"/>
          <p:cNvSpPr/>
          <p:nvPr>
            <p:ph idx="127" type="body" hasCustomPrompt="1"/>
          </p:nvPr>
        </p:nvSpPr>
        <p:spPr>
          <a:xfrm>
            <a:off x="508041" y="5460980"/>
            <a:ext cx="1117598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20000"/>
              </a:lnSpc>
              <a:buNone/>
              <a:defRPr lang="en-US" sz="1800" spc="-3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Recommended: Option _ — because… (use the Emphasis Card on that column)</a:t>
            </a:r>
            <a:endParaRPr lang="en-US" sz="1800" dirty="0"/>
          </a:p>
        </p:txBody>
      </p:sp>
      <p:sp>
        <p:nvSpPr>
          <p:cNvPr id="30" name="Source"/>
          <p:cNvSpPr/>
          <p:nvPr>
            <p:ph idx="128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buNone/>
              <a:def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Source: name, date range, sample size. Delete if not needed.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1033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3 Closing — Takeaways + Ask">
    <p:bg>
      <p:bgPr>
        <a:solidFill>
          <a:srgbClr val="001E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/>
          <p:nvPr>
            <p:ph idx="100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r" indent="0" marL="0">
              <a:buNone/>
              <a:defRPr lang="en-US" cap="all" sz="800" spc="110" kern="0" dirty="0">
                <a:solidFill>
                  <a:srgbClr val="CFE0FB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cap="all" sz="800" spc="110" kern="0" dirty="0">
                <a:solidFill>
                  <a:srgbClr val="CFE0FB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SECTION NAME</a:t>
            </a:r>
            <a:endParaRPr lang="en-US" sz="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6426220"/>
            <a:ext cx="139720" cy="1397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23930" y="6438930"/>
            <a:ext cx="38100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FE0FB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Walmart Ads</a:t>
            </a:r>
            <a:endParaRPr lang="en-US" sz="8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508041" y="1270010"/>
            <a:ext cx="9525030" cy="1460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l" indent="0" marL="0">
              <a:lnSpc>
                <a:spcPct val="102000"/>
              </a:lnSpc>
              <a:buNone/>
              <a:defRPr lang="en-US" sz="4400" spc="-120" kern="0" dirty="0">
                <a:solidFill>
                  <a:srgbClr val="FFFFFF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02000"/>
              </a:lnSpc>
              <a:buNone/>
            </a:pPr>
            <a:r>
              <a:rPr lang="en-US" sz="4400" spc="-120" kern="0" dirty="0">
                <a:solidFill>
                  <a:srgbClr val="FFFFFF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The closing line: what we are asking for</a:t>
            </a:r>
            <a:endParaRPr lang="en-US" sz="4400" dirty="0"/>
          </a:p>
        </p:txBody>
      </p:sp>
      <p:sp>
        <p:nvSpPr>
          <p:cNvPr id="6" name="Subtitle"/>
          <p:cNvSpPr/>
          <p:nvPr>
            <p:ph idx="104" type="body" hasCustomPrompt="1"/>
          </p:nvPr>
        </p:nvSpPr>
        <p:spPr>
          <a:xfrm>
            <a:off x="508041" y="2870210"/>
            <a:ext cx="69850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400" dirty="0">
                <a:solidFill>
                  <a:srgbClr val="CFE0FB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FE0FB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One line on why now.</a:t>
            </a:r>
            <a:endParaRPr lang="en-US" sz="1400" dirty="0"/>
          </a:p>
        </p:txBody>
      </p:sp>
      <p:sp>
        <p:nvSpPr>
          <p:cNvPr id="7" name="Shape 1"/>
          <p:cNvSpPr/>
          <p:nvPr/>
        </p:nvSpPr>
        <p:spPr>
          <a:xfrm>
            <a:off x="508041" y="3937041"/>
            <a:ext cx="3589843" cy="0"/>
          </a:xfrm>
          <a:prstGeom prst="line">
            <a:avLst/>
          </a:prstGeom>
          <a:noFill/>
          <a:ln w="19050">
            <a:solidFill>
              <a:srgbClr val="4DBDF5"/>
            </a:solidFill>
            <a:prstDash val="solid"/>
          </a:ln>
        </p:spPr>
      </p:sp>
      <p:sp>
        <p:nvSpPr>
          <p:cNvPr id="8" name="Ask1 label"/>
          <p:cNvSpPr/>
          <p:nvPr>
            <p:ph idx="106" type="body" hasCustomPrompt="1"/>
          </p:nvPr>
        </p:nvSpPr>
        <p:spPr>
          <a:xfrm>
            <a:off x="508041" y="4063959"/>
            <a:ext cx="358984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4DBDF5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4DBDF5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ALIGN</a:t>
            </a:r>
            <a:endParaRPr lang="en-US" sz="800" dirty="0"/>
          </a:p>
        </p:txBody>
      </p:sp>
      <p:sp>
        <p:nvSpPr>
          <p:cNvPr id="9" name="Ask1"/>
          <p:cNvSpPr/>
          <p:nvPr>
            <p:ph idx="107" type="body" hasCustomPrompt="1"/>
          </p:nvPr>
        </p:nvSpPr>
        <p:spPr>
          <a:xfrm>
            <a:off x="508041" y="4267230"/>
            <a:ext cx="3589843" cy="1397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400" dirty="0">
                <a:solidFill>
                  <a:srgbClr val="FFFF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A specific ask with an owner and a date.</a:t>
            </a:r>
            <a:endParaRPr lang="en-US" sz="1400" dirty="0"/>
          </a:p>
        </p:txBody>
      </p:sp>
      <p:sp>
        <p:nvSpPr>
          <p:cNvPr id="10" name="Shape 2"/>
          <p:cNvSpPr/>
          <p:nvPr/>
        </p:nvSpPr>
        <p:spPr>
          <a:xfrm>
            <a:off x="4301063" y="3937041"/>
            <a:ext cx="3589843" cy="0"/>
          </a:xfrm>
          <a:prstGeom prst="line">
            <a:avLst/>
          </a:prstGeom>
          <a:noFill/>
          <a:ln w="19050">
            <a:solidFill>
              <a:srgbClr val="4DBDF5"/>
            </a:solidFill>
            <a:prstDash val="solid"/>
          </a:ln>
        </p:spPr>
      </p:sp>
      <p:sp>
        <p:nvSpPr>
          <p:cNvPr id="11" name="Ask2 label"/>
          <p:cNvSpPr/>
          <p:nvPr>
            <p:ph idx="109" type="body" hasCustomPrompt="1"/>
          </p:nvPr>
        </p:nvSpPr>
        <p:spPr>
          <a:xfrm>
            <a:off x="4301063" y="4063959"/>
            <a:ext cx="358984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4DBDF5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4DBDF5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DECIDE</a:t>
            </a:r>
            <a:endParaRPr lang="en-US" sz="800" dirty="0"/>
          </a:p>
        </p:txBody>
      </p:sp>
      <p:sp>
        <p:nvSpPr>
          <p:cNvPr id="12" name="Ask2"/>
          <p:cNvSpPr/>
          <p:nvPr>
            <p:ph idx="110" type="body" hasCustomPrompt="1"/>
          </p:nvPr>
        </p:nvSpPr>
        <p:spPr>
          <a:xfrm>
            <a:off x="4301063" y="4267230"/>
            <a:ext cx="3589843" cy="1397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400" dirty="0">
                <a:solidFill>
                  <a:srgbClr val="FFFF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A specific ask with an owner and a date.</a:t>
            </a:r>
            <a:endParaRPr lang="en-US" sz="1400" dirty="0"/>
          </a:p>
        </p:txBody>
      </p:sp>
      <p:sp>
        <p:nvSpPr>
          <p:cNvPr id="13" name="Shape 3"/>
          <p:cNvSpPr/>
          <p:nvPr/>
        </p:nvSpPr>
        <p:spPr>
          <a:xfrm>
            <a:off x="8094177" y="3937041"/>
            <a:ext cx="3589843" cy="0"/>
          </a:xfrm>
          <a:prstGeom prst="line">
            <a:avLst/>
          </a:prstGeom>
          <a:noFill/>
          <a:ln w="19050">
            <a:solidFill>
              <a:srgbClr val="4DBDF5"/>
            </a:solidFill>
            <a:prstDash val="solid"/>
          </a:ln>
        </p:spPr>
      </p:sp>
      <p:sp>
        <p:nvSpPr>
          <p:cNvPr id="14" name="Ask3 label"/>
          <p:cNvSpPr/>
          <p:nvPr>
            <p:ph idx="112" type="body" hasCustomPrompt="1"/>
          </p:nvPr>
        </p:nvSpPr>
        <p:spPr>
          <a:xfrm>
            <a:off x="8094177" y="4063959"/>
            <a:ext cx="358984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buNone/>
              <a:defRPr lang="en-US" cap="all" sz="800" spc="110" kern="0" dirty="0">
                <a:solidFill>
                  <a:srgbClr val="4DBDF5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cap="all" sz="800" spc="110" kern="0" dirty="0">
                <a:solidFill>
                  <a:srgbClr val="4DBDF5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NEXT</a:t>
            </a:r>
            <a:endParaRPr lang="en-US" sz="800" dirty="0"/>
          </a:p>
        </p:txBody>
      </p:sp>
      <p:sp>
        <p:nvSpPr>
          <p:cNvPr id="15" name="Ask3"/>
          <p:cNvSpPr/>
          <p:nvPr>
            <p:ph idx="113" type="body" hasCustomPrompt="1"/>
          </p:nvPr>
        </p:nvSpPr>
        <p:spPr>
          <a:xfrm>
            <a:off x="8094177" y="4267230"/>
            <a:ext cx="3589843" cy="1397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400" dirty="0">
                <a:solidFill>
                  <a:srgbClr val="FFFF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A specific ask with an owner and a date.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FE0FB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1034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4 Appendix Divider">
    <p:bg>
      <p:bgPr>
        <a:solidFill>
          <a:srgbClr val="001E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6426220"/>
            <a:ext cx="139720" cy="139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3930" y="6438930"/>
            <a:ext cx="38100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FE0FB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Walmart Ads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44490" y="609630"/>
            <a:ext cx="2540020" cy="2413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0" spc="-120" kern="0" dirty="0">
                <a:solidFill>
                  <a:srgbClr val="4A5E8C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A</a:t>
            </a:r>
            <a:endParaRPr lang="en-US" sz="180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508041" y="3301990"/>
            <a:ext cx="888998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05000"/>
              </a:lnSpc>
              <a:buNone/>
              <a:defRPr lang="en-US" sz="5600" spc="-100" kern="0" dirty="0">
                <a:solidFill>
                  <a:srgbClr val="FFFFFF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5600" spc="-100" kern="0" dirty="0">
                <a:solidFill>
                  <a:srgbClr val="FFFFFF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Appendix</a:t>
            </a:r>
            <a:endParaRPr lang="en-US" sz="5600" dirty="0"/>
          </a:p>
        </p:txBody>
      </p:sp>
      <p:sp>
        <p:nvSpPr>
          <p:cNvPr id="6" name="Subtitle"/>
          <p:cNvSpPr/>
          <p:nvPr>
            <p:ph idx="104" type="body" hasCustomPrompt="1"/>
          </p:nvPr>
        </p:nvSpPr>
        <p:spPr>
          <a:xfrm>
            <a:off x="508041" y="4190970"/>
            <a:ext cx="698501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35000"/>
              </a:lnSpc>
              <a:buNone/>
              <a:defRPr lang="en-US" sz="1400" dirty="0">
                <a:solidFill>
                  <a:srgbClr val="CFE0FB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FE0FB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Reference material and evidence, in the order the main deck cites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FE0FB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1035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5 Blank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6426220"/>
            <a:ext cx="139720" cy="139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3930" y="6438930"/>
            <a:ext cx="38100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Walmart Ads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1036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FE0FB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27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27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27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27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7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3" type="title" hasCustomPrompt="1"/>
          </p:nvPr>
        </p:nvSpPr>
        <p:spPr>
          <a:xfrm>
            <a:off x="508041" y="2286000"/>
            <a:ext cx="8889980" cy="19049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400" spc="-120" kern="0" dirty="0">
                <a:solidFill>
                  <a:srgbClr val="FFFFFF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Product Leadership Presentation System</a:t>
            </a:r>
            <a:endParaRPr lang="en-US" sz="4400" dirty="0"/>
          </a:p>
        </p:txBody>
      </p:sp>
      <p:sp>
        <p:nvSpPr>
          <p:cNvPr id="3" name="Subtitle"/>
          <p:cNvSpPr/>
          <p:nvPr>
            <p:ph idx="104" type="body" hasCustomPrompt="1"/>
          </p:nvPr>
        </p:nvSpPr>
        <p:spPr>
          <a:xfrm>
            <a:off x="508041" y="4343400"/>
            <a:ext cx="698501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FE0FB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A reusable master for strategy, research, planning, performance and decision decks. Choose the job, pick the layout, replace the content.</a:t>
            </a:r>
            <a:endParaRPr lang="en-US" sz="1400" dirty="0"/>
          </a:p>
        </p:txBody>
      </p:sp>
      <p:sp>
        <p:nvSpPr>
          <p:cNvPr id="4" name="Meta"/>
          <p:cNvSpPr/>
          <p:nvPr>
            <p:ph idx="105" type="body" hasCustomPrompt="1"/>
          </p:nvPr>
        </p:nvSpPr>
        <p:spPr>
          <a:xfrm>
            <a:off x="508041" y="558799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4DBDF5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WALMART ADS · MASTER TEMPLATE · V1</a:t>
            </a:r>
            <a:endParaRPr lang="en-US" sz="800" dirty="0"/>
          </a:p>
        </p:txBody>
      </p:sp>
      <p:sp>
        <p:nvSpPr>
          <p:cNvPr id="6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FE0FB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HOW TO USE THIS TEMPLATE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START HERE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Decide what you are trying to say. The system decides how it looks.</a:t>
            </a:r>
            <a:endParaRPr lang="en-US" sz="2800" dirty="0"/>
          </a:p>
        </p:txBody>
      </p:sp>
      <p:sp>
        <p:nvSpPr>
          <p:cNvPr id="5" name="R1 label"/>
          <p:cNvSpPr/>
          <p:nvPr>
            <p:ph idx="107" type="body" hasCustomPrompt="1"/>
          </p:nvPr>
        </p:nvSpPr>
        <p:spPr>
          <a:xfrm>
            <a:off x="508041" y="2578059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01 · CHOOSE THE JOB</a:t>
            </a:r>
            <a:endParaRPr lang="en-US" sz="800" dirty="0"/>
          </a:p>
        </p:txBody>
      </p:sp>
      <p:sp>
        <p:nvSpPr>
          <p:cNvPr id="6" name="R1 text"/>
          <p:cNvSpPr/>
          <p:nvPr>
            <p:ph idx="108" type="body" hasCustomPrompt="1"/>
          </p:nvPr>
        </p:nvSpPr>
        <p:spPr>
          <a:xfrm>
            <a:off x="3352830" y="2540020"/>
            <a:ext cx="833119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Start, tell, prove, explain, decide, plan, measure, compare, operate, update or close. The layout picker (slide 10) maps each job to layouts.</a:t>
            </a:r>
            <a:endParaRPr lang="en-US" sz="1800" dirty="0"/>
          </a:p>
        </p:txBody>
      </p:sp>
      <p:sp>
        <p:nvSpPr>
          <p:cNvPr id="7" name="R2 label"/>
          <p:cNvSpPr/>
          <p:nvPr>
            <p:ph idx="110" type="body" hasCustomPrompt="1"/>
          </p:nvPr>
        </p:nvSpPr>
        <p:spPr>
          <a:xfrm>
            <a:off x="508041" y="3454420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02 · PICK THE LAYOUT</a:t>
            </a:r>
            <a:endParaRPr lang="en-US" sz="800" dirty="0"/>
          </a:p>
        </p:txBody>
      </p:sp>
      <p:sp>
        <p:nvSpPr>
          <p:cNvPr id="8" name="R2 text"/>
          <p:cNvSpPr/>
          <p:nvPr>
            <p:ph idx="111" type="body" hasCustomPrompt="1"/>
          </p:nvPr>
        </p:nvSpPr>
        <p:spPr>
          <a:xfrm>
            <a:off x="3352830" y="3416290"/>
            <a:ext cx="833119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Home → New Slide → pick by number and name. Every layout has named slots, so nothing needs positioning by hand.</a:t>
            </a:r>
            <a:endParaRPr lang="en-US" sz="1800" dirty="0"/>
          </a:p>
        </p:txBody>
      </p:sp>
      <p:sp>
        <p:nvSpPr>
          <p:cNvPr id="9" name="R3 label"/>
          <p:cNvSpPr/>
          <p:nvPr>
            <p:ph idx="113" type="body" hasCustomPrompt="1"/>
          </p:nvPr>
        </p:nvSpPr>
        <p:spPr>
          <a:xfrm>
            <a:off x="508041" y="4330690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03 · REPLACE THE CONTENT</a:t>
            </a:r>
            <a:endParaRPr lang="en-US" sz="800" dirty="0"/>
          </a:p>
        </p:txBody>
      </p:sp>
      <p:sp>
        <p:nvSpPr>
          <p:cNvPr id="10" name="R3 text"/>
          <p:cNvSpPr/>
          <p:nvPr>
            <p:ph idx="114" type="body" hasCustomPrompt="1"/>
          </p:nvPr>
        </p:nvSpPr>
        <p:spPr>
          <a:xfrm>
            <a:off x="3352830" y="4292559"/>
            <a:ext cx="833119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Type into the placeholders. Duplicate a worked example when it already has the components you need.</a:t>
            </a:r>
            <a:endParaRPr lang="en-US" sz="1800" dirty="0"/>
          </a:p>
        </p:txBody>
      </p:sp>
      <p:sp>
        <p:nvSpPr>
          <p:cNvPr id="11" name="R4 label"/>
          <p:cNvSpPr/>
          <p:nvPr>
            <p:ph idx="116" type="body" hasCustomPrompt="1"/>
          </p:nvPr>
        </p:nvSpPr>
        <p:spPr>
          <a:xfrm>
            <a:off x="508041" y="5206959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04 · WHEN IT DOES NOT FIT</a:t>
            </a:r>
            <a:endParaRPr lang="en-US" sz="800" dirty="0"/>
          </a:p>
        </p:txBody>
      </p:sp>
      <p:sp>
        <p:nvSpPr>
          <p:cNvPr id="12" name="R4 text"/>
          <p:cNvSpPr/>
          <p:nvPr>
            <p:ph idx="117" type="body" hasCustomPrompt="1"/>
          </p:nvPr>
        </p:nvSpPr>
        <p:spPr>
          <a:xfrm>
            <a:off x="3352830" y="5168920"/>
            <a:ext cx="833119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Tighten the copy → use the dense layout → change layout → split the slide → only then reduce type, within the minimums.</a:t>
            </a:r>
            <a:endParaRPr lang="en-US" sz="1800" dirty="0"/>
          </a:p>
        </p:txBody>
      </p:sp>
      <p:sp>
        <p:nvSpPr>
          <p:cNvPr id="14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endParaRPr lang="en-US" sz="1400" dirty="0"/>
          </a:p>
        </p:txBody>
      </p:sp>
      <p:sp>
        <p:nvSpPr>
          <p:cNvPr id="15" name="Source"/>
          <p:cNvSpPr/>
          <p:nvPr>
            <p:ph idx="118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/>
          <p:nvPr>
            <p:ph idx="103" type="body" hasCustomPrompt="1"/>
          </p:nvPr>
        </p:nvSpPr>
        <p:spPr>
          <a:xfrm>
            <a:off x="508041" y="2413010"/>
            <a:ext cx="5080041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4DBDF5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SYSTEM 01</a:t>
            </a:r>
            <a:endParaRPr lang="en-US" sz="800" dirty="0"/>
          </a:p>
        </p:txBody>
      </p:sp>
      <p:sp>
        <p:nvSpPr>
          <p:cNvPr id="3" name="Section"/>
          <p:cNvSpPr/>
          <p:nvPr>
            <p:ph idx="100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CFE0FB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FOUNDATIONS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2667030"/>
            <a:ext cx="9525030" cy="1206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600" spc="-100" kern="0" dirty="0">
                <a:solidFill>
                  <a:srgbClr val="FFFFFF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Foundations</a:t>
            </a:r>
            <a:endParaRPr lang="en-US" sz="5600" dirty="0"/>
          </a:p>
        </p:txBody>
      </p:sp>
      <p:sp>
        <p:nvSpPr>
          <p:cNvPr id="5" name="Subtitle"/>
          <p:cNvSpPr/>
          <p:nvPr>
            <p:ph idx="105" type="body" hasCustomPrompt="1"/>
          </p:nvPr>
        </p:nvSpPr>
        <p:spPr>
          <a:xfrm>
            <a:off x="508041" y="4063959"/>
            <a:ext cx="698501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CFE0FB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The grid, zones, type, colour and spacing every layout inherits. Change them here and only here.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FE0FB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FOUNDATIONS · GRID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FOUNDATIONS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One content frame, twelve columns, four fixed zones</a:t>
            </a:r>
            <a:endParaRPr lang="en-US" sz="2800" dirty="0"/>
          </a:p>
        </p:txBody>
      </p:sp>
      <p:sp>
        <p:nvSpPr>
          <p:cNvPr id="5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Every region shares the same left and right edges. Container width controls alignment; text width controls readability.</a:t>
            </a:r>
            <a:endParaRPr lang="en-US" sz="1400" dirty="0"/>
          </a:p>
        </p:txBody>
      </p:sp>
      <p:sp>
        <p:nvSpPr>
          <p:cNvPr id="6" name="Source"/>
          <p:cNvSpPr/>
          <p:nvPr>
            <p:ph idx="106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Canvas 13.333 × 7.5 in (1920 × 1080 authoring px). Margins 80px. Gutter 32px. Column 117px. Zones: context 72, message 112–344, content 384–944, source 952, footer 1008.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8041" y="2438430"/>
            <a:ext cx="745053" cy="2540020"/>
          </a:xfrm>
          <a:prstGeom prst="rect">
            <a:avLst/>
          </a:prstGeom>
          <a:solidFill>
            <a:srgbClr val="E1EA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8041" y="2489180"/>
            <a:ext cx="74505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456273" y="2438430"/>
            <a:ext cx="745053" cy="2540020"/>
          </a:xfrm>
          <a:prstGeom prst="rect">
            <a:avLst/>
          </a:prstGeom>
          <a:solidFill>
            <a:srgbClr val="E1EA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56273" y="2489180"/>
            <a:ext cx="74505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04506" y="2438430"/>
            <a:ext cx="745053" cy="2540020"/>
          </a:xfrm>
          <a:prstGeom prst="rect">
            <a:avLst/>
          </a:prstGeom>
          <a:solidFill>
            <a:srgbClr val="E1EA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404506" y="2489180"/>
            <a:ext cx="74505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03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352830" y="2438430"/>
            <a:ext cx="745053" cy="2540020"/>
          </a:xfrm>
          <a:prstGeom prst="rect">
            <a:avLst/>
          </a:prstGeom>
          <a:solidFill>
            <a:srgbClr val="E1EA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352830" y="2489180"/>
            <a:ext cx="74505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04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301063" y="2438430"/>
            <a:ext cx="745053" cy="2540020"/>
          </a:xfrm>
          <a:prstGeom prst="rect">
            <a:avLst/>
          </a:prstGeom>
          <a:solidFill>
            <a:srgbClr val="E1EA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01063" y="2489180"/>
            <a:ext cx="74505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05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249296" y="2438430"/>
            <a:ext cx="745053" cy="2540020"/>
          </a:xfrm>
          <a:prstGeom prst="rect">
            <a:avLst/>
          </a:prstGeom>
          <a:solidFill>
            <a:srgbClr val="E1EA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49296" y="2489180"/>
            <a:ext cx="74505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06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197620" y="2438430"/>
            <a:ext cx="745053" cy="2540020"/>
          </a:xfrm>
          <a:prstGeom prst="rect">
            <a:avLst/>
          </a:prstGeom>
          <a:solidFill>
            <a:srgbClr val="E1EA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97620" y="2489180"/>
            <a:ext cx="74505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07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145853" y="2438430"/>
            <a:ext cx="745053" cy="2540020"/>
          </a:xfrm>
          <a:prstGeom prst="rect">
            <a:avLst/>
          </a:prstGeom>
          <a:solidFill>
            <a:srgbClr val="E1EA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45853" y="2489180"/>
            <a:ext cx="74505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08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094177" y="2438430"/>
            <a:ext cx="745053" cy="2540020"/>
          </a:xfrm>
          <a:prstGeom prst="rect">
            <a:avLst/>
          </a:prstGeom>
          <a:solidFill>
            <a:srgbClr val="E1EA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94177" y="2489180"/>
            <a:ext cx="74505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09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042410" y="2438430"/>
            <a:ext cx="745053" cy="2540020"/>
          </a:xfrm>
          <a:prstGeom prst="rect">
            <a:avLst/>
          </a:prstGeom>
          <a:solidFill>
            <a:srgbClr val="E1EA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042410" y="2489180"/>
            <a:ext cx="74505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10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990643" y="2438430"/>
            <a:ext cx="745053" cy="2540020"/>
          </a:xfrm>
          <a:prstGeom prst="rect">
            <a:avLst/>
          </a:prstGeom>
          <a:solidFill>
            <a:srgbClr val="E1EA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990643" y="2489180"/>
            <a:ext cx="74505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11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0938967" y="2438430"/>
            <a:ext cx="745053" cy="2540020"/>
          </a:xfrm>
          <a:prstGeom prst="rect">
            <a:avLst/>
          </a:prstGeom>
          <a:solidFill>
            <a:srgbClr val="E1EAF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938967" y="2489180"/>
            <a:ext cx="74505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12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8041" y="2692359"/>
            <a:ext cx="11175980" cy="203180"/>
          </a:xfrm>
          <a:prstGeom prst="rect">
            <a:avLst/>
          </a:prstGeom>
          <a:solidFill>
            <a:srgbClr val="0053E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84210" y="2730490"/>
            <a:ext cx="190497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FFFFFF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12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08041" y="2971800"/>
            <a:ext cx="7382957" cy="203180"/>
          </a:xfrm>
          <a:prstGeom prst="rect">
            <a:avLst/>
          </a:prstGeom>
          <a:solidFill>
            <a:srgbClr val="0053E2"/>
          </a:solidFill>
          <a:ln/>
        </p:spPr>
      </p:sp>
      <p:sp>
        <p:nvSpPr>
          <p:cNvPr id="34" name="Shape 32"/>
          <p:cNvSpPr/>
          <p:nvPr/>
        </p:nvSpPr>
        <p:spPr>
          <a:xfrm>
            <a:off x="8094177" y="2971800"/>
            <a:ext cx="3589843" cy="203180"/>
          </a:xfrm>
          <a:prstGeom prst="rect">
            <a:avLst/>
          </a:prstGeom>
          <a:solidFill>
            <a:srgbClr val="0053E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84210" y="3009930"/>
            <a:ext cx="190497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FFFFFF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8 + 4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08041" y="3251241"/>
            <a:ext cx="6434633" cy="203180"/>
          </a:xfrm>
          <a:prstGeom prst="rect">
            <a:avLst/>
          </a:prstGeom>
          <a:solidFill>
            <a:srgbClr val="0053E2"/>
          </a:solidFill>
          <a:ln/>
        </p:spPr>
      </p:sp>
      <p:sp>
        <p:nvSpPr>
          <p:cNvPr id="37" name="Shape 35"/>
          <p:cNvSpPr/>
          <p:nvPr/>
        </p:nvSpPr>
        <p:spPr>
          <a:xfrm>
            <a:off x="7145853" y="3251241"/>
            <a:ext cx="4538167" cy="203180"/>
          </a:xfrm>
          <a:prstGeom prst="rect">
            <a:avLst/>
          </a:prstGeom>
          <a:solidFill>
            <a:srgbClr val="0053E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84210" y="3289280"/>
            <a:ext cx="190497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FFFFFF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7 + 5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08041" y="3530590"/>
            <a:ext cx="5486400" cy="203180"/>
          </a:xfrm>
          <a:prstGeom prst="rect">
            <a:avLst/>
          </a:prstGeom>
          <a:solidFill>
            <a:srgbClr val="0053E2"/>
          </a:solidFill>
          <a:ln/>
        </p:spPr>
      </p:sp>
      <p:sp>
        <p:nvSpPr>
          <p:cNvPr id="40" name="Shape 38"/>
          <p:cNvSpPr/>
          <p:nvPr/>
        </p:nvSpPr>
        <p:spPr>
          <a:xfrm>
            <a:off x="6197620" y="3530590"/>
            <a:ext cx="5486400" cy="203180"/>
          </a:xfrm>
          <a:prstGeom prst="rect">
            <a:avLst/>
          </a:prstGeom>
          <a:solidFill>
            <a:srgbClr val="0053E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84210" y="3568720"/>
            <a:ext cx="190497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FFFFFF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6 + 6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08041" y="3810030"/>
            <a:ext cx="3589843" cy="203180"/>
          </a:xfrm>
          <a:prstGeom prst="rect">
            <a:avLst/>
          </a:prstGeom>
          <a:solidFill>
            <a:srgbClr val="0053E2"/>
          </a:solidFill>
          <a:ln/>
        </p:spPr>
      </p:sp>
      <p:sp>
        <p:nvSpPr>
          <p:cNvPr id="43" name="Shape 41"/>
          <p:cNvSpPr/>
          <p:nvPr/>
        </p:nvSpPr>
        <p:spPr>
          <a:xfrm>
            <a:off x="4301063" y="3810030"/>
            <a:ext cx="3589843" cy="203180"/>
          </a:xfrm>
          <a:prstGeom prst="rect">
            <a:avLst/>
          </a:prstGeom>
          <a:solidFill>
            <a:srgbClr val="0053E2"/>
          </a:solidFill>
          <a:ln/>
        </p:spPr>
      </p:sp>
      <p:sp>
        <p:nvSpPr>
          <p:cNvPr id="44" name="Shape 42"/>
          <p:cNvSpPr/>
          <p:nvPr/>
        </p:nvSpPr>
        <p:spPr>
          <a:xfrm>
            <a:off x="8094177" y="3810030"/>
            <a:ext cx="3589843" cy="203180"/>
          </a:xfrm>
          <a:prstGeom prst="rect">
            <a:avLst/>
          </a:prstGeom>
          <a:solidFill>
            <a:srgbClr val="0053E2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584210" y="3848070"/>
            <a:ext cx="190497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FFFFFF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4 + 4 + 4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08041" y="4089380"/>
            <a:ext cx="2641610" cy="203180"/>
          </a:xfrm>
          <a:prstGeom prst="rect">
            <a:avLst/>
          </a:prstGeom>
          <a:solidFill>
            <a:srgbClr val="0053E2"/>
          </a:solidFill>
          <a:ln/>
        </p:spPr>
      </p:sp>
      <p:sp>
        <p:nvSpPr>
          <p:cNvPr id="47" name="Shape 45"/>
          <p:cNvSpPr/>
          <p:nvPr/>
        </p:nvSpPr>
        <p:spPr>
          <a:xfrm>
            <a:off x="3352830" y="4089380"/>
            <a:ext cx="2641610" cy="203180"/>
          </a:xfrm>
          <a:prstGeom prst="rect">
            <a:avLst/>
          </a:prstGeom>
          <a:solidFill>
            <a:srgbClr val="0053E2"/>
          </a:solidFill>
          <a:ln/>
        </p:spPr>
      </p:sp>
      <p:sp>
        <p:nvSpPr>
          <p:cNvPr id="48" name="Shape 46"/>
          <p:cNvSpPr/>
          <p:nvPr/>
        </p:nvSpPr>
        <p:spPr>
          <a:xfrm>
            <a:off x="6197620" y="4089380"/>
            <a:ext cx="2641610" cy="203180"/>
          </a:xfrm>
          <a:prstGeom prst="rect">
            <a:avLst/>
          </a:prstGeom>
          <a:solidFill>
            <a:srgbClr val="0053E2"/>
          </a:solidFill>
          <a:ln/>
        </p:spPr>
      </p:sp>
      <p:sp>
        <p:nvSpPr>
          <p:cNvPr id="49" name="Shape 47"/>
          <p:cNvSpPr/>
          <p:nvPr/>
        </p:nvSpPr>
        <p:spPr>
          <a:xfrm>
            <a:off x="9042410" y="4089380"/>
            <a:ext cx="2641610" cy="203180"/>
          </a:xfrm>
          <a:prstGeom prst="rect">
            <a:avLst/>
          </a:prstGeom>
          <a:solidFill>
            <a:srgbClr val="0053E2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584210" y="4127510"/>
            <a:ext cx="190497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FFFFFF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3 + 3 + 3 + 3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08041" y="4368820"/>
            <a:ext cx="2641610" cy="203180"/>
          </a:xfrm>
          <a:prstGeom prst="rect">
            <a:avLst/>
          </a:prstGeom>
          <a:solidFill>
            <a:srgbClr val="0053E2"/>
          </a:solidFill>
          <a:ln/>
        </p:spPr>
      </p:sp>
      <p:sp>
        <p:nvSpPr>
          <p:cNvPr id="52" name="Shape 50"/>
          <p:cNvSpPr/>
          <p:nvPr/>
        </p:nvSpPr>
        <p:spPr>
          <a:xfrm>
            <a:off x="3352830" y="4368820"/>
            <a:ext cx="8331190" cy="203180"/>
          </a:xfrm>
          <a:prstGeom prst="rect">
            <a:avLst/>
          </a:prstGeom>
          <a:solidFill>
            <a:srgbClr val="0053E2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584210" y="4406859"/>
            <a:ext cx="190497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FFFFFF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3 + 9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08041" y="4648170"/>
            <a:ext cx="1693377" cy="203180"/>
          </a:xfrm>
          <a:prstGeom prst="rect">
            <a:avLst/>
          </a:prstGeom>
          <a:solidFill>
            <a:srgbClr val="0053E2"/>
          </a:solidFill>
          <a:ln/>
        </p:spPr>
      </p:sp>
      <p:sp>
        <p:nvSpPr>
          <p:cNvPr id="55" name="Shape 53"/>
          <p:cNvSpPr/>
          <p:nvPr/>
        </p:nvSpPr>
        <p:spPr>
          <a:xfrm>
            <a:off x="2404506" y="4648170"/>
            <a:ext cx="9279423" cy="203180"/>
          </a:xfrm>
          <a:prstGeom prst="rect">
            <a:avLst/>
          </a:prstGeom>
          <a:solidFill>
            <a:srgbClr val="0053E2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584210" y="4686300"/>
            <a:ext cx="190497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FFFFFF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2 + 10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508041" y="5105370"/>
            <a:ext cx="1117598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Supported combinations: 12 · 8+4 · 7+5 · 6+6 · 4+4+4 · 3+3+3+3 · 3+9 · 2+10. Shared headline treatments sit at identical coordinates on every layout.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4" type="title" hasCustomPrompt="1"/>
          </p:nvPr>
        </p:nvSpPr>
        <p:spPr>
          <a:xfrm>
            <a:off x="508041" y="558790"/>
            <a:ext cx="11175980" cy="4063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spc="-5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Twenty-four semantic text styles, each with a size, a line limit and a job</a:t>
            </a:r>
            <a:endParaRPr lang="en-US" sz="2200" dirty="0"/>
          </a:p>
        </p:txBody>
      </p:sp>
      <p:sp>
        <p:nvSpPr>
          <p:cNvPr id="3" name="Source"/>
          <p:cNvSpPr/>
          <p:nvPr>
            <p:ph idx="106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Everyday Sans (Headline Light, UI, UI Medium, Light Italic, Mono). Minimum 10pt for reading text; 7.5pt only for mono labels and pills.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41" y="1168420"/>
          <a:ext cx="5486400" cy="63459"/>
        </p:xfrm>
        <a:graphic>
          <a:graphicData uri="http://schemas.openxmlformats.org/drawingml/2006/table">
            <a:tbl>
              <a:tblPr/>
              <a:tblGrid>
                <a:gridCol w="1460480"/>
                <a:gridCol w="2413010"/>
                <a:gridCol w="1612910"/>
              </a:tblGrid>
              <a:tr h="48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STYLE</a:t>
                      </a:r>
                      <a:endParaRPr lang="en-US" sz="8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38130" marT="19020" marB="190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3C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FACE · SIZE · LEADING · LINES</a:t>
                      </a:r>
                      <a:endParaRPr lang="en-US" sz="8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38130" marT="19020" marB="190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3C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SAMPLE</a:t>
                      </a:r>
                      <a:endParaRPr lang="en-US" sz="8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38130" marT="19020" marB="190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3C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Display / Hero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Headline Light 44pt · 1.02× · max 3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spc="-120" kern="0" dirty="0">
                          <a:solidFill>
                            <a:srgbClr val="001E60"/>
                          </a:solidFill>
                          <a:latin typeface="Everyday Sans Headline Light" pitchFamily="34" charset="0"/>
                          <a:ea typeface="Everyday Sans Headline Light" pitchFamily="34" charset="-122"/>
                          <a:cs typeface="Everyday Sans Headline Light" pitchFamily="34" charset="-120"/>
                        </a:rPr>
                        <a:t>Adoption is growing</a:t>
                      </a:r>
                      <a:endParaRPr lang="en-US" sz="1200" dirty="0">
                        <a:latin typeface="Everyday Sans Headline Light" charset="0"/>
                        <a:ea typeface="Everyday Sans Headline Light" charset="0"/>
                        <a:cs typeface="Everyday Sans Headline Light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Section headline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Headline Light 40pt · 1.05× · max 2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spc="-100" kern="0" dirty="0">
                          <a:solidFill>
                            <a:srgbClr val="001E60"/>
                          </a:solidFill>
                          <a:latin typeface="Everyday Sans Headline Light" pitchFamily="34" charset="0"/>
                          <a:ea typeface="Everyday Sans Headline Light" pitchFamily="34" charset="-122"/>
                          <a:cs typeface="Everyday Sans Headline Light" pitchFamily="34" charset="-120"/>
                        </a:rPr>
                        <a:t>Adoption is growing</a:t>
                      </a:r>
                      <a:endParaRPr lang="en-US" sz="1200" dirty="0">
                        <a:latin typeface="Everyday Sans Headline Light" charset="0"/>
                        <a:ea typeface="Everyday Sans Headline Light" charset="0"/>
                        <a:cs typeface="Everyday Sans Headline Light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Statement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Headline Light 32pt · 1.12× · max 4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spc="-80" kern="0" dirty="0">
                          <a:solidFill>
                            <a:srgbClr val="001E60"/>
                          </a:solidFill>
                          <a:latin typeface="Everyday Sans Headline Light" pitchFamily="34" charset="0"/>
                          <a:ea typeface="Everyday Sans Headline Light" pitchFamily="34" charset="-122"/>
                          <a:cs typeface="Everyday Sans Headline Light" pitchFamily="34" charset="-120"/>
                        </a:rPr>
                        <a:t>Adoption is growing</a:t>
                      </a:r>
                      <a:endParaRPr lang="en-US" sz="1200" dirty="0">
                        <a:latin typeface="Everyday Sans Headline Light" charset="0"/>
                        <a:ea typeface="Everyday Sans Headline Light" charset="0"/>
                        <a:cs typeface="Everyday Sans Headline Light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Slide headline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Headline Light 28pt · 1.1× · max 2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spc="-70" kern="0" dirty="0">
                          <a:solidFill>
                            <a:srgbClr val="001E60"/>
                          </a:solidFill>
                          <a:latin typeface="Everyday Sans Headline Light" pitchFamily="34" charset="0"/>
                          <a:ea typeface="Everyday Sans Headline Light" pitchFamily="34" charset="-122"/>
                          <a:cs typeface="Everyday Sans Headline Light" pitchFamily="34" charset="-120"/>
                        </a:rPr>
                        <a:t>Adoption is growing</a:t>
                      </a:r>
                      <a:endParaRPr lang="en-US" sz="1200" dirty="0">
                        <a:latin typeface="Everyday Sans Headline Light" charset="0"/>
                        <a:ea typeface="Everyday Sans Headline Light" charset="0"/>
                        <a:cs typeface="Everyday Sans Headline Light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Dense headline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Headline Light 22pt · 1.1× · max 1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spc="-50" kern="0" dirty="0">
                          <a:solidFill>
                            <a:srgbClr val="001E60"/>
                          </a:solidFill>
                          <a:latin typeface="Everyday Sans Headline Light" pitchFamily="34" charset="0"/>
                          <a:ea typeface="Everyday Sans Headline Light" pitchFamily="34" charset="-122"/>
                          <a:cs typeface="Everyday Sans Headline Light" pitchFamily="34" charset="-120"/>
                        </a:rPr>
                        <a:t>Adoption is growing</a:t>
                      </a:r>
                      <a:endParaRPr lang="en-US" sz="1200" dirty="0">
                        <a:latin typeface="Everyday Sans Headline Light" charset="0"/>
                        <a:ea typeface="Everyday Sans Headline Light" charset="0"/>
                        <a:cs typeface="Everyday Sans Headline Light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Supporting headline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Headline Light 18pt · 1.2× · max 3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spc="-30" kern="0" dirty="0">
                          <a:solidFill>
                            <a:srgbClr val="001E60"/>
                          </a:solidFill>
                          <a:latin typeface="Everyday Sans Headline Light" pitchFamily="34" charset="0"/>
                          <a:ea typeface="Everyday Sans Headline Light" pitchFamily="34" charset="-122"/>
                          <a:cs typeface="Everyday Sans Headline Light" pitchFamily="34" charset="-120"/>
                        </a:rPr>
                        <a:t>Adoption is growing</a:t>
                      </a:r>
                      <a:endParaRPr lang="en-US" sz="1200" dirty="0">
                        <a:latin typeface="Everyday Sans Headline Light" charset="0"/>
                        <a:ea typeface="Everyday Sans Headline Light" charset="0"/>
                        <a:cs typeface="Everyday Sans Headline Light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Body large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UI 14pt · 1.35× · max 6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Adoption is growing</a:t>
                      </a:r>
                      <a:endParaRPr lang="en-US" sz="120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Body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UI 12pt · 1.35× · max 8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Adoption is growing</a:t>
                      </a:r>
                      <a:endParaRPr lang="en-US" sz="120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Body small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UI 10.5pt · 1.35× · max 10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Adoption is growing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Data hero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Headline Light 96pt · 0.9× · max 1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spc="-300" kern="0" dirty="0">
                          <a:solidFill>
                            <a:srgbClr val="001E60"/>
                          </a:solidFill>
                          <a:latin typeface="Everyday Sans Headline Light" pitchFamily="34" charset="0"/>
                          <a:ea typeface="Everyday Sans Headline Light" pitchFamily="34" charset="-122"/>
                          <a:cs typeface="Everyday Sans Headline Light" pitchFamily="34" charset="-120"/>
                        </a:rPr>
                        <a:t>Adoption is growing</a:t>
                      </a:r>
                      <a:endParaRPr lang="en-US" sz="1200" dirty="0">
                        <a:latin typeface="Everyday Sans Headline Light" charset="0"/>
                        <a:ea typeface="Everyday Sans Headline Light" charset="0"/>
                        <a:cs typeface="Everyday Sans Headline Light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Data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Headline Light 40pt · 0.95× · max 1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spc="-120" kern="0" dirty="0">
                          <a:solidFill>
                            <a:srgbClr val="001E60"/>
                          </a:solidFill>
                          <a:latin typeface="Everyday Sans Headline Light" pitchFamily="34" charset="0"/>
                          <a:ea typeface="Everyday Sans Headline Light" pitchFamily="34" charset="-122"/>
                          <a:cs typeface="Everyday Sans Headline Light" pitchFamily="34" charset="-120"/>
                        </a:rPr>
                        <a:t>Adoption is growing</a:t>
                      </a:r>
                      <a:endParaRPr lang="en-US" sz="1200" dirty="0">
                        <a:latin typeface="Everyday Sans Headline Light" charset="0"/>
                        <a:ea typeface="Everyday Sans Headline Light" charset="0"/>
                        <a:cs typeface="Everyday Sans Headline Light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Data label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UI Medium 11pt · 1.25× · max 2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001E60"/>
                          </a:solidFill>
                          <a:latin typeface="Everyday Sans UI Medium" pitchFamily="34" charset="0"/>
                          <a:ea typeface="Everyday Sans UI Medium" pitchFamily="34" charset="-122"/>
                          <a:cs typeface="Everyday Sans UI Medium" pitchFamily="34" charset="-120"/>
                        </a:rPr>
                        <a:t>Adoption is growing</a:t>
                      </a:r>
                      <a:endParaRPr lang="en-US" sz="1100" dirty="0">
                        <a:latin typeface="Everyday Sans UI Medium" charset="0"/>
                        <a:ea typeface="Everyday Sans UI Medium" charset="0"/>
                        <a:cs typeface="Everyday Sans UI Medium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7620" y="1168420"/>
          <a:ext cx="5486400" cy="63459"/>
        </p:xfrm>
        <a:graphic>
          <a:graphicData uri="http://schemas.openxmlformats.org/drawingml/2006/table">
            <a:tbl>
              <a:tblPr/>
              <a:tblGrid>
                <a:gridCol w="1460480"/>
                <a:gridCol w="2413010"/>
                <a:gridCol w="1612910"/>
              </a:tblGrid>
              <a:tr h="48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STYLE</a:t>
                      </a:r>
                      <a:endParaRPr lang="en-US" sz="8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38130" marT="19020" marB="190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3C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FACE · SIZE · LEADING · LINES</a:t>
                      </a:r>
                      <a:endParaRPr lang="en-US" sz="8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38130" marT="19020" marB="190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3C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SAMPLE</a:t>
                      </a:r>
                      <a:endParaRPr lang="en-US" sz="8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38130" marT="19020" marB="190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3C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Card title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UI Medium 14pt · 1.2× · max 2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1E60"/>
                          </a:solidFill>
                          <a:latin typeface="Everyday Sans UI Medium" pitchFamily="34" charset="0"/>
                          <a:ea typeface="Everyday Sans UI Medium" pitchFamily="34" charset="-122"/>
                          <a:cs typeface="Everyday Sans UI Medium" pitchFamily="34" charset="-120"/>
                        </a:rPr>
                        <a:t>Adoption is growing</a:t>
                      </a:r>
                      <a:endParaRPr lang="en-US" sz="1200" dirty="0">
                        <a:latin typeface="Everyday Sans UI Medium" charset="0"/>
                        <a:ea typeface="Everyday Sans UI Medium" charset="0"/>
                        <a:cs typeface="Everyday Sans UI Medium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Card body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UI 11pt · 1.35× · max 5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Adoption is growing</a:t>
                      </a:r>
                      <a:endParaRPr lang="en-US" sz="110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Eyebrow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Mono 8pt · 1× · max 1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800" spc="14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EXAMPLE LABEL</a:t>
                      </a:r>
                      <a:endParaRPr lang="en-US" sz="8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Label / section label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Mono 8pt · 1× · max 1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8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EXAMPLE LABEL</a:t>
                      </a:r>
                      <a:endParaRPr lang="en-US" sz="8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Pill / tag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Mono 7.5pt · 1× · max 1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750" spc="90" kern="0" dirty="0">
                          <a:solidFill>
                            <a:srgbClr val="001E60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EXAMPLE LABEL</a:t>
                      </a:r>
                      <a:endParaRPr lang="en-US" sz="75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Table header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Mono 8pt · 1× · max 2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8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EXAMPLE LABEL</a:t>
                      </a:r>
                      <a:endParaRPr lang="en-US" sz="8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Table body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UI 10.5pt · 1.25× · max 3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Adoption is growing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Chart label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UI 9pt · 1× · max 1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Adoption is growing</a:t>
                      </a:r>
                      <a:endParaRPr lang="en-US" sz="90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Chart annotation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UI 10pt · 1.3× · max 3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Adoption is growing</a:t>
                      </a:r>
                      <a:endParaRPr lang="en-US" sz="100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Quote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Light 26pt · 1.2× · max 5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1200" i="1" spc="-40" kern="0" dirty="0">
                          <a:solidFill>
                            <a:srgbClr val="001E60"/>
                          </a:solidFill>
                          <a:latin typeface="Everyday Sans Light" pitchFamily="34" charset="0"/>
                          <a:ea typeface="Everyday Sans Light" pitchFamily="34" charset="-122"/>
                          <a:cs typeface="Everyday Sans Light" pitchFamily="34" charset="-120"/>
                        </a:rPr>
                        <a:t>Adoption is growing</a:t>
                      </a:r>
                      <a:endParaRPr lang="en-US" sz="1200" dirty="0">
                        <a:latin typeface="Everyday Sans Light" charset="0"/>
                        <a:ea typeface="Everyday Sans Light" charset="0"/>
                        <a:cs typeface="Everyday Sans Light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Quote attribution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Mono 8pt · 1× · max 1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800" spc="110" kern="0" dirty="0">
                          <a:solidFill>
                            <a:srgbClr val="001E60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EXAMPLE LABEL</a:t>
                      </a:r>
                      <a:endParaRPr lang="en-US" sz="8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Source / footnote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UI 8pt · 1× · max 2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00000"/>
                        </a:lnSpc>
                        <a:buNone/>
                      </a:pPr>
                      <a:r>
                        <a:rPr lang="en-US" sz="80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Adoption is growing</a:t>
                      </a:r>
                      <a:endParaRPr lang="en-US" sz="80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7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8" name="Body"/>
          <p:cNvSpPr/>
          <p:nvPr>
            <p:ph idx="105" type="body" hasCustomPrompt="1"/>
          </p:nvPr>
        </p:nvSpPr>
        <p:spPr>
          <a:xfrm>
            <a:off x="508041" y="1168420"/>
            <a:ext cx="11175980" cy="482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FOUNDATIONS · COLOUR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FOUNDATIONS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Colour carries meaning, so each colour has exactly one job</a:t>
            </a:r>
            <a:endParaRPr lang="en-US" sz="2800" dirty="0"/>
          </a:p>
        </p:txBody>
      </p:sp>
      <p:sp>
        <p:nvSpPr>
          <p:cNvPr id="5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Navy is ink and dark grounds. True Blue is the thing that matters. Status colours never appear without a shape or a word.</a:t>
            </a:r>
            <a:endParaRPr lang="en-US" sz="1400" dirty="0"/>
          </a:p>
        </p:txBody>
      </p:sp>
      <p:sp>
        <p:nvSpPr>
          <p:cNvPr id="6" name="Source"/>
          <p:cNvSpPr/>
          <p:nvPr>
            <p:ph idx="106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Walmart design system tokens. #E9EEF3 is the quiet structural surface for cards, bands, zones and comparison areas.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8041" y="2438430"/>
            <a:ext cx="1409730" cy="558790"/>
          </a:xfrm>
          <a:prstGeom prst="roundRect">
            <a:avLst>
              <a:gd name="adj" fmla="val 22314"/>
            </a:avLst>
          </a:prstGeom>
          <a:solidFill>
            <a:srgbClr val="001E6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8041" y="3073390"/>
            <a:ext cx="140973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Primary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08041" y="3225820"/>
            <a:ext cx="14097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#001E60 · Text, dark grounds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20859" y="2438430"/>
            <a:ext cx="1409730" cy="558790"/>
          </a:xfrm>
          <a:prstGeom prst="roundRect">
            <a:avLst>
              <a:gd name="adj" fmla="val 22314"/>
            </a:avLst>
          </a:prstGeom>
          <a:solidFill>
            <a:srgbClr val="0053E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120859" y="3073390"/>
            <a:ext cx="140973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120859" y="3225820"/>
            <a:ext cx="14097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#0053E2 · Emphasis, key rules, labels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733770" y="2438430"/>
            <a:ext cx="1409730" cy="558790"/>
          </a:xfrm>
          <a:prstGeom prst="roundRect">
            <a:avLst>
              <a:gd name="adj" fmla="val 22314"/>
            </a:avLst>
          </a:prstGeom>
          <a:solidFill>
            <a:srgbClr val="4DBD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733770" y="3073390"/>
            <a:ext cx="140973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Accent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733770" y="3225820"/>
            <a:ext cx="14097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#4DBDF5 · Accent on dark grounds only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346680" y="2438430"/>
            <a:ext cx="1409730" cy="558790"/>
          </a:xfrm>
          <a:prstGeom prst="roundRect">
            <a:avLst>
              <a:gd name="adj" fmla="val 22314"/>
            </a:avLst>
          </a:prstGeom>
          <a:solidFill>
            <a:srgbClr val="F5F6F8"/>
          </a:solidFill>
          <a:ln w="9525">
            <a:solidFill>
              <a:srgbClr val="C3C6C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46680" y="3073390"/>
            <a:ext cx="140973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346680" y="3225820"/>
            <a:ext cx="14097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#F5F6F8 · Page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959590" y="2438430"/>
            <a:ext cx="1409730" cy="558790"/>
          </a:xfrm>
          <a:prstGeom prst="roundRect">
            <a:avLst>
              <a:gd name="adj" fmla="val 22314"/>
            </a:avLst>
          </a:prstGeom>
          <a:solidFill>
            <a:srgbClr val="FFFFFF"/>
          </a:solidFill>
          <a:ln w="9525">
            <a:solidFill>
              <a:srgbClr val="C3C6C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59590" y="3073390"/>
            <a:ext cx="140973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Surface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959590" y="3225820"/>
            <a:ext cx="14097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#FFFFFF · Raised panels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572500" y="2438430"/>
            <a:ext cx="1409730" cy="558790"/>
          </a:xfrm>
          <a:prstGeom prst="roundRect">
            <a:avLst>
              <a:gd name="adj" fmla="val 22314"/>
            </a:avLst>
          </a:prstGeom>
          <a:solidFill>
            <a:srgbClr val="E9EEF3"/>
          </a:solidFill>
          <a:ln w="9525">
            <a:solidFill>
              <a:srgbClr val="C3C6C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72500" y="3073390"/>
            <a:ext cx="140973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Surface alt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572500" y="3225820"/>
            <a:ext cx="14097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#E9EEF3 · Cards, bands, zones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0185410" y="2438430"/>
            <a:ext cx="1409730" cy="558790"/>
          </a:xfrm>
          <a:prstGeom prst="roundRect">
            <a:avLst>
              <a:gd name="adj" fmla="val 22314"/>
            </a:avLst>
          </a:prstGeom>
          <a:solidFill>
            <a:srgbClr val="DEE1E6"/>
          </a:solidFill>
          <a:ln w="9525">
            <a:solidFill>
              <a:srgbClr val="C3C6C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185410" y="3073390"/>
            <a:ext cx="140973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Border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185410" y="3225820"/>
            <a:ext cx="14097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#DEE1E6 · Hairlines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8041" y="3606759"/>
            <a:ext cx="1409730" cy="558790"/>
          </a:xfrm>
          <a:prstGeom prst="roundRect">
            <a:avLst>
              <a:gd name="adj" fmla="val 22314"/>
            </a:avLst>
          </a:prstGeom>
          <a:solidFill>
            <a:srgbClr val="001E6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08041" y="4241810"/>
            <a:ext cx="140973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Primary text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08041" y="4394241"/>
            <a:ext cx="14097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#001E60 · Headlines, body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120859" y="3606759"/>
            <a:ext cx="1409730" cy="558790"/>
          </a:xfrm>
          <a:prstGeom prst="roundRect">
            <a:avLst>
              <a:gd name="adj" fmla="val 22314"/>
            </a:avLst>
          </a:prstGeom>
          <a:solidFill>
            <a:srgbClr val="3D4A6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2120859" y="4241810"/>
            <a:ext cx="140973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Secondary text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2120859" y="4394241"/>
            <a:ext cx="14097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#3D4A63 · Body, descriptions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733770" y="3606759"/>
            <a:ext cx="1409730" cy="558790"/>
          </a:xfrm>
          <a:prstGeom prst="roundRect">
            <a:avLst>
              <a:gd name="adj" fmla="val 22314"/>
            </a:avLst>
          </a:prstGeom>
          <a:solidFill>
            <a:srgbClr val="5E636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733770" y="4241810"/>
            <a:ext cx="140973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Muted text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733770" y="4394241"/>
            <a:ext cx="14097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#5E636E · Sources, meta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346680" y="3606759"/>
            <a:ext cx="1409730" cy="558790"/>
          </a:xfrm>
          <a:prstGeom prst="roundRect">
            <a:avLst>
              <a:gd name="adj" fmla="val 22314"/>
            </a:avLst>
          </a:prstGeom>
          <a:solidFill>
            <a:srgbClr val="128A08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346680" y="4241810"/>
            <a:ext cx="140973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Positive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346680" y="4394241"/>
            <a:ext cx="14097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#128A08 · On track, gains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959590" y="3606759"/>
            <a:ext cx="1409730" cy="558790"/>
          </a:xfrm>
          <a:prstGeom prst="roundRect">
            <a:avLst>
              <a:gd name="adj" fmla="val 22314"/>
            </a:avLst>
          </a:prstGeom>
          <a:solidFill>
            <a:srgbClr val="B25E0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959590" y="4241810"/>
            <a:ext cx="140973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Warning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959590" y="4394241"/>
            <a:ext cx="14097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#B25E00 · At risk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572500" y="3606759"/>
            <a:ext cx="1409730" cy="558790"/>
          </a:xfrm>
          <a:prstGeom prst="roundRect">
            <a:avLst>
              <a:gd name="adj" fmla="val 22314"/>
            </a:avLst>
          </a:prstGeom>
          <a:solidFill>
            <a:srgbClr val="DE1C24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572500" y="4241810"/>
            <a:ext cx="140973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Negative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8572500" y="4394241"/>
            <a:ext cx="14097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#DE1C24 · Off track, losses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0185410" y="3606759"/>
            <a:ext cx="1409730" cy="558790"/>
          </a:xfrm>
          <a:prstGeom prst="roundRect">
            <a:avLst>
              <a:gd name="adj" fmla="val 22314"/>
            </a:avLst>
          </a:prstGeom>
          <a:solidFill>
            <a:srgbClr val="0053E2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0185410" y="4241810"/>
            <a:ext cx="140973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Informational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10185410" y="4394241"/>
            <a:ext cx="14097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#0053E2 · Neutral notices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508041" y="4851441"/>
            <a:ext cx="254002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CHART &amp; DIAGRAM RAMP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08041" y="5029200"/>
            <a:ext cx="952530" cy="304770"/>
          </a:xfrm>
          <a:prstGeom prst="rect">
            <a:avLst/>
          </a:prstGeom>
          <a:solidFill>
            <a:srgbClr val="001E60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508041" y="5384810"/>
            <a:ext cx="9525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#001E60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460480" y="5029200"/>
            <a:ext cx="952530" cy="304770"/>
          </a:xfrm>
          <a:prstGeom prst="rect">
            <a:avLst/>
          </a:prstGeom>
          <a:solidFill>
            <a:srgbClr val="0053E2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1460480" y="5384810"/>
            <a:ext cx="9525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#0053E2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413010" y="5029200"/>
            <a:ext cx="952530" cy="304770"/>
          </a:xfrm>
          <a:prstGeom prst="rect">
            <a:avLst/>
          </a:prstGeom>
          <a:solidFill>
            <a:srgbClr val="4DBDF5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2413010" y="5384810"/>
            <a:ext cx="9525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#4DBDF5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365541" y="5029200"/>
            <a:ext cx="952530" cy="304770"/>
          </a:xfrm>
          <a:prstGeom prst="rect">
            <a:avLst/>
          </a:prstGeom>
          <a:solidFill>
            <a:srgbClr val="A9DDF7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3365541" y="5384810"/>
            <a:ext cx="9525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#A9DDF7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317980" y="5029200"/>
            <a:ext cx="952530" cy="304770"/>
          </a:xfrm>
          <a:prstGeom prst="rect">
            <a:avLst/>
          </a:prstGeom>
          <a:solidFill>
            <a:srgbClr val="CFE0FF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4317980" y="5384810"/>
            <a:ext cx="9525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#CFE0FF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270510" y="5029200"/>
            <a:ext cx="952530" cy="304770"/>
          </a:xfrm>
          <a:prstGeom prst="rect">
            <a:avLst/>
          </a:prstGeom>
          <a:solidFill>
            <a:srgbClr val="C3C6CD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5270510" y="5384810"/>
            <a:ext cx="9525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#C3C6CD</a:t>
            </a:r>
            <a:endParaRPr lang="en-US" sz="800" dirty="0"/>
          </a:p>
        </p:txBody>
      </p:sp>
      <p:sp>
        <p:nvSpPr>
          <p:cNvPr id="62" name="Text 60"/>
          <p:cNvSpPr txBox="1"/>
          <p:nvPr/>
        </p:nvSpPr>
        <p:spPr>
          <a:xfrm>
            <a:off x="6197620" y="5003780"/>
            <a:ext cx="5486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Highlight the key series in True Blue and mute the rest in #C3C6CD. Use the ramp in order for ordinal data only; nominal categories take one colour.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FOUNDATIONS · SPACING &amp; SHAPE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FOUNDATIONS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An 8-point scale, three radii and three line weights</a:t>
            </a:r>
            <a:endParaRPr lang="en-US" sz="2800" dirty="0"/>
          </a:p>
        </p:txBody>
      </p:sp>
      <p:sp>
        <p:nvSpPr>
          <p:cNvPr id="5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Arbitrary spacing is the fastest way to make a system look improvised. Pick from the scale.</a:t>
            </a:r>
            <a:endParaRPr lang="en-US" sz="1400" dirty="0"/>
          </a:p>
        </p:txBody>
      </p:sp>
      <p:sp>
        <p:nvSpPr>
          <p:cNvPr id="6" name="Source"/>
          <p:cNvSpPr/>
          <p:nvPr>
            <p:ph idx="106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Radii: small = pills (full), medium = cards and panels (12px), large = hero containers (24px). Lines: 0.75pt hairline, 1pt rule, 1.5pt emphasis. Nothing thinner survives export.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508041" y="2463759"/>
            <a:ext cx="57150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XS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079541" y="2463759"/>
            <a:ext cx="57150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4px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51041" y="2476470"/>
            <a:ext cx="101590" cy="114300"/>
          </a:xfrm>
          <a:prstGeom prst="rect">
            <a:avLst/>
          </a:prstGeom>
          <a:solidFill>
            <a:srgbClr val="0053E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8041" y="2781330"/>
            <a:ext cx="57150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079541" y="2781330"/>
            <a:ext cx="57150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8px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651041" y="2794041"/>
            <a:ext cx="203180" cy="114300"/>
          </a:xfrm>
          <a:prstGeom prst="rect">
            <a:avLst/>
          </a:prstGeom>
          <a:solidFill>
            <a:srgbClr val="0053E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8041" y="3098810"/>
            <a:ext cx="57150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M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79541" y="3098810"/>
            <a:ext cx="57150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16px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651041" y="3111520"/>
            <a:ext cx="406359" cy="114300"/>
          </a:xfrm>
          <a:prstGeom prst="rect">
            <a:avLst/>
          </a:prstGeom>
          <a:solidFill>
            <a:srgbClr val="0053E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8041" y="3416290"/>
            <a:ext cx="57150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L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79541" y="3416290"/>
            <a:ext cx="57150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24px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651041" y="3429000"/>
            <a:ext cx="609630" cy="114300"/>
          </a:xfrm>
          <a:prstGeom prst="rect">
            <a:avLst/>
          </a:prstGeom>
          <a:solidFill>
            <a:srgbClr val="0053E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08041" y="3733770"/>
            <a:ext cx="57150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XL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079541" y="3733770"/>
            <a:ext cx="57150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32px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651041" y="3746480"/>
            <a:ext cx="812810" cy="114300"/>
          </a:xfrm>
          <a:prstGeom prst="rect">
            <a:avLst/>
          </a:prstGeom>
          <a:solidFill>
            <a:srgbClr val="0053E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08041" y="4051341"/>
            <a:ext cx="57150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2XL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079541" y="4051341"/>
            <a:ext cx="57150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48px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651041" y="4063959"/>
            <a:ext cx="1219170" cy="114300"/>
          </a:xfrm>
          <a:prstGeom prst="rect">
            <a:avLst/>
          </a:prstGeom>
          <a:solidFill>
            <a:srgbClr val="0053E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08041" y="4368820"/>
            <a:ext cx="57150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3XL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1079541" y="4368820"/>
            <a:ext cx="57150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64px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651041" y="4381530"/>
            <a:ext cx="1625620" cy="114300"/>
          </a:xfrm>
          <a:prstGeom prst="rect">
            <a:avLst/>
          </a:prstGeom>
          <a:solidFill>
            <a:srgbClr val="0053E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08041" y="4686300"/>
            <a:ext cx="57150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4XL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079541" y="4686300"/>
            <a:ext cx="57150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80px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651041" y="4699010"/>
            <a:ext cx="2031980" cy="114300"/>
          </a:xfrm>
          <a:prstGeom prst="rect">
            <a:avLst/>
          </a:prstGeom>
          <a:solidFill>
            <a:srgbClr val="0053E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08041" y="5003780"/>
            <a:ext cx="57150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5XL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1079541" y="5003780"/>
            <a:ext cx="57150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96px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651041" y="5016490"/>
            <a:ext cx="2438430" cy="114300"/>
          </a:xfrm>
          <a:prstGeom prst="rect">
            <a:avLst/>
          </a:prstGeom>
          <a:solidFill>
            <a:srgbClr val="0053E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197620" y="2438430"/>
            <a:ext cx="254002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RADIUS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197620" y="2667030"/>
            <a:ext cx="977859" cy="177759"/>
          </a:xfrm>
          <a:prstGeom prst="roundRect">
            <a:avLst>
              <a:gd name="adj" fmla="val 257202"/>
            </a:avLst>
          </a:prstGeom>
          <a:solidFill>
            <a:srgbClr val="D7EEF9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197620" y="2667030"/>
            <a:ext cx="977859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9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SMALL · PILL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848570" y="2667030"/>
            <a:ext cx="1397020" cy="761970"/>
          </a:xfrm>
          <a:prstGeom prst="roundRect">
            <a:avLst>
              <a:gd name="adj" fmla="val 12000"/>
            </a:avLst>
          </a:prstGeom>
          <a:solidFill>
            <a:srgbClr val="E9EEF3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001000" y="2819370"/>
            <a:ext cx="114300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Medium · card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499610" y="2667030"/>
            <a:ext cx="1777959" cy="761970"/>
          </a:xfrm>
          <a:prstGeom prst="roundRect">
            <a:avLst>
              <a:gd name="adj" fmla="val 24001"/>
            </a:avLst>
          </a:prstGeom>
          <a:solidFill>
            <a:srgbClr val="E9EEF3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652041" y="2819370"/>
            <a:ext cx="139702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Large · hero container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6197620" y="3835359"/>
            <a:ext cx="254002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LINE WEIGHTS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197620" y="4140220"/>
            <a:ext cx="5080041" cy="0"/>
          </a:xfrm>
          <a:prstGeom prst="line">
            <a:avLst/>
          </a:prstGeom>
          <a:noFill/>
          <a:ln w="9525">
            <a:solidFill>
              <a:srgbClr val="DEE1E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197620" y="4203680"/>
            <a:ext cx="5080041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0.75pt hairline · rows, dividers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197620" y="4546580"/>
            <a:ext cx="5080041" cy="0"/>
          </a:xfrm>
          <a:prstGeom prst="line">
            <a:avLst/>
          </a:prstGeom>
          <a:noFill/>
          <a:ln w="12700">
            <a:solidFill>
              <a:srgbClr val="C3C6C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197620" y="4610130"/>
            <a:ext cx="5080041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1pt rule · header underline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197620" y="4953030"/>
            <a:ext cx="5080041" cy="0"/>
          </a:xfrm>
          <a:prstGeom prst="line">
            <a:avLst/>
          </a:prstGeom>
          <a:noFill/>
          <a:ln w="19050">
            <a:solidFill>
              <a:srgbClr val="0053E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197620" y="5016490"/>
            <a:ext cx="5080041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1.5pt emphasis · the rule that matters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FOUNDATIONS · DENSITY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FOUNDATIONS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Light, standard and dense are different compositions, not different font sizes</a:t>
            </a:r>
            <a:endParaRPr lang="en-US" sz="2800" dirty="0"/>
          </a:p>
        </p:txBody>
      </p:sp>
      <p:sp>
        <p:nvSpPr>
          <p:cNvPr id="5" name="R1 label"/>
          <p:cNvSpPr/>
          <p:nvPr>
            <p:ph idx="107" type="body" hasCustomPrompt="1"/>
          </p:nvPr>
        </p:nvSpPr>
        <p:spPr>
          <a:xfrm>
            <a:off x="508041" y="2578059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LIGHT</a:t>
            </a:r>
            <a:endParaRPr lang="en-US" sz="800" dirty="0"/>
          </a:p>
        </p:txBody>
      </p:sp>
      <p:sp>
        <p:nvSpPr>
          <p:cNvPr id="6" name="R1 text"/>
          <p:cNvSpPr/>
          <p:nvPr>
            <p:ph idx="108" type="body" hasCustomPrompt="1"/>
          </p:nvPr>
        </p:nvSpPr>
        <p:spPr>
          <a:xfrm>
            <a:off x="3352830" y="2540020"/>
            <a:ext cx="833119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Hero statement, single metric, single quote, section transition. Use for visual rest and for the lines the room should remember.</a:t>
            </a:r>
            <a:endParaRPr lang="en-US" sz="1800" dirty="0"/>
          </a:p>
        </p:txBody>
      </p:sp>
      <p:sp>
        <p:nvSpPr>
          <p:cNvPr id="7" name="R2 label"/>
          <p:cNvSpPr/>
          <p:nvPr>
            <p:ph idx="110" type="body" hasCustomPrompt="1"/>
          </p:nvPr>
        </p:nvSpPr>
        <p:spPr>
          <a:xfrm>
            <a:off x="508041" y="3454420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STANDARD</a:t>
            </a:r>
            <a:endParaRPr lang="en-US" sz="800" dirty="0"/>
          </a:p>
        </p:txBody>
      </p:sp>
      <p:sp>
        <p:nvSpPr>
          <p:cNvPr id="8" name="R2 text"/>
          <p:cNvSpPr/>
          <p:nvPr>
            <p:ph idx="111" type="body" hasCustomPrompt="1"/>
          </p:nvPr>
        </p:nvSpPr>
        <p:spPr>
          <a:xfrm>
            <a:off x="3352830" y="3416290"/>
            <a:ext cx="833119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The default. One headline, one composition, 40–90 words of support. Most slides in a leadership deck.</a:t>
            </a:r>
            <a:endParaRPr lang="en-US" sz="1800" dirty="0"/>
          </a:p>
        </p:txBody>
      </p:sp>
      <p:sp>
        <p:nvSpPr>
          <p:cNvPr id="9" name="R3 label"/>
          <p:cNvSpPr/>
          <p:nvPr>
            <p:ph idx="113" type="body" hasCustomPrompt="1"/>
          </p:nvPr>
        </p:nvSpPr>
        <p:spPr>
          <a:xfrm>
            <a:off x="508041" y="4330690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DENSE</a:t>
            </a:r>
            <a:endParaRPr lang="en-US" sz="800" dirty="0"/>
          </a:p>
        </p:txBody>
      </p:sp>
      <p:sp>
        <p:nvSpPr>
          <p:cNvPr id="10" name="R3 text"/>
          <p:cNvSpPr/>
          <p:nvPr>
            <p:ph idx="114" type="body" hasCustomPrompt="1"/>
          </p:nvPr>
        </p:nvSpPr>
        <p:spPr>
          <a:xfrm>
            <a:off x="3352830" y="4292559"/>
            <a:ext cx="833119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Layout 26. A compact header and a larger content zone for tables, logs and appendix material. Never a standard slide with smaller type.</a:t>
            </a:r>
            <a:endParaRPr lang="en-US" sz="1800" dirty="0"/>
          </a:p>
        </p:txBody>
      </p:sp>
      <p:sp>
        <p:nvSpPr>
          <p:cNvPr id="11" name="R4 label"/>
          <p:cNvSpPr/>
          <p:nvPr>
            <p:ph idx="116" type="body" hasCustomPrompt="1"/>
          </p:nvPr>
        </p:nvSpPr>
        <p:spPr>
          <a:xfrm>
            <a:off x="508041" y="5206959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OVERFLOW ORDER</a:t>
            </a:r>
            <a:endParaRPr lang="en-US" sz="800" dirty="0"/>
          </a:p>
        </p:txBody>
      </p:sp>
      <p:sp>
        <p:nvSpPr>
          <p:cNvPr id="12" name="R4 text"/>
          <p:cNvSpPr/>
          <p:nvPr>
            <p:ph idx="117" type="body" hasCustomPrompt="1"/>
          </p:nvPr>
        </p:nvSpPr>
        <p:spPr>
          <a:xfrm>
            <a:off x="3352830" y="5168920"/>
            <a:ext cx="833119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Tighten copy → higher-density variant → change layout → split the slide → reduce type within the minimums. Never shrink until it fits.</a:t>
            </a:r>
            <a:endParaRPr lang="en-US" sz="1800" dirty="0"/>
          </a:p>
        </p:txBody>
      </p:sp>
      <p:sp>
        <p:nvSpPr>
          <p:cNvPr id="13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endParaRPr lang="en-US" sz="1400" dirty="0"/>
          </a:p>
        </p:txBody>
      </p:sp>
      <p:sp>
        <p:nvSpPr>
          <p:cNvPr id="14" name="Source"/>
          <p:cNvSpPr/>
          <p:nvPr>
            <p:ph idx="118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/>
          <p:nvPr>
            <p:ph idx="103" type="body" hasCustomPrompt="1"/>
          </p:nvPr>
        </p:nvSpPr>
        <p:spPr>
          <a:xfrm>
            <a:off x="508041" y="2413010"/>
            <a:ext cx="5080041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4DBDF5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SYSTEM 02</a:t>
            </a:r>
            <a:endParaRPr lang="en-US" sz="800" dirty="0"/>
          </a:p>
        </p:txBody>
      </p:sp>
      <p:sp>
        <p:nvSpPr>
          <p:cNvPr id="3" name="Section"/>
          <p:cNvSpPr/>
          <p:nvPr>
            <p:ph idx="100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CFE0FB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LAYOUT PICKER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2667030"/>
            <a:ext cx="9525030" cy="1206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600" spc="-100" kern="0" dirty="0">
                <a:solidFill>
                  <a:srgbClr val="FFFFFF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Layout picker</a:t>
            </a:r>
            <a:endParaRPr lang="en-US" sz="5600" dirty="0"/>
          </a:p>
        </p:txBody>
      </p:sp>
      <p:sp>
        <p:nvSpPr>
          <p:cNvPr id="5" name="Subtitle"/>
          <p:cNvSpPr/>
          <p:nvPr>
            <p:ph idx="105" type="body" hasCustomPrompt="1"/>
          </p:nvPr>
        </p:nvSpPr>
        <p:spPr>
          <a:xfrm>
            <a:off x="508041" y="4063959"/>
            <a:ext cx="698501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CFE0FB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What kind of slide do I need? Start from the communication job, not from the gallery.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FE0FB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4" type="title" hasCustomPrompt="1"/>
          </p:nvPr>
        </p:nvSpPr>
        <p:spPr>
          <a:xfrm>
            <a:off x="508041" y="558790"/>
            <a:ext cx="11175980" cy="4063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spc="-5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Fourteen communication jobs, each mapped to the layouts that serve it</a:t>
            </a:r>
            <a:endParaRPr lang="en-US" sz="2200" dirty="0"/>
          </a:p>
        </p:txBody>
      </p:sp>
      <p:sp>
        <p:nvSpPr>
          <p:cNvPr id="3" name="Source"/>
          <p:cNvSpPr/>
          <p:nvPr>
            <p:ph idx="106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Numbers are layout numbers in Home → New Slide. The full pattern catalog (≈150 named patterns → layout + variant) is in USAGE.md next to this file.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41" y="1168420"/>
          <a:ext cx="11175980" cy="63459"/>
        </p:xfrm>
        <a:graphic>
          <a:graphicData uri="http://schemas.openxmlformats.org/drawingml/2006/table">
            <a:tbl>
              <a:tblPr/>
              <a:tblGrid>
                <a:gridCol w="1397020"/>
                <a:gridCol w="2920959"/>
                <a:gridCol w="6858000"/>
              </a:tblGrid>
              <a:tr h="42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JOB</a:t>
                      </a:r>
                      <a:endParaRPr lang="en-US" sz="8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50841" marT="44440" marB="4444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3C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USE WHEN YOU ARE…</a:t>
                      </a:r>
                      <a:endParaRPr lang="en-US" sz="8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50841" marT="44440" marB="4444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3C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LAYOUTS</a:t>
                      </a:r>
                      <a:endParaRPr lang="en-US" sz="8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50841" marT="44440" marB="4444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3C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9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START</a:t>
                      </a:r>
                      <a:endParaRPr lang="en-US" sz="9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Opening the deck or a section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01 Cover — Minimal · 02 Cover — Editorial · 03 Cover — Visual · 04 Agenda · 05 Section Divider · 06 Section Divider — Statement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9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TELL</a:t>
                      </a:r>
                      <a:endParaRPr lang="en-US" sz="9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Landing one idea or a narrative beat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07 Hero Statement · 10 Title + Body · 15 Label Rail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9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PROVE</a:t>
                      </a:r>
                      <a:endParaRPr lang="en-US" sz="9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Showing evidence behind a claim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08 Statement + Evidence · 12 Split 8 + 4 · 23 Chart + Insight · 24 Chart — Full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9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EXPLAIN</a:t>
                      </a:r>
                      <a:endParaRPr lang="en-US" sz="9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Frameworks, systems, workflows, diagrams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09 Title Only · 15 Label Rail · 17 Grid 2 × 2 · 18 Grid 3 × 2 · 19 Process · 29–30 Screenshot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9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CUSTOMER</a:t>
                      </a:r>
                      <a:endParaRPr lang="en-US" sz="9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Research, quotes, pain points, journeys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27 Quote — Hero · 28 Quote Wall · 18 Grid 3 × 2 · 19 Process (journey) · 25 Table (research)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9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STRATEGY</a:t>
                      </a:r>
                      <a:endParaRPr lang="en-US" sz="9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Pillars, choices, principles, vision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13 Three Column · 14 Four Column · 07 Hero Statement · 15 Label Rail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9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PRIORITIZE</a:t>
                      </a:r>
                      <a:endParaRPr lang="en-US" sz="9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Ranking and sequencing what matters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20 Now / Next / Later · 25 Table · 09 Title Only (2×2 matrix)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9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DECIDE</a:t>
                      </a:r>
                      <a:endParaRPr lang="en-US" sz="9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Getting a decision in the room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32 Options — 3 · 31 Recommendation · 25 Table (decision log)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9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PLAN</a:t>
                      </a:r>
                      <a:endParaRPr lang="en-US" sz="9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Roadmaps, milestones, dependencies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20 Now / Next / Later · 19 Process · 09 Title Only (timeline, swimlane) · 26 Dense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9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MEASURE</a:t>
                      </a:r>
                      <a:endParaRPr lang="en-US" sz="9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KPIs, performance, success frameworks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21 Hero Metric · 22 KPI Row — 4 · 23 Chart + Insight · 25 Table (KPI)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9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COMPARE</a:t>
                      </a:r>
                      <a:endParaRPr lang="en-US" sz="9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Side by side, current vs future, gaps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11 Two Column · 16 Current → Future · 25 Table · 32 Options — 3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9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OPERATE</a:t>
                      </a:r>
                      <a:endParaRPr lang="en-US" sz="9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Operating models, ownership, loops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09 Title Only (loop, hub, layers) · 15 Label Rail · 25 Table (RACI)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9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UPDATE</a:t>
                      </a:r>
                      <a:endParaRPr lang="en-US" sz="9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Status, progress, readiness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22 KPI Row — 4 · 25 Table (status) · 15 Label Rail (wins / risks / next) · 26 Dense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1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9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CLOSE</a:t>
                      </a:r>
                      <a:endParaRPr lang="en-US" sz="9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Takeaways, asks, next steps, appendix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33 Closing — Takeaways &amp; Ask · 31 Recommendation · 34 Appendix Divider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6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7" name="Body"/>
          <p:cNvSpPr/>
          <p:nvPr>
            <p:ph idx="105" type="body" hasCustomPrompt="1"/>
          </p:nvPr>
        </p:nvSpPr>
        <p:spPr>
          <a:xfrm>
            <a:off x="508041" y="1168420"/>
            <a:ext cx="11175980" cy="482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4" type="title" hasCustomPrompt="1"/>
          </p:nvPr>
        </p:nvSpPr>
        <p:spPr>
          <a:xfrm>
            <a:off x="508041" y="558790"/>
            <a:ext cx="11175980" cy="4063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spc="-5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Layout catalog 1 of 5: 01–08</a:t>
            </a:r>
            <a:endParaRPr lang="en-US" sz="2200" dirty="0"/>
          </a:p>
        </p:txBody>
      </p:sp>
      <p:pic>
        <p:nvPicPr>
          <p:cNvPr id="3" name="Image 0" descr="01 Cover — Minimal examp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1168420"/>
            <a:ext cx="2641610" cy="14859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8041" y="1168420"/>
            <a:ext cx="2641610" cy="1485900"/>
          </a:xfrm>
          <a:prstGeom prst="rect">
            <a:avLst/>
          </a:prstGeom>
          <a:ln w="9525">
            <a:solidFill>
              <a:srgbClr val="DEE1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8041" y="2717780"/>
            <a:ext cx="26416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01 Cover — Minimal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08041" y="2920959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START · IDEAL TITLE ≤ 12 WORDS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508041" y="3086100"/>
            <a:ext cx="264161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Deck cover on a dark ground</a:t>
            </a:r>
            <a:endParaRPr lang="en-US" sz="900" dirty="0"/>
          </a:p>
        </p:txBody>
      </p:sp>
      <p:pic>
        <p:nvPicPr>
          <p:cNvPr id="8" name="Image 1" descr="02 Cover — Editorial examp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30" y="1168420"/>
            <a:ext cx="2641610" cy="14859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352830" y="1168420"/>
            <a:ext cx="2641610" cy="1485900"/>
          </a:xfrm>
          <a:prstGeom prst="rect">
            <a:avLst/>
          </a:prstGeom>
          <a:ln w="9525">
            <a:solidFill>
              <a:srgbClr val="DEE1E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352830" y="2717780"/>
            <a:ext cx="26416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02 Cover — Editorial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3352830" y="2920959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START · IDEAL TITLE ≤ 14 WORDS</a:t>
            </a:r>
            <a:endParaRPr lang="en-US" sz="700" dirty="0"/>
          </a:p>
        </p:txBody>
      </p:sp>
      <p:sp>
        <p:nvSpPr>
          <p:cNvPr id="12" name="Text 8"/>
          <p:cNvSpPr txBox="1"/>
          <p:nvPr/>
        </p:nvSpPr>
        <p:spPr>
          <a:xfrm>
            <a:off x="3352830" y="3086100"/>
            <a:ext cx="264161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Cover for a document-style or leave-behind deck</a:t>
            </a:r>
            <a:endParaRPr lang="en-US" sz="900" dirty="0"/>
          </a:p>
        </p:txBody>
      </p:sp>
      <p:pic>
        <p:nvPicPr>
          <p:cNvPr id="13" name="Image 2" descr="03 Cover — Visual examp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20" y="1168420"/>
            <a:ext cx="2641610" cy="14859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197620" y="1168420"/>
            <a:ext cx="2641610" cy="1485900"/>
          </a:xfrm>
          <a:prstGeom prst="rect">
            <a:avLst/>
          </a:prstGeom>
          <a:ln w="9525">
            <a:solidFill>
              <a:srgbClr val="DEE1E6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197620" y="2717780"/>
            <a:ext cx="26416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03 Cover — Visual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6197620" y="2920959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START · IDEAL TITLE ≤ 10 WORDS</a:t>
            </a:r>
            <a:endParaRPr lang="en-US" sz="700" dirty="0"/>
          </a:p>
        </p:txBody>
      </p:sp>
      <p:sp>
        <p:nvSpPr>
          <p:cNvPr id="17" name="Text 12"/>
          <p:cNvSpPr txBox="1"/>
          <p:nvPr/>
        </p:nvSpPr>
        <p:spPr>
          <a:xfrm>
            <a:off x="6197620" y="3086100"/>
            <a:ext cx="264161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Cover led by a product image or screenshot</a:t>
            </a:r>
            <a:endParaRPr lang="en-US" sz="900" dirty="0"/>
          </a:p>
        </p:txBody>
      </p:sp>
      <p:pic>
        <p:nvPicPr>
          <p:cNvPr id="18" name="Image 3" descr="04 Agenda examp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2410" y="1168420"/>
            <a:ext cx="2641610" cy="14859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9042410" y="1168420"/>
            <a:ext cx="2641610" cy="1485900"/>
          </a:xfrm>
          <a:prstGeom prst="rect">
            <a:avLst/>
          </a:prstGeom>
          <a:ln w="9525">
            <a:solidFill>
              <a:srgbClr val="DEE1E6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9042410" y="2717780"/>
            <a:ext cx="26416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04 Agenda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9042410" y="2920959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START · IDEAL 4–6 ITEMS</a:t>
            </a:r>
            <a:endParaRPr lang="en-US" sz="700" dirty="0"/>
          </a:p>
        </p:txBody>
      </p:sp>
      <p:sp>
        <p:nvSpPr>
          <p:cNvPr id="22" name="Text 16"/>
          <p:cNvSpPr txBox="1"/>
          <p:nvPr/>
        </p:nvSpPr>
        <p:spPr>
          <a:xfrm>
            <a:off x="9042410" y="3086100"/>
            <a:ext cx="264161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Agenda, content map, section map</a:t>
            </a:r>
            <a:endParaRPr lang="en-US" sz="900" dirty="0"/>
          </a:p>
        </p:txBody>
      </p:sp>
      <p:pic>
        <p:nvPicPr>
          <p:cNvPr id="23" name="Image 4" descr="05 Section Divider examp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41" y="3606759"/>
            <a:ext cx="2641610" cy="148590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508041" y="3606759"/>
            <a:ext cx="2641610" cy="1485900"/>
          </a:xfrm>
          <a:prstGeom prst="rect">
            <a:avLst/>
          </a:prstGeom>
          <a:ln w="9525">
            <a:solidFill>
              <a:srgbClr val="DEE1E6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508041" y="5156210"/>
            <a:ext cx="26416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05 Section Divider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508041" y="5359390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START · IDEAL NAME ≤ 5 WORDS, ARGUMENT ≤ 20</a:t>
            </a:r>
            <a:endParaRPr lang="en-US" sz="700" dirty="0"/>
          </a:p>
        </p:txBody>
      </p:sp>
      <p:sp>
        <p:nvSpPr>
          <p:cNvPr id="27" name="Text 20"/>
          <p:cNvSpPr txBox="1"/>
          <p:nvPr/>
        </p:nvSpPr>
        <p:spPr>
          <a:xfrm>
            <a:off x="508041" y="5524530"/>
            <a:ext cx="264161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Section transition that carries the section’s argument</a:t>
            </a:r>
            <a:endParaRPr lang="en-US" sz="900" dirty="0"/>
          </a:p>
        </p:txBody>
      </p:sp>
      <p:pic>
        <p:nvPicPr>
          <p:cNvPr id="28" name="Image 5" descr="06 Section Divider — Statement examp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2830" y="3606759"/>
            <a:ext cx="2641610" cy="148590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3352830" y="3606759"/>
            <a:ext cx="2641610" cy="1485900"/>
          </a:xfrm>
          <a:prstGeom prst="rect">
            <a:avLst/>
          </a:prstGeom>
          <a:ln w="9525">
            <a:solidFill>
              <a:srgbClr val="DEE1E6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3352830" y="5156210"/>
            <a:ext cx="26416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06 Section Divider — Statement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3352830" y="5359390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START · IDEAL ≤ 18 WORDS</a:t>
            </a:r>
            <a:endParaRPr lang="en-US" sz="700" dirty="0"/>
          </a:p>
        </p:txBody>
      </p:sp>
      <p:sp>
        <p:nvSpPr>
          <p:cNvPr id="32" name="Text 24"/>
          <p:cNvSpPr txBox="1"/>
          <p:nvPr/>
        </p:nvSpPr>
        <p:spPr>
          <a:xfrm>
            <a:off x="3352830" y="5524530"/>
            <a:ext cx="264161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Transition that lands a statement, visual rest</a:t>
            </a:r>
            <a:endParaRPr lang="en-US" sz="900" dirty="0"/>
          </a:p>
        </p:txBody>
      </p:sp>
      <p:pic>
        <p:nvPicPr>
          <p:cNvPr id="33" name="Image 6" descr="07 Hero Statement exampl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7620" y="3606759"/>
            <a:ext cx="2641610" cy="1485900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6197620" y="3606759"/>
            <a:ext cx="2641610" cy="1485900"/>
          </a:xfrm>
          <a:prstGeom prst="rect">
            <a:avLst/>
          </a:prstGeom>
          <a:ln w="9525">
            <a:solidFill>
              <a:srgbClr val="DEE1E6"/>
            </a:solidFill>
            <a:prstDash val="solid"/>
          </a:ln>
        </p:spPr>
      </p:sp>
      <p:sp>
        <p:nvSpPr>
          <p:cNvPr id="35" name="Text 26"/>
          <p:cNvSpPr txBox="1"/>
          <p:nvPr/>
        </p:nvSpPr>
        <p:spPr>
          <a:xfrm>
            <a:off x="6197620" y="5156210"/>
            <a:ext cx="26416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07 Hero Statement</a:t>
            </a:r>
            <a:endParaRPr lang="en-US" sz="1100" dirty="0"/>
          </a:p>
        </p:txBody>
      </p:sp>
      <p:sp>
        <p:nvSpPr>
          <p:cNvPr id="36" name="Text 27"/>
          <p:cNvSpPr txBox="1"/>
          <p:nvPr/>
        </p:nvSpPr>
        <p:spPr>
          <a:xfrm>
            <a:off x="6197620" y="5359390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TELL · IDEAL ≤ 20 WORDS</a:t>
            </a:r>
            <a:endParaRPr lang="en-US" sz="700" dirty="0"/>
          </a:p>
        </p:txBody>
      </p:sp>
      <p:sp>
        <p:nvSpPr>
          <p:cNvPr id="37" name="Text 28"/>
          <p:cNvSpPr txBox="1"/>
          <p:nvPr/>
        </p:nvSpPr>
        <p:spPr>
          <a:xfrm>
            <a:off x="6197620" y="5524530"/>
            <a:ext cx="264161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Hero statement, big question, key takeaway, north star, vision line</a:t>
            </a:r>
            <a:endParaRPr lang="en-US" sz="900" dirty="0"/>
          </a:p>
        </p:txBody>
      </p:sp>
      <p:pic>
        <p:nvPicPr>
          <p:cNvPr id="38" name="Image 7" descr="08 Statement + Evidence exampl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2410" y="3606759"/>
            <a:ext cx="2641610" cy="1485900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9042410" y="3606759"/>
            <a:ext cx="2641610" cy="1485900"/>
          </a:xfrm>
          <a:prstGeom prst="rect">
            <a:avLst/>
          </a:prstGeom>
          <a:ln w="9525">
            <a:solidFill>
              <a:srgbClr val="DEE1E6"/>
            </a:solidFill>
            <a:prstDash val="solid"/>
          </a:ln>
        </p:spPr>
      </p:sp>
      <p:sp>
        <p:nvSpPr>
          <p:cNvPr id="40" name="Text 30"/>
          <p:cNvSpPr txBox="1"/>
          <p:nvPr/>
        </p:nvSpPr>
        <p:spPr>
          <a:xfrm>
            <a:off x="9042410" y="5156210"/>
            <a:ext cx="26416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08 Statement + Evidence</a:t>
            </a:r>
            <a:endParaRPr lang="en-US" sz="1100" dirty="0"/>
          </a:p>
        </p:txBody>
      </p:sp>
      <p:sp>
        <p:nvSpPr>
          <p:cNvPr id="41" name="Text 31"/>
          <p:cNvSpPr txBox="1"/>
          <p:nvPr/>
        </p:nvSpPr>
        <p:spPr>
          <a:xfrm>
            <a:off x="9042410" y="5359390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PROVE · IDEAL 1 CLAIM + 3 PROOF POINTS</a:t>
            </a:r>
            <a:endParaRPr lang="en-US" sz="700" dirty="0"/>
          </a:p>
        </p:txBody>
      </p:sp>
      <p:sp>
        <p:nvSpPr>
          <p:cNvPr id="42" name="Text 32"/>
          <p:cNvSpPr txBox="1"/>
          <p:nvPr/>
        </p:nvSpPr>
        <p:spPr>
          <a:xfrm>
            <a:off x="9042410" y="5524530"/>
            <a:ext cx="264161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Statement + evidence, situation → implication, why now</a:t>
            </a:r>
            <a:endParaRPr lang="en-US" sz="900" dirty="0"/>
          </a:p>
        </p:txBody>
      </p:sp>
      <p:sp>
        <p:nvSpPr>
          <p:cNvPr id="43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44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45" name="Body"/>
          <p:cNvSpPr/>
          <p:nvPr>
            <p:ph idx="105" type="body" hasCustomPrompt="1"/>
          </p:nvPr>
        </p:nvSpPr>
        <p:spPr>
          <a:xfrm>
            <a:off x="508041" y="1168420"/>
            <a:ext cx="11175980" cy="482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endParaRPr lang="en-US" sz="1050" dirty="0"/>
          </a:p>
        </p:txBody>
      </p:sp>
      <p:sp>
        <p:nvSpPr>
          <p:cNvPr id="46" name="Source"/>
          <p:cNvSpPr/>
          <p:nvPr>
            <p:ph idx="106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4" type="title" hasCustomPrompt="1"/>
          </p:nvPr>
        </p:nvSpPr>
        <p:spPr>
          <a:xfrm>
            <a:off x="508041" y="558790"/>
            <a:ext cx="11175980" cy="4063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spc="-5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Layout catalog 2 of 5: 09–16</a:t>
            </a:r>
            <a:endParaRPr lang="en-US" sz="2200" dirty="0"/>
          </a:p>
        </p:txBody>
      </p:sp>
      <p:pic>
        <p:nvPicPr>
          <p:cNvPr id="3" name="Image 0" descr="09 Title Only examp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1168420"/>
            <a:ext cx="2641610" cy="14859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8041" y="1168420"/>
            <a:ext cx="2641610" cy="1485900"/>
          </a:xfrm>
          <a:prstGeom prst="rect">
            <a:avLst/>
          </a:prstGeom>
          <a:ln w="9525">
            <a:solidFill>
              <a:srgbClr val="DEE1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8041" y="2717780"/>
            <a:ext cx="26416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09 Title Only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08041" y="2920959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EXPLAIN · IDEAL ONE DIAGRAM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508041" y="3086100"/>
            <a:ext cx="264161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Workhorse for diagrams, charts, components and infographic primitives</a:t>
            </a:r>
            <a:endParaRPr lang="en-US" sz="900" dirty="0"/>
          </a:p>
        </p:txBody>
      </p:sp>
      <p:pic>
        <p:nvPicPr>
          <p:cNvPr id="8" name="Image 1" descr="10 Title + Body examp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30" y="1168420"/>
            <a:ext cx="2641610" cy="14859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352830" y="1168420"/>
            <a:ext cx="2641610" cy="1485900"/>
          </a:xfrm>
          <a:prstGeom prst="rect">
            <a:avLst/>
          </a:prstGeom>
          <a:ln w="9525">
            <a:solidFill>
              <a:srgbClr val="DEE1E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352830" y="2717780"/>
            <a:ext cx="26416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10 Title + Body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3352830" y="2920959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TELL · IDEAL 60–90 WORDS</a:t>
            </a:r>
            <a:endParaRPr lang="en-US" sz="700" dirty="0"/>
          </a:p>
        </p:txBody>
      </p:sp>
      <p:sp>
        <p:nvSpPr>
          <p:cNvPr id="12" name="Text 8"/>
          <p:cNvSpPr txBox="1"/>
          <p:nvPr/>
        </p:nvSpPr>
        <p:spPr>
          <a:xfrm>
            <a:off x="3352830" y="3086100"/>
            <a:ext cx="264161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Narrative prose, executive summary text, context</a:t>
            </a:r>
            <a:endParaRPr lang="en-US" sz="900" dirty="0"/>
          </a:p>
        </p:txBody>
      </p:sp>
      <p:pic>
        <p:nvPicPr>
          <p:cNvPr id="13" name="Image 2" descr="11 Two Column examp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20" y="1168420"/>
            <a:ext cx="2641610" cy="14859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197620" y="1168420"/>
            <a:ext cx="2641610" cy="1485900"/>
          </a:xfrm>
          <a:prstGeom prst="rect">
            <a:avLst/>
          </a:prstGeom>
          <a:ln w="9525">
            <a:solidFill>
              <a:srgbClr val="DEE1E6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197620" y="2717780"/>
            <a:ext cx="26416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11 Two Column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6197620" y="2920959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COMPARE · IDEAL 2 × 40 WORDS</a:t>
            </a:r>
            <a:endParaRPr lang="en-US" sz="700" dirty="0"/>
          </a:p>
        </p:txBody>
      </p:sp>
      <p:sp>
        <p:nvSpPr>
          <p:cNvPr id="17" name="Text 12"/>
          <p:cNvSpPr txBox="1"/>
          <p:nvPr/>
        </p:nvSpPr>
        <p:spPr>
          <a:xfrm>
            <a:off x="6197620" y="3086100"/>
            <a:ext cx="264161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Side-by-side, problem → opportunity, pros / cons, similarities / differences</a:t>
            </a:r>
            <a:endParaRPr lang="en-US" sz="900" dirty="0"/>
          </a:p>
        </p:txBody>
      </p:sp>
      <p:pic>
        <p:nvPicPr>
          <p:cNvPr id="18" name="Image 3" descr="12 Split 8 + 4 examp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2410" y="1168420"/>
            <a:ext cx="2641610" cy="14859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9042410" y="1168420"/>
            <a:ext cx="2641610" cy="1485900"/>
          </a:xfrm>
          <a:prstGeom prst="rect">
            <a:avLst/>
          </a:prstGeom>
          <a:ln w="9525">
            <a:solidFill>
              <a:srgbClr val="DEE1E6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9042410" y="2717780"/>
            <a:ext cx="26416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12 Split 8 + 4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9042410" y="2920959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PROVE · IDEAL 1 VISUAL + 40-WORD READ</a:t>
            </a:r>
            <a:endParaRPr lang="en-US" sz="700" dirty="0"/>
          </a:p>
        </p:txBody>
      </p:sp>
      <p:sp>
        <p:nvSpPr>
          <p:cNvPr id="22" name="Text 16"/>
          <p:cNvSpPr txBox="1"/>
          <p:nvPr/>
        </p:nvSpPr>
        <p:spPr>
          <a:xfrm>
            <a:off x="9042410" y="3086100"/>
            <a:ext cx="264161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Content + so-what: chart, screenshot, table or diagram with interpretation</a:t>
            </a:r>
            <a:endParaRPr lang="en-US" sz="900" dirty="0"/>
          </a:p>
        </p:txBody>
      </p:sp>
      <p:pic>
        <p:nvPicPr>
          <p:cNvPr id="23" name="Image 4" descr="13 Three Column examp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41" y="3606759"/>
            <a:ext cx="2641610" cy="148590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508041" y="3606759"/>
            <a:ext cx="2641610" cy="1485900"/>
          </a:xfrm>
          <a:prstGeom prst="rect">
            <a:avLst/>
          </a:prstGeom>
          <a:ln w="9525">
            <a:solidFill>
              <a:srgbClr val="DEE1E6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508041" y="5156210"/>
            <a:ext cx="26416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13 Three Column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508041" y="5359390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STRATEGY · IDEAL 3 × 30 WORDS</a:t>
            </a:r>
            <a:endParaRPr lang="en-US" sz="700" dirty="0"/>
          </a:p>
        </p:txBody>
      </p:sp>
      <p:sp>
        <p:nvSpPr>
          <p:cNvPr id="27" name="Text 20"/>
          <p:cNvSpPr txBox="1"/>
          <p:nvPr/>
        </p:nvSpPr>
        <p:spPr>
          <a:xfrm>
            <a:off x="508041" y="5524530"/>
            <a:ext cx="264161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Strategic pillars, themes, recommendations, options, research findings, principles</a:t>
            </a:r>
            <a:endParaRPr lang="en-US" sz="900" dirty="0"/>
          </a:p>
        </p:txBody>
      </p:sp>
      <p:pic>
        <p:nvPicPr>
          <p:cNvPr id="28" name="Image 5" descr="14 Four Column examp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2830" y="3606759"/>
            <a:ext cx="2641610" cy="148590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3352830" y="3606759"/>
            <a:ext cx="2641610" cy="1485900"/>
          </a:xfrm>
          <a:prstGeom prst="rect">
            <a:avLst/>
          </a:prstGeom>
          <a:ln w="9525">
            <a:solidFill>
              <a:srgbClr val="DEE1E6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3352830" y="5156210"/>
            <a:ext cx="26416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14 Four Column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3352830" y="5359390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STRATEGY · IDEAL 4 × 25 WORDS</a:t>
            </a:r>
            <a:endParaRPr lang="en-US" sz="700" dirty="0"/>
          </a:p>
        </p:txBody>
      </p:sp>
      <p:sp>
        <p:nvSpPr>
          <p:cNvPr id="32" name="Text 24"/>
          <p:cNvSpPr txBox="1"/>
          <p:nvPr/>
        </p:nvSpPr>
        <p:spPr>
          <a:xfrm>
            <a:off x="3352830" y="5524530"/>
            <a:ext cx="264161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Big rocks, KPI categories, four themes, four phases</a:t>
            </a:r>
            <a:endParaRPr lang="en-US" sz="900" dirty="0"/>
          </a:p>
        </p:txBody>
      </p:sp>
      <p:pic>
        <p:nvPicPr>
          <p:cNvPr id="33" name="Image 6" descr="15 Label Rail — 4 Rows exampl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7620" y="3606759"/>
            <a:ext cx="2641610" cy="1485900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6197620" y="3606759"/>
            <a:ext cx="2641610" cy="1485900"/>
          </a:xfrm>
          <a:prstGeom prst="rect">
            <a:avLst/>
          </a:prstGeom>
          <a:ln w="9525">
            <a:solidFill>
              <a:srgbClr val="DEE1E6"/>
            </a:solidFill>
            <a:prstDash val="solid"/>
          </a:ln>
        </p:spPr>
      </p:sp>
      <p:sp>
        <p:nvSpPr>
          <p:cNvPr id="35" name="Text 26"/>
          <p:cNvSpPr txBox="1"/>
          <p:nvPr/>
        </p:nvSpPr>
        <p:spPr>
          <a:xfrm>
            <a:off x="6197620" y="5156210"/>
            <a:ext cx="26416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15 Label Rail — 4 Rows</a:t>
            </a:r>
            <a:endParaRPr lang="en-US" sz="1100" dirty="0"/>
          </a:p>
        </p:txBody>
      </p:sp>
      <p:sp>
        <p:nvSpPr>
          <p:cNvPr id="36" name="Text 27"/>
          <p:cNvSpPr txBox="1"/>
          <p:nvPr/>
        </p:nvSpPr>
        <p:spPr>
          <a:xfrm>
            <a:off x="6197620" y="5359390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EXPLAIN · IDEAL 3–4 ROWS × 20 WORDS</a:t>
            </a:r>
            <a:endParaRPr lang="en-US" sz="700" dirty="0"/>
          </a:p>
        </p:txBody>
      </p:sp>
      <p:sp>
        <p:nvSpPr>
          <p:cNvPr id="37" name="Text 28"/>
          <p:cNvSpPr txBox="1"/>
          <p:nvPr/>
        </p:nvSpPr>
        <p:spPr>
          <a:xfrm>
            <a:off x="6197620" y="5524530"/>
            <a:ext cx="264161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Principles, what we know / believe / need to learn, wins / risks / next, assumptions</a:t>
            </a:r>
            <a:endParaRPr lang="en-US" sz="900" dirty="0"/>
          </a:p>
        </p:txBody>
      </p:sp>
      <p:pic>
        <p:nvPicPr>
          <p:cNvPr id="38" name="Image 7" descr="16 Current → Future exampl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2410" y="3606759"/>
            <a:ext cx="2641610" cy="1485900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9042410" y="3606759"/>
            <a:ext cx="2641610" cy="1485900"/>
          </a:xfrm>
          <a:prstGeom prst="rect">
            <a:avLst/>
          </a:prstGeom>
          <a:ln w="9525">
            <a:solidFill>
              <a:srgbClr val="DEE1E6"/>
            </a:solidFill>
            <a:prstDash val="solid"/>
          </a:ln>
        </p:spPr>
      </p:sp>
      <p:sp>
        <p:nvSpPr>
          <p:cNvPr id="40" name="Text 30"/>
          <p:cNvSpPr txBox="1"/>
          <p:nvPr/>
        </p:nvSpPr>
        <p:spPr>
          <a:xfrm>
            <a:off x="9042410" y="5156210"/>
            <a:ext cx="26416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16 Current → Future</a:t>
            </a:r>
            <a:endParaRPr lang="en-US" sz="1100" dirty="0"/>
          </a:p>
        </p:txBody>
      </p:sp>
      <p:sp>
        <p:nvSpPr>
          <p:cNvPr id="41" name="Text 31"/>
          <p:cNvSpPr txBox="1"/>
          <p:nvPr/>
        </p:nvSpPr>
        <p:spPr>
          <a:xfrm>
            <a:off x="9042410" y="5359390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COMPARE · IDEAL 2 × 40 WORDS</a:t>
            </a:r>
            <a:endParaRPr lang="en-US" sz="700" dirty="0"/>
          </a:p>
        </p:txBody>
      </p:sp>
      <p:sp>
        <p:nvSpPr>
          <p:cNvPr id="42" name="Text 32"/>
          <p:cNvSpPr txBox="1"/>
          <p:nvPr/>
        </p:nvSpPr>
        <p:spPr>
          <a:xfrm>
            <a:off x="9042410" y="5524530"/>
            <a:ext cx="264161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Current vs future, before / after, today → tomorrow, current-state → future-state workflow</a:t>
            </a:r>
            <a:endParaRPr lang="en-US" sz="900" dirty="0"/>
          </a:p>
        </p:txBody>
      </p:sp>
      <p:sp>
        <p:nvSpPr>
          <p:cNvPr id="43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44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45" name="Body"/>
          <p:cNvSpPr/>
          <p:nvPr>
            <p:ph idx="105" type="body" hasCustomPrompt="1"/>
          </p:nvPr>
        </p:nvSpPr>
        <p:spPr>
          <a:xfrm>
            <a:off x="508041" y="1168420"/>
            <a:ext cx="11175980" cy="482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endParaRPr lang="en-US" sz="1050" dirty="0"/>
          </a:p>
        </p:txBody>
      </p:sp>
      <p:sp>
        <p:nvSpPr>
          <p:cNvPr id="46" name="Source"/>
          <p:cNvSpPr/>
          <p:nvPr>
            <p:ph idx="106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4" type="title" hasCustomPrompt="1"/>
          </p:nvPr>
        </p:nvSpPr>
        <p:spPr>
          <a:xfrm>
            <a:off x="508041" y="558790"/>
            <a:ext cx="11175980" cy="4063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spc="-5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Layout catalog 3 of 5: 17–24</a:t>
            </a:r>
            <a:endParaRPr lang="en-US" sz="2200" dirty="0"/>
          </a:p>
        </p:txBody>
      </p:sp>
      <p:pic>
        <p:nvPicPr>
          <p:cNvPr id="3" name="Image 0" descr="17 Grid 2 × 2 examp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1168420"/>
            <a:ext cx="2641610" cy="14859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8041" y="1168420"/>
            <a:ext cx="2641610" cy="1485900"/>
          </a:xfrm>
          <a:prstGeom prst="rect">
            <a:avLst/>
          </a:prstGeom>
          <a:ln w="9525">
            <a:solidFill>
              <a:srgbClr val="DEE1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8041" y="2717780"/>
            <a:ext cx="26416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17 Grid 2 × 2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08041" y="2920959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EXPLAIN · IDEAL 4 × 25 WORDS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508041" y="3086100"/>
            <a:ext cx="264161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Four findings, four risks, four segments, 2×2 framework cells</a:t>
            </a:r>
            <a:endParaRPr lang="en-US" sz="900" dirty="0"/>
          </a:p>
        </p:txBody>
      </p:sp>
      <p:pic>
        <p:nvPicPr>
          <p:cNvPr id="8" name="Image 1" descr="18 Grid 3 × 2 examp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30" y="1168420"/>
            <a:ext cx="2641610" cy="14859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352830" y="1168420"/>
            <a:ext cx="2641610" cy="1485900"/>
          </a:xfrm>
          <a:prstGeom prst="rect">
            <a:avLst/>
          </a:prstGeom>
          <a:ln w="9525">
            <a:solidFill>
              <a:srgbClr val="DEE1E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352830" y="2717780"/>
            <a:ext cx="26416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18 Grid 3 × 2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3352830" y="2920959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EXPLAIN · IDEAL 6 × 20 WORDS</a:t>
            </a:r>
            <a:endParaRPr lang="en-US" sz="700" dirty="0"/>
          </a:p>
        </p:txBody>
      </p:sp>
      <p:sp>
        <p:nvSpPr>
          <p:cNvPr id="12" name="Text 8"/>
          <p:cNvSpPr txBox="1"/>
          <p:nvPr/>
        </p:nvSpPr>
        <p:spPr>
          <a:xfrm>
            <a:off x="3352830" y="3086100"/>
            <a:ext cx="264161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Six capabilities, six pain points, persona traits, initiative snapshots</a:t>
            </a:r>
            <a:endParaRPr lang="en-US" sz="900" dirty="0"/>
          </a:p>
        </p:txBody>
      </p:sp>
      <p:pic>
        <p:nvPicPr>
          <p:cNvPr id="13" name="Image 2" descr="19 Process — 5 Steps examp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20" y="1168420"/>
            <a:ext cx="2641610" cy="14859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197620" y="1168420"/>
            <a:ext cx="2641610" cy="1485900"/>
          </a:xfrm>
          <a:prstGeom prst="rect">
            <a:avLst/>
          </a:prstGeom>
          <a:ln w="9525">
            <a:solidFill>
              <a:srgbClr val="DEE1E6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197620" y="2717780"/>
            <a:ext cx="26416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19 Process — 5 Steps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6197620" y="2920959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EXPLAIN · IDEAL 4–5 STEPS</a:t>
            </a:r>
            <a:endParaRPr lang="en-US" sz="700" dirty="0"/>
          </a:p>
        </p:txBody>
      </p:sp>
      <p:sp>
        <p:nvSpPr>
          <p:cNvPr id="17" name="Text 12"/>
          <p:cNvSpPr txBox="1"/>
          <p:nvPr/>
        </p:nvSpPr>
        <p:spPr>
          <a:xfrm>
            <a:off x="6197620" y="3086100"/>
            <a:ext cx="264161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Linear progression, phased journey, sequence / unlocks, signal → diagnosis → action → outcome, intake → execution</a:t>
            </a:r>
            <a:endParaRPr lang="en-US" sz="900" dirty="0"/>
          </a:p>
        </p:txBody>
      </p:sp>
      <p:pic>
        <p:nvPicPr>
          <p:cNvPr id="18" name="Image 3" descr="20 Now / Next / Later examp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2410" y="1168420"/>
            <a:ext cx="2641610" cy="14859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9042410" y="1168420"/>
            <a:ext cx="2641610" cy="1485900"/>
          </a:xfrm>
          <a:prstGeom prst="rect">
            <a:avLst/>
          </a:prstGeom>
          <a:ln w="9525">
            <a:solidFill>
              <a:srgbClr val="DEE1E6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9042410" y="2717780"/>
            <a:ext cx="26416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20 Now / Next / Later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9042410" y="2920959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PLAN · IDEAL 3–5 ITEMS PER LANE</a:t>
            </a:r>
            <a:endParaRPr lang="en-US" sz="700" dirty="0"/>
          </a:p>
        </p:txBody>
      </p:sp>
      <p:sp>
        <p:nvSpPr>
          <p:cNvPr id="22" name="Text 16"/>
          <p:cNvSpPr txBox="1"/>
          <p:nvPr/>
        </p:nvSpPr>
        <p:spPr>
          <a:xfrm>
            <a:off x="9042410" y="3086100"/>
            <a:ext cx="264161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Now / next / later, horizon model, strategic roadmap, must / should / could</a:t>
            </a:r>
            <a:endParaRPr lang="en-US" sz="900" dirty="0"/>
          </a:p>
        </p:txBody>
      </p:sp>
      <p:pic>
        <p:nvPicPr>
          <p:cNvPr id="23" name="Image 4" descr="21 Hero Metric examp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41" y="3606759"/>
            <a:ext cx="2641610" cy="148590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508041" y="3606759"/>
            <a:ext cx="2641610" cy="1485900"/>
          </a:xfrm>
          <a:prstGeom prst="rect">
            <a:avLst/>
          </a:prstGeom>
          <a:ln w="9525">
            <a:solidFill>
              <a:srgbClr val="DEE1E6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508041" y="5156210"/>
            <a:ext cx="26416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21 Hero Metric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508041" y="5359390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MEASURE · IDEAL 1 NUMBER + INTERPRETATION</a:t>
            </a:r>
            <a:endParaRPr lang="en-US" sz="700" dirty="0"/>
          </a:p>
        </p:txBody>
      </p:sp>
      <p:sp>
        <p:nvSpPr>
          <p:cNvPr id="27" name="Text 20"/>
          <p:cNvSpPr txBox="1"/>
          <p:nvPr/>
        </p:nvSpPr>
        <p:spPr>
          <a:xfrm>
            <a:off x="508041" y="5524530"/>
            <a:ext cx="264161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Single metric, hero metric, metric + drivers</a:t>
            </a:r>
            <a:endParaRPr lang="en-US" sz="900" dirty="0"/>
          </a:p>
        </p:txBody>
      </p:sp>
      <p:pic>
        <p:nvPicPr>
          <p:cNvPr id="28" name="Image 5" descr="22 KPI Row — 4 examp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2830" y="3606759"/>
            <a:ext cx="2641610" cy="148590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3352830" y="3606759"/>
            <a:ext cx="2641610" cy="1485900"/>
          </a:xfrm>
          <a:prstGeom prst="rect">
            <a:avLst/>
          </a:prstGeom>
          <a:ln w="9525">
            <a:solidFill>
              <a:srgbClr val="DEE1E6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3352830" y="5156210"/>
            <a:ext cx="26416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22 KPI Row — 4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3352830" y="5359390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MEASURE · IDEAL 3–4 METRICS</a:t>
            </a:r>
            <a:endParaRPr lang="en-US" sz="700" dirty="0"/>
          </a:p>
        </p:txBody>
      </p:sp>
      <p:sp>
        <p:nvSpPr>
          <p:cNvPr id="32" name="Text 24"/>
          <p:cNvSpPr txBox="1"/>
          <p:nvPr/>
        </p:nvSpPr>
        <p:spPr>
          <a:xfrm>
            <a:off x="3352830" y="5524530"/>
            <a:ext cx="264161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KPI scorecard, multi-metric hero, target vs actual, before / after</a:t>
            </a:r>
            <a:endParaRPr lang="en-US" sz="900" dirty="0"/>
          </a:p>
        </p:txBody>
      </p:sp>
      <p:pic>
        <p:nvPicPr>
          <p:cNvPr id="33" name="Image 6" descr="23 Chart + Insight exampl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7620" y="3606759"/>
            <a:ext cx="2641610" cy="1485900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6197620" y="3606759"/>
            <a:ext cx="2641610" cy="1485900"/>
          </a:xfrm>
          <a:prstGeom prst="rect">
            <a:avLst/>
          </a:prstGeom>
          <a:ln w="9525">
            <a:solidFill>
              <a:srgbClr val="DEE1E6"/>
            </a:solidFill>
            <a:prstDash val="solid"/>
          </a:ln>
        </p:spPr>
      </p:sp>
      <p:sp>
        <p:nvSpPr>
          <p:cNvPr id="35" name="Text 26"/>
          <p:cNvSpPr txBox="1"/>
          <p:nvPr/>
        </p:nvSpPr>
        <p:spPr>
          <a:xfrm>
            <a:off x="6197620" y="5156210"/>
            <a:ext cx="26416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23 Chart + Insight</a:t>
            </a:r>
            <a:endParaRPr lang="en-US" sz="1100" dirty="0"/>
          </a:p>
        </p:txBody>
      </p:sp>
      <p:sp>
        <p:nvSpPr>
          <p:cNvPr id="36" name="Text 27"/>
          <p:cNvSpPr txBox="1"/>
          <p:nvPr/>
        </p:nvSpPr>
        <p:spPr>
          <a:xfrm>
            <a:off x="6197620" y="5359390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PROVE · IDEAL 1 CHART, 1 HIGHLIGHTED SERIES</a:t>
            </a:r>
            <a:endParaRPr lang="en-US" sz="700" dirty="0"/>
          </a:p>
        </p:txBody>
      </p:sp>
      <p:sp>
        <p:nvSpPr>
          <p:cNvPr id="37" name="Text 28"/>
          <p:cNvSpPr txBox="1"/>
          <p:nvPr/>
        </p:nvSpPr>
        <p:spPr>
          <a:xfrm>
            <a:off x="6197620" y="5524530"/>
            <a:ext cx="264161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Annotated chart, trend, segment performance, adoption / conversion funnel</a:t>
            </a:r>
            <a:endParaRPr lang="en-US" sz="900" dirty="0"/>
          </a:p>
        </p:txBody>
      </p:sp>
      <p:pic>
        <p:nvPicPr>
          <p:cNvPr id="38" name="Image 7" descr="24 Chart — Full exampl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2410" y="3606759"/>
            <a:ext cx="2641610" cy="1485900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9042410" y="3606759"/>
            <a:ext cx="2641610" cy="1485900"/>
          </a:xfrm>
          <a:prstGeom prst="rect">
            <a:avLst/>
          </a:prstGeom>
          <a:ln w="9525">
            <a:solidFill>
              <a:srgbClr val="DEE1E6"/>
            </a:solidFill>
            <a:prstDash val="solid"/>
          </a:ln>
        </p:spPr>
      </p:sp>
      <p:sp>
        <p:nvSpPr>
          <p:cNvPr id="40" name="Text 30"/>
          <p:cNvSpPr txBox="1"/>
          <p:nvPr/>
        </p:nvSpPr>
        <p:spPr>
          <a:xfrm>
            <a:off x="9042410" y="5156210"/>
            <a:ext cx="26416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24 Chart — Full</a:t>
            </a:r>
            <a:endParaRPr lang="en-US" sz="1100" dirty="0"/>
          </a:p>
        </p:txBody>
      </p:sp>
      <p:sp>
        <p:nvSpPr>
          <p:cNvPr id="41" name="Text 31"/>
          <p:cNvSpPr txBox="1"/>
          <p:nvPr/>
        </p:nvSpPr>
        <p:spPr>
          <a:xfrm>
            <a:off x="9042410" y="5359390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PROVE · IDEAL 1 CHART</a:t>
            </a:r>
            <a:endParaRPr lang="en-US" sz="700" dirty="0"/>
          </a:p>
        </p:txBody>
      </p:sp>
      <p:sp>
        <p:nvSpPr>
          <p:cNvPr id="42" name="Text 32"/>
          <p:cNvSpPr txBox="1"/>
          <p:nvPr/>
        </p:nvSpPr>
        <p:spPr>
          <a:xfrm>
            <a:off x="9042410" y="5524530"/>
            <a:ext cx="264161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Full-width chart: trend, cohort, waterfall, multi-series</a:t>
            </a:r>
            <a:endParaRPr lang="en-US" sz="900" dirty="0"/>
          </a:p>
        </p:txBody>
      </p:sp>
      <p:sp>
        <p:nvSpPr>
          <p:cNvPr id="43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44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45" name="Body"/>
          <p:cNvSpPr/>
          <p:nvPr>
            <p:ph idx="105" type="body" hasCustomPrompt="1"/>
          </p:nvPr>
        </p:nvSpPr>
        <p:spPr>
          <a:xfrm>
            <a:off x="508041" y="1168420"/>
            <a:ext cx="11175980" cy="482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endParaRPr lang="en-US" sz="1050" dirty="0"/>
          </a:p>
        </p:txBody>
      </p:sp>
      <p:sp>
        <p:nvSpPr>
          <p:cNvPr id="46" name="Source"/>
          <p:cNvSpPr/>
          <p:nvPr>
            <p:ph idx="106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4" type="title" hasCustomPrompt="1"/>
          </p:nvPr>
        </p:nvSpPr>
        <p:spPr>
          <a:xfrm>
            <a:off x="508041" y="558790"/>
            <a:ext cx="11175980" cy="4063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spc="-5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Layout catalog 4 of 5: 25–32</a:t>
            </a:r>
            <a:endParaRPr lang="en-US" sz="2200" dirty="0"/>
          </a:p>
        </p:txBody>
      </p:sp>
      <p:pic>
        <p:nvPicPr>
          <p:cNvPr id="3" name="Image 0" descr="25 Table examp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1168420"/>
            <a:ext cx="2641610" cy="14859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8041" y="1168420"/>
            <a:ext cx="2641610" cy="1485900"/>
          </a:xfrm>
          <a:prstGeom prst="rect">
            <a:avLst/>
          </a:prstGeom>
          <a:ln w="9525">
            <a:solidFill>
              <a:srgbClr val="DEE1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8041" y="2717780"/>
            <a:ext cx="26416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25 Table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08041" y="2920959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COMPARE · IDEAL 5–7 ROWS × 4–5 COLUMNS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508041" y="3086100"/>
            <a:ext cx="264161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Executive, comparison, initiative, KPI, decision, risk and research tables</a:t>
            </a:r>
            <a:endParaRPr lang="en-US" sz="900" dirty="0"/>
          </a:p>
        </p:txBody>
      </p:sp>
      <p:pic>
        <p:nvPicPr>
          <p:cNvPr id="8" name="Image 1" descr="26 Dense — Title + Body examp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30" y="1168420"/>
            <a:ext cx="2641610" cy="14859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352830" y="1168420"/>
            <a:ext cx="2641610" cy="1485900"/>
          </a:xfrm>
          <a:prstGeom prst="rect">
            <a:avLst/>
          </a:prstGeom>
          <a:ln w="9525">
            <a:solidFill>
              <a:srgbClr val="DEE1E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352830" y="2717780"/>
            <a:ext cx="26416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26 Dense — Title + Body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3352830" y="2920959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UPDATE · IDEAL REFERENCE MATERIAL</a:t>
            </a:r>
            <a:endParaRPr lang="en-US" sz="700" dirty="0"/>
          </a:p>
        </p:txBody>
      </p:sp>
      <p:sp>
        <p:nvSpPr>
          <p:cNvPr id="12" name="Text 8"/>
          <p:cNvSpPr txBox="1"/>
          <p:nvPr/>
        </p:nvSpPr>
        <p:spPr>
          <a:xfrm>
            <a:off x="3352830" y="3086100"/>
            <a:ext cx="264161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Purpose-built dense slide: appendix tables, detailed timelines, decision logs</a:t>
            </a:r>
            <a:endParaRPr lang="en-US" sz="900" dirty="0"/>
          </a:p>
        </p:txBody>
      </p:sp>
      <p:pic>
        <p:nvPicPr>
          <p:cNvPr id="13" name="Image 2" descr="27 Quote — Hero examp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20" y="1168420"/>
            <a:ext cx="2641610" cy="14859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197620" y="1168420"/>
            <a:ext cx="2641610" cy="1485900"/>
          </a:xfrm>
          <a:prstGeom prst="rect">
            <a:avLst/>
          </a:prstGeom>
          <a:ln w="9525">
            <a:solidFill>
              <a:srgbClr val="DEE1E6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197620" y="2717780"/>
            <a:ext cx="26416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27 Quote — Hero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6197620" y="2920959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CUSTOMER · IDEAL ≤ 35 WORDS</a:t>
            </a:r>
            <a:endParaRPr lang="en-US" sz="700" dirty="0"/>
          </a:p>
        </p:txBody>
      </p:sp>
      <p:sp>
        <p:nvSpPr>
          <p:cNvPr id="17" name="Text 12"/>
          <p:cNvSpPr txBox="1"/>
          <p:nvPr/>
        </p:nvSpPr>
        <p:spPr>
          <a:xfrm>
            <a:off x="6197620" y="3086100"/>
            <a:ext cx="264161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Singular quote, quote + implication</a:t>
            </a:r>
            <a:endParaRPr lang="en-US" sz="900" dirty="0"/>
          </a:p>
        </p:txBody>
      </p:sp>
      <p:pic>
        <p:nvPicPr>
          <p:cNvPr id="18" name="Image 3" descr="28 Quote Wall — 4 examp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2410" y="1168420"/>
            <a:ext cx="2641610" cy="14859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9042410" y="1168420"/>
            <a:ext cx="2641610" cy="1485900"/>
          </a:xfrm>
          <a:prstGeom prst="rect">
            <a:avLst/>
          </a:prstGeom>
          <a:ln w="9525">
            <a:solidFill>
              <a:srgbClr val="DEE1E6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9042410" y="2717780"/>
            <a:ext cx="26416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28 Quote Wall — 4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9042410" y="2920959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CUSTOMER · IDEAL 4 QUOTES ≤ 30 WORDS</a:t>
            </a:r>
            <a:endParaRPr lang="en-US" sz="700" dirty="0"/>
          </a:p>
        </p:txBody>
      </p:sp>
      <p:sp>
        <p:nvSpPr>
          <p:cNvPr id="22" name="Text 16"/>
          <p:cNvSpPr txBox="1"/>
          <p:nvPr/>
        </p:nvSpPr>
        <p:spPr>
          <a:xfrm>
            <a:off x="9042410" y="3086100"/>
            <a:ext cx="264161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Quote wall, voice-of-customer themes, dense quote themes</a:t>
            </a:r>
            <a:endParaRPr lang="en-US" sz="900" dirty="0"/>
          </a:p>
        </p:txBody>
      </p:sp>
      <p:pic>
        <p:nvPicPr>
          <p:cNvPr id="23" name="Image 4" descr="29 Screenshot — Hero examp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41" y="3606759"/>
            <a:ext cx="2641610" cy="148590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508041" y="3606759"/>
            <a:ext cx="2641610" cy="1485900"/>
          </a:xfrm>
          <a:prstGeom prst="rect">
            <a:avLst/>
          </a:prstGeom>
          <a:ln w="9525">
            <a:solidFill>
              <a:srgbClr val="DEE1E6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508041" y="5156210"/>
            <a:ext cx="26416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29 Screenshot — Hero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508041" y="5359390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EXPLAIN · IDEAL 1 SCREENSHOT</a:t>
            </a:r>
            <a:endParaRPr lang="en-US" sz="700" dirty="0"/>
          </a:p>
        </p:txBody>
      </p:sp>
      <p:sp>
        <p:nvSpPr>
          <p:cNvPr id="27" name="Text 20"/>
          <p:cNvSpPr txBox="1"/>
          <p:nvPr/>
        </p:nvSpPr>
        <p:spPr>
          <a:xfrm>
            <a:off x="508041" y="5524530"/>
            <a:ext cx="264161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Product screenshot hero, product concept</a:t>
            </a:r>
            <a:endParaRPr lang="en-US" sz="900" dirty="0"/>
          </a:p>
        </p:txBody>
      </p:sp>
      <p:pic>
        <p:nvPicPr>
          <p:cNvPr id="28" name="Image 5" descr="30 Screenshot + Annotations examp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2830" y="3606759"/>
            <a:ext cx="2641610" cy="148590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3352830" y="3606759"/>
            <a:ext cx="2641610" cy="1485900"/>
          </a:xfrm>
          <a:prstGeom prst="rect">
            <a:avLst/>
          </a:prstGeom>
          <a:ln w="9525">
            <a:solidFill>
              <a:srgbClr val="DEE1E6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3352830" y="5156210"/>
            <a:ext cx="26416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30 Screenshot + Annotations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3352830" y="5359390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EXPLAIN · IDEAL 3 ANNOTATIONS</a:t>
            </a:r>
            <a:endParaRPr lang="en-US" sz="700" dirty="0"/>
          </a:p>
        </p:txBody>
      </p:sp>
      <p:sp>
        <p:nvSpPr>
          <p:cNvPr id="32" name="Text 24"/>
          <p:cNvSpPr txBox="1"/>
          <p:nvPr/>
        </p:nvSpPr>
        <p:spPr>
          <a:xfrm>
            <a:off x="3352830" y="5524530"/>
            <a:ext cx="264161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Annotated screenshot, workflow step, before / after product</a:t>
            </a:r>
            <a:endParaRPr lang="en-US" sz="900" dirty="0"/>
          </a:p>
        </p:txBody>
      </p:sp>
      <p:pic>
        <p:nvPicPr>
          <p:cNvPr id="33" name="Image 6" descr="31 Recommendation exampl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7620" y="3606759"/>
            <a:ext cx="2641610" cy="1485900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6197620" y="3606759"/>
            <a:ext cx="2641610" cy="1485900"/>
          </a:xfrm>
          <a:prstGeom prst="rect">
            <a:avLst/>
          </a:prstGeom>
          <a:ln w="9525">
            <a:solidFill>
              <a:srgbClr val="DEE1E6"/>
            </a:solidFill>
            <a:prstDash val="solid"/>
          </a:ln>
        </p:spPr>
      </p:sp>
      <p:sp>
        <p:nvSpPr>
          <p:cNvPr id="35" name="Text 26"/>
          <p:cNvSpPr txBox="1"/>
          <p:nvPr/>
        </p:nvSpPr>
        <p:spPr>
          <a:xfrm>
            <a:off x="6197620" y="5156210"/>
            <a:ext cx="26416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31 Recommendation</a:t>
            </a:r>
            <a:endParaRPr lang="en-US" sz="1100" dirty="0"/>
          </a:p>
        </p:txBody>
      </p:sp>
      <p:sp>
        <p:nvSpPr>
          <p:cNvPr id="36" name="Text 27"/>
          <p:cNvSpPr txBox="1"/>
          <p:nvPr/>
        </p:nvSpPr>
        <p:spPr>
          <a:xfrm>
            <a:off x="6197620" y="5359390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DECIDE · IDEAL 1 RECOMMENDATION + 1 DECISION</a:t>
            </a:r>
            <a:endParaRPr lang="en-US" sz="700" dirty="0"/>
          </a:p>
        </p:txBody>
      </p:sp>
      <p:sp>
        <p:nvSpPr>
          <p:cNvPr id="37" name="Text 28"/>
          <p:cNvSpPr txBox="1"/>
          <p:nvPr/>
        </p:nvSpPr>
        <p:spPr>
          <a:xfrm>
            <a:off x="6197620" y="5524530"/>
            <a:ext cx="264161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Recommendation, decision slide, recommendation + ask, strategic choice</a:t>
            </a:r>
            <a:endParaRPr lang="en-US" sz="900" dirty="0"/>
          </a:p>
        </p:txBody>
      </p:sp>
      <p:pic>
        <p:nvPicPr>
          <p:cNvPr id="38" name="Image 7" descr="32 Options — 3 exampl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2410" y="3606759"/>
            <a:ext cx="2641610" cy="1485900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9042410" y="3606759"/>
            <a:ext cx="2641610" cy="1485900"/>
          </a:xfrm>
          <a:prstGeom prst="rect">
            <a:avLst/>
          </a:prstGeom>
          <a:ln w="9525">
            <a:solidFill>
              <a:srgbClr val="DEE1E6"/>
            </a:solidFill>
            <a:prstDash val="solid"/>
          </a:ln>
        </p:spPr>
      </p:sp>
      <p:sp>
        <p:nvSpPr>
          <p:cNvPr id="40" name="Text 30"/>
          <p:cNvSpPr txBox="1"/>
          <p:nvPr/>
        </p:nvSpPr>
        <p:spPr>
          <a:xfrm>
            <a:off x="9042410" y="5156210"/>
            <a:ext cx="26416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32 Options — 3</a:t>
            </a:r>
            <a:endParaRPr lang="en-US" sz="1100" dirty="0"/>
          </a:p>
        </p:txBody>
      </p:sp>
      <p:sp>
        <p:nvSpPr>
          <p:cNvPr id="41" name="Text 31"/>
          <p:cNvSpPr txBox="1"/>
          <p:nvPr/>
        </p:nvSpPr>
        <p:spPr>
          <a:xfrm>
            <a:off x="9042410" y="5359390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DECIDE · IDEAL 3 OPTIONS</a:t>
            </a:r>
            <a:endParaRPr lang="en-US" sz="700" dirty="0"/>
          </a:p>
        </p:txBody>
      </p:sp>
      <p:sp>
        <p:nvSpPr>
          <p:cNvPr id="42" name="Text 32"/>
          <p:cNvSpPr txBox="1"/>
          <p:nvPr/>
        </p:nvSpPr>
        <p:spPr>
          <a:xfrm>
            <a:off x="9042410" y="5524530"/>
            <a:ext cx="264161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Options comparison, strategic choices, tradeoff slide, three-way comparison</a:t>
            </a:r>
            <a:endParaRPr lang="en-US" sz="900" dirty="0"/>
          </a:p>
        </p:txBody>
      </p:sp>
      <p:sp>
        <p:nvSpPr>
          <p:cNvPr id="43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44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45" name="Body"/>
          <p:cNvSpPr/>
          <p:nvPr>
            <p:ph idx="105" type="body" hasCustomPrompt="1"/>
          </p:nvPr>
        </p:nvSpPr>
        <p:spPr>
          <a:xfrm>
            <a:off x="508041" y="1168420"/>
            <a:ext cx="11175980" cy="482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endParaRPr lang="en-US" sz="1050" dirty="0"/>
          </a:p>
        </p:txBody>
      </p:sp>
      <p:sp>
        <p:nvSpPr>
          <p:cNvPr id="46" name="Source"/>
          <p:cNvSpPr/>
          <p:nvPr>
            <p:ph idx="106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4" type="title" hasCustomPrompt="1"/>
          </p:nvPr>
        </p:nvSpPr>
        <p:spPr>
          <a:xfrm>
            <a:off x="508041" y="558790"/>
            <a:ext cx="11175980" cy="4063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spc="-5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Layout catalog 5 of 5: 33–35</a:t>
            </a:r>
            <a:endParaRPr lang="en-US" sz="2200" dirty="0"/>
          </a:p>
        </p:txBody>
      </p:sp>
      <p:pic>
        <p:nvPicPr>
          <p:cNvPr id="3" name="Image 0" descr="33 Closing — Takeaways + Ask examp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1168420"/>
            <a:ext cx="2641610" cy="14859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8041" y="1168420"/>
            <a:ext cx="2641610" cy="1485900"/>
          </a:xfrm>
          <a:prstGeom prst="rect">
            <a:avLst/>
          </a:prstGeom>
          <a:ln w="9525">
            <a:solidFill>
              <a:srgbClr val="DEE1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8041" y="2717780"/>
            <a:ext cx="26416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33 Closing — Takeaways + Ask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08041" y="2920959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CLOSE · IDEAL 3 ASKS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508041" y="3086100"/>
            <a:ext cx="264161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Key takeaways, recommendation + ask, next steps, leadership decisions</a:t>
            </a:r>
            <a:endParaRPr lang="en-US" sz="900" dirty="0"/>
          </a:p>
        </p:txBody>
      </p:sp>
      <p:pic>
        <p:nvPicPr>
          <p:cNvPr id="8" name="Image 1" descr="34 Appendix Divider examp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30" y="1168420"/>
            <a:ext cx="2641610" cy="14859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352830" y="1168420"/>
            <a:ext cx="2641610" cy="1485900"/>
          </a:xfrm>
          <a:prstGeom prst="rect">
            <a:avLst/>
          </a:prstGeom>
          <a:ln w="9525">
            <a:solidFill>
              <a:srgbClr val="DEE1E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352830" y="2717780"/>
            <a:ext cx="26416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34 Appendix Divider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3352830" y="2920959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CLOSE · IDEAL —</a:t>
            </a:r>
            <a:endParaRPr lang="en-US" sz="700" dirty="0"/>
          </a:p>
        </p:txBody>
      </p:sp>
      <p:sp>
        <p:nvSpPr>
          <p:cNvPr id="12" name="Text 8"/>
          <p:cNvSpPr txBox="1"/>
          <p:nvPr/>
        </p:nvSpPr>
        <p:spPr>
          <a:xfrm>
            <a:off x="3352830" y="3086100"/>
            <a:ext cx="264161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Appendix divider, Q&amp;A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197620" y="1168420"/>
            <a:ext cx="2641610" cy="1485900"/>
          </a:xfrm>
          <a:prstGeom prst="rect">
            <a:avLst/>
          </a:prstGeom>
          <a:solidFill>
            <a:srgbClr val="E9EEF3"/>
          </a:solidFill>
          <a:ln/>
        </p:spPr>
      </p:sp>
      <p:sp>
        <p:nvSpPr>
          <p:cNvPr id="14" name="Shape 10"/>
          <p:cNvSpPr/>
          <p:nvPr/>
        </p:nvSpPr>
        <p:spPr>
          <a:xfrm>
            <a:off x="6197620" y="1168420"/>
            <a:ext cx="2641610" cy="1485900"/>
          </a:xfrm>
          <a:prstGeom prst="rect">
            <a:avLst/>
          </a:prstGeom>
          <a:ln w="9525">
            <a:solidFill>
              <a:srgbClr val="DEE1E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197620" y="2717780"/>
            <a:ext cx="26416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35 Blank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6197620" y="2920959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EXPLAIN · IDEAL —</a:t>
            </a:r>
            <a:endParaRPr lang="en-US" sz="700" dirty="0"/>
          </a:p>
        </p:txBody>
      </p:sp>
      <p:sp>
        <p:nvSpPr>
          <p:cNvPr id="17" name="Text 13"/>
          <p:cNvSpPr txBox="1"/>
          <p:nvPr/>
        </p:nvSpPr>
        <p:spPr>
          <a:xfrm>
            <a:off x="6197620" y="3086100"/>
            <a:ext cx="264161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Free canvas with footer, for one-off working canvases</a:t>
            </a:r>
            <a:endParaRPr lang="en-US" sz="900" dirty="0"/>
          </a:p>
        </p:txBody>
      </p:sp>
      <p:sp>
        <p:nvSpPr>
          <p:cNvPr id="18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19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20" name="Body"/>
          <p:cNvSpPr/>
          <p:nvPr>
            <p:ph idx="105" type="body" hasCustomPrompt="1"/>
          </p:nvPr>
        </p:nvSpPr>
        <p:spPr>
          <a:xfrm>
            <a:off x="508041" y="1168420"/>
            <a:ext cx="11175980" cy="482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endParaRPr lang="en-US" sz="1050" dirty="0"/>
          </a:p>
        </p:txBody>
      </p:sp>
      <p:sp>
        <p:nvSpPr>
          <p:cNvPr id="21" name="Source"/>
          <p:cNvSpPr/>
          <p:nvPr>
            <p:ph idx="106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/>
          <p:nvPr>
            <p:ph idx="103" type="body" hasCustomPrompt="1"/>
          </p:nvPr>
        </p:nvSpPr>
        <p:spPr>
          <a:xfrm>
            <a:off x="508041" y="1904970"/>
            <a:ext cx="5080041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FFFFFF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SYSTEM 03</a:t>
            </a:r>
            <a:endParaRPr lang="en-US" sz="800" dirty="0"/>
          </a:p>
        </p:txBody>
      </p:sp>
      <p:sp>
        <p:nvSpPr>
          <p:cNvPr id="3" name="Title"/>
          <p:cNvSpPr/>
          <p:nvPr>
            <p:ph idx="104" type="title" hasCustomPrompt="1"/>
          </p:nvPr>
        </p:nvSpPr>
        <p:spPr>
          <a:xfrm>
            <a:off x="508041" y="2158990"/>
            <a:ext cx="9525030" cy="254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spc="-120" kern="0" dirty="0">
                <a:solidFill>
                  <a:srgbClr val="FFFFFF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Worked examples: every layout, filled with the kind of content it was built for.</a:t>
            </a:r>
            <a:endParaRPr lang="en-US" sz="4800" dirty="0"/>
          </a:p>
        </p:txBody>
      </p:sp>
      <p:sp>
        <p:nvSpPr>
          <p:cNvPr id="4" name="Section"/>
          <p:cNvSpPr/>
          <p:nvPr>
            <p:ph idx="100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FE0FB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3" type="title" hasCustomPrompt="1"/>
          </p:nvPr>
        </p:nvSpPr>
        <p:spPr>
          <a:xfrm>
            <a:off x="508041" y="2286000"/>
            <a:ext cx="8889980" cy="19049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400" spc="-120" kern="0" dirty="0">
                <a:solidFill>
                  <a:srgbClr val="FFFFFF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Making campaign setup something advertisers finish, not abandon</a:t>
            </a:r>
            <a:endParaRPr lang="en-US" sz="4400" dirty="0"/>
          </a:p>
        </p:txBody>
      </p:sp>
      <p:sp>
        <p:nvSpPr>
          <p:cNvPr id="3" name="Subtitle"/>
          <p:cNvSpPr/>
          <p:nvPr>
            <p:ph idx="104" type="body" hasCustomPrompt="1"/>
          </p:nvPr>
        </p:nvSpPr>
        <p:spPr>
          <a:xfrm>
            <a:off x="508041" y="4343400"/>
            <a:ext cx="698501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FE0FB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FY27 product review · Campaign creation and management</a:t>
            </a:r>
            <a:endParaRPr lang="en-US" sz="1400" dirty="0"/>
          </a:p>
        </p:txBody>
      </p:sp>
      <p:sp>
        <p:nvSpPr>
          <p:cNvPr id="4" name="Meta"/>
          <p:cNvSpPr/>
          <p:nvPr>
            <p:ph idx="105" type="body" hasCustomPrompt="1"/>
          </p:nvPr>
        </p:nvSpPr>
        <p:spPr>
          <a:xfrm>
            <a:off x="508041" y="558799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4DBDF5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ADVERTISER EXPERIENCE · PRODUCT · MONTH YEAR</a:t>
            </a:r>
            <a:endParaRPr lang="en-US" sz="800" dirty="0"/>
          </a:p>
        </p:txBody>
      </p:sp>
      <p:sp>
        <p:nvSpPr>
          <p:cNvPr id="5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FE0FB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3" type="title" hasCustomPrompt="1"/>
          </p:nvPr>
        </p:nvSpPr>
        <p:spPr>
          <a:xfrm>
            <a:off x="508041" y="1397020"/>
            <a:ext cx="9525030" cy="24130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200" spc="-12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Setup is where advertiser intent turns into spend — or doesn’t</a:t>
            </a:r>
            <a:endParaRPr lang="en-US" sz="5200" dirty="0"/>
          </a:p>
        </p:txBody>
      </p:sp>
      <p:sp>
        <p:nvSpPr>
          <p:cNvPr id="3" name="Subtitle"/>
          <p:cNvSpPr/>
          <p:nvPr>
            <p:ph idx="105" type="body" hasCustomPrompt="1"/>
          </p:nvPr>
        </p:nvSpPr>
        <p:spPr>
          <a:xfrm>
            <a:off x="508041" y="4190970"/>
            <a:ext cx="6434633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A readout of what we learned from six months of setup research, and the three changes we want to fund next.</a:t>
            </a:r>
            <a:endParaRPr lang="en-US" sz="1400" dirty="0"/>
          </a:p>
        </p:txBody>
      </p:sp>
      <p:sp>
        <p:nvSpPr>
          <p:cNvPr id="4" name="Meta"/>
          <p:cNvSpPr/>
          <p:nvPr>
            <p:ph idx="106" type="body" hasCustomPrompt="1"/>
          </p:nvPr>
        </p:nvSpPr>
        <p:spPr>
          <a:xfrm>
            <a:off x="8094177" y="4190970"/>
            <a:ext cx="3589843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PRODUCT RESEARCH READOUT</a:t>
            </a:r>
            <a:endParaRPr lang="en-US" sz="800" dirty="0"/>
          </a:p>
          <a:p>
            <a:pPr algn="r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MONTH YEAR</a:t>
            </a:r>
            <a:endParaRPr lang="en-US" sz="800" dirty="0"/>
          </a:p>
        </p:txBody>
      </p:sp>
      <p:sp>
        <p:nvSpPr>
          <p:cNvPr id="5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4" type="title" hasCustomPrompt="1"/>
          </p:nvPr>
        </p:nvSpPr>
        <p:spPr>
          <a:xfrm>
            <a:off x="508041" y="2286000"/>
            <a:ext cx="5460980" cy="19049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spc="-120" kern="0" dirty="0">
                <a:solidFill>
                  <a:srgbClr val="FFFFFF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One place to plan, buy and measure</a:t>
            </a:r>
            <a:endParaRPr lang="en-US" sz="4000" dirty="0"/>
          </a:p>
        </p:txBody>
      </p:sp>
      <p:sp>
        <p:nvSpPr>
          <p:cNvPr id="3" name="Subtitle"/>
          <p:cNvSpPr/>
          <p:nvPr>
            <p:ph idx="105" type="body" hasCustomPrompt="1"/>
          </p:nvPr>
        </p:nvSpPr>
        <p:spPr>
          <a:xfrm>
            <a:off x="508041" y="4343400"/>
            <a:ext cx="5206959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FE0FB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Concept review for the unified campaign workspace</a:t>
            </a:r>
            <a:endParaRPr lang="en-US" sz="1400" dirty="0"/>
          </a:p>
        </p:txBody>
      </p:sp>
      <p:sp>
        <p:nvSpPr>
          <p:cNvPr id="4" name="Meta"/>
          <p:cNvSpPr/>
          <p:nvPr>
            <p:ph idx="106" type="body" hasCustomPrompt="1"/>
          </p:nvPr>
        </p:nvSpPr>
        <p:spPr>
          <a:xfrm>
            <a:off x="508041" y="5587990"/>
            <a:ext cx="5206959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4DBDF5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DESIGN REVIEW · MONTH YEAR</a:t>
            </a:r>
            <a:endParaRPr lang="en-US" sz="800" dirty="0"/>
          </a:p>
        </p:txBody>
      </p:sp>
      <p:sp>
        <p:nvSpPr>
          <p:cNvPr id="5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6" name="Picture"/>
          <p:cNvSpPr/>
          <p:nvPr>
            <p:ph idx="103" hasCustomPrompt="1"/>
          </p:nvPr>
        </p:nvSpPr>
        <p:spPr>
          <a:xfrm>
            <a:off x="6603980" y="0"/>
            <a:ext cx="5587990" cy="685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FE0FB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AGENDA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PRODUCT REVIEW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Five questions this review answers</a:t>
            </a:r>
            <a:endParaRPr lang="en-US" sz="2800" dirty="0"/>
          </a:p>
        </p:txBody>
      </p:sp>
      <p:sp>
        <p:nvSpPr>
          <p:cNvPr id="5" name="N1"/>
          <p:cNvSpPr/>
          <p:nvPr>
            <p:ph idx="106" type="body" hasCustomPrompt="1"/>
          </p:nvPr>
        </p:nvSpPr>
        <p:spPr>
          <a:xfrm>
            <a:off x="508041" y="2578059"/>
            <a:ext cx="74505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spc="-3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1"/>
          <p:cNvSpPr/>
          <p:nvPr>
            <p:ph idx="107" type="body" hasCustomPrompt="1"/>
          </p:nvPr>
        </p:nvSpPr>
        <p:spPr>
          <a:xfrm>
            <a:off x="1456273" y="2603480"/>
            <a:ext cx="3589843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Where we are</a:t>
            </a:r>
            <a:endParaRPr lang="en-US" sz="1800" dirty="0"/>
          </a:p>
        </p:txBody>
      </p:sp>
      <p:sp>
        <p:nvSpPr>
          <p:cNvPr id="7" name="D1"/>
          <p:cNvSpPr/>
          <p:nvPr>
            <p:ph idx="108" type="body" hasCustomPrompt="1"/>
          </p:nvPr>
        </p:nvSpPr>
        <p:spPr>
          <a:xfrm>
            <a:off x="5249296" y="2628900"/>
            <a:ext cx="643463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What setup completion and advertiser feedback tell us today.</a:t>
            </a:r>
            <a:endParaRPr lang="en-US" sz="1200" dirty="0"/>
          </a:p>
        </p:txBody>
      </p:sp>
      <p:sp>
        <p:nvSpPr>
          <p:cNvPr id="8" name="N2"/>
          <p:cNvSpPr/>
          <p:nvPr>
            <p:ph idx="110" type="body" hasCustomPrompt="1"/>
          </p:nvPr>
        </p:nvSpPr>
        <p:spPr>
          <a:xfrm>
            <a:off x="508041" y="3162270"/>
            <a:ext cx="74505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spc="-3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2"/>
          <p:cNvSpPr/>
          <p:nvPr>
            <p:ph idx="111" type="body" hasCustomPrompt="1"/>
          </p:nvPr>
        </p:nvSpPr>
        <p:spPr>
          <a:xfrm>
            <a:off x="1456273" y="3187690"/>
            <a:ext cx="3589843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What is driving it</a:t>
            </a:r>
            <a:endParaRPr lang="en-US" sz="1800" dirty="0"/>
          </a:p>
        </p:txBody>
      </p:sp>
      <p:sp>
        <p:nvSpPr>
          <p:cNvPr id="10" name="D2"/>
          <p:cNvSpPr/>
          <p:nvPr>
            <p:ph idx="112" type="body" hasCustomPrompt="1"/>
          </p:nvPr>
        </p:nvSpPr>
        <p:spPr>
          <a:xfrm>
            <a:off x="5249296" y="3213110"/>
            <a:ext cx="643463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The three root causes behind abandonment, and the evidence for each.</a:t>
            </a:r>
            <a:endParaRPr lang="en-US" sz="1200" dirty="0"/>
          </a:p>
        </p:txBody>
      </p:sp>
      <p:sp>
        <p:nvSpPr>
          <p:cNvPr id="11" name="N3"/>
          <p:cNvSpPr/>
          <p:nvPr>
            <p:ph idx="114" type="body" hasCustomPrompt="1"/>
          </p:nvPr>
        </p:nvSpPr>
        <p:spPr>
          <a:xfrm>
            <a:off x="508041" y="3746480"/>
            <a:ext cx="74505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spc="-3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3"/>
          <p:cNvSpPr/>
          <p:nvPr>
            <p:ph idx="115" type="body" hasCustomPrompt="1"/>
          </p:nvPr>
        </p:nvSpPr>
        <p:spPr>
          <a:xfrm>
            <a:off x="1456273" y="3771900"/>
            <a:ext cx="3589843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What we will change</a:t>
            </a:r>
            <a:endParaRPr lang="en-US" sz="1800" dirty="0"/>
          </a:p>
        </p:txBody>
      </p:sp>
      <p:sp>
        <p:nvSpPr>
          <p:cNvPr id="13" name="D3"/>
          <p:cNvSpPr/>
          <p:nvPr>
            <p:ph idx="116" type="body" hasCustomPrompt="1"/>
          </p:nvPr>
        </p:nvSpPr>
        <p:spPr>
          <a:xfrm>
            <a:off x="5249296" y="3797320"/>
            <a:ext cx="643463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Three bets for next half, sequenced by what they unlock.</a:t>
            </a:r>
            <a:endParaRPr lang="en-US" sz="1200" dirty="0"/>
          </a:p>
        </p:txBody>
      </p:sp>
      <p:sp>
        <p:nvSpPr>
          <p:cNvPr id="14" name="N4"/>
          <p:cNvSpPr/>
          <p:nvPr>
            <p:ph idx="118" type="body" hasCustomPrompt="1"/>
          </p:nvPr>
        </p:nvSpPr>
        <p:spPr>
          <a:xfrm>
            <a:off x="508041" y="4330690"/>
            <a:ext cx="74505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spc="-3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T4"/>
          <p:cNvSpPr/>
          <p:nvPr>
            <p:ph idx="119" type="body" hasCustomPrompt="1"/>
          </p:nvPr>
        </p:nvSpPr>
        <p:spPr>
          <a:xfrm>
            <a:off x="1456273" y="4356110"/>
            <a:ext cx="3589843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How we will know</a:t>
            </a:r>
            <a:endParaRPr lang="en-US" sz="1800" dirty="0"/>
          </a:p>
        </p:txBody>
      </p:sp>
      <p:sp>
        <p:nvSpPr>
          <p:cNvPr id="16" name="D4"/>
          <p:cNvSpPr/>
          <p:nvPr>
            <p:ph idx="120" type="body" hasCustomPrompt="1"/>
          </p:nvPr>
        </p:nvSpPr>
        <p:spPr>
          <a:xfrm>
            <a:off x="5249296" y="4381530"/>
            <a:ext cx="643463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Outcome measures, targets and the guardrails we will watch.</a:t>
            </a:r>
            <a:endParaRPr lang="en-US" sz="1200" dirty="0"/>
          </a:p>
        </p:txBody>
      </p:sp>
      <p:sp>
        <p:nvSpPr>
          <p:cNvPr id="17" name="N5"/>
          <p:cNvSpPr/>
          <p:nvPr>
            <p:ph idx="122" type="body" hasCustomPrompt="1"/>
          </p:nvPr>
        </p:nvSpPr>
        <p:spPr>
          <a:xfrm>
            <a:off x="508041" y="4914900"/>
            <a:ext cx="74505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spc="-3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05</a:t>
            </a:r>
            <a:endParaRPr lang="en-US" sz="2400" dirty="0"/>
          </a:p>
        </p:txBody>
      </p:sp>
      <p:sp>
        <p:nvSpPr>
          <p:cNvPr id="18" name="T5"/>
          <p:cNvSpPr/>
          <p:nvPr>
            <p:ph idx="123" type="body" hasCustomPrompt="1"/>
          </p:nvPr>
        </p:nvSpPr>
        <p:spPr>
          <a:xfrm>
            <a:off x="1456273" y="4940320"/>
            <a:ext cx="3589843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What we need</a:t>
            </a:r>
            <a:endParaRPr lang="en-US" sz="1800" dirty="0"/>
          </a:p>
        </p:txBody>
      </p:sp>
      <p:sp>
        <p:nvSpPr>
          <p:cNvPr id="19" name="D5"/>
          <p:cNvSpPr/>
          <p:nvPr>
            <p:ph idx="124" type="body" hasCustomPrompt="1"/>
          </p:nvPr>
        </p:nvSpPr>
        <p:spPr>
          <a:xfrm>
            <a:off x="5249296" y="4965741"/>
            <a:ext cx="643463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Two decisions and one staffing ask.</a:t>
            </a:r>
            <a:endParaRPr lang="en-US" sz="1200" dirty="0"/>
          </a:p>
        </p:txBody>
      </p:sp>
      <p:sp>
        <p:nvSpPr>
          <p:cNvPr id="20" name="N6"/>
          <p:cNvSpPr/>
          <p:nvPr>
            <p:ph idx="126" type="body" hasCustomPrompt="1"/>
          </p:nvPr>
        </p:nvSpPr>
        <p:spPr>
          <a:xfrm>
            <a:off x="508041" y="5499110"/>
            <a:ext cx="74505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2400" dirty="0"/>
          </a:p>
        </p:txBody>
      </p:sp>
      <p:sp>
        <p:nvSpPr>
          <p:cNvPr id="21" name="T6"/>
          <p:cNvSpPr/>
          <p:nvPr>
            <p:ph idx="127" type="body" hasCustomPrompt="1"/>
          </p:nvPr>
        </p:nvSpPr>
        <p:spPr>
          <a:xfrm>
            <a:off x="1456273" y="5524530"/>
            <a:ext cx="3589843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1800" dirty="0"/>
          </a:p>
        </p:txBody>
      </p:sp>
      <p:sp>
        <p:nvSpPr>
          <p:cNvPr id="22" name="D6"/>
          <p:cNvSpPr/>
          <p:nvPr>
            <p:ph idx="128" type="body" hasCustomPrompt="1"/>
          </p:nvPr>
        </p:nvSpPr>
        <p:spPr>
          <a:xfrm>
            <a:off x="5249296" y="5549859"/>
            <a:ext cx="643463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/>
          <p:nvPr>
            <p:ph idx="103" type="body" hasCustomPrompt="1"/>
          </p:nvPr>
        </p:nvSpPr>
        <p:spPr>
          <a:xfrm>
            <a:off x="508041" y="2413010"/>
            <a:ext cx="5080041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4DBDF5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SECTION 02</a:t>
            </a:r>
            <a:endParaRPr lang="en-US" sz="800" dirty="0"/>
          </a:p>
        </p:txBody>
      </p:sp>
      <p:sp>
        <p:nvSpPr>
          <p:cNvPr id="3" name="Section"/>
          <p:cNvSpPr/>
          <p:nvPr>
            <p:ph idx="100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CFE0FB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PRODUCT REVIEW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2667030"/>
            <a:ext cx="9525030" cy="1206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600" spc="-100" kern="0" dirty="0">
                <a:solidFill>
                  <a:srgbClr val="FFFFFF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What is driving abandonment</a:t>
            </a:r>
            <a:endParaRPr lang="en-US" sz="5600" dirty="0"/>
          </a:p>
        </p:txBody>
      </p:sp>
      <p:sp>
        <p:nvSpPr>
          <p:cNvPr id="5" name="Subtitle"/>
          <p:cNvSpPr/>
          <p:nvPr>
            <p:ph idx="105" type="body" hasCustomPrompt="1"/>
          </p:nvPr>
        </p:nvSpPr>
        <p:spPr>
          <a:xfrm>
            <a:off x="508041" y="4063959"/>
            <a:ext cx="698501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CFE0FB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Three causes, not one — and only one of them is a design problem.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FE0FB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THE REFRAME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STRATEGY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1777959"/>
            <a:ext cx="9279423" cy="26670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00" spc="-8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Advertisers don’t need more insights. They need fewer, clearer decisions.</a:t>
            </a:r>
            <a:endParaRPr lang="en-US" sz="4000" dirty="0"/>
          </a:p>
        </p:txBody>
      </p:sp>
      <p:sp>
        <p:nvSpPr>
          <p:cNvPr id="5" name="Subtitle"/>
          <p:cNvSpPr/>
          <p:nvPr>
            <p:ph idx="106" type="body" hasCustomPrompt="1"/>
          </p:nvPr>
        </p:nvSpPr>
        <p:spPr>
          <a:xfrm>
            <a:off x="508041" y="4775180"/>
            <a:ext cx="7382957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Every capability we add should remove a decision from the advertiser, not add one.</a:t>
            </a:r>
            <a:endParaRPr lang="en-US" sz="1400" dirty="0"/>
          </a:p>
        </p:txBody>
      </p:sp>
      <p:sp>
        <p:nvSpPr>
          <p:cNvPr id="6" name="Source"/>
          <p:cNvSpPr/>
          <p:nvPr>
            <p:ph idx="107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WHY NOW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STRATEGY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Setup friction is now the constraint on growth, not demand</a:t>
            </a:r>
            <a:endParaRPr lang="en-US" sz="2800" dirty="0"/>
          </a:p>
        </p:txBody>
      </p:sp>
      <p:sp>
        <p:nvSpPr>
          <p:cNvPr id="5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Advertisers arrive with budget. Too many leave before a campaign goes live.</a:t>
            </a:r>
            <a:endParaRPr lang="en-US" sz="1400" dirty="0"/>
          </a:p>
        </p:txBody>
      </p:sp>
      <p:sp>
        <p:nvSpPr>
          <p:cNvPr id="6" name="Claim"/>
          <p:cNvSpPr/>
          <p:nvPr>
            <p:ph idx="106" type="body" hasCustomPrompt="1"/>
          </p:nvPr>
        </p:nvSpPr>
        <p:spPr>
          <a:xfrm>
            <a:off x="508041" y="2438430"/>
            <a:ext cx="5486400" cy="190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800" spc="-8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The funnel leaks at setup, and it leaks most for the advertisers we most want to grow.</a:t>
            </a:r>
            <a:endParaRPr lang="en-US" sz="2800" dirty="0"/>
          </a:p>
        </p:txBody>
      </p:sp>
      <p:sp>
        <p:nvSpPr>
          <p:cNvPr id="7" name="Claim body"/>
          <p:cNvSpPr/>
          <p:nvPr>
            <p:ph idx="107" type="body" hasCustomPrompt="1"/>
          </p:nvPr>
        </p:nvSpPr>
        <p:spPr>
          <a:xfrm>
            <a:off x="508041" y="4470410"/>
            <a:ext cx="5486400" cy="127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Demand is not the constraint: new-advertiser sign-ups are up. Completion is. Newer advertisers abandon setup at almost twice the rate of managed accounts.</a:t>
            </a:r>
            <a:endParaRPr lang="en-US" sz="1200" dirty="0"/>
          </a:p>
        </p:txBody>
      </p:sp>
      <p:sp>
        <p:nvSpPr>
          <p:cNvPr id="8" name="E1 value"/>
          <p:cNvSpPr/>
          <p:nvPr>
            <p:ph idx="109" type="body" hasCustomPrompt="1"/>
          </p:nvPr>
        </p:nvSpPr>
        <p:spPr>
          <a:xfrm>
            <a:off x="7145853" y="2565441"/>
            <a:ext cx="4538167" cy="40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spc="-12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42%</a:t>
            </a:r>
            <a:endParaRPr lang="en-US" sz="4000" dirty="0"/>
          </a:p>
        </p:txBody>
      </p:sp>
      <p:sp>
        <p:nvSpPr>
          <p:cNvPr id="9" name="E1 label"/>
          <p:cNvSpPr/>
          <p:nvPr>
            <p:ph idx="110" type="body" hasCustomPrompt="1"/>
          </p:nvPr>
        </p:nvSpPr>
        <p:spPr>
          <a:xfrm>
            <a:off x="7145853" y="3022641"/>
            <a:ext cx="4538167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Setup starts that never reach launch, last two quarters.</a:t>
            </a:r>
            <a:endParaRPr lang="en-US" sz="1050" dirty="0"/>
          </a:p>
        </p:txBody>
      </p:sp>
      <p:sp>
        <p:nvSpPr>
          <p:cNvPr id="10" name="E2 value"/>
          <p:cNvSpPr/>
          <p:nvPr>
            <p:ph idx="112" type="body" hasCustomPrompt="1"/>
          </p:nvPr>
        </p:nvSpPr>
        <p:spPr>
          <a:xfrm>
            <a:off x="7145853" y="3733770"/>
            <a:ext cx="4538167" cy="40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spc="-12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1.9×</a:t>
            </a:r>
            <a:endParaRPr lang="en-US" sz="4000" dirty="0"/>
          </a:p>
        </p:txBody>
      </p:sp>
      <p:sp>
        <p:nvSpPr>
          <p:cNvPr id="11" name="E2 label"/>
          <p:cNvSpPr/>
          <p:nvPr>
            <p:ph idx="113" type="body" hasCustomPrompt="1"/>
          </p:nvPr>
        </p:nvSpPr>
        <p:spPr>
          <a:xfrm>
            <a:off x="7145853" y="4190970"/>
            <a:ext cx="4538167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Abandonment rate for self-serve vs managed advertisers.</a:t>
            </a:r>
            <a:endParaRPr lang="en-US" sz="1050" dirty="0"/>
          </a:p>
        </p:txBody>
      </p:sp>
      <p:sp>
        <p:nvSpPr>
          <p:cNvPr id="12" name="E3 value"/>
          <p:cNvSpPr/>
          <p:nvPr>
            <p:ph idx="115" type="body" hasCustomPrompt="1"/>
          </p:nvPr>
        </p:nvSpPr>
        <p:spPr>
          <a:xfrm>
            <a:off x="7145853" y="4902190"/>
            <a:ext cx="4538167" cy="40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spc="-12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11 min</a:t>
            </a:r>
            <a:endParaRPr lang="en-US" sz="4000" dirty="0"/>
          </a:p>
        </p:txBody>
      </p:sp>
      <p:sp>
        <p:nvSpPr>
          <p:cNvPr id="13" name="E3 label"/>
          <p:cNvSpPr/>
          <p:nvPr>
            <p:ph idx="116" type="body" hasCustomPrompt="1"/>
          </p:nvPr>
        </p:nvSpPr>
        <p:spPr>
          <a:xfrm>
            <a:off x="7145853" y="5359390"/>
            <a:ext cx="4538167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Median time to first launch for advertisers who finish.</a:t>
            </a:r>
            <a:endParaRPr lang="en-US" sz="1050" dirty="0"/>
          </a:p>
        </p:txBody>
      </p:sp>
      <p:sp>
        <p:nvSpPr>
          <p:cNvPr id="14" name="Source"/>
          <p:cNvSpPr/>
          <p:nvPr>
            <p:ph idx="117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Illustrative example content and data for layout demonstration. Replace with real content and cite the source.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EXECUTIVE SUMMARY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We should simplify setup before we add intelligence to it</a:t>
            </a:r>
            <a:endParaRPr lang="en-US" sz="2800" dirty="0"/>
          </a:p>
        </p:txBody>
      </p:sp>
      <p:sp>
        <p:nvSpPr>
          <p:cNvPr id="5" name="Body"/>
          <p:cNvSpPr/>
          <p:nvPr>
            <p:ph idx="106" type="body" hasCustomPrompt="1"/>
          </p:nvPr>
        </p:nvSpPr>
        <p:spPr>
          <a:xfrm>
            <a:off x="508041" y="2438430"/>
            <a:ext cx="8331190" cy="3556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Advertisers tell us setup asks too many decisions too early, and the behavioral data agrees: most abandonment happens at targeting and budget, before anything is live. Adding recommendations on top of that flow would add a decision rather than remove one.</a:t>
            </a: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We propose to reorder setup around the advertiser’s goal, move targeting and budget guidance into the step where the decision is made, and only then layer in automated suggestions — measured against completion, time to launch and early campaign performance.</a:t>
            </a:r>
            <a:endParaRPr lang="en-US" sz="1400" dirty="0"/>
          </a:p>
        </p:txBody>
      </p:sp>
      <p:sp>
        <p:nvSpPr>
          <p:cNvPr id="6" name="Source"/>
          <p:cNvSpPr/>
          <p:nvPr>
            <p:ph idx="107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Illustrative example content and data for layout demonstration. Replace with real content and cite the source.</a:t>
            </a:r>
            <a:endParaRPr lang="en-US" sz="800" dirty="0"/>
          </a:p>
        </p:txBody>
      </p:sp>
      <p:sp>
        <p:nvSpPr>
          <p:cNvPr id="7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PROBLEM → OPPORTUNITY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STRATEGY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The problem is decision load; the opportunity is sequencing</a:t>
            </a:r>
            <a:endParaRPr lang="en-US" sz="2800" dirty="0"/>
          </a:p>
        </p:txBody>
      </p:sp>
      <p:sp>
        <p:nvSpPr>
          <p:cNvPr id="5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Same data, two readings. The second one tells us what to build.</a:t>
            </a:r>
            <a:endParaRPr lang="en-US" sz="1400" dirty="0"/>
          </a:p>
        </p:txBody>
      </p:sp>
      <p:sp>
        <p:nvSpPr>
          <p:cNvPr id="6" name="C1 label"/>
          <p:cNvSpPr/>
          <p:nvPr>
            <p:ph idx="107" type="body" hasCustomPrompt="1"/>
          </p:nvPr>
        </p:nvSpPr>
        <p:spPr>
          <a:xfrm>
            <a:off x="508041" y="2540020"/>
            <a:ext cx="548640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7" name="C1 title"/>
          <p:cNvSpPr/>
          <p:nvPr>
            <p:ph idx="108" type="body" hasCustomPrompt="1"/>
          </p:nvPr>
        </p:nvSpPr>
        <p:spPr>
          <a:xfrm>
            <a:off x="508041" y="27177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Setup asks for every decision up front</a:t>
            </a:r>
            <a:endParaRPr lang="en-US" sz="1800" dirty="0"/>
          </a:p>
        </p:txBody>
      </p:sp>
      <p:sp>
        <p:nvSpPr>
          <p:cNvPr id="8" name="C1 body"/>
          <p:cNvSpPr/>
          <p:nvPr>
            <p:ph idx="109" type="body" hasCustomPrompt="1"/>
          </p:nvPr>
        </p:nvSpPr>
        <p:spPr>
          <a:xfrm>
            <a:off x="508041" y="3225820"/>
            <a:ext cx="5486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Objective, audience, budget, bid and creative arrive on one screen, in an order that reflects our data model rather than the advertiser’s thinking.</a:t>
            </a:r>
            <a:endParaRPr lang="en-US" sz="1200" dirty="0"/>
          </a:p>
        </p:txBody>
      </p:sp>
      <p:sp>
        <p:nvSpPr>
          <p:cNvPr id="9" name="C2 label"/>
          <p:cNvSpPr/>
          <p:nvPr>
            <p:ph idx="111" type="body" hasCustomPrompt="1"/>
          </p:nvPr>
        </p:nvSpPr>
        <p:spPr>
          <a:xfrm>
            <a:off x="6197620" y="2540020"/>
            <a:ext cx="548640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THE OPPORTUNITY</a:t>
            </a:r>
            <a:endParaRPr lang="en-US" sz="800" dirty="0"/>
          </a:p>
        </p:txBody>
      </p:sp>
      <p:sp>
        <p:nvSpPr>
          <p:cNvPr id="10" name="C2 title"/>
          <p:cNvSpPr/>
          <p:nvPr>
            <p:ph idx="112" type="body" hasCustomPrompt="1"/>
          </p:nvPr>
        </p:nvSpPr>
        <p:spPr>
          <a:xfrm>
            <a:off x="6197620" y="27177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Ask for each decision when it can be made well</a:t>
            </a:r>
            <a:endParaRPr lang="en-US" sz="1800" dirty="0"/>
          </a:p>
        </p:txBody>
      </p:sp>
      <p:sp>
        <p:nvSpPr>
          <p:cNvPr id="11" name="C2 body"/>
          <p:cNvSpPr/>
          <p:nvPr>
            <p:ph idx="113" type="body" hasCustomPrompt="1"/>
          </p:nvPr>
        </p:nvSpPr>
        <p:spPr>
          <a:xfrm>
            <a:off x="6197620" y="3225820"/>
            <a:ext cx="5486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Lead with the goal, defer what can be defaulted, and bring guidance to the moment of decision. Fewer choices, each with more context.</a:t>
            </a:r>
            <a:endParaRPr lang="en-US" sz="1200" dirty="0"/>
          </a:p>
        </p:txBody>
      </p:sp>
      <p:sp>
        <p:nvSpPr>
          <p:cNvPr id="12" name="Source"/>
          <p:cNvSpPr/>
          <p:nvPr>
            <p:ph idx="114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Illustrative example content and data for layout demonstration. Replace with real content and cite the source.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EVIDENCE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RESEARCH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Abandonment clusters at two steps, and both are decision steps</a:t>
            </a:r>
            <a:endParaRPr lang="en-US" sz="2800" dirty="0"/>
          </a:p>
        </p:txBody>
      </p:sp>
      <p:sp>
        <p:nvSpPr>
          <p:cNvPr id="5" name="Rail label"/>
          <p:cNvSpPr/>
          <p:nvPr>
            <p:ph idx="108" type="body" hasCustomPrompt="1"/>
          </p:nvPr>
        </p:nvSpPr>
        <p:spPr>
          <a:xfrm>
            <a:off x="8094177" y="2540020"/>
            <a:ext cx="358984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SO WHAT</a:t>
            </a:r>
            <a:endParaRPr lang="en-US" sz="800" dirty="0"/>
          </a:p>
        </p:txBody>
      </p:sp>
      <p:sp>
        <p:nvSpPr>
          <p:cNvPr id="6" name="Rail title"/>
          <p:cNvSpPr/>
          <p:nvPr>
            <p:ph idx="109" type="body" hasCustomPrompt="1"/>
          </p:nvPr>
        </p:nvSpPr>
        <p:spPr>
          <a:xfrm>
            <a:off x="8094177" y="2717780"/>
            <a:ext cx="3589843" cy="1015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Fix targeting and budget first; the other steps are not where we lose people.</a:t>
            </a:r>
            <a:endParaRPr lang="en-US" sz="1800" dirty="0"/>
          </a:p>
        </p:txBody>
      </p:sp>
      <p:sp>
        <p:nvSpPr>
          <p:cNvPr id="7" name="Rail body"/>
          <p:cNvSpPr/>
          <p:nvPr>
            <p:ph idx="110" type="body" hasCustomPrompt="1"/>
          </p:nvPr>
        </p:nvSpPr>
        <p:spPr>
          <a:xfrm>
            <a:off x="8094177" y="3835359"/>
            <a:ext cx="3589843" cy="1968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Creative upload and review have low drop-off. The two decision-heavy steps account for most of the loss, so that is where simplification buys the most.</a:t>
            </a:r>
            <a:endParaRPr lang="en-US" sz="1200" dirty="0"/>
          </a:p>
        </p:txBody>
      </p:sp>
      <p:sp>
        <p:nvSpPr>
          <p:cNvPr id="8" name="Source"/>
          <p:cNvSpPr/>
          <p:nvPr>
            <p:ph idx="111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Illustrative example content and data for layout demonstration. Replace with real content and cite the source.</a:t>
            </a:r>
            <a:endParaRPr lang="en-US" sz="8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8041" y="2438430"/>
          <a:ext cx="7382957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endParaRPr lang="en-US" sz="1400" dirty="0"/>
          </a:p>
        </p:txBody>
      </p:sp>
      <p:sp>
        <p:nvSpPr>
          <p:cNvPr id="11" name="Content"/>
          <p:cNvSpPr/>
          <p:nvPr>
            <p:ph idx="106" type="body" hasCustomPrompt="1"/>
          </p:nvPr>
        </p:nvSpPr>
        <p:spPr>
          <a:xfrm>
            <a:off x="508041" y="2438430"/>
            <a:ext cx="7382957" cy="3556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STRATEGIC PILLARS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STRATEGY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Three pillars, each removing a different kind of friction</a:t>
            </a:r>
            <a:endParaRPr lang="en-US" sz="2800" dirty="0"/>
          </a:p>
        </p:txBody>
      </p:sp>
      <p:sp>
        <p:nvSpPr>
          <p:cNvPr id="5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Ideal for three. Supports three to five. Above five, move to a pillar → initiative map.</a:t>
            </a:r>
            <a:endParaRPr lang="en-US" sz="1400" dirty="0"/>
          </a:p>
        </p:txBody>
      </p:sp>
      <p:sp>
        <p:nvSpPr>
          <p:cNvPr id="6" name="C1 label"/>
          <p:cNvSpPr/>
          <p:nvPr>
            <p:ph idx="107" type="body" hasCustomPrompt="1"/>
          </p:nvPr>
        </p:nvSpPr>
        <p:spPr>
          <a:xfrm>
            <a:off x="508041" y="2540020"/>
            <a:ext cx="358984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PILLAR 01</a:t>
            </a:r>
            <a:endParaRPr lang="en-US" sz="800" dirty="0"/>
          </a:p>
        </p:txBody>
      </p:sp>
      <p:sp>
        <p:nvSpPr>
          <p:cNvPr id="7" name="C1 title"/>
          <p:cNvSpPr/>
          <p:nvPr>
            <p:ph idx="108" type="body" hasCustomPrompt="1"/>
          </p:nvPr>
        </p:nvSpPr>
        <p:spPr>
          <a:xfrm>
            <a:off x="508041" y="2717780"/>
            <a:ext cx="35898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Simplify the core</a:t>
            </a:r>
            <a:endParaRPr lang="en-US" sz="1800" dirty="0"/>
          </a:p>
        </p:txBody>
      </p:sp>
      <p:sp>
        <p:nvSpPr>
          <p:cNvPr id="8" name="C1 body"/>
          <p:cNvSpPr/>
          <p:nvPr>
            <p:ph idx="109" type="body" hasCustomPrompt="1"/>
          </p:nvPr>
        </p:nvSpPr>
        <p:spPr>
          <a:xfrm>
            <a:off x="508041" y="3225820"/>
            <a:ext cx="3589843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Fewer steps and fewer decisions in the workflows advertisers use every week.</a:t>
            </a:r>
            <a:endParaRPr lang="en-US" sz="1200" dirty="0"/>
          </a:p>
        </p:txBody>
      </p:sp>
      <p:sp>
        <p:nvSpPr>
          <p:cNvPr id="9" name="C2 label"/>
          <p:cNvSpPr/>
          <p:nvPr>
            <p:ph idx="111" type="body" hasCustomPrompt="1"/>
          </p:nvPr>
        </p:nvSpPr>
        <p:spPr>
          <a:xfrm>
            <a:off x="4301063" y="2540020"/>
            <a:ext cx="358984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PILLAR 02</a:t>
            </a:r>
            <a:endParaRPr lang="en-US" sz="800" dirty="0"/>
          </a:p>
        </p:txBody>
      </p:sp>
      <p:sp>
        <p:nvSpPr>
          <p:cNvPr id="10" name="C2 title"/>
          <p:cNvSpPr/>
          <p:nvPr>
            <p:ph idx="112" type="body" hasCustomPrompt="1"/>
          </p:nvPr>
        </p:nvSpPr>
        <p:spPr>
          <a:xfrm>
            <a:off x="4301063" y="2717780"/>
            <a:ext cx="35898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Connect the platform</a:t>
            </a:r>
            <a:endParaRPr lang="en-US" sz="1800" dirty="0"/>
          </a:p>
        </p:txBody>
      </p:sp>
      <p:sp>
        <p:nvSpPr>
          <p:cNvPr id="11" name="C2 body"/>
          <p:cNvSpPr/>
          <p:nvPr>
            <p:ph idx="113" type="body" hasCustomPrompt="1"/>
          </p:nvPr>
        </p:nvSpPr>
        <p:spPr>
          <a:xfrm>
            <a:off x="4301063" y="3225820"/>
            <a:ext cx="3589843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One navigation, one reporting model, shared objects across channels.</a:t>
            </a:r>
            <a:endParaRPr lang="en-US" sz="1200" dirty="0"/>
          </a:p>
        </p:txBody>
      </p:sp>
      <p:sp>
        <p:nvSpPr>
          <p:cNvPr id="12" name="C3 label"/>
          <p:cNvSpPr/>
          <p:nvPr>
            <p:ph idx="115" type="body" hasCustomPrompt="1"/>
          </p:nvPr>
        </p:nvSpPr>
        <p:spPr>
          <a:xfrm>
            <a:off x="8094177" y="2540020"/>
            <a:ext cx="358984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PILLAR 03</a:t>
            </a:r>
            <a:endParaRPr lang="en-US" sz="800" dirty="0"/>
          </a:p>
        </p:txBody>
      </p:sp>
      <p:sp>
        <p:nvSpPr>
          <p:cNvPr id="13" name="C3 title"/>
          <p:cNvSpPr/>
          <p:nvPr>
            <p:ph idx="116" type="body" hasCustomPrompt="1"/>
          </p:nvPr>
        </p:nvSpPr>
        <p:spPr>
          <a:xfrm>
            <a:off x="8094177" y="2717780"/>
            <a:ext cx="35898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Guide the next decision</a:t>
            </a:r>
            <a:endParaRPr lang="en-US" sz="1800" dirty="0"/>
          </a:p>
        </p:txBody>
      </p:sp>
      <p:sp>
        <p:nvSpPr>
          <p:cNvPr id="14" name="C3 body"/>
          <p:cNvSpPr/>
          <p:nvPr>
            <p:ph idx="117" type="body" hasCustomPrompt="1"/>
          </p:nvPr>
        </p:nvSpPr>
        <p:spPr>
          <a:xfrm>
            <a:off x="8094177" y="3225820"/>
            <a:ext cx="3589843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Recommendations that explain themselves and are measured on outcomes.</a:t>
            </a:r>
            <a:endParaRPr lang="en-US" sz="1200" dirty="0"/>
          </a:p>
        </p:txBody>
      </p:sp>
      <p:sp>
        <p:nvSpPr>
          <p:cNvPr id="15" name="Source"/>
          <p:cNvSpPr/>
          <p:nvPr>
            <p:ph idx="118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Illustrative example content and data for layout demonstration. Replace with real content and cite the source.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BIG ROCKS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PLAN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Four big rocks carry the plan for the next year</a:t>
            </a:r>
            <a:endParaRPr lang="en-US" sz="2800" dirty="0"/>
          </a:p>
        </p:txBody>
      </p:sp>
      <p:sp>
        <p:nvSpPr>
          <p:cNvPr id="5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Each rock has one owner, one outcome measure and one dependency we are watching.</a:t>
            </a:r>
            <a:endParaRPr lang="en-US" sz="1400" dirty="0"/>
          </a:p>
        </p:txBody>
      </p:sp>
      <p:sp>
        <p:nvSpPr>
          <p:cNvPr id="6" name="C1 label"/>
          <p:cNvSpPr/>
          <p:nvPr>
            <p:ph idx="107" type="body" hasCustomPrompt="1"/>
          </p:nvPr>
        </p:nvSpPr>
        <p:spPr>
          <a:xfrm>
            <a:off x="508041" y="2540020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ROCK 01</a:t>
            </a:r>
            <a:endParaRPr lang="en-US" sz="800" dirty="0"/>
          </a:p>
        </p:txBody>
      </p:sp>
      <p:sp>
        <p:nvSpPr>
          <p:cNvPr id="7" name="C1 title"/>
          <p:cNvSpPr/>
          <p:nvPr>
            <p:ph idx="108" type="body" hasCustomPrompt="1"/>
          </p:nvPr>
        </p:nvSpPr>
        <p:spPr>
          <a:xfrm>
            <a:off x="508041" y="2717780"/>
            <a:ext cx="2641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Goal-first setup</a:t>
            </a:r>
            <a:endParaRPr lang="en-US" sz="1800" dirty="0"/>
          </a:p>
        </p:txBody>
      </p:sp>
      <p:sp>
        <p:nvSpPr>
          <p:cNvPr id="8" name="C1 body"/>
          <p:cNvSpPr/>
          <p:nvPr>
            <p:ph idx="109" type="body" hasCustomPrompt="1"/>
          </p:nvPr>
        </p:nvSpPr>
        <p:spPr>
          <a:xfrm>
            <a:off x="508041" y="3225820"/>
            <a:ext cx="264161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Reorder creation around the advertiser’s objective.</a:t>
            </a:r>
            <a:endParaRPr lang="en-US" sz="1200" dirty="0"/>
          </a:p>
        </p:txBody>
      </p:sp>
      <p:sp>
        <p:nvSpPr>
          <p:cNvPr id="9" name="C2 label"/>
          <p:cNvSpPr/>
          <p:nvPr>
            <p:ph idx="111" type="body" hasCustomPrompt="1"/>
          </p:nvPr>
        </p:nvSpPr>
        <p:spPr>
          <a:xfrm>
            <a:off x="3352830" y="2540020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ROCK 02</a:t>
            </a:r>
            <a:endParaRPr lang="en-US" sz="800" dirty="0"/>
          </a:p>
        </p:txBody>
      </p:sp>
      <p:sp>
        <p:nvSpPr>
          <p:cNvPr id="10" name="C2 title"/>
          <p:cNvSpPr/>
          <p:nvPr>
            <p:ph idx="112" type="body" hasCustomPrompt="1"/>
          </p:nvPr>
        </p:nvSpPr>
        <p:spPr>
          <a:xfrm>
            <a:off x="3352830" y="2717780"/>
            <a:ext cx="2641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Shared audience library</a:t>
            </a:r>
            <a:endParaRPr lang="en-US" sz="1800" dirty="0"/>
          </a:p>
        </p:txBody>
      </p:sp>
      <p:sp>
        <p:nvSpPr>
          <p:cNvPr id="11" name="C2 body"/>
          <p:cNvSpPr/>
          <p:nvPr>
            <p:ph idx="113" type="body" hasCustomPrompt="1"/>
          </p:nvPr>
        </p:nvSpPr>
        <p:spPr>
          <a:xfrm>
            <a:off x="3352830" y="3225820"/>
            <a:ext cx="264161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Build once, reuse across campaigns and channels.</a:t>
            </a:r>
            <a:endParaRPr lang="en-US" sz="1200" dirty="0"/>
          </a:p>
        </p:txBody>
      </p:sp>
      <p:sp>
        <p:nvSpPr>
          <p:cNvPr id="12" name="C3 label"/>
          <p:cNvSpPr/>
          <p:nvPr>
            <p:ph idx="115" type="body" hasCustomPrompt="1"/>
          </p:nvPr>
        </p:nvSpPr>
        <p:spPr>
          <a:xfrm>
            <a:off x="6197620" y="2540020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ROCK 03</a:t>
            </a:r>
            <a:endParaRPr lang="en-US" sz="800" dirty="0"/>
          </a:p>
        </p:txBody>
      </p:sp>
      <p:sp>
        <p:nvSpPr>
          <p:cNvPr id="13" name="C3 title"/>
          <p:cNvSpPr/>
          <p:nvPr>
            <p:ph idx="116" type="body" hasCustomPrompt="1"/>
          </p:nvPr>
        </p:nvSpPr>
        <p:spPr>
          <a:xfrm>
            <a:off x="6197620" y="2717780"/>
            <a:ext cx="2641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Unified reporting</a:t>
            </a:r>
            <a:endParaRPr lang="en-US" sz="1800" dirty="0"/>
          </a:p>
        </p:txBody>
      </p:sp>
      <p:sp>
        <p:nvSpPr>
          <p:cNvPr id="14" name="C3 body"/>
          <p:cNvSpPr/>
          <p:nvPr>
            <p:ph idx="117" type="body" hasCustomPrompt="1"/>
          </p:nvPr>
        </p:nvSpPr>
        <p:spPr>
          <a:xfrm>
            <a:off x="6197620" y="3225820"/>
            <a:ext cx="264161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One answer to “how am I doing?”, wherever you ask it.</a:t>
            </a:r>
            <a:endParaRPr lang="en-US" sz="1200" dirty="0"/>
          </a:p>
        </p:txBody>
      </p:sp>
      <p:sp>
        <p:nvSpPr>
          <p:cNvPr id="15" name="C4 label"/>
          <p:cNvSpPr/>
          <p:nvPr>
            <p:ph idx="119" type="body" hasCustomPrompt="1"/>
          </p:nvPr>
        </p:nvSpPr>
        <p:spPr>
          <a:xfrm>
            <a:off x="9042410" y="2540020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ROCK 04</a:t>
            </a:r>
            <a:endParaRPr lang="en-US" sz="800" dirty="0"/>
          </a:p>
        </p:txBody>
      </p:sp>
      <p:sp>
        <p:nvSpPr>
          <p:cNvPr id="16" name="C4 title"/>
          <p:cNvSpPr/>
          <p:nvPr>
            <p:ph idx="120" type="body" hasCustomPrompt="1"/>
          </p:nvPr>
        </p:nvSpPr>
        <p:spPr>
          <a:xfrm>
            <a:off x="9042410" y="2717780"/>
            <a:ext cx="2641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Campaign experiments</a:t>
            </a:r>
            <a:endParaRPr lang="en-US" sz="1800" dirty="0"/>
          </a:p>
        </p:txBody>
      </p:sp>
      <p:sp>
        <p:nvSpPr>
          <p:cNvPr id="17" name="C4 body"/>
          <p:cNvSpPr/>
          <p:nvPr>
            <p:ph idx="121" type="body" hasCustomPrompt="1"/>
          </p:nvPr>
        </p:nvSpPr>
        <p:spPr>
          <a:xfrm>
            <a:off x="9042410" y="3225820"/>
            <a:ext cx="264161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Turn performance questions into evidence.</a:t>
            </a:r>
            <a:endParaRPr lang="en-US" sz="1200" dirty="0"/>
          </a:p>
        </p:txBody>
      </p:sp>
      <p:sp>
        <p:nvSpPr>
          <p:cNvPr id="18" name="Source"/>
          <p:cNvSpPr/>
          <p:nvPr>
            <p:ph idx="122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Illustrative example content and data for layout demonstration. Replace with real content and cite the source.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WHAT WE KNOW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RESEARCH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Separating what we know from what we believe keeps the plan honest</a:t>
            </a:r>
            <a:endParaRPr lang="en-US" sz="2800" dirty="0"/>
          </a:p>
        </p:txBody>
      </p:sp>
      <p:sp>
        <p:nvSpPr>
          <p:cNvPr id="5" name="R1 label"/>
          <p:cNvSpPr/>
          <p:nvPr>
            <p:ph idx="107" type="body" hasCustomPrompt="1"/>
          </p:nvPr>
        </p:nvSpPr>
        <p:spPr>
          <a:xfrm>
            <a:off x="508041" y="2578059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WE KNOW</a:t>
            </a:r>
            <a:endParaRPr lang="en-US" sz="800" dirty="0"/>
          </a:p>
        </p:txBody>
      </p:sp>
      <p:sp>
        <p:nvSpPr>
          <p:cNvPr id="6" name="R1 text"/>
          <p:cNvSpPr/>
          <p:nvPr>
            <p:ph idx="108" type="body" hasCustomPrompt="1"/>
          </p:nvPr>
        </p:nvSpPr>
        <p:spPr>
          <a:xfrm>
            <a:off x="3352830" y="2540020"/>
            <a:ext cx="833119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Abandonment is concentrated at targeting and budget, across every advertiser segment we measured.</a:t>
            </a:r>
            <a:endParaRPr lang="en-US" sz="1800" dirty="0"/>
          </a:p>
        </p:txBody>
      </p:sp>
      <p:sp>
        <p:nvSpPr>
          <p:cNvPr id="7" name="R2 label"/>
          <p:cNvSpPr/>
          <p:nvPr>
            <p:ph idx="110" type="body" hasCustomPrompt="1"/>
          </p:nvPr>
        </p:nvSpPr>
        <p:spPr>
          <a:xfrm>
            <a:off x="508041" y="3454420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WE BELIEVE</a:t>
            </a:r>
            <a:endParaRPr lang="en-US" sz="800" dirty="0"/>
          </a:p>
        </p:txBody>
      </p:sp>
      <p:sp>
        <p:nvSpPr>
          <p:cNvPr id="8" name="R2 text"/>
          <p:cNvSpPr/>
          <p:nvPr>
            <p:ph idx="111" type="body" hasCustomPrompt="1"/>
          </p:nvPr>
        </p:nvSpPr>
        <p:spPr>
          <a:xfrm>
            <a:off x="3352830" y="3416290"/>
            <a:ext cx="833119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Goal-first ordering will lift completion more for new advertisers than for managed accounts.</a:t>
            </a:r>
            <a:endParaRPr lang="en-US" sz="1800" dirty="0"/>
          </a:p>
        </p:txBody>
      </p:sp>
      <p:sp>
        <p:nvSpPr>
          <p:cNvPr id="9" name="R3 label"/>
          <p:cNvSpPr/>
          <p:nvPr>
            <p:ph idx="113" type="body" hasCustomPrompt="1"/>
          </p:nvPr>
        </p:nvSpPr>
        <p:spPr>
          <a:xfrm>
            <a:off x="508041" y="4330690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WE NEED TO LEARN</a:t>
            </a:r>
            <a:endParaRPr lang="en-US" sz="800" dirty="0"/>
          </a:p>
        </p:txBody>
      </p:sp>
      <p:sp>
        <p:nvSpPr>
          <p:cNvPr id="10" name="R3 text"/>
          <p:cNvSpPr/>
          <p:nvPr>
            <p:ph idx="114" type="body" hasCustomPrompt="1"/>
          </p:nvPr>
        </p:nvSpPr>
        <p:spPr>
          <a:xfrm>
            <a:off x="3352830" y="4292559"/>
            <a:ext cx="833119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Whether better setup improves early campaign performance, or only completion.</a:t>
            </a:r>
            <a:endParaRPr lang="en-US" sz="1800" dirty="0"/>
          </a:p>
        </p:txBody>
      </p:sp>
      <p:sp>
        <p:nvSpPr>
          <p:cNvPr id="11" name="R4 label"/>
          <p:cNvSpPr/>
          <p:nvPr>
            <p:ph idx="116" type="body" hasCustomPrompt="1"/>
          </p:nvPr>
        </p:nvSpPr>
        <p:spPr>
          <a:xfrm>
            <a:off x="508041" y="5206959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HOW WE WILL LEARN</a:t>
            </a:r>
            <a:endParaRPr lang="en-US" sz="800" dirty="0"/>
          </a:p>
        </p:txBody>
      </p:sp>
      <p:sp>
        <p:nvSpPr>
          <p:cNvPr id="12" name="R4 text"/>
          <p:cNvSpPr/>
          <p:nvPr>
            <p:ph idx="117" type="body" hasCustomPrompt="1"/>
          </p:nvPr>
        </p:nvSpPr>
        <p:spPr>
          <a:xfrm>
            <a:off x="3352830" y="5168920"/>
            <a:ext cx="833119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A controlled test on new advertisers, measured on completion, time to launch and 30-day spend.</a:t>
            </a:r>
            <a:endParaRPr lang="en-US" sz="1800" dirty="0"/>
          </a:p>
        </p:txBody>
      </p:sp>
      <p:sp>
        <p:nvSpPr>
          <p:cNvPr id="13" name="Source"/>
          <p:cNvSpPr/>
          <p:nvPr>
            <p:ph idx="118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Illustrative example content and data for layout demonstration. Replace with real content and cite the source.</a:t>
            </a:r>
            <a:endParaRPr lang="en-US" sz="800" dirty="0"/>
          </a:p>
        </p:txBody>
      </p:sp>
      <p:sp>
        <p:nvSpPr>
          <p:cNvPr id="14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CURRENT → FUTURE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EXPERIENCE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From one long form to a guided sequence</a:t>
            </a:r>
            <a:endParaRPr lang="en-US" sz="2800" dirty="0"/>
          </a:p>
        </p:txBody>
      </p:sp>
      <p:sp>
        <p:nvSpPr>
          <p:cNvPr id="5" name="Now label"/>
          <p:cNvSpPr/>
          <p:nvPr>
            <p:ph idx="107" type="body" hasCustomPrompt="1"/>
          </p:nvPr>
        </p:nvSpPr>
        <p:spPr>
          <a:xfrm>
            <a:off x="508041" y="2540020"/>
            <a:ext cx="4538167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TODAY</a:t>
            </a:r>
            <a:endParaRPr lang="en-US" sz="800" dirty="0"/>
          </a:p>
        </p:txBody>
      </p:sp>
      <p:sp>
        <p:nvSpPr>
          <p:cNvPr id="6" name="Now title"/>
          <p:cNvSpPr/>
          <p:nvPr>
            <p:ph idx="108" type="body" hasCustomPrompt="1"/>
          </p:nvPr>
        </p:nvSpPr>
        <p:spPr>
          <a:xfrm>
            <a:off x="508041" y="2717780"/>
            <a:ext cx="45381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Every decision on one screen</a:t>
            </a:r>
            <a:endParaRPr lang="en-US" sz="1800" dirty="0"/>
          </a:p>
        </p:txBody>
      </p:sp>
      <p:sp>
        <p:nvSpPr>
          <p:cNvPr id="7" name="Now body"/>
          <p:cNvSpPr/>
          <p:nvPr>
            <p:ph idx="109" type="body" hasCustomPrompt="1"/>
          </p:nvPr>
        </p:nvSpPr>
        <p:spPr>
          <a:xfrm>
            <a:off x="508041" y="3225820"/>
            <a:ext cx="4538167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Twenty-three fields, eight of them required before the advertiser can save. Guidance lives in a help article.</a:t>
            </a:r>
            <a:endParaRPr lang="en-US" sz="1200" dirty="0"/>
          </a:p>
        </p:txBody>
      </p:sp>
      <p:sp>
        <p:nvSpPr>
          <p:cNvPr id="8" name="Next label"/>
          <p:cNvSpPr/>
          <p:nvPr>
            <p:ph idx="112" type="body" hasCustomPrompt="1"/>
          </p:nvPr>
        </p:nvSpPr>
        <p:spPr>
          <a:xfrm>
            <a:off x="7145853" y="2540020"/>
            <a:ext cx="4538167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FUTURE</a:t>
            </a:r>
            <a:endParaRPr lang="en-US" sz="800" dirty="0"/>
          </a:p>
        </p:txBody>
      </p:sp>
      <p:sp>
        <p:nvSpPr>
          <p:cNvPr id="9" name="Next title"/>
          <p:cNvSpPr/>
          <p:nvPr>
            <p:ph idx="113" type="body" hasCustomPrompt="1"/>
          </p:nvPr>
        </p:nvSpPr>
        <p:spPr>
          <a:xfrm>
            <a:off x="7145853" y="2717780"/>
            <a:ext cx="45381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One decision per step, with context</a:t>
            </a:r>
            <a:endParaRPr lang="en-US" sz="1800" dirty="0"/>
          </a:p>
        </p:txBody>
      </p:sp>
      <p:sp>
        <p:nvSpPr>
          <p:cNvPr id="10" name="Next body"/>
          <p:cNvSpPr/>
          <p:nvPr>
            <p:ph idx="114" type="body" hasCustomPrompt="1"/>
          </p:nvPr>
        </p:nvSpPr>
        <p:spPr>
          <a:xfrm>
            <a:off x="7145853" y="3225820"/>
            <a:ext cx="4538167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Goal first, sensible defaults, and guidance inside the step where the choice is made. Save at any point.</a:t>
            </a:r>
            <a:endParaRPr lang="en-US" sz="1200" dirty="0"/>
          </a:p>
        </p:txBody>
      </p:sp>
      <p:sp>
        <p:nvSpPr>
          <p:cNvPr id="11" name="Source"/>
          <p:cNvSpPr/>
          <p:nvPr>
            <p:ph idx="115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Illustrative example content and data for layout demonstration. Replace with real content and cite the source.</a:t>
            </a:r>
            <a:endParaRPr lang="en-US" sz="800" dirty="0"/>
          </a:p>
        </p:txBody>
      </p:sp>
      <p:sp>
        <p:nvSpPr>
          <p:cNvPr id="12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RISKS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PLAN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Four risks, each with an owner and a mitigation already in motion</a:t>
            </a:r>
            <a:endParaRPr lang="en-US" sz="2800" dirty="0"/>
          </a:p>
        </p:txBody>
      </p:sp>
      <p:sp>
        <p:nvSpPr>
          <p:cNvPr id="5" name="G1 label"/>
          <p:cNvSpPr/>
          <p:nvPr>
            <p:ph idx="107" type="body" hasCustomPrompt="1"/>
          </p:nvPr>
        </p:nvSpPr>
        <p:spPr>
          <a:xfrm>
            <a:off x="660380" y="2590770"/>
            <a:ext cx="51816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DEPENDENCY</a:t>
            </a:r>
            <a:endParaRPr lang="en-US" sz="800" dirty="0"/>
          </a:p>
        </p:txBody>
      </p:sp>
      <p:sp>
        <p:nvSpPr>
          <p:cNvPr id="6" name="G1 title"/>
          <p:cNvSpPr/>
          <p:nvPr>
            <p:ph idx="108" type="body" hasCustomPrompt="1"/>
          </p:nvPr>
        </p:nvSpPr>
        <p:spPr>
          <a:xfrm>
            <a:off x="660380" y="2768620"/>
            <a:ext cx="51816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Audience API is not ready</a:t>
            </a:r>
            <a:endParaRPr lang="en-US" sz="1400" dirty="0"/>
          </a:p>
        </p:txBody>
      </p:sp>
      <p:sp>
        <p:nvSpPr>
          <p:cNvPr id="7" name="G1 body"/>
          <p:cNvSpPr/>
          <p:nvPr>
            <p:ph idx="109" type="body" hasCustomPrompt="1"/>
          </p:nvPr>
        </p:nvSpPr>
        <p:spPr>
          <a:xfrm>
            <a:off x="660380" y="3174980"/>
            <a:ext cx="5181630" cy="81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Mitigation: ship setup with today’s audience picker; swap in the library when the API lands.</a:t>
            </a:r>
            <a:endParaRPr lang="en-US" sz="1100" dirty="0"/>
          </a:p>
        </p:txBody>
      </p:sp>
      <p:sp>
        <p:nvSpPr>
          <p:cNvPr id="8" name="G2 label"/>
          <p:cNvSpPr/>
          <p:nvPr>
            <p:ph idx="111" type="body" hasCustomPrompt="1"/>
          </p:nvPr>
        </p:nvSpPr>
        <p:spPr>
          <a:xfrm>
            <a:off x="6349959" y="2590770"/>
            <a:ext cx="51816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ADOPTION</a:t>
            </a:r>
            <a:endParaRPr lang="en-US" sz="800" dirty="0"/>
          </a:p>
        </p:txBody>
      </p:sp>
      <p:sp>
        <p:nvSpPr>
          <p:cNvPr id="9" name="G2 title"/>
          <p:cNvSpPr/>
          <p:nvPr>
            <p:ph idx="112" type="body" hasCustomPrompt="1"/>
          </p:nvPr>
        </p:nvSpPr>
        <p:spPr>
          <a:xfrm>
            <a:off x="6349959" y="2768620"/>
            <a:ext cx="51816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Power users resist the new flow</a:t>
            </a:r>
            <a:endParaRPr lang="en-US" sz="1400" dirty="0"/>
          </a:p>
        </p:txBody>
      </p:sp>
      <p:sp>
        <p:nvSpPr>
          <p:cNvPr id="10" name="G2 body"/>
          <p:cNvSpPr/>
          <p:nvPr>
            <p:ph idx="113" type="body" hasCustomPrompt="1"/>
          </p:nvPr>
        </p:nvSpPr>
        <p:spPr>
          <a:xfrm>
            <a:off x="6349959" y="3174980"/>
            <a:ext cx="5181630" cy="81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Mitigation: keep an expert mode with every field on one screen, measured separately.</a:t>
            </a:r>
            <a:endParaRPr lang="en-US" sz="1100" dirty="0"/>
          </a:p>
        </p:txBody>
      </p:sp>
      <p:sp>
        <p:nvSpPr>
          <p:cNvPr id="11" name="G3 label"/>
          <p:cNvSpPr/>
          <p:nvPr>
            <p:ph idx="115" type="body" hasCustomPrompt="1"/>
          </p:nvPr>
        </p:nvSpPr>
        <p:spPr>
          <a:xfrm>
            <a:off x="660380" y="4394241"/>
            <a:ext cx="51816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MEASUREMENT</a:t>
            </a:r>
            <a:endParaRPr lang="en-US" sz="800" dirty="0"/>
          </a:p>
        </p:txBody>
      </p:sp>
      <p:sp>
        <p:nvSpPr>
          <p:cNvPr id="12" name="G3 title"/>
          <p:cNvSpPr/>
          <p:nvPr>
            <p:ph idx="116" type="body" hasCustomPrompt="1"/>
          </p:nvPr>
        </p:nvSpPr>
        <p:spPr>
          <a:xfrm>
            <a:off x="660380" y="4572000"/>
            <a:ext cx="51816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Completion rises, performance doesn’t</a:t>
            </a:r>
            <a:endParaRPr lang="en-US" sz="1400" dirty="0"/>
          </a:p>
        </p:txBody>
      </p:sp>
      <p:sp>
        <p:nvSpPr>
          <p:cNvPr id="13" name="G3 body"/>
          <p:cNvSpPr/>
          <p:nvPr>
            <p:ph idx="117" type="body" hasCustomPrompt="1"/>
          </p:nvPr>
        </p:nvSpPr>
        <p:spPr>
          <a:xfrm>
            <a:off x="660380" y="4978359"/>
            <a:ext cx="5181630" cy="81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Mitigation: 30-day spend and ROAS are guardrails in the test, not afterthoughts.</a:t>
            </a:r>
            <a:endParaRPr lang="en-US" sz="1100" dirty="0"/>
          </a:p>
        </p:txBody>
      </p:sp>
      <p:sp>
        <p:nvSpPr>
          <p:cNvPr id="14" name="G4 label"/>
          <p:cNvSpPr/>
          <p:nvPr>
            <p:ph idx="119" type="body" hasCustomPrompt="1"/>
          </p:nvPr>
        </p:nvSpPr>
        <p:spPr>
          <a:xfrm>
            <a:off x="6349959" y="4394241"/>
            <a:ext cx="518163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CAPACITY</a:t>
            </a:r>
            <a:endParaRPr lang="en-US" sz="800" dirty="0"/>
          </a:p>
        </p:txBody>
      </p:sp>
      <p:sp>
        <p:nvSpPr>
          <p:cNvPr id="15" name="G4 title"/>
          <p:cNvSpPr/>
          <p:nvPr>
            <p:ph idx="120" type="body" hasCustomPrompt="1"/>
          </p:nvPr>
        </p:nvSpPr>
        <p:spPr>
          <a:xfrm>
            <a:off x="6349959" y="4572000"/>
            <a:ext cx="51816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Two pods share one designer</a:t>
            </a:r>
            <a:endParaRPr lang="en-US" sz="1400" dirty="0"/>
          </a:p>
        </p:txBody>
      </p:sp>
      <p:sp>
        <p:nvSpPr>
          <p:cNvPr id="16" name="G4 body"/>
          <p:cNvSpPr/>
          <p:nvPr>
            <p:ph idx="121" type="body" hasCustomPrompt="1"/>
          </p:nvPr>
        </p:nvSpPr>
        <p:spPr>
          <a:xfrm>
            <a:off x="6349959" y="4978359"/>
            <a:ext cx="5181630" cy="81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Mitigation: sequence research ahead of build; decision needed on hiring.</a:t>
            </a:r>
            <a:endParaRPr lang="en-US" sz="1100" dirty="0"/>
          </a:p>
        </p:txBody>
      </p:sp>
      <p:sp>
        <p:nvSpPr>
          <p:cNvPr id="17" name="Source"/>
          <p:cNvSpPr/>
          <p:nvPr>
            <p:ph idx="122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Illustrative example content and data for layout demonstration. Replace with real content and cite the source.</a:t>
            </a:r>
            <a:endParaRPr lang="en-US" sz="800" dirty="0"/>
          </a:p>
        </p:txBody>
      </p:sp>
      <p:sp>
        <p:nvSpPr>
          <p:cNvPr id="18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PAIN POINTS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RESEARCH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Six pain points recur across every research source</a:t>
            </a:r>
            <a:endParaRPr lang="en-US" sz="2800" dirty="0"/>
          </a:p>
        </p:txBody>
      </p:sp>
      <p:sp>
        <p:nvSpPr>
          <p:cNvPr id="5" name="G1 label"/>
          <p:cNvSpPr/>
          <p:nvPr>
            <p:ph idx="107" type="body" hasCustomPrompt="1"/>
          </p:nvPr>
        </p:nvSpPr>
        <p:spPr>
          <a:xfrm>
            <a:off x="660380" y="2590770"/>
            <a:ext cx="328507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COMPLEX</a:t>
            </a:r>
            <a:endParaRPr lang="en-US" sz="800" dirty="0"/>
          </a:p>
        </p:txBody>
      </p:sp>
      <p:sp>
        <p:nvSpPr>
          <p:cNvPr id="6" name="G1 title"/>
          <p:cNvSpPr/>
          <p:nvPr>
            <p:ph idx="108" type="body" hasCustomPrompt="1"/>
          </p:nvPr>
        </p:nvSpPr>
        <p:spPr>
          <a:xfrm>
            <a:off x="660380" y="2768620"/>
            <a:ext cx="3285073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Too many concepts up front</a:t>
            </a:r>
            <a:endParaRPr lang="en-US" sz="1400" dirty="0"/>
          </a:p>
        </p:txBody>
      </p:sp>
      <p:sp>
        <p:nvSpPr>
          <p:cNvPr id="7" name="G1 body"/>
          <p:cNvSpPr/>
          <p:nvPr>
            <p:ph idx="109" type="body" hasCustomPrompt="1"/>
          </p:nvPr>
        </p:nvSpPr>
        <p:spPr>
          <a:xfrm>
            <a:off x="660380" y="3174980"/>
            <a:ext cx="3285073" cy="81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Bid strategy and attribution window before the first ad exists.</a:t>
            </a:r>
            <a:endParaRPr lang="en-US" sz="1100" dirty="0"/>
          </a:p>
        </p:txBody>
      </p:sp>
      <p:sp>
        <p:nvSpPr>
          <p:cNvPr id="8" name="G2 label"/>
          <p:cNvSpPr/>
          <p:nvPr>
            <p:ph idx="111" type="body" hasCustomPrompt="1"/>
          </p:nvPr>
        </p:nvSpPr>
        <p:spPr>
          <a:xfrm>
            <a:off x="4453494" y="2590770"/>
            <a:ext cx="328507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FRAGMENTED</a:t>
            </a:r>
            <a:endParaRPr lang="en-US" sz="800" dirty="0"/>
          </a:p>
        </p:txBody>
      </p:sp>
      <p:sp>
        <p:nvSpPr>
          <p:cNvPr id="9" name="G2 title"/>
          <p:cNvSpPr/>
          <p:nvPr>
            <p:ph idx="112" type="body" hasCustomPrompt="1"/>
          </p:nvPr>
        </p:nvSpPr>
        <p:spPr>
          <a:xfrm>
            <a:off x="4453494" y="2768620"/>
            <a:ext cx="3285073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Jobs split across tools</a:t>
            </a:r>
            <a:endParaRPr lang="en-US" sz="1400" dirty="0"/>
          </a:p>
        </p:txBody>
      </p:sp>
      <p:sp>
        <p:nvSpPr>
          <p:cNvPr id="10" name="G2 body"/>
          <p:cNvSpPr/>
          <p:nvPr>
            <p:ph idx="113" type="body" hasCustomPrompt="1"/>
          </p:nvPr>
        </p:nvSpPr>
        <p:spPr>
          <a:xfrm>
            <a:off x="4453494" y="3174980"/>
            <a:ext cx="3285073" cy="81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Audiences built in one place, used in another, reported in a third.</a:t>
            </a:r>
            <a:endParaRPr lang="en-US" sz="1100" dirty="0"/>
          </a:p>
        </p:txBody>
      </p:sp>
      <p:sp>
        <p:nvSpPr>
          <p:cNvPr id="11" name="G3 label"/>
          <p:cNvSpPr/>
          <p:nvPr>
            <p:ph idx="115" type="body" hasCustomPrompt="1"/>
          </p:nvPr>
        </p:nvSpPr>
        <p:spPr>
          <a:xfrm>
            <a:off x="8246516" y="2590770"/>
            <a:ext cx="328507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INCONSISTENT</a:t>
            </a:r>
            <a:endParaRPr lang="en-US" sz="800" dirty="0"/>
          </a:p>
        </p:txBody>
      </p:sp>
      <p:sp>
        <p:nvSpPr>
          <p:cNvPr id="12" name="G3 title"/>
          <p:cNvSpPr/>
          <p:nvPr>
            <p:ph idx="116" type="body" hasCustomPrompt="1"/>
          </p:nvPr>
        </p:nvSpPr>
        <p:spPr>
          <a:xfrm>
            <a:off x="8246516" y="2768620"/>
            <a:ext cx="3285073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Same task, different flow</a:t>
            </a:r>
            <a:endParaRPr lang="en-US" sz="1400" dirty="0"/>
          </a:p>
        </p:txBody>
      </p:sp>
      <p:sp>
        <p:nvSpPr>
          <p:cNvPr id="13" name="G3 body"/>
          <p:cNvSpPr/>
          <p:nvPr>
            <p:ph idx="117" type="body" hasCustomPrompt="1"/>
          </p:nvPr>
        </p:nvSpPr>
        <p:spPr>
          <a:xfrm>
            <a:off x="8246516" y="3174980"/>
            <a:ext cx="3285073" cy="81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Editing a budget works differently by channel.</a:t>
            </a:r>
            <a:endParaRPr lang="en-US" sz="1100" dirty="0"/>
          </a:p>
        </p:txBody>
      </p:sp>
      <p:sp>
        <p:nvSpPr>
          <p:cNvPr id="14" name="G4 label"/>
          <p:cNvSpPr/>
          <p:nvPr>
            <p:ph idx="119" type="body" hasCustomPrompt="1"/>
          </p:nvPr>
        </p:nvSpPr>
        <p:spPr>
          <a:xfrm>
            <a:off x="660380" y="4394241"/>
            <a:ext cx="328507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UNCLEAR</a:t>
            </a:r>
            <a:endParaRPr lang="en-US" sz="800" dirty="0"/>
          </a:p>
        </p:txBody>
      </p:sp>
      <p:sp>
        <p:nvSpPr>
          <p:cNvPr id="15" name="G4 title"/>
          <p:cNvSpPr/>
          <p:nvPr>
            <p:ph idx="120" type="body" hasCustomPrompt="1"/>
          </p:nvPr>
        </p:nvSpPr>
        <p:spPr>
          <a:xfrm>
            <a:off x="660380" y="4572000"/>
            <a:ext cx="3285073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No sense of what happens next</a:t>
            </a:r>
            <a:endParaRPr lang="en-US" sz="1400" dirty="0"/>
          </a:p>
        </p:txBody>
      </p:sp>
      <p:sp>
        <p:nvSpPr>
          <p:cNvPr id="16" name="G4 body"/>
          <p:cNvSpPr/>
          <p:nvPr>
            <p:ph idx="121" type="body" hasCustomPrompt="1"/>
          </p:nvPr>
        </p:nvSpPr>
        <p:spPr>
          <a:xfrm>
            <a:off x="660380" y="4978359"/>
            <a:ext cx="3285073" cy="81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Advertisers cannot predict delivery from their settings.</a:t>
            </a:r>
            <a:endParaRPr lang="en-US" sz="1100" dirty="0"/>
          </a:p>
        </p:txBody>
      </p:sp>
      <p:sp>
        <p:nvSpPr>
          <p:cNvPr id="17" name="G5 label"/>
          <p:cNvSpPr/>
          <p:nvPr>
            <p:ph idx="123" type="body" hasCustomPrompt="1"/>
          </p:nvPr>
        </p:nvSpPr>
        <p:spPr>
          <a:xfrm>
            <a:off x="4453494" y="4394241"/>
            <a:ext cx="328507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TIME-CONSUMING</a:t>
            </a:r>
            <a:endParaRPr lang="en-US" sz="800" dirty="0"/>
          </a:p>
        </p:txBody>
      </p:sp>
      <p:sp>
        <p:nvSpPr>
          <p:cNvPr id="18" name="G5 title"/>
          <p:cNvSpPr/>
          <p:nvPr>
            <p:ph idx="124" type="body" hasCustomPrompt="1"/>
          </p:nvPr>
        </p:nvSpPr>
        <p:spPr>
          <a:xfrm>
            <a:off x="4453494" y="4572000"/>
            <a:ext cx="3285073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Routine edits take too long</a:t>
            </a:r>
            <a:endParaRPr lang="en-US" sz="1400" dirty="0"/>
          </a:p>
        </p:txBody>
      </p:sp>
      <p:sp>
        <p:nvSpPr>
          <p:cNvPr id="19" name="G5 body"/>
          <p:cNvSpPr/>
          <p:nvPr>
            <p:ph idx="125" type="body" hasCustomPrompt="1"/>
          </p:nvPr>
        </p:nvSpPr>
        <p:spPr>
          <a:xfrm>
            <a:off x="4453494" y="4978359"/>
            <a:ext cx="3285073" cy="81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Bulk changes need exports and re-uploads.</a:t>
            </a:r>
            <a:endParaRPr lang="en-US" sz="1100" dirty="0"/>
          </a:p>
        </p:txBody>
      </p:sp>
      <p:sp>
        <p:nvSpPr>
          <p:cNvPr id="20" name="G6 label"/>
          <p:cNvSpPr/>
          <p:nvPr>
            <p:ph idx="127" type="body" hasCustomPrompt="1"/>
          </p:nvPr>
        </p:nvSpPr>
        <p:spPr>
          <a:xfrm>
            <a:off x="8246516" y="4394241"/>
            <a:ext cx="328507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UNTRUSTED</a:t>
            </a:r>
            <a:endParaRPr lang="en-US" sz="800" dirty="0"/>
          </a:p>
        </p:txBody>
      </p:sp>
      <p:sp>
        <p:nvSpPr>
          <p:cNvPr id="21" name="G6 title"/>
          <p:cNvSpPr/>
          <p:nvPr>
            <p:ph idx="128" type="body" hasCustomPrompt="1"/>
          </p:nvPr>
        </p:nvSpPr>
        <p:spPr>
          <a:xfrm>
            <a:off x="8246516" y="4572000"/>
            <a:ext cx="3285073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Numbers don’t match</a:t>
            </a:r>
            <a:endParaRPr lang="en-US" sz="1400" dirty="0"/>
          </a:p>
        </p:txBody>
      </p:sp>
      <p:sp>
        <p:nvSpPr>
          <p:cNvPr id="22" name="G6 body"/>
          <p:cNvSpPr/>
          <p:nvPr>
            <p:ph idx="129" type="body" hasCustomPrompt="1"/>
          </p:nvPr>
        </p:nvSpPr>
        <p:spPr>
          <a:xfrm>
            <a:off x="8246516" y="4978359"/>
            <a:ext cx="3285073" cy="81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The same metric differs between two reports.</a:t>
            </a:r>
            <a:endParaRPr lang="en-US" sz="1100" dirty="0"/>
          </a:p>
        </p:txBody>
      </p:sp>
      <p:sp>
        <p:nvSpPr>
          <p:cNvPr id="23" name="Source"/>
          <p:cNvSpPr/>
          <p:nvPr>
            <p:ph idx="130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Illustrative example content and data for layout demonstration. Replace with real content and cite the source.</a:t>
            </a:r>
            <a:endParaRPr lang="en-US" sz="800" dirty="0"/>
          </a:p>
        </p:txBody>
      </p:sp>
      <p:sp>
        <p:nvSpPr>
          <p:cNvPr id="24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SIGNAL → OUTCOME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OPERATING MODEL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Every initiative runs the same five steps from signal to outcome</a:t>
            </a:r>
            <a:endParaRPr lang="en-US" sz="2800" dirty="0"/>
          </a:p>
        </p:txBody>
      </p:sp>
      <p:sp>
        <p:nvSpPr>
          <p:cNvPr id="5" name="S1 label"/>
          <p:cNvSpPr/>
          <p:nvPr>
            <p:ph idx="108" type="body" hasCustomPrompt="1"/>
          </p:nvPr>
        </p:nvSpPr>
        <p:spPr>
          <a:xfrm>
            <a:off x="508041" y="2692359"/>
            <a:ext cx="207267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STEP 01</a:t>
            </a:r>
            <a:endParaRPr lang="en-US" sz="800" dirty="0"/>
          </a:p>
        </p:txBody>
      </p:sp>
      <p:sp>
        <p:nvSpPr>
          <p:cNvPr id="6" name="S1 title"/>
          <p:cNvSpPr/>
          <p:nvPr>
            <p:ph idx="109" type="body" hasCustomPrompt="1"/>
          </p:nvPr>
        </p:nvSpPr>
        <p:spPr>
          <a:xfrm>
            <a:off x="508041" y="2870210"/>
            <a:ext cx="207267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Signal</a:t>
            </a:r>
            <a:endParaRPr lang="en-US" sz="2000" dirty="0"/>
          </a:p>
        </p:txBody>
      </p:sp>
      <p:sp>
        <p:nvSpPr>
          <p:cNvPr id="7" name="S1 body"/>
          <p:cNvSpPr/>
          <p:nvPr>
            <p:ph idx="110" type="body" hasCustomPrompt="1"/>
          </p:nvPr>
        </p:nvSpPr>
        <p:spPr>
          <a:xfrm>
            <a:off x="508041" y="3517880"/>
            <a:ext cx="2072670" cy="2031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Research, behavior, support, sales and performance data point to where to look.</a:t>
            </a:r>
            <a:endParaRPr lang="en-US" sz="1200" dirty="0"/>
          </a:p>
        </p:txBody>
      </p:sp>
      <p:sp>
        <p:nvSpPr>
          <p:cNvPr id="8" name="S2 label"/>
          <p:cNvSpPr/>
          <p:nvPr>
            <p:ph idx="112" type="body" hasCustomPrompt="1"/>
          </p:nvPr>
        </p:nvSpPr>
        <p:spPr>
          <a:xfrm>
            <a:off x="2783799" y="2692359"/>
            <a:ext cx="207267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STEP 02</a:t>
            </a:r>
            <a:endParaRPr lang="en-US" sz="800" dirty="0"/>
          </a:p>
        </p:txBody>
      </p:sp>
      <p:sp>
        <p:nvSpPr>
          <p:cNvPr id="9" name="S2 title"/>
          <p:cNvSpPr/>
          <p:nvPr>
            <p:ph idx="113" type="body" hasCustomPrompt="1"/>
          </p:nvPr>
        </p:nvSpPr>
        <p:spPr>
          <a:xfrm>
            <a:off x="2783799" y="2870210"/>
            <a:ext cx="207267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Problem</a:t>
            </a:r>
            <a:endParaRPr lang="en-US" sz="2000" dirty="0"/>
          </a:p>
        </p:txBody>
      </p:sp>
      <p:sp>
        <p:nvSpPr>
          <p:cNvPr id="10" name="S2 body"/>
          <p:cNvSpPr/>
          <p:nvPr>
            <p:ph idx="114" type="body" hasCustomPrompt="1"/>
          </p:nvPr>
        </p:nvSpPr>
        <p:spPr>
          <a:xfrm>
            <a:off x="2783799" y="3517880"/>
            <a:ext cx="2072670" cy="2031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Which job is failing, where, and for whom.</a:t>
            </a:r>
            <a:endParaRPr lang="en-US" sz="1200" dirty="0"/>
          </a:p>
        </p:txBody>
      </p:sp>
      <p:sp>
        <p:nvSpPr>
          <p:cNvPr id="11" name="S3 label"/>
          <p:cNvSpPr/>
          <p:nvPr>
            <p:ph idx="116" type="body" hasCustomPrompt="1"/>
          </p:nvPr>
        </p:nvSpPr>
        <p:spPr>
          <a:xfrm>
            <a:off x="5059650" y="2692359"/>
            <a:ext cx="207267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STEP 03</a:t>
            </a:r>
            <a:endParaRPr lang="en-US" sz="800" dirty="0"/>
          </a:p>
        </p:txBody>
      </p:sp>
      <p:sp>
        <p:nvSpPr>
          <p:cNvPr id="12" name="S3 title"/>
          <p:cNvSpPr/>
          <p:nvPr>
            <p:ph idx="117" type="body" hasCustomPrompt="1"/>
          </p:nvPr>
        </p:nvSpPr>
        <p:spPr>
          <a:xfrm>
            <a:off x="5059650" y="2870210"/>
            <a:ext cx="207267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Diagnosis</a:t>
            </a:r>
            <a:endParaRPr lang="en-US" sz="2000" dirty="0"/>
          </a:p>
        </p:txBody>
      </p:sp>
      <p:sp>
        <p:nvSpPr>
          <p:cNvPr id="13" name="S3 body"/>
          <p:cNvSpPr/>
          <p:nvPr>
            <p:ph idx="118" type="body" hasCustomPrompt="1"/>
          </p:nvPr>
        </p:nvSpPr>
        <p:spPr>
          <a:xfrm>
            <a:off x="5059650" y="3517880"/>
            <a:ext cx="2072670" cy="2031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Experience, capability or performance system? Isolate before prescribing.</a:t>
            </a:r>
            <a:endParaRPr lang="en-US" sz="1200" dirty="0"/>
          </a:p>
        </p:txBody>
      </p:sp>
      <p:sp>
        <p:nvSpPr>
          <p:cNvPr id="14" name="S4 label"/>
          <p:cNvSpPr/>
          <p:nvPr>
            <p:ph idx="120" type="body" hasCustomPrompt="1"/>
          </p:nvPr>
        </p:nvSpPr>
        <p:spPr>
          <a:xfrm>
            <a:off x="7335500" y="2692359"/>
            <a:ext cx="207267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STEP 04</a:t>
            </a:r>
            <a:endParaRPr lang="en-US" sz="800" dirty="0"/>
          </a:p>
        </p:txBody>
      </p:sp>
      <p:sp>
        <p:nvSpPr>
          <p:cNvPr id="15" name="S4 title"/>
          <p:cNvSpPr/>
          <p:nvPr>
            <p:ph idx="121" type="body" hasCustomPrompt="1"/>
          </p:nvPr>
        </p:nvSpPr>
        <p:spPr>
          <a:xfrm>
            <a:off x="7335500" y="2870210"/>
            <a:ext cx="207267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Intervention</a:t>
            </a:r>
            <a:endParaRPr lang="en-US" sz="2000" dirty="0"/>
          </a:p>
        </p:txBody>
      </p:sp>
      <p:sp>
        <p:nvSpPr>
          <p:cNvPr id="16" name="S4 body"/>
          <p:cNvSpPr/>
          <p:nvPr>
            <p:ph idx="122" type="body" hasCustomPrompt="1"/>
          </p:nvPr>
        </p:nvSpPr>
        <p:spPr>
          <a:xfrm>
            <a:off x="7335500" y="3517880"/>
            <a:ext cx="2072670" cy="2031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Simplify, redesign, build or test — the smallest change that answers the diagnosis.</a:t>
            </a:r>
            <a:endParaRPr lang="en-US" sz="1200" dirty="0"/>
          </a:p>
        </p:txBody>
      </p:sp>
      <p:sp>
        <p:nvSpPr>
          <p:cNvPr id="17" name="S5 label"/>
          <p:cNvSpPr/>
          <p:nvPr>
            <p:ph idx="124" type="body" hasCustomPrompt="1"/>
          </p:nvPr>
        </p:nvSpPr>
        <p:spPr>
          <a:xfrm>
            <a:off x="9611350" y="2692359"/>
            <a:ext cx="207267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STEP 05</a:t>
            </a:r>
            <a:endParaRPr lang="en-US" sz="800" dirty="0"/>
          </a:p>
        </p:txBody>
      </p:sp>
      <p:sp>
        <p:nvSpPr>
          <p:cNvPr id="18" name="S5 title"/>
          <p:cNvSpPr/>
          <p:nvPr>
            <p:ph idx="125" type="body" hasCustomPrompt="1"/>
          </p:nvPr>
        </p:nvSpPr>
        <p:spPr>
          <a:xfrm>
            <a:off x="9611350" y="2870210"/>
            <a:ext cx="207267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Outcome</a:t>
            </a:r>
            <a:endParaRPr lang="en-US" sz="2000" dirty="0"/>
          </a:p>
        </p:txBody>
      </p:sp>
      <p:sp>
        <p:nvSpPr>
          <p:cNvPr id="19" name="S5 body"/>
          <p:cNvSpPr/>
          <p:nvPr>
            <p:ph idx="126" type="body" hasCustomPrompt="1"/>
          </p:nvPr>
        </p:nvSpPr>
        <p:spPr>
          <a:xfrm>
            <a:off x="9611350" y="3517880"/>
            <a:ext cx="2072670" cy="2031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Did behavior, performance or perception move? If not, back to step three.</a:t>
            </a:r>
            <a:endParaRPr lang="en-US" sz="1200" dirty="0"/>
          </a:p>
        </p:txBody>
      </p:sp>
      <p:sp>
        <p:nvSpPr>
          <p:cNvPr id="20" name="Source"/>
          <p:cNvSpPr/>
          <p:nvPr>
            <p:ph idx="127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1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ROADMAP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PLAN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Confidence falls from left to right, and the roadmap says so</a:t>
            </a:r>
            <a:endParaRPr lang="en-US" sz="2800" dirty="0"/>
          </a:p>
        </p:txBody>
      </p:sp>
      <p:sp>
        <p:nvSpPr>
          <p:cNvPr id="5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Now is committed. Next is planned. Later is direction with a discovery gate in front of it.</a:t>
            </a:r>
            <a:endParaRPr lang="en-US" sz="1400" dirty="0"/>
          </a:p>
        </p:txBody>
      </p:sp>
      <p:sp>
        <p:nvSpPr>
          <p:cNvPr id="6" name="H1 label"/>
          <p:cNvSpPr/>
          <p:nvPr>
            <p:ph idx="107" type="body" hasCustomPrompt="1"/>
          </p:nvPr>
        </p:nvSpPr>
        <p:spPr>
          <a:xfrm>
            <a:off x="660380" y="2540020"/>
            <a:ext cx="328507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FFFFFF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NOW</a:t>
            </a:r>
            <a:endParaRPr lang="en-US" sz="800" dirty="0"/>
          </a:p>
        </p:txBody>
      </p:sp>
      <p:sp>
        <p:nvSpPr>
          <p:cNvPr id="7" name="H1 when"/>
          <p:cNvSpPr/>
          <p:nvPr>
            <p:ph idx="108" type="body" hasCustomPrompt="1"/>
          </p:nvPr>
        </p:nvSpPr>
        <p:spPr>
          <a:xfrm>
            <a:off x="660380" y="2692359"/>
            <a:ext cx="3285073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Committed · this quarter</a:t>
            </a:r>
            <a:endParaRPr lang="en-US" sz="1050" dirty="0"/>
          </a:p>
        </p:txBody>
      </p:sp>
      <p:sp>
        <p:nvSpPr>
          <p:cNvPr id="8" name="H1 body"/>
          <p:cNvSpPr/>
          <p:nvPr>
            <p:ph idx="109" type="body" hasCustomPrompt="1"/>
          </p:nvPr>
        </p:nvSpPr>
        <p:spPr>
          <a:xfrm>
            <a:off x="508041" y="3073390"/>
            <a:ext cx="3589843" cy="279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Goal-first setup, beta</a:t>
            </a:r>
            <a:endParaRPr lang="en-US" sz="1200" dirty="0"/>
          </a:p>
          <a:p>
            <a:pPr algn="l"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Setup instrumentation</a:t>
            </a:r>
            <a:endParaRPr lang="en-US" sz="1200" dirty="0"/>
          </a:p>
          <a:p>
            <a:pPr algn="l"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Expert mode</a:t>
            </a:r>
            <a:endParaRPr lang="en-US" sz="1200" dirty="0"/>
          </a:p>
        </p:txBody>
      </p:sp>
      <p:sp>
        <p:nvSpPr>
          <p:cNvPr id="9" name="H2 label"/>
          <p:cNvSpPr/>
          <p:nvPr>
            <p:ph idx="111" type="body" hasCustomPrompt="1"/>
          </p:nvPr>
        </p:nvSpPr>
        <p:spPr>
          <a:xfrm>
            <a:off x="4453494" y="2540020"/>
            <a:ext cx="328507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NEXT</a:t>
            </a:r>
            <a:endParaRPr lang="en-US" sz="800" dirty="0"/>
          </a:p>
        </p:txBody>
      </p:sp>
      <p:sp>
        <p:nvSpPr>
          <p:cNvPr id="10" name="H2 when"/>
          <p:cNvSpPr/>
          <p:nvPr>
            <p:ph idx="112" type="body" hasCustomPrompt="1"/>
          </p:nvPr>
        </p:nvSpPr>
        <p:spPr>
          <a:xfrm>
            <a:off x="4453494" y="2692359"/>
            <a:ext cx="3285073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Planned · next two quarters</a:t>
            </a:r>
            <a:endParaRPr lang="en-US" sz="1050" dirty="0"/>
          </a:p>
        </p:txBody>
      </p:sp>
      <p:sp>
        <p:nvSpPr>
          <p:cNvPr id="11" name="H2 body"/>
          <p:cNvSpPr/>
          <p:nvPr>
            <p:ph idx="113" type="body" hasCustomPrompt="1"/>
          </p:nvPr>
        </p:nvSpPr>
        <p:spPr>
          <a:xfrm>
            <a:off x="4301063" y="3073390"/>
            <a:ext cx="3589843" cy="279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Shared audience library</a:t>
            </a:r>
            <a:endParaRPr lang="en-US" sz="1200" dirty="0"/>
          </a:p>
          <a:p>
            <a:pPr algn="l"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Inline budget guidance</a:t>
            </a:r>
            <a:endParaRPr lang="en-US" sz="1200" dirty="0"/>
          </a:p>
          <a:p>
            <a:pPr algn="l"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Setup experiment readout</a:t>
            </a:r>
            <a:endParaRPr lang="en-US" sz="1200" dirty="0"/>
          </a:p>
        </p:txBody>
      </p:sp>
      <p:sp>
        <p:nvSpPr>
          <p:cNvPr id="12" name="H3 label"/>
          <p:cNvSpPr/>
          <p:nvPr>
            <p:ph idx="115" type="body" hasCustomPrompt="1"/>
          </p:nvPr>
        </p:nvSpPr>
        <p:spPr>
          <a:xfrm>
            <a:off x="8246516" y="2540020"/>
            <a:ext cx="328507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LATER</a:t>
            </a:r>
            <a:endParaRPr lang="en-US" sz="800" dirty="0"/>
          </a:p>
        </p:txBody>
      </p:sp>
      <p:sp>
        <p:nvSpPr>
          <p:cNvPr id="13" name="H3 when"/>
          <p:cNvSpPr/>
          <p:nvPr>
            <p:ph idx="116" type="body" hasCustomPrompt="1"/>
          </p:nvPr>
        </p:nvSpPr>
        <p:spPr>
          <a:xfrm>
            <a:off x="8246516" y="2692359"/>
            <a:ext cx="3285073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Direction · to be validated</a:t>
            </a:r>
            <a:endParaRPr lang="en-US" sz="1050" dirty="0"/>
          </a:p>
        </p:txBody>
      </p:sp>
      <p:sp>
        <p:nvSpPr>
          <p:cNvPr id="14" name="H3 body"/>
          <p:cNvSpPr/>
          <p:nvPr>
            <p:ph idx="117" type="body" hasCustomPrompt="1"/>
          </p:nvPr>
        </p:nvSpPr>
        <p:spPr>
          <a:xfrm>
            <a:off x="8094177" y="3073390"/>
            <a:ext cx="3589843" cy="279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Automated setup suggestions</a:t>
            </a:r>
            <a:endParaRPr lang="en-US" sz="1200" dirty="0"/>
          </a:p>
          <a:p>
            <a:pPr algn="l"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Cross-channel campaign templates</a:t>
            </a:r>
            <a:endParaRPr lang="en-US" sz="1200" dirty="0"/>
          </a:p>
        </p:txBody>
      </p:sp>
      <p:sp>
        <p:nvSpPr>
          <p:cNvPr id="15" name="Source"/>
          <p:cNvSpPr/>
          <p:nvPr>
            <p:ph idx="118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Illustrative example content and data for layout demonstration. Replace with real content and cite the source.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HERO METRIC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Setup completion is the number that moves everything else</a:t>
            </a:r>
            <a:endParaRPr lang="en-US" sz="2800" dirty="0"/>
          </a:p>
        </p:txBody>
      </p:sp>
      <p:sp>
        <p:nvSpPr>
          <p:cNvPr id="5" name="Value"/>
          <p:cNvSpPr/>
          <p:nvPr>
            <p:ph idx="107" type="body" hasCustomPrompt="1"/>
          </p:nvPr>
        </p:nvSpPr>
        <p:spPr>
          <a:xfrm>
            <a:off x="508041" y="2641610"/>
            <a:ext cx="5486400" cy="1206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0" spc="-30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58%</a:t>
            </a:r>
            <a:endParaRPr lang="en-US" sz="9600" dirty="0"/>
          </a:p>
        </p:txBody>
      </p:sp>
      <p:sp>
        <p:nvSpPr>
          <p:cNvPr id="6" name="Value label"/>
          <p:cNvSpPr/>
          <p:nvPr>
            <p:ph idx="108" type="body" hasCustomPrompt="1"/>
          </p:nvPr>
        </p:nvSpPr>
        <p:spPr>
          <a:xfrm>
            <a:off x="508041" y="3962370"/>
            <a:ext cx="548640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Setup completion rate</a:t>
            </a:r>
            <a:endParaRPr lang="en-US" sz="1400" dirty="0"/>
          </a:p>
        </p:txBody>
      </p:sp>
      <p:sp>
        <p:nvSpPr>
          <p:cNvPr id="7" name="Value context"/>
          <p:cNvSpPr/>
          <p:nvPr>
            <p:ph idx="109" type="body" hasCustomPrompt="1"/>
          </p:nvPr>
        </p:nvSpPr>
        <p:spPr>
          <a:xfrm>
            <a:off x="508041" y="4343400"/>
            <a:ext cx="5486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Share of setup starts reaching launch. Trailing two quarters, all self-serve advertisers.</a:t>
            </a:r>
            <a:endParaRPr lang="en-US" sz="1200" dirty="0"/>
          </a:p>
        </p:txBody>
      </p:sp>
      <p:sp>
        <p:nvSpPr>
          <p:cNvPr id="8" name="Read label"/>
          <p:cNvSpPr/>
          <p:nvPr>
            <p:ph idx="111" type="body" hasCustomPrompt="1"/>
          </p:nvPr>
        </p:nvSpPr>
        <p:spPr>
          <a:xfrm>
            <a:off x="7145853" y="2540020"/>
            <a:ext cx="4538167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WHAT IT MEANS</a:t>
            </a:r>
            <a:endParaRPr lang="en-US" sz="800" dirty="0"/>
          </a:p>
        </p:txBody>
      </p:sp>
      <p:sp>
        <p:nvSpPr>
          <p:cNvPr id="9" name="Read"/>
          <p:cNvSpPr/>
          <p:nvPr>
            <p:ph idx="112" type="body" hasCustomPrompt="1"/>
          </p:nvPr>
        </p:nvSpPr>
        <p:spPr>
          <a:xfrm>
            <a:off x="7145853" y="2717780"/>
            <a:ext cx="4538167" cy="254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Four in ten advertisers who start setup never launch. It does not tell us why — the next two slides do.</a:t>
            </a:r>
            <a:endParaRPr lang="en-US" sz="1800" dirty="0"/>
          </a:p>
        </p:txBody>
      </p:sp>
      <p:sp>
        <p:nvSpPr>
          <p:cNvPr id="10" name="Source"/>
          <p:cNvSpPr/>
          <p:nvPr>
            <p:ph idx="113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Illustrative example content and data for layout demonstration. Replace with real content and cite the source.</a:t>
            </a:r>
            <a:endParaRPr lang="en-US" sz="800" dirty="0"/>
          </a:p>
        </p:txBody>
      </p:sp>
      <p:sp>
        <p:nvSpPr>
          <p:cNvPr id="11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SCORECARD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Completion is improving; time to launch is not yet</a:t>
            </a:r>
            <a:endParaRPr lang="en-US" sz="2800" dirty="0"/>
          </a:p>
        </p:txBody>
      </p:sp>
      <p:sp>
        <p:nvSpPr>
          <p:cNvPr id="5" name="K1 value"/>
          <p:cNvSpPr/>
          <p:nvPr>
            <p:ph idx="107" type="body" hasCustomPrompt="1"/>
          </p:nvPr>
        </p:nvSpPr>
        <p:spPr>
          <a:xfrm>
            <a:off x="508041" y="2616190"/>
            <a:ext cx="2641610" cy="50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800" spc="-12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58%</a:t>
            </a:r>
            <a:endParaRPr lang="en-US" sz="4800" dirty="0"/>
          </a:p>
        </p:txBody>
      </p:sp>
      <p:sp>
        <p:nvSpPr>
          <p:cNvPr id="6" name="K1 label"/>
          <p:cNvSpPr/>
          <p:nvPr>
            <p:ph idx="108" type="body" hasCustomPrompt="1"/>
          </p:nvPr>
        </p:nvSpPr>
        <p:spPr>
          <a:xfrm>
            <a:off x="508041" y="3200400"/>
            <a:ext cx="264161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Setup completion</a:t>
            </a:r>
            <a:endParaRPr lang="en-US" sz="1100" dirty="0"/>
          </a:p>
        </p:txBody>
      </p:sp>
      <p:sp>
        <p:nvSpPr>
          <p:cNvPr id="7" name="K1 context"/>
          <p:cNvSpPr/>
          <p:nvPr>
            <p:ph idx="109" type="body" hasCustomPrompt="1"/>
          </p:nvPr>
        </p:nvSpPr>
        <p:spPr>
          <a:xfrm>
            <a:off x="508041" y="3505170"/>
            <a:ext cx="264161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Target 70% by year end.</a:t>
            </a:r>
            <a:endParaRPr lang="en-US" sz="1050" dirty="0"/>
          </a:p>
        </p:txBody>
      </p:sp>
      <p:sp>
        <p:nvSpPr>
          <p:cNvPr id="8" name="K2 value"/>
          <p:cNvSpPr/>
          <p:nvPr>
            <p:ph idx="111" type="body" hasCustomPrompt="1"/>
          </p:nvPr>
        </p:nvSpPr>
        <p:spPr>
          <a:xfrm>
            <a:off x="3352830" y="2616190"/>
            <a:ext cx="2641610" cy="50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800" spc="-12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11m</a:t>
            </a:r>
            <a:endParaRPr lang="en-US" sz="4800" dirty="0"/>
          </a:p>
        </p:txBody>
      </p:sp>
      <p:sp>
        <p:nvSpPr>
          <p:cNvPr id="9" name="K2 label"/>
          <p:cNvSpPr/>
          <p:nvPr>
            <p:ph idx="112" type="body" hasCustomPrompt="1"/>
          </p:nvPr>
        </p:nvSpPr>
        <p:spPr>
          <a:xfrm>
            <a:off x="3352830" y="3200400"/>
            <a:ext cx="264161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Median time to launch</a:t>
            </a:r>
            <a:endParaRPr lang="en-US" sz="1100" dirty="0"/>
          </a:p>
        </p:txBody>
      </p:sp>
      <p:sp>
        <p:nvSpPr>
          <p:cNvPr id="10" name="K2 context"/>
          <p:cNvSpPr/>
          <p:nvPr>
            <p:ph idx="113" type="body" hasCustomPrompt="1"/>
          </p:nvPr>
        </p:nvSpPr>
        <p:spPr>
          <a:xfrm>
            <a:off x="3352830" y="3505170"/>
            <a:ext cx="264161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Flat quarter over quarter.</a:t>
            </a:r>
            <a:endParaRPr lang="en-US" sz="1050" dirty="0"/>
          </a:p>
        </p:txBody>
      </p:sp>
      <p:sp>
        <p:nvSpPr>
          <p:cNvPr id="11" name="K3 value"/>
          <p:cNvSpPr/>
          <p:nvPr>
            <p:ph idx="115" type="body" hasCustomPrompt="1"/>
          </p:nvPr>
        </p:nvSpPr>
        <p:spPr>
          <a:xfrm>
            <a:off x="6197620" y="2616190"/>
            <a:ext cx="2641610" cy="50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800" spc="-12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3.2</a:t>
            </a:r>
            <a:endParaRPr lang="en-US" sz="4800" dirty="0"/>
          </a:p>
        </p:txBody>
      </p:sp>
      <p:sp>
        <p:nvSpPr>
          <p:cNvPr id="12" name="K3 label"/>
          <p:cNvSpPr/>
          <p:nvPr>
            <p:ph idx="116" type="body" hasCustomPrompt="1"/>
          </p:nvPr>
        </p:nvSpPr>
        <p:spPr>
          <a:xfrm>
            <a:off x="6197620" y="3200400"/>
            <a:ext cx="264161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Help-article views per setup</a:t>
            </a:r>
            <a:endParaRPr lang="en-US" sz="1100" dirty="0"/>
          </a:p>
        </p:txBody>
      </p:sp>
      <p:sp>
        <p:nvSpPr>
          <p:cNvPr id="13" name="K3 context"/>
          <p:cNvSpPr/>
          <p:nvPr>
            <p:ph idx="117" type="body" hasCustomPrompt="1"/>
          </p:nvPr>
        </p:nvSpPr>
        <p:spPr>
          <a:xfrm>
            <a:off x="6197620" y="3505170"/>
            <a:ext cx="264161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Lower is better.</a:t>
            </a:r>
            <a:endParaRPr lang="en-US" sz="1050" dirty="0"/>
          </a:p>
        </p:txBody>
      </p:sp>
      <p:sp>
        <p:nvSpPr>
          <p:cNvPr id="14" name="K4 value"/>
          <p:cNvSpPr/>
          <p:nvPr>
            <p:ph idx="119" type="body" hasCustomPrompt="1"/>
          </p:nvPr>
        </p:nvSpPr>
        <p:spPr>
          <a:xfrm>
            <a:off x="9042410" y="2616190"/>
            <a:ext cx="2641610" cy="50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800" spc="-12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−27</a:t>
            </a:r>
            <a:endParaRPr lang="en-US" sz="4800" dirty="0"/>
          </a:p>
        </p:txBody>
      </p:sp>
      <p:sp>
        <p:nvSpPr>
          <p:cNvPr id="15" name="K4 label"/>
          <p:cNvSpPr/>
          <p:nvPr>
            <p:ph idx="120" type="body" hasCustomPrompt="1"/>
          </p:nvPr>
        </p:nvSpPr>
        <p:spPr>
          <a:xfrm>
            <a:off x="9042410" y="3200400"/>
            <a:ext cx="264161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Setup satisfaction (NPS)</a:t>
            </a:r>
            <a:endParaRPr lang="en-US" sz="1100" dirty="0"/>
          </a:p>
        </p:txBody>
      </p:sp>
      <p:sp>
        <p:nvSpPr>
          <p:cNvPr id="16" name="K4 context"/>
          <p:cNvSpPr/>
          <p:nvPr>
            <p:ph idx="121" type="body" hasCustomPrompt="1"/>
          </p:nvPr>
        </p:nvSpPr>
        <p:spPr>
          <a:xfrm>
            <a:off x="9042410" y="3505170"/>
            <a:ext cx="264161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Relationship survey, scored responses.</a:t>
            </a:r>
            <a:endParaRPr lang="en-US" sz="1050" dirty="0"/>
          </a:p>
        </p:txBody>
      </p:sp>
      <p:sp>
        <p:nvSpPr>
          <p:cNvPr id="17" name="Read label"/>
          <p:cNvSpPr/>
          <p:nvPr>
            <p:ph idx="123" type="body" hasCustomPrompt="1"/>
          </p:nvPr>
        </p:nvSpPr>
        <p:spPr>
          <a:xfrm>
            <a:off x="508041" y="4787890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WHAT IT ADDS UP TO</a:t>
            </a:r>
            <a:endParaRPr lang="en-US" sz="800" dirty="0"/>
          </a:p>
        </p:txBody>
      </p:sp>
      <p:sp>
        <p:nvSpPr>
          <p:cNvPr id="18" name="Read"/>
          <p:cNvSpPr/>
          <p:nvPr>
            <p:ph idx="124" type="body" hasCustomPrompt="1"/>
          </p:nvPr>
        </p:nvSpPr>
        <p:spPr>
          <a:xfrm>
            <a:off x="3352830" y="4737141"/>
            <a:ext cx="8331190" cy="952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More advertisers are finishing, but they are not finishing faster — decision load, not bugs, is the remaining constraint.</a:t>
            </a:r>
            <a:endParaRPr lang="en-US" sz="2200" dirty="0"/>
          </a:p>
        </p:txBody>
      </p:sp>
      <p:sp>
        <p:nvSpPr>
          <p:cNvPr id="19" name="Source"/>
          <p:cNvSpPr/>
          <p:nvPr>
            <p:ph idx="125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Illustrative example content and data for layout demonstration. Replace with real content and cite the source.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8041" y="4216390"/>
            <a:ext cx="634959" cy="177759"/>
          </a:xfrm>
          <a:prstGeom prst="roundRect">
            <a:avLst>
              <a:gd name="adj" fmla="val 257202"/>
            </a:avLst>
          </a:prstGeom>
          <a:solidFill>
            <a:srgbClr val="E7F4E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8041" y="4216390"/>
            <a:ext cx="634959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90" kern="0" dirty="0">
                <a:solidFill>
                  <a:srgbClr val="128A08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▲ 4 PTS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352830" y="4216390"/>
            <a:ext cx="634959" cy="177759"/>
          </a:xfrm>
          <a:prstGeom prst="roundRect">
            <a:avLst>
              <a:gd name="adj" fmla="val 257202"/>
            </a:avLst>
          </a:prstGeom>
          <a:solidFill>
            <a:srgbClr val="E9EEF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352830" y="4216390"/>
            <a:ext cx="634959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90" kern="0" dirty="0">
                <a:solidFill>
                  <a:srgbClr val="001E60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■ 0 MIN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197620" y="4216390"/>
            <a:ext cx="495330" cy="177759"/>
          </a:xfrm>
          <a:prstGeom prst="roundRect">
            <a:avLst>
              <a:gd name="adj" fmla="val 257202"/>
            </a:avLst>
          </a:prstGeom>
          <a:solidFill>
            <a:srgbClr val="FDEAE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97620" y="4216390"/>
            <a:ext cx="49533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90" kern="0" dirty="0">
                <a:solidFill>
                  <a:srgbClr val="DE1C24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▼ 0.6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9042410" y="4216390"/>
            <a:ext cx="634959" cy="177759"/>
          </a:xfrm>
          <a:prstGeom prst="roundRect">
            <a:avLst>
              <a:gd name="adj" fmla="val 257202"/>
            </a:avLst>
          </a:prstGeom>
          <a:solidFill>
            <a:srgbClr val="E7F4E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042410" y="4216390"/>
            <a:ext cx="634959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90" kern="0" dirty="0">
                <a:solidFill>
                  <a:srgbClr val="128A08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▲ 3 PTS</a:t>
            </a:r>
            <a:endParaRPr lang="en-US" sz="750" dirty="0"/>
          </a:p>
        </p:txBody>
      </p:sp>
      <p:sp>
        <p:nvSpPr>
          <p:cNvPr id="28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TREND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Completion rose after the step reorder, and held</a:t>
            </a:r>
            <a:endParaRPr lang="en-US" sz="2800" dirty="0"/>
          </a:p>
        </p:txBody>
      </p:sp>
      <p:sp>
        <p:nvSpPr>
          <p:cNvPr id="5" name="Rail label"/>
          <p:cNvSpPr/>
          <p:nvPr>
            <p:ph idx="108" type="body" hasCustomPrompt="1"/>
          </p:nvPr>
        </p:nvSpPr>
        <p:spPr>
          <a:xfrm>
            <a:off x="8094177" y="2540020"/>
            <a:ext cx="358984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THE INSIGHT</a:t>
            </a:r>
            <a:endParaRPr lang="en-US" sz="800" dirty="0"/>
          </a:p>
        </p:txBody>
      </p:sp>
      <p:sp>
        <p:nvSpPr>
          <p:cNvPr id="6" name="Rail title"/>
          <p:cNvSpPr/>
          <p:nvPr>
            <p:ph idx="109" type="body" hasCustomPrompt="1"/>
          </p:nvPr>
        </p:nvSpPr>
        <p:spPr>
          <a:xfrm>
            <a:off x="8094177" y="2717780"/>
            <a:ext cx="3589843" cy="1015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The reorder lifted completion by about eight points.</a:t>
            </a:r>
            <a:endParaRPr lang="en-US" sz="1800" dirty="0"/>
          </a:p>
        </p:txBody>
      </p:sp>
      <p:sp>
        <p:nvSpPr>
          <p:cNvPr id="7" name="Rail body"/>
          <p:cNvSpPr/>
          <p:nvPr>
            <p:ph idx="110" type="body" hasCustomPrompt="1"/>
          </p:nvPr>
        </p:nvSpPr>
        <p:spPr>
          <a:xfrm>
            <a:off x="8094177" y="3835359"/>
            <a:ext cx="3589843" cy="190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Definition: setup starts reaching launch within 7 days. The dashed line marks the release. Seasonality has not been removed.</a:t>
            </a:r>
            <a:endParaRPr lang="en-US" sz="1200" dirty="0"/>
          </a:p>
        </p:txBody>
      </p:sp>
      <p:sp>
        <p:nvSpPr>
          <p:cNvPr id="8" name="Source"/>
          <p:cNvSpPr/>
          <p:nvPr>
            <p:ph idx="111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Illustrative example content and data for layout demonstration. Replace with real content and cite the source.</a:t>
            </a:r>
            <a:endParaRPr lang="en-US" sz="800" dirty="0"/>
          </a:p>
        </p:txBody>
      </p:sp>
      <p:graphicFrame>
        <p:nvGraphicFramePr>
          <p:cNvPr id="9" name="Chart 0" descr=""/>
          <p:cNvGraphicFramePr/>
          <p:nvPr>
            <p:ph idx="106" type="chart" hasCustomPrompt="1"/>
          </p:nvPr>
        </p:nvGraphicFramePr>
        <p:xfrm>
          <a:off x="508041" y="2438430"/>
          <a:ext cx="7382957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SEGMENTS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New advertisers abandon at twice the rate of managed accounts</a:t>
            </a:r>
            <a:endParaRPr lang="en-US" sz="2800" dirty="0"/>
          </a:p>
        </p:txBody>
      </p:sp>
      <p:sp>
        <p:nvSpPr>
          <p:cNvPr id="5" name="Annotation"/>
          <p:cNvSpPr/>
          <p:nvPr>
            <p:ph idx="107" type="body" hasCustomPrompt="1"/>
          </p:nvPr>
        </p:nvSpPr>
        <p:spPr>
          <a:xfrm>
            <a:off x="508041" y="5715000"/>
            <a:ext cx="1117598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So what: the redesign should be measured on new self-serve advertisers first; that is where the gap is.</a:t>
            </a:r>
            <a:endParaRPr lang="en-US" sz="1000" dirty="0"/>
          </a:p>
        </p:txBody>
      </p:sp>
      <p:sp>
        <p:nvSpPr>
          <p:cNvPr id="6" name="Source"/>
          <p:cNvSpPr/>
          <p:nvPr>
            <p:ph idx="108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Illustrative example content and data for layout demonstration. Replace with real content and cite the source.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>
            <p:ph idx="106" type="chart" hasCustomPrompt="1"/>
          </p:nvPr>
        </p:nvGraphicFramePr>
        <p:xfrm>
          <a:off x="508041" y="2438430"/>
          <a:ext cx="11175980" cy="31749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INITIATIVES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PLAN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Five initiatives, each tied to one outcome and one owner</a:t>
            </a:r>
            <a:endParaRPr lang="en-US" sz="2800" dirty="0"/>
          </a:p>
        </p:txBody>
      </p:sp>
      <p:sp>
        <p:nvSpPr>
          <p:cNvPr id="5" name="Source"/>
          <p:cNvSpPr/>
          <p:nvPr>
            <p:ph idx="107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Illustrative example content and data for layout demonstration. Replace with real content and cite the source.</a:t>
            </a:r>
            <a:endParaRPr lang="en-US" sz="8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41" y="2438430"/>
          <a:ext cx="11175980" cy="63459"/>
        </p:xfrm>
        <a:graphic>
          <a:graphicData uri="http://schemas.openxmlformats.org/drawingml/2006/table">
            <a:tbl>
              <a:tblPr/>
              <a:tblGrid>
                <a:gridCol w="2920959"/>
                <a:gridCol w="2794041"/>
                <a:gridCol w="1904970"/>
                <a:gridCol w="1651041"/>
                <a:gridCol w="1904970"/>
              </a:tblGrid>
              <a:tr h="10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INITIATIVE</a:t>
                      </a:r>
                      <a:endParaRPr lang="en-US" sz="8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50841" marT="44440" marB="4444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3C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OUTCOME IT MOVES</a:t>
                      </a:r>
                      <a:endParaRPr lang="en-US" sz="8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50841" marT="44440" marB="4444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3C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OWNER</a:t>
                      </a:r>
                      <a:endParaRPr lang="en-US" sz="8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50841" marT="44440" marB="4444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3C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CONFIDENCE</a:t>
                      </a:r>
                      <a:endParaRPr lang="en-US" sz="8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50841" marT="44440" marB="4444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3C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STATUS</a:t>
                      </a:r>
                      <a:endParaRPr lang="en-US" sz="8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50841" marT="44440" marB="4444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3C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77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Goal-first setup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Setup completion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Setup pod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Committed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28A08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●  On track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77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Inline budget guidance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Time to launch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Setup pod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Planned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B25E0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▲  At risk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77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Shared audience library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Reuse rate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Audiences pod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Planned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28A08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●  On track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77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Unified reporting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Report trust score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Measurement pod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Exploring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5E636E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○  Not started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77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Campaign experiments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Tests run per quarter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Measurement pod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Exploring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5E636E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○  Not started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endParaRPr lang="en-US" sz="1400" dirty="0"/>
          </a:p>
        </p:txBody>
      </p:sp>
      <p:sp>
        <p:nvSpPr>
          <p:cNvPr id="8" name="Table"/>
          <p:cNvSpPr/>
          <p:nvPr>
            <p:ph idx="106" hasCustomPrompt="1"/>
          </p:nvPr>
        </p:nvSpPr>
        <p:spPr>
          <a:xfrm>
            <a:off x="508041" y="2438430"/>
            <a:ext cx="111759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4" type="title" hasCustomPrompt="1"/>
          </p:nvPr>
        </p:nvSpPr>
        <p:spPr>
          <a:xfrm>
            <a:off x="508041" y="558790"/>
            <a:ext cx="11175980" cy="4063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spc="-5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Decision log: what we decided, when, and what would reopen it</a:t>
            </a:r>
            <a:endParaRPr lang="en-US" sz="2200" dirty="0"/>
          </a:p>
        </p:txBody>
      </p:sp>
      <p:sp>
        <p:nvSpPr>
          <p:cNvPr id="3" name="Source"/>
          <p:cNvSpPr/>
          <p:nvPr>
            <p:ph idx="106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Illustrative example content and data for layout demonstration. Replace with real content and cite the source.</a:t>
            </a:r>
            <a:endParaRPr lang="en-US" sz="8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41" y="1168420"/>
          <a:ext cx="11175980" cy="63459"/>
        </p:xfrm>
        <a:graphic>
          <a:graphicData uri="http://schemas.openxmlformats.org/drawingml/2006/table">
            <a:tbl>
              <a:tblPr/>
              <a:tblGrid>
                <a:gridCol w="1143000"/>
                <a:gridCol w="2794041"/>
                <a:gridCol w="1777959"/>
                <a:gridCol w="2920959"/>
                <a:gridCol w="2540020"/>
              </a:tblGrid>
              <a:tr h="90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DATE</a:t>
                      </a:r>
                      <a:endParaRPr lang="en-US" sz="8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38130" marT="19020" marB="190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3C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DECISION</a:t>
                      </a:r>
                      <a:endParaRPr lang="en-US" sz="8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38130" marT="19020" marB="190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3C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DECIDED BY</a:t>
                      </a:r>
                      <a:endParaRPr lang="en-US" sz="8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38130" marT="19020" marB="190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3C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RATIONALE</a:t>
                      </a:r>
                      <a:endParaRPr lang="en-US" sz="8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38130" marT="19020" marB="190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3C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REOPEN IF…</a:t>
                      </a:r>
                      <a:endParaRPr lang="en-US" sz="8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38130" marT="19020" marB="190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3C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66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Month 1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Lead setup with the advertiser’s goal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Product leadership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Research and behavior agree on decision load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Test shows no completion lift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66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Month 1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Keep an expert mode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Product + Sales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Managed accounts rely on single-screen edits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Expert-mode use falls below 10%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66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Month 2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Defer automated suggestions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Product leadership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Simplify before adding intelligence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Completion target met early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66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Month 2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Measure on new self-serve first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Product + Analytics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Largest gap, cleanest test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Sample too small in 6 weeks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66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Month 3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Share audiences across channels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Platform council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Same job, rebuilt three times today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API slips past next half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66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Month 3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Report trust is a tracked KPI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Measurement pod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Mismatched numbers drive support tickets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A better proxy is found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6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7" name="Body"/>
          <p:cNvSpPr/>
          <p:nvPr>
            <p:ph idx="105" type="body" hasCustomPrompt="1"/>
          </p:nvPr>
        </p:nvSpPr>
        <p:spPr>
          <a:xfrm>
            <a:off x="508041" y="1168420"/>
            <a:ext cx="11175980" cy="482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5" type="title" hasCustomPrompt="1"/>
          </p:nvPr>
        </p:nvSpPr>
        <p:spPr>
          <a:xfrm>
            <a:off x="1456273" y="2158990"/>
            <a:ext cx="927942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200" i="1" spc="-40" kern="0" dirty="0">
                <a:solidFill>
                  <a:srgbClr val="001E60"/>
                </a:solidFill>
                <a:latin typeface="Everyday Sans Light" pitchFamily="34" charset="0"/>
                <a:ea typeface="Everyday Sans Light" pitchFamily="34" charset="-122"/>
                <a:cs typeface="Everyday Sans Light" pitchFamily="34" charset="-120"/>
              </a:rPr>
              <a:t>“I had the budget ready. I just couldn’t work out which of the targeting options I was supposed to pick.”</a:t>
            </a:r>
            <a:endParaRPr lang="en-US" sz="3200" dirty="0"/>
          </a:p>
        </p:txBody>
      </p:sp>
      <p:sp>
        <p:nvSpPr>
          <p:cNvPr id="3" name="Attribution"/>
          <p:cNvSpPr/>
          <p:nvPr>
            <p:ph idx="107" type="body" hasCustomPrompt="1"/>
          </p:nvPr>
        </p:nvSpPr>
        <p:spPr>
          <a:xfrm>
            <a:off x="1456273" y="4800600"/>
            <a:ext cx="9279423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SELF-SERVE ADVERTISER · HOME CATEGORY · USABILITY STUDY</a:t>
            </a:r>
            <a:endParaRPr lang="en-US" sz="800" dirty="0"/>
          </a:p>
        </p:txBody>
      </p:sp>
      <p:sp>
        <p:nvSpPr>
          <p:cNvPr id="4" name="Implication"/>
          <p:cNvSpPr/>
          <p:nvPr>
            <p:ph idx="108" type="body" hasCustomPrompt="1"/>
          </p:nvPr>
        </p:nvSpPr>
        <p:spPr>
          <a:xfrm>
            <a:off x="1456273" y="5080041"/>
            <a:ext cx="738295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The advertiser was ready to spend. The workflow, not the intent, stopped the campaign.</a:t>
            </a:r>
            <a:endParaRPr lang="en-US" sz="1200" dirty="0"/>
          </a:p>
        </p:txBody>
      </p:sp>
      <p:sp>
        <p:nvSpPr>
          <p:cNvPr id="5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6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VOICE OF THE ADVERTISER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RESEARCH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Four themes, in advertisers’ own words</a:t>
            </a:r>
            <a:endParaRPr lang="en-US" sz="2800" dirty="0"/>
          </a:p>
        </p:txBody>
      </p:sp>
      <p:sp>
        <p:nvSpPr>
          <p:cNvPr id="5" name="Q1 theme"/>
          <p:cNvSpPr/>
          <p:nvPr>
            <p:ph idx="107" type="body" hasCustomPrompt="1"/>
          </p:nvPr>
        </p:nvSpPr>
        <p:spPr>
          <a:xfrm>
            <a:off x="508041" y="2540020"/>
            <a:ext cx="548640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DECISION LOAD</a:t>
            </a:r>
            <a:endParaRPr lang="en-US" sz="800" dirty="0"/>
          </a:p>
        </p:txBody>
      </p:sp>
      <p:sp>
        <p:nvSpPr>
          <p:cNvPr id="6" name="Q1 text"/>
          <p:cNvSpPr/>
          <p:nvPr>
            <p:ph idx="108" type="body" hasCustomPrompt="1"/>
          </p:nvPr>
        </p:nvSpPr>
        <p:spPr>
          <a:xfrm>
            <a:off x="508041" y="2717780"/>
            <a:ext cx="5486400" cy="1015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001E60"/>
                </a:solidFill>
                <a:latin typeface="Everyday Sans Light" pitchFamily="34" charset="0"/>
                <a:ea typeface="Everyday Sans Light" pitchFamily="34" charset="-122"/>
                <a:cs typeface="Everyday Sans Light" pitchFamily="34" charset="-120"/>
              </a:rPr>
              <a:t>“Every screen wants me to decide something I don’t understand yet.”</a:t>
            </a:r>
            <a:endParaRPr lang="en-US" sz="1700" dirty="0"/>
          </a:p>
        </p:txBody>
      </p:sp>
      <p:sp>
        <p:nvSpPr>
          <p:cNvPr id="7" name="Q1 attr"/>
          <p:cNvSpPr/>
          <p:nvPr>
            <p:ph idx="109" type="body" hasCustomPrompt="1"/>
          </p:nvPr>
        </p:nvSpPr>
        <p:spPr>
          <a:xfrm>
            <a:off x="508041" y="3784610"/>
            <a:ext cx="548640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SELF-SERVE · NEW</a:t>
            </a:r>
            <a:endParaRPr lang="en-US" sz="800" dirty="0"/>
          </a:p>
        </p:txBody>
      </p:sp>
      <p:sp>
        <p:nvSpPr>
          <p:cNvPr id="8" name="Q2 theme"/>
          <p:cNvSpPr/>
          <p:nvPr>
            <p:ph idx="111" type="body" hasCustomPrompt="1"/>
          </p:nvPr>
        </p:nvSpPr>
        <p:spPr>
          <a:xfrm>
            <a:off x="6197620" y="2540020"/>
            <a:ext cx="548640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TRUST</a:t>
            </a:r>
            <a:endParaRPr lang="en-US" sz="800" dirty="0"/>
          </a:p>
        </p:txBody>
      </p:sp>
      <p:sp>
        <p:nvSpPr>
          <p:cNvPr id="9" name="Q2 text"/>
          <p:cNvSpPr/>
          <p:nvPr>
            <p:ph idx="112" type="body" hasCustomPrompt="1"/>
          </p:nvPr>
        </p:nvSpPr>
        <p:spPr>
          <a:xfrm>
            <a:off x="6197620" y="2717780"/>
            <a:ext cx="5486400" cy="1015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001E60"/>
                </a:solidFill>
                <a:latin typeface="Everyday Sans Light" pitchFamily="34" charset="0"/>
                <a:ea typeface="Everyday Sans Light" pitchFamily="34" charset="-122"/>
                <a:cs typeface="Everyday Sans Light" pitchFamily="34" charset="-120"/>
              </a:rPr>
              <a:t>“The dashboard and the report give me two different numbers.”</a:t>
            </a:r>
            <a:endParaRPr lang="en-US" sz="1700" dirty="0"/>
          </a:p>
        </p:txBody>
      </p:sp>
      <p:sp>
        <p:nvSpPr>
          <p:cNvPr id="10" name="Q2 attr"/>
          <p:cNvSpPr/>
          <p:nvPr>
            <p:ph idx="113" type="body" hasCustomPrompt="1"/>
          </p:nvPr>
        </p:nvSpPr>
        <p:spPr>
          <a:xfrm>
            <a:off x="6197620" y="3784610"/>
            <a:ext cx="548640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AGENCY · MANAGED</a:t>
            </a:r>
            <a:endParaRPr lang="en-US" sz="800" dirty="0"/>
          </a:p>
        </p:txBody>
      </p:sp>
      <p:sp>
        <p:nvSpPr>
          <p:cNvPr id="11" name="Q3 theme"/>
          <p:cNvSpPr/>
          <p:nvPr>
            <p:ph idx="115" type="body" hasCustomPrompt="1"/>
          </p:nvPr>
        </p:nvSpPr>
        <p:spPr>
          <a:xfrm>
            <a:off x="508041" y="4317980"/>
            <a:ext cx="548640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CONTINUITY</a:t>
            </a:r>
            <a:endParaRPr lang="en-US" sz="800" dirty="0"/>
          </a:p>
        </p:txBody>
      </p:sp>
      <p:sp>
        <p:nvSpPr>
          <p:cNvPr id="12" name="Q3 text"/>
          <p:cNvSpPr/>
          <p:nvPr>
            <p:ph idx="116" type="body" hasCustomPrompt="1"/>
          </p:nvPr>
        </p:nvSpPr>
        <p:spPr>
          <a:xfrm>
            <a:off x="508041" y="4495830"/>
            <a:ext cx="5486400" cy="1015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001E60"/>
                </a:solidFill>
                <a:latin typeface="Everyday Sans Light" pitchFamily="34" charset="0"/>
                <a:ea typeface="Everyday Sans Light" pitchFamily="34" charset="-122"/>
                <a:cs typeface="Everyday Sans Light" pitchFamily="34" charset="-120"/>
              </a:rPr>
              <a:t>“I built the audience last month. Why can’t I find it now?”</a:t>
            </a:r>
            <a:endParaRPr lang="en-US" sz="1700" dirty="0"/>
          </a:p>
        </p:txBody>
      </p:sp>
      <p:sp>
        <p:nvSpPr>
          <p:cNvPr id="13" name="Q3 attr"/>
          <p:cNvSpPr/>
          <p:nvPr>
            <p:ph idx="117" type="body" hasCustomPrompt="1"/>
          </p:nvPr>
        </p:nvSpPr>
        <p:spPr>
          <a:xfrm>
            <a:off x="508041" y="5562570"/>
            <a:ext cx="548640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SELLER · MARKETPLACE</a:t>
            </a:r>
            <a:endParaRPr lang="en-US" sz="800" dirty="0"/>
          </a:p>
        </p:txBody>
      </p:sp>
      <p:sp>
        <p:nvSpPr>
          <p:cNvPr id="14" name="Q4 theme"/>
          <p:cNvSpPr/>
          <p:nvPr>
            <p:ph idx="119" type="body" hasCustomPrompt="1"/>
          </p:nvPr>
        </p:nvSpPr>
        <p:spPr>
          <a:xfrm>
            <a:off x="6197620" y="4317980"/>
            <a:ext cx="548640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GUIDANCE</a:t>
            </a:r>
            <a:endParaRPr lang="en-US" sz="800" dirty="0"/>
          </a:p>
        </p:txBody>
      </p:sp>
      <p:sp>
        <p:nvSpPr>
          <p:cNvPr id="15" name="Q4 text"/>
          <p:cNvSpPr/>
          <p:nvPr>
            <p:ph idx="120" type="body" hasCustomPrompt="1"/>
          </p:nvPr>
        </p:nvSpPr>
        <p:spPr>
          <a:xfrm>
            <a:off x="6197620" y="4495830"/>
            <a:ext cx="5486400" cy="1015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001E60"/>
                </a:solidFill>
                <a:latin typeface="Everyday Sans Light" pitchFamily="34" charset="0"/>
                <a:ea typeface="Everyday Sans Light" pitchFamily="34" charset="-122"/>
                <a:cs typeface="Everyday Sans Light" pitchFamily="34" charset="-120"/>
              </a:rPr>
              <a:t>“Tell me what a good budget looks like for my goal.”</a:t>
            </a:r>
            <a:endParaRPr lang="en-US" sz="1700" dirty="0"/>
          </a:p>
        </p:txBody>
      </p:sp>
      <p:sp>
        <p:nvSpPr>
          <p:cNvPr id="16" name="Q4 attr"/>
          <p:cNvSpPr/>
          <p:nvPr>
            <p:ph idx="121" type="body" hasCustomPrompt="1"/>
          </p:nvPr>
        </p:nvSpPr>
        <p:spPr>
          <a:xfrm>
            <a:off x="6197620" y="5562570"/>
            <a:ext cx="548640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SELF-SERVE · RETURNING</a:t>
            </a:r>
            <a:endParaRPr lang="en-US" sz="800" dirty="0"/>
          </a:p>
        </p:txBody>
      </p:sp>
      <p:sp>
        <p:nvSpPr>
          <p:cNvPr id="17" name="Source"/>
          <p:cNvSpPr/>
          <p:nvPr>
            <p:ph idx="122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Illustrative example content and data for layout demonstration. Replace with real content and cite the source.</a:t>
            </a:r>
            <a:endParaRPr lang="en-US" sz="800" dirty="0"/>
          </a:p>
        </p:txBody>
      </p:sp>
      <p:sp>
        <p:nvSpPr>
          <p:cNvPr id="18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CONCEPT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EXPERIENCE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The unified workspace puts plan, build and measure on one surface</a:t>
            </a:r>
            <a:endParaRPr lang="en-US" sz="2800" dirty="0"/>
          </a:p>
        </p:txBody>
      </p:sp>
      <p:sp>
        <p:nvSpPr>
          <p:cNvPr id="5" name="Source"/>
          <p:cNvSpPr/>
          <p:nvPr>
            <p:ph idx="107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Replace the placeholder frame with a screenshot: right-click → Change Picture keeps the crop and position.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12810" y="2184410"/>
            <a:ext cx="10566441" cy="3556010"/>
          </a:xfrm>
          <a:prstGeom prst="rect">
            <a:avLst/>
          </a:prstGeom>
          <a:solidFill>
            <a:srgbClr val="FFFFFF"/>
          </a:solidFill>
          <a:ln w="9525">
            <a:solidFill>
              <a:srgbClr val="DEE1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2810" y="2184410"/>
            <a:ext cx="1651041" cy="3556010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920959" y="3810030"/>
            <a:ext cx="761997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5E636E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Screenshot frame — desktop, 16:9</a:t>
            </a:r>
            <a:endParaRPr lang="en-US" sz="1800" dirty="0"/>
          </a:p>
        </p:txBody>
      </p:sp>
      <p:sp>
        <p:nvSpPr>
          <p:cNvPr id="9" name="Picture"/>
          <p:cNvSpPr/>
          <p:nvPr>
            <p:ph idx="106" hasCustomPrompt="1"/>
          </p:nvPr>
        </p:nvSpPr>
        <p:spPr>
          <a:xfrm>
            <a:off x="812810" y="2184410"/>
            <a:ext cx="10566441" cy="3556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ANNOTATED FLOW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EXPERIENCE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Three changes make the budget step a decision advertisers can make</a:t>
            </a:r>
            <a:endParaRPr lang="en-US" sz="2800" dirty="0"/>
          </a:p>
        </p:txBody>
      </p:sp>
      <p:sp>
        <p:nvSpPr>
          <p:cNvPr id="5" name="A1 title"/>
          <p:cNvSpPr/>
          <p:nvPr>
            <p:ph idx="110" type="body" hasCustomPrompt="1"/>
          </p:nvPr>
        </p:nvSpPr>
        <p:spPr>
          <a:xfrm>
            <a:off x="8398947" y="2578059"/>
            <a:ext cx="3285073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Goal carried forward</a:t>
            </a:r>
            <a:endParaRPr lang="en-US" sz="1400" dirty="0"/>
          </a:p>
        </p:txBody>
      </p:sp>
      <p:sp>
        <p:nvSpPr>
          <p:cNvPr id="6" name="A1 body"/>
          <p:cNvSpPr/>
          <p:nvPr>
            <p:ph idx="111" type="body" hasCustomPrompt="1"/>
          </p:nvPr>
        </p:nvSpPr>
        <p:spPr>
          <a:xfrm>
            <a:off x="8398947" y="2806659"/>
            <a:ext cx="3285073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The objective chosen in step one sets sensible defaults here.</a:t>
            </a:r>
            <a:endParaRPr lang="en-US" sz="1050" dirty="0"/>
          </a:p>
        </p:txBody>
      </p:sp>
      <p:sp>
        <p:nvSpPr>
          <p:cNvPr id="7" name="A2 title"/>
          <p:cNvSpPr/>
          <p:nvPr>
            <p:ph idx="114" type="body" hasCustomPrompt="1"/>
          </p:nvPr>
        </p:nvSpPr>
        <p:spPr>
          <a:xfrm>
            <a:off x="8398947" y="3746480"/>
            <a:ext cx="3285073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Guidance in place</a:t>
            </a:r>
            <a:endParaRPr lang="en-US" sz="1400" dirty="0"/>
          </a:p>
        </p:txBody>
      </p:sp>
      <p:sp>
        <p:nvSpPr>
          <p:cNvPr id="8" name="A2 body"/>
          <p:cNvSpPr/>
          <p:nvPr>
            <p:ph idx="115" type="body" hasCustomPrompt="1"/>
          </p:nvPr>
        </p:nvSpPr>
        <p:spPr>
          <a:xfrm>
            <a:off x="8398947" y="3975080"/>
            <a:ext cx="3285073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A recommended range, with the reason, next to the field.</a:t>
            </a:r>
            <a:endParaRPr lang="en-US" sz="1050" dirty="0"/>
          </a:p>
        </p:txBody>
      </p:sp>
      <p:sp>
        <p:nvSpPr>
          <p:cNvPr id="9" name="A3 title"/>
          <p:cNvSpPr/>
          <p:nvPr>
            <p:ph idx="118" type="body" hasCustomPrompt="1"/>
          </p:nvPr>
        </p:nvSpPr>
        <p:spPr>
          <a:xfrm>
            <a:off x="8398947" y="4914900"/>
            <a:ext cx="3285073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Predicted outcome</a:t>
            </a:r>
            <a:endParaRPr lang="en-US" sz="1400" dirty="0"/>
          </a:p>
        </p:txBody>
      </p:sp>
      <p:sp>
        <p:nvSpPr>
          <p:cNvPr id="10" name="A3 body"/>
          <p:cNvSpPr/>
          <p:nvPr>
            <p:ph idx="119" type="body" hasCustomPrompt="1"/>
          </p:nvPr>
        </p:nvSpPr>
        <p:spPr>
          <a:xfrm>
            <a:off x="8398947" y="5143500"/>
            <a:ext cx="3285073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Estimated reach updates as the budget changes.</a:t>
            </a:r>
            <a:endParaRPr lang="en-US" sz="1050" dirty="0"/>
          </a:p>
        </p:txBody>
      </p:sp>
      <p:sp>
        <p:nvSpPr>
          <p:cNvPr id="11" name="Source"/>
          <p:cNvSpPr/>
          <p:nvPr>
            <p:ph idx="120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Illustrative example content and data for layout demonstration. Replace with real content and cite the source.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11220" y="2641610"/>
            <a:ext cx="6976506" cy="3098810"/>
          </a:xfrm>
          <a:prstGeom prst="rect">
            <a:avLst/>
          </a:prstGeom>
          <a:solidFill>
            <a:srgbClr val="FFFFFF"/>
          </a:solidFill>
          <a:ln w="9525">
            <a:solidFill>
              <a:srgbClr val="DEE1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2159" y="3086100"/>
            <a:ext cx="203180" cy="203180"/>
          </a:xfrm>
          <a:prstGeom prst="ellipse">
            <a:avLst/>
          </a:prstGeom>
          <a:solidFill>
            <a:srgbClr val="0053E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2159" y="3086100"/>
            <a:ext cx="20318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92159" y="4102090"/>
            <a:ext cx="203180" cy="203180"/>
          </a:xfrm>
          <a:prstGeom prst="ellipse">
            <a:avLst/>
          </a:prstGeom>
          <a:solidFill>
            <a:srgbClr val="0053E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92159" y="4102090"/>
            <a:ext cx="20318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21159" y="4737141"/>
            <a:ext cx="203180" cy="203180"/>
          </a:xfrm>
          <a:prstGeom prst="ellipse">
            <a:avLst/>
          </a:prstGeom>
          <a:solidFill>
            <a:srgbClr val="0053E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21159" y="4737141"/>
            <a:ext cx="20318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981230" y="4038630"/>
            <a:ext cx="444499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Screenshot frame — replace with the budget step</a:t>
            </a:r>
            <a:endParaRPr lang="en-US" sz="1050" dirty="0"/>
          </a:p>
        </p:txBody>
      </p:sp>
      <p:sp>
        <p:nvSpPr>
          <p:cNvPr id="20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endParaRPr lang="en-US" sz="1400" dirty="0"/>
          </a:p>
        </p:txBody>
      </p:sp>
      <p:sp>
        <p:nvSpPr>
          <p:cNvPr id="21" name="Picture"/>
          <p:cNvSpPr/>
          <p:nvPr>
            <p:ph idx="107" hasCustomPrompt="1"/>
          </p:nvPr>
        </p:nvSpPr>
        <p:spPr>
          <a:xfrm>
            <a:off x="711220" y="2641610"/>
            <a:ext cx="6976506" cy="3098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RECOMMENDATION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DECISION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We recommend funding goal-first setup before automated suggestions</a:t>
            </a:r>
            <a:endParaRPr lang="en-US" sz="2800" dirty="0"/>
          </a:p>
        </p:txBody>
      </p:sp>
      <p:sp>
        <p:nvSpPr>
          <p:cNvPr id="5" name="Rec label"/>
          <p:cNvSpPr/>
          <p:nvPr>
            <p:ph idx="107" type="body" hasCustomPrompt="1"/>
          </p:nvPr>
        </p:nvSpPr>
        <p:spPr>
          <a:xfrm>
            <a:off x="508041" y="2540020"/>
            <a:ext cx="643463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RECOMMENDATION</a:t>
            </a:r>
            <a:endParaRPr lang="en-US" sz="800" dirty="0"/>
          </a:p>
        </p:txBody>
      </p:sp>
      <p:sp>
        <p:nvSpPr>
          <p:cNvPr id="6" name="Rec"/>
          <p:cNvSpPr/>
          <p:nvPr>
            <p:ph idx="108" type="body" hasCustomPrompt="1"/>
          </p:nvPr>
        </p:nvSpPr>
        <p:spPr>
          <a:xfrm>
            <a:off x="508041" y="2743200"/>
            <a:ext cx="6434633" cy="127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800" spc="-8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Fund goal-first setup now; defer automated suggestions until completion reaches 65%.</a:t>
            </a:r>
            <a:endParaRPr lang="en-US" sz="2800" dirty="0"/>
          </a:p>
        </p:txBody>
      </p:sp>
      <p:sp>
        <p:nvSpPr>
          <p:cNvPr id="7" name="Rec body"/>
          <p:cNvSpPr/>
          <p:nvPr>
            <p:ph idx="109" type="body" hasCustomPrompt="1"/>
          </p:nvPr>
        </p:nvSpPr>
        <p:spPr>
          <a:xfrm>
            <a:off x="508041" y="4343400"/>
            <a:ext cx="6434633" cy="146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Suggestions on today’s flow would add a decision, not remove one. We accept a slower path to automation in exchange for a flow worth automating. We will not build channel-specific setup variants in the meantime.</a:t>
            </a:r>
            <a:endParaRPr lang="en-US" sz="1200" dirty="0"/>
          </a:p>
        </p:txBody>
      </p:sp>
      <p:sp>
        <p:nvSpPr>
          <p:cNvPr id="8" name="Dec label"/>
          <p:cNvSpPr/>
          <p:nvPr>
            <p:ph idx="111" type="body" hasCustomPrompt="1"/>
          </p:nvPr>
        </p:nvSpPr>
        <p:spPr>
          <a:xfrm>
            <a:off x="8297357" y="2641610"/>
            <a:ext cx="3183484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4DBDF5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DECISION NEEDED</a:t>
            </a:r>
            <a:endParaRPr lang="en-US" sz="800" dirty="0"/>
          </a:p>
        </p:txBody>
      </p:sp>
      <p:sp>
        <p:nvSpPr>
          <p:cNvPr id="9" name="Dec"/>
          <p:cNvSpPr/>
          <p:nvPr>
            <p:ph idx="112" type="body" hasCustomPrompt="1"/>
          </p:nvPr>
        </p:nvSpPr>
        <p:spPr>
          <a:xfrm>
            <a:off x="8297357" y="2844790"/>
            <a:ext cx="3183484" cy="127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spc="-30" kern="0" dirty="0">
                <a:solidFill>
                  <a:srgbClr val="FFFFFF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Approve two additional engineers for the setup pod for two quarters.</a:t>
            </a:r>
            <a:endParaRPr lang="en-US" sz="2000" dirty="0"/>
          </a:p>
        </p:txBody>
      </p:sp>
      <p:sp>
        <p:nvSpPr>
          <p:cNvPr id="10" name="Owner label"/>
          <p:cNvSpPr/>
          <p:nvPr>
            <p:ph idx="114" type="body" hasCustomPrompt="1"/>
          </p:nvPr>
        </p:nvSpPr>
        <p:spPr>
          <a:xfrm>
            <a:off x="8297357" y="4470410"/>
            <a:ext cx="3183484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4DBDF5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OWNER</a:t>
            </a:r>
            <a:endParaRPr lang="en-US" sz="800" dirty="0"/>
          </a:p>
        </p:txBody>
      </p:sp>
      <p:sp>
        <p:nvSpPr>
          <p:cNvPr id="11" name="Owner"/>
          <p:cNvSpPr/>
          <p:nvPr>
            <p:ph idx="115" type="body" hasCustomPrompt="1"/>
          </p:nvPr>
        </p:nvSpPr>
        <p:spPr>
          <a:xfrm>
            <a:off x="8297357" y="4635459"/>
            <a:ext cx="3183484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Director, Advertiser Experience</a:t>
            </a:r>
            <a:endParaRPr lang="en-US" sz="1200" dirty="0"/>
          </a:p>
        </p:txBody>
      </p:sp>
      <p:sp>
        <p:nvSpPr>
          <p:cNvPr id="12" name="By label"/>
          <p:cNvSpPr/>
          <p:nvPr>
            <p:ph idx="116" type="body" hasCustomPrompt="1"/>
          </p:nvPr>
        </p:nvSpPr>
        <p:spPr>
          <a:xfrm>
            <a:off x="8297357" y="4978359"/>
            <a:ext cx="3183484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4DBDF5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NEEDED BY</a:t>
            </a:r>
            <a:endParaRPr lang="en-US" sz="800" dirty="0"/>
          </a:p>
        </p:txBody>
      </p:sp>
      <p:sp>
        <p:nvSpPr>
          <p:cNvPr id="13" name="By"/>
          <p:cNvSpPr/>
          <p:nvPr>
            <p:ph idx="117" type="body" hasCustomPrompt="1"/>
          </p:nvPr>
        </p:nvSpPr>
        <p:spPr>
          <a:xfrm>
            <a:off x="8297357" y="5143500"/>
            <a:ext cx="3183484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End of month — the beta slips a quarter otherwise</a:t>
            </a:r>
            <a:endParaRPr lang="en-US" sz="1200" dirty="0"/>
          </a:p>
        </p:txBody>
      </p:sp>
      <p:sp>
        <p:nvSpPr>
          <p:cNvPr id="14" name="Source"/>
          <p:cNvSpPr/>
          <p:nvPr>
            <p:ph idx="118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Illustrative example content and data for layout demonstration. Replace with real content and cite the source.</a:t>
            </a:r>
            <a:endParaRPr lang="en-US" sz="800" dirty="0"/>
          </a:p>
        </p:txBody>
      </p:sp>
      <p:sp>
        <p:nvSpPr>
          <p:cNvPr id="15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OPTIONS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DECISION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Three ways to reduce setup abandonment, and what each costs</a:t>
            </a:r>
            <a:endParaRPr lang="en-US" sz="2800" dirty="0"/>
          </a:p>
        </p:txBody>
      </p:sp>
      <p:sp>
        <p:nvSpPr>
          <p:cNvPr id="5" name="O1 label"/>
          <p:cNvSpPr/>
          <p:nvPr>
            <p:ph idx="107" type="body" hasCustomPrompt="1"/>
          </p:nvPr>
        </p:nvSpPr>
        <p:spPr>
          <a:xfrm>
            <a:off x="508041" y="2540020"/>
            <a:ext cx="358984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OPTION A</a:t>
            </a:r>
            <a:endParaRPr lang="en-US" sz="800" dirty="0"/>
          </a:p>
        </p:txBody>
      </p:sp>
      <p:sp>
        <p:nvSpPr>
          <p:cNvPr id="6" name="O1 title"/>
          <p:cNvSpPr/>
          <p:nvPr>
            <p:ph idx="108" type="body" hasCustomPrompt="1"/>
          </p:nvPr>
        </p:nvSpPr>
        <p:spPr>
          <a:xfrm>
            <a:off x="508041" y="2717780"/>
            <a:ext cx="35898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Patch the current flow</a:t>
            </a:r>
            <a:endParaRPr lang="en-US" sz="1800" dirty="0"/>
          </a:p>
        </p:txBody>
      </p:sp>
      <p:sp>
        <p:nvSpPr>
          <p:cNvPr id="7" name="O1 body"/>
          <p:cNvSpPr/>
          <p:nvPr>
            <p:ph idx="109" type="body" hasCustomPrompt="1"/>
          </p:nvPr>
        </p:nvSpPr>
        <p:spPr>
          <a:xfrm>
            <a:off x="508041" y="3225820"/>
            <a:ext cx="3589843" cy="111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Fix the top ten usability issues in place. Fastest to ship.</a:t>
            </a:r>
            <a:endParaRPr lang="en-US" sz="1200" dirty="0"/>
          </a:p>
        </p:txBody>
      </p:sp>
      <p:sp>
        <p:nvSpPr>
          <p:cNvPr id="8" name="O1 trade label"/>
          <p:cNvSpPr/>
          <p:nvPr>
            <p:ph idx="111" type="body" hasCustomPrompt="1"/>
          </p:nvPr>
        </p:nvSpPr>
        <p:spPr>
          <a:xfrm>
            <a:off x="508041" y="4572000"/>
            <a:ext cx="358984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TRADEOFF</a:t>
            </a:r>
            <a:endParaRPr lang="en-US" sz="800" dirty="0"/>
          </a:p>
        </p:txBody>
      </p:sp>
      <p:sp>
        <p:nvSpPr>
          <p:cNvPr id="9" name="O1 trade"/>
          <p:cNvSpPr/>
          <p:nvPr>
            <p:ph idx="112" type="body" hasCustomPrompt="1"/>
          </p:nvPr>
        </p:nvSpPr>
        <p:spPr>
          <a:xfrm>
            <a:off x="508041" y="4737141"/>
            <a:ext cx="358984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Leaves decision load untouched; gains likely plateau.</a:t>
            </a:r>
            <a:endParaRPr lang="en-US" sz="1050" dirty="0"/>
          </a:p>
        </p:txBody>
      </p:sp>
      <p:sp>
        <p:nvSpPr>
          <p:cNvPr id="10" name="O2 label"/>
          <p:cNvSpPr/>
          <p:nvPr>
            <p:ph idx="114" type="body" hasCustomPrompt="1"/>
          </p:nvPr>
        </p:nvSpPr>
        <p:spPr>
          <a:xfrm>
            <a:off x="4301063" y="2540020"/>
            <a:ext cx="358984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OPTION B</a:t>
            </a:r>
            <a:endParaRPr lang="en-US" sz="800" dirty="0"/>
          </a:p>
        </p:txBody>
      </p:sp>
      <p:sp>
        <p:nvSpPr>
          <p:cNvPr id="11" name="O2 title"/>
          <p:cNvSpPr/>
          <p:nvPr>
            <p:ph idx="115" type="body" hasCustomPrompt="1"/>
          </p:nvPr>
        </p:nvSpPr>
        <p:spPr>
          <a:xfrm>
            <a:off x="4301063" y="2717780"/>
            <a:ext cx="35898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Goal-first setup</a:t>
            </a:r>
            <a:endParaRPr lang="en-US" sz="1800" dirty="0"/>
          </a:p>
        </p:txBody>
      </p:sp>
      <p:sp>
        <p:nvSpPr>
          <p:cNvPr id="12" name="O2 body"/>
          <p:cNvSpPr/>
          <p:nvPr>
            <p:ph idx="116" type="body" hasCustomPrompt="1"/>
          </p:nvPr>
        </p:nvSpPr>
        <p:spPr>
          <a:xfrm>
            <a:off x="4301063" y="3225820"/>
            <a:ext cx="3589843" cy="111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Reorder around the objective, defer what can be defaulted.</a:t>
            </a:r>
            <a:endParaRPr lang="en-US" sz="1200" dirty="0"/>
          </a:p>
        </p:txBody>
      </p:sp>
      <p:sp>
        <p:nvSpPr>
          <p:cNvPr id="13" name="O2 trade label"/>
          <p:cNvSpPr/>
          <p:nvPr>
            <p:ph idx="118" type="body" hasCustomPrompt="1"/>
          </p:nvPr>
        </p:nvSpPr>
        <p:spPr>
          <a:xfrm>
            <a:off x="4301063" y="4572000"/>
            <a:ext cx="358984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TRADEOFF</a:t>
            </a:r>
            <a:endParaRPr lang="en-US" sz="800" dirty="0"/>
          </a:p>
        </p:txBody>
      </p:sp>
      <p:sp>
        <p:nvSpPr>
          <p:cNvPr id="14" name="O2 trade"/>
          <p:cNvSpPr/>
          <p:nvPr>
            <p:ph idx="119" type="body" hasCustomPrompt="1"/>
          </p:nvPr>
        </p:nvSpPr>
        <p:spPr>
          <a:xfrm>
            <a:off x="4301063" y="4737141"/>
            <a:ext cx="358984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Two quarters of build; expert mode needed for power users.</a:t>
            </a:r>
            <a:endParaRPr lang="en-US" sz="1050" dirty="0"/>
          </a:p>
        </p:txBody>
      </p:sp>
      <p:sp>
        <p:nvSpPr>
          <p:cNvPr id="15" name="O3 label"/>
          <p:cNvSpPr/>
          <p:nvPr>
            <p:ph idx="121" type="body" hasCustomPrompt="1"/>
          </p:nvPr>
        </p:nvSpPr>
        <p:spPr>
          <a:xfrm>
            <a:off x="8094177" y="2540020"/>
            <a:ext cx="358984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OPTION C</a:t>
            </a:r>
            <a:endParaRPr lang="en-US" sz="800" dirty="0"/>
          </a:p>
        </p:txBody>
      </p:sp>
      <p:sp>
        <p:nvSpPr>
          <p:cNvPr id="16" name="O3 title"/>
          <p:cNvSpPr/>
          <p:nvPr>
            <p:ph idx="122" type="body" hasCustomPrompt="1"/>
          </p:nvPr>
        </p:nvSpPr>
        <p:spPr>
          <a:xfrm>
            <a:off x="8094177" y="2717780"/>
            <a:ext cx="35898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Automate setup now</a:t>
            </a:r>
            <a:endParaRPr lang="en-US" sz="1800" dirty="0"/>
          </a:p>
        </p:txBody>
      </p:sp>
      <p:sp>
        <p:nvSpPr>
          <p:cNvPr id="17" name="O3 body"/>
          <p:cNvSpPr/>
          <p:nvPr>
            <p:ph idx="123" type="body" hasCustomPrompt="1"/>
          </p:nvPr>
        </p:nvSpPr>
        <p:spPr>
          <a:xfrm>
            <a:off x="8094177" y="3225820"/>
            <a:ext cx="3589843" cy="111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Suggest full campaigns from a goal and a budget.</a:t>
            </a:r>
            <a:endParaRPr lang="en-US" sz="1200" dirty="0"/>
          </a:p>
        </p:txBody>
      </p:sp>
      <p:sp>
        <p:nvSpPr>
          <p:cNvPr id="18" name="O3 trade label"/>
          <p:cNvSpPr/>
          <p:nvPr>
            <p:ph idx="125" type="body" hasCustomPrompt="1"/>
          </p:nvPr>
        </p:nvSpPr>
        <p:spPr>
          <a:xfrm>
            <a:off x="8094177" y="4572000"/>
            <a:ext cx="358984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TRADEOFF</a:t>
            </a:r>
            <a:endParaRPr lang="en-US" sz="800" dirty="0"/>
          </a:p>
        </p:txBody>
      </p:sp>
      <p:sp>
        <p:nvSpPr>
          <p:cNvPr id="19" name="O3 trade"/>
          <p:cNvSpPr/>
          <p:nvPr>
            <p:ph idx="126" type="body" hasCustomPrompt="1"/>
          </p:nvPr>
        </p:nvSpPr>
        <p:spPr>
          <a:xfrm>
            <a:off x="8094177" y="4737141"/>
            <a:ext cx="358984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Automates a flow we already know is confusing.</a:t>
            </a:r>
            <a:endParaRPr lang="en-US" sz="1050" dirty="0"/>
          </a:p>
        </p:txBody>
      </p:sp>
      <p:sp>
        <p:nvSpPr>
          <p:cNvPr id="20" name="Pick"/>
          <p:cNvSpPr/>
          <p:nvPr>
            <p:ph idx="127" type="body" hasCustomPrompt="1"/>
          </p:nvPr>
        </p:nvSpPr>
        <p:spPr>
          <a:xfrm>
            <a:off x="508041" y="5460980"/>
            <a:ext cx="1117598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Recommended: Option B — it removes decisions instead of hiding them.</a:t>
            </a:r>
            <a:endParaRPr lang="en-US" sz="1800" dirty="0"/>
          </a:p>
        </p:txBody>
      </p:sp>
      <p:sp>
        <p:nvSpPr>
          <p:cNvPr id="21" name="Source"/>
          <p:cNvSpPr/>
          <p:nvPr>
            <p:ph idx="128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Illustrative example content and data for layout demonstration. Replace with real content and cite the source.</a:t>
            </a:r>
            <a:endParaRPr lang="en-US" sz="800" dirty="0"/>
          </a:p>
        </p:txBody>
      </p:sp>
      <p:sp>
        <p:nvSpPr>
          <p:cNvPr id="22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3" type="title" hasCustomPrompt="1"/>
          </p:nvPr>
        </p:nvSpPr>
        <p:spPr>
          <a:xfrm>
            <a:off x="508041" y="1270010"/>
            <a:ext cx="9525030" cy="1460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400" spc="-120" kern="0" dirty="0">
                <a:solidFill>
                  <a:srgbClr val="FFFFFF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Fund the setup reorder, and measure it on outcomes</a:t>
            </a:r>
            <a:endParaRPr lang="en-US" sz="4400" dirty="0"/>
          </a:p>
        </p:txBody>
      </p:sp>
      <p:sp>
        <p:nvSpPr>
          <p:cNvPr id="3" name="Subtitle"/>
          <p:cNvSpPr/>
          <p:nvPr>
            <p:ph idx="104" type="body" hasCustomPrompt="1"/>
          </p:nvPr>
        </p:nvSpPr>
        <p:spPr>
          <a:xfrm>
            <a:off x="508041" y="2870210"/>
            <a:ext cx="69850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FE0FB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Completion is the constraint on growth this year.</a:t>
            </a:r>
            <a:endParaRPr lang="en-US" sz="1400" dirty="0"/>
          </a:p>
        </p:txBody>
      </p:sp>
      <p:sp>
        <p:nvSpPr>
          <p:cNvPr id="4" name="Ask1 label"/>
          <p:cNvSpPr/>
          <p:nvPr>
            <p:ph idx="106" type="body" hasCustomPrompt="1"/>
          </p:nvPr>
        </p:nvSpPr>
        <p:spPr>
          <a:xfrm>
            <a:off x="508041" y="4063959"/>
            <a:ext cx="358984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4DBDF5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ALIGN</a:t>
            </a:r>
            <a:endParaRPr lang="en-US" sz="800" dirty="0"/>
          </a:p>
        </p:txBody>
      </p:sp>
      <p:sp>
        <p:nvSpPr>
          <p:cNvPr id="5" name="Ask1"/>
          <p:cNvSpPr/>
          <p:nvPr>
            <p:ph idx="107" type="body" hasCustomPrompt="1"/>
          </p:nvPr>
        </p:nvSpPr>
        <p:spPr>
          <a:xfrm>
            <a:off x="508041" y="4267230"/>
            <a:ext cx="3589843" cy="1397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Agree that setup completion is the lead measure for next half.</a:t>
            </a:r>
            <a:endParaRPr lang="en-US" sz="1400" dirty="0"/>
          </a:p>
        </p:txBody>
      </p:sp>
      <p:sp>
        <p:nvSpPr>
          <p:cNvPr id="6" name="Ask2 label"/>
          <p:cNvSpPr/>
          <p:nvPr>
            <p:ph idx="109" type="body" hasCustomPrompt="1"/>
          </p:nvPr>
        </p:nvSpPr>
        <p:spPr>
          <a:xfrm>
            <a:off x="4301063" y="4063959"/>
            <a:ext cx="358984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4DBDF5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DECIDE</a:t>
            </a:r>
            <a:endParaRPr lang="en-US" sz="800" dirty="0"/>
          </a:p>
        </p:txBody>
      </p:sp>
      <p:sp>
        <p:nvSpPr>
          <p:cNvPr id="7" name="Ask2"/>
          <p:cNvSpPr/>
          <p:nvPr>
            <p:ph idx="110" type="body" hasCustomPrompt="1"/>
          </p:nvPr>
        </p:nvSpPr>
        <p:spPr>
          <a:xfrm>
            <a:off x="4301063" y="4267230"/>
            <a:ext cx="3589843" cy="1397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Approve two engineers for the setup pod for two quarters.</a:t>
            </a:r>
            <a:endParaRPr lang="en-US" sz="1400" dirty="0"/>
          </a:p>
        </p:txBody>
      </p:sp>
      <p:sp>
        <p:nvSpPr>
          <p:cNvPr id="8" name="Ask3 label"/>
          <p:cNvSpPr/>
          <p:nvPr>
            <p:ph idx="112" type="body" hasCustomPrompt="1"/>
          </p:nvPr>
        </p:nvSpPr>
        <p:spPr>
          <a:xfrm>
            <a:off x="8094177" y="4063959"/>
            <a:ext cx="358984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4DBDF5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NEXT</a:t>
            </a:r>
            <a:endParaRPr lang="en-US" sz="800" dirty="0"/>
          </a:p>
        </p:txBody>
      </p:sp>
      <p:sp>
        <p:nvSpPr>
          <p:cNvPr id="9" name="Ask3"/>
          <p:cNvSpPr/>
          <p:nvPr>
            <p:ph idx="113" type="body" hasCustomPrompt="1"/>
          </p:nvPr>
        </p:nvSpPr>
        <p:spPr>
          <a:xfrm>
            <a:off x="8094177" y="4267230"/>
            <a:ext cx="3589843" cy="1397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Beta to new self-serve advertisers; readout in eight weeks.</a:t>
            </a:r>
            <a:endParaRPr lang="en-US" sz="1400" dirty="0"/>
          </a:p>
        </p:txBody>
      </p:sp>
      <p:sp>
        <p:nvSpPr>
          <p:cNvPr id="10" name="Section"/>
          <p:cNvSpPr/>
          <p:nvPr>
            <p:ph idx="100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FE0FB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3" type="title" hasCustomPrompt="1"/>
          </p:nvPr>
        </p:nvSpPr>
        <p:spPr>
          <a:xfrm>
            <a:off x="508041" y="3301990"/>
            <a:ext cx="888998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600" spc="-100" kern="0" dirty="0">
                <a:solidFill>
                  <a:srgbClr val="FFFFFF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Appendix</a:t>
            </a:r>
            <a:endParaRPr lang="en-US" sz="5600" dirty="0"/>
          </a:p>
        </p:txBody>
      </p:sp>
      <p:sp>
        <p:nvSpPr>
          <p:cNvPr id="3" name="Subtitle"/>
          <p:cNvSpPr/>
          <p:nvPr>
            <p:ph idx="104" type="body" hasCustomPrompt="1"/>
          </p:nvPr>
        </p:nvSpPr>
        <p:spPr>
          <a:xfrm>
            <a:off x="508041" y="4190970"/>
            <a:ext cx="698501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FE0FB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Method, definitions and the full research inventory behind this review.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FE0FB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/>
          <p:nvPr>
            <p:ph idx="103" type="body" hasCustomPrompt="1"/>
          </p:nvPr>
        </p:nvSpPr>
        <p:spPr>
          <a:xfrm>
            <a:off x="508041" y="1904970"/>
            <a:ext cx="5080041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FFFFFF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SYSTEM 04</a:t>
            </a:r>
            <a:endParaRPr lang="en-US" sz="800" dirty="0"/>
          </a:p>
        </p:txBody>
      </p:sp>
      <p:sp>
        <p:nvSpPr>
          <p:cNvPr id="3" name="Title"/>
          <p:cNvSpPr/>
          <p:nvPr>
            <p:ph idx="104" type="title" hasCustomPrompt="1"/>
          </p:nvPr>
        </p:nvSpPr>
        <p:spPr>
          <a:xfrm>
            <a:off x="508041" y="2158990"/>
            <a:ext cx="9525030" cy="254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spc="-120" kern="0" dirty="0">
                <a:solidFill>
                  <a:srgbClr val="FFFFFF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Components: copy them, don’t redraw them. A recommendation should look like a recommendation on every slide.</a:t>
            </a:r>
            <a:endParaRPr lang="en-US" sz="4800" dirty="0"/>
          </a:p>
        </p:txBody>
      </p:sp>
      <p:sp>
        <p:nvSpPr>
          <p:cNvPr id="4" name="Section"/>
          <p:cNvSpPr/>
          <p:nvPr>
            <p:ph idx="100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FE0FB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COMPONENTS · PILLS, STATUS, DELTAS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Pills are fixed-height and monospaced, so they never need resizing by hand</a:t>
            </a:r>
            <a:endParaRPr lang="en-US" sz="2800" dirty="0"/>
          </a:p>
        </p:txBody>
      </p:sp>
      <p:sp>
        <p:nvSpPr>
          <p:cNvPr id="5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Status always pairs colour with a shape. Deltas pair colour with a direction glyph.</a:t>
            </a:r>
            <a:endParaRPr lang="en-US" sz="1400" dirty="0"/>
          </a:p>
        </p:txBody>
      </p:sp>
      <p:sp>
        <p:nvSpPr>
          <p:cNvPr id="6" name="Source"/>
          <p:cNvSpPr/>
          <p:nvPr>
            <p:ph idx="106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Pill: 28px high, 12px side padding, full radius, Mono 7.5pt caps. Keep labels ≤ 18 characters.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508041" y="2476470"/>
            <a:ext cx="1777959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CATEGORY / CHANNEL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13010" y="2438430"/>
            <a:ext cx="768370" cy="177759"/>
          </a:xfrm>
          <a:prstGeom prst="roundRect">
            <a:avLst>
              <a:gd name="adj" fmla="val 257202"/>
            </a:avLst>
          </a:prstGeom>
          <a:solidFill>
            <a:srgbClr val="D7EE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413010" y="2438430"/>
            <a:ext cx="7683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9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SPONSORED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257550" y="2438430"/>
            <a:ext cx="634959" cy="177759"/>
          </a:xfrm>
          <a:prstGeom prst="roundRect">
            <a:avLst>
              <a:gd name="adj" fmla="val 257202"/>
            </a:avLst>
          </a:prstGeom>
          <a:solidFill>
            <a:srgbClr val="D7EE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257550" y="2438430"/>
            <a:ext cx="634959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9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DISPLAY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968770" y="2438430"/>
            <a:ext cx="634959" cy="177759"/>
          </a:xfrm>
          <a:prstGeom prst="roundRect">
            <a:avLst>
              <a:gd name="adj" fmla="val 257202"/>
            </a:avLst>
          </a:prstGeom>
          <a:solidFill>
            <a:srgbClr val="D7EEF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968770" y="2438430"/>
            <a:ext cx="634959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9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OFFSITE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679991" y="2438430"/>
            <a:ext cx="908091" cy="177759"/>
          </a:xfrm>
          <a:prstGeom prst="roundRect">
            <a:avLst>
              <a:gd name="adj" fmla="val 257202"/>
            </a:avLst>
          </a:prstGeom>
          <a:solidFill>
            <a:srgbClr val="D7EEF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79991" y="2438430"/>
            <a:ext cx="908091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9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MARKETPLACE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508041" y="2933670"/>
            <a:ext cx="1777959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PRIORITY / PHASE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413010" y="2895630"/>
            <a:ext cx="292059" cy="177759"/>
          </a:xfrm>
          <a:prstGeom prst="roundRect">
            <a:avLst>
              <a:gd name="adj" fmla="val 257202"/>
            </a:avLst>
          </a:prstGeom>
          <a:solidFill>
            <a:srgbClr val="0053E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413010" y="2895630"/>
            <a:ext cx="292059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90" kern="0" dirty="0">
                <a:solidFill>
                  <a:srgbClr val="FFFFFF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P1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81330" y="2895630"/>
            <a:ext cx="292059" cy="177759"/>
          </a:xfrm>
          <a:prstGeom prst="roundRect">
            <a:avLst>
              <a:gd name="adj" fmla="val 257202"/>
            </a:avLst>
          </a:prstGeom>
          <a:ln w="9525">
            <a:solidFill>
              <a:srgbClr val="0053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81330" y="2895630"/>
            <a:ext cx="292059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9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P2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149559" y="2895630"/>
            <a:ext cx="292059" cy="177759"/>
          </a:xfrm>
          <a:prstGeom prst="roundRect">
            <a:avLst>
              <a:gd name="adj" fmla="val 257202"/>
            </a:avLst>
          </a:prstGeom>
          <a:solidFill>
            <a:srgbClr val="E9EEF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149559" y="2895630"/>
            <a:ext cx="292059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90" kern="0" dirty="0">
                <a:solidFill>
                  <a:srgbClr val="001E60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P3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517880" y="2895630"/>
            <a:ext cx="768370" cy="177759"/>
          </a:xfrm>
          <a:prstGeom prst="roundRect">
            <a:avLst>
              <a:gd name="adj" fmla="val 257202"/>
            </a:avLst>
          </a:prstGeom>
          <a:solidFill>
            <a:srgbClr val="E9EEF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517880" y="2895630"/>
            <a:ext cx="7683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90" kern="0" dirty="0">
                <a:solidFill>
                  <a:srgbClr val="001E60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DISCOVERY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362420" y="2895630"/>
            <a:ext cx="425470" cy="177759"/>
          </a:xfrm>
          <a:prstGeom prst="roundRect">
            <a:avLst>
              <a:gd name="adj" fmla="val 257202"/>
            </a:avLst>
          </a:prstGeom>
          <a:solidFill>
            <a:srgbClr val="E8F0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362420" y="2895630"/>
            <a:ext cx="42547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9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BETA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864059" y="2895630"/>
            <a:ext cx="292059" cy="177759"/>
          </a:xfrm>
          <a:prstGeom prst="roundRect">
            <a:avLst>
              <a:gd name="adj" fmla="val 257202"/>
            </a:avLst>
          </a:prstGeom>
          <a:solidFill>
            <a:srgbClr val="0053E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864059" y="2895630"/>
            <a:ext cx="292059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90" kern="0" dirty="0">
                <a:solidFill>
                  <a:srgbClr val="FFFFFF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GA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508041" y="3390870"/>
            <a:ext cx="1777959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SENTIMENT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413010" y="3352830"/>
            <a:ext cx="698510" cy="177759"/>
          </a:xfrm>
          <a:prstGeom prst="roundRect">
            <a:avLst>
              <a:gd name="adj" fmla="val 257202"/>
            </a:avLst>
          </a:prstGeom>
          <a:solidFill>
            <a:srgbClr val="E7F4E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413010" y="3352830"/>
            <a:ext cx="69851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90" kern="0" dirty="0">
                <a:solidFill>
                  <a:srgbClr val="128A08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POSITIVE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187690" y="3352830"/>
            <a:ext cx="634959" cy="177759"/>
          </a:xfrm>
          <a:prstGeom prst="roundRect">
            <a:avLst>
              <a:gd name="adj" fmla="val 257202"/>
            </a:avLst>
          </a:prstGeom>
          <a:solidFill>
            <a:srgbClr val="E9EEF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187690" y="3352830"/>
            <a:ext cx="634959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90" kern="0" dirty="0">
                <a:solidFill>
                  <a:srgbClr val="001E60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NEUTRAL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898910" y="3352830"/>
            <a:ext cx="698510" cy="177759"/>
          </a:xfrm>
          <a:prstGeom prst="roundRect">
            <a:avLst>
              <a:gd name="adj" fmla="val 257202"/>
            </a:avLst>
          </a:prstGeom>
          <a:solidFill>
            <a:srgbClr val="FDEAE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898910" y="3352830"/>
            <a:ext cx="69851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90" kern="0" dirty="0">
                <a:solidFill>
                  <a:srgbClr val="DE1C24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NEGATIVE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673590" y="3352830"/>
            <a:ext cx="495330" cy="177759"/>
          </a:xfrm>
          <a:prstGeom prst="roundRect">
            <a:avLst>
              <a:gd name="adj" fmla="val 257202"/>
            </a:avLst>
          </a:prstGeom>
          <a:solidFill>
            <a:srgbClr val="FCEFD9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673590" y="3352830"/>
            <a:ext cx="49533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90" kern="0" dirty="0">
                <a:solidFill>
                  <a:srgbClr val="B25E00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WATCH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508041" y="3848070"/>
            <a:ext cx="1777959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OWNER / META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413010" y="3810030"/>
            <a:ext cx="634959" cy="177759"/>
          </a:xfrm>
          <a:prstGeom prst="roundRect">
            <a:avLst>
              <a:gd name="adj" fmla="val 257202"/>
            </a:avLst>
          </a:prstGeom>
          <a:ln w="9525">
            <a:solidFill>
              <a:srgbClr val="0053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413010" y="3810030"/>
            <a:ext cx="634959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9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PRODUCT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124230" y="3810030"/>
            <a:ext cx="565191" cy="177759"/>
          </a:xfrm>
          <a:prstGeom prst="roundRect">
            <a:avLst>
              <a:gd name="adj" fmla="val 257202"/>
            </a:avLst>
          </a:prstGeom>
          <a:ln w="9525">
            <a:solidFill>
              <a:srgbClr val="0053E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124230" y="3810030"/>
            <a:ext cx="565191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9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DESIGN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765591" y="3810030"/>
            <a:ext cx="908091" cy="177759"/>
          </a:xfrm>
          <a:prstGeom prst="roundRect">
            <a:avLst>
              <a:gd name="adj" fmla="val 257202"/>
            </a:avLst>
          </a:prstGeom>
          <a:ln w="9525">
            <a:solidFill>
              <a:srgbClr val="0053E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765591" y="3810030"/>
            <a:ext cx="908091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9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ENGINEERING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749759" y="3810030"/>
            <a:ext cx="495330" cy="177759"/>
          </a:xfrm>
          <a:prstGeom prst="roundRect">
            <a:avLst>
              <a:gd name="adj" fmla="val 257202"/>
            </a:avLst>
          </a:prstGeom>
          <a:ln w="9525">
            <a:solidFill>
              <a:srgbClr val="0053E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749759" y="3810030"/>
            <a:ext cx="49533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9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SALES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7145853" y="2476470"/>
            <a:ext cx="254002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STATUS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145853" y="2711470"/>
            <a:ext cx="101590" cy="101590"/>
          </a:xfrm>
          <a:prstGeom prst="ellipse">
            <a:avLst/>
          </a:prstGeom>
          <a:solidFill>
            <a:srgbClr val="128A08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7310994" y="2692359"/>
            <a:ext cx="139702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On track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145853" y="2965491"/>
            <a:ext cx="101590" cy="101590"/>
          </a:xfrm>
          <a:prstGeom prst="triangle">
            <a:avLst/>
          </a:prstGeom>
          <a:solidFill>
            <a:srgbClr val="B25E00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7310994" y="2946380"/>
            <a:ext cx="139702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At risk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145853" y="3219420"/>
            <a:ext cx="101590" cy="101590"/>
          </a:xfrm>
          <a:prstGeom prst="rect">
            <a:avLst/>
          </a:prstGeom>
          <a:solidFill>
            <a:srgbClr val="DE1C24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7310994" y="3200400"/>
            <a:ext cx="139702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Off track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145853" y="3473440"/>
            <a:ext cx="101590" cy="101590"/>
          </a:xfrm>
          <a:prstGeom prst="ellipse">
            <a:avLst/>
          </a:prstGeom>
          <a:solidFill>
            <a:srgbClr val="0053E2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7145853" y="3473440"/>
            <a:ext cx="101590" cy="101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✓</a:t>
            </a:r>
            <a:endParaRPr lang="en-US" sz="700" dirty="0"/>
          </a:p>
        </p:txBody>
      </p:sp>
      <p:sp>
        <p:nvSpPr>
          <p:cNvPr id="56" name="Text 54"/>
          <p:cNvSpPr txBox="1"/>
          <p:nvPr/>
        </p:nvSpPr>
        <p:spPr>
          <a:xfrm>
            <a:off x="7310994" y="3454420"/>
            <a:ext cx="139702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Complete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145853" y="3727460"/>
            <a:ext cx="101590" cy="101590"/>
          </a:xfrm>
          <a:prstGeom prst="ellipse">
            <a:avLst/>
          </a:prstGeom>
          <a:ln w="19050">
            <a:solidFill>
              <a:srgbClr val="5E636E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310994" y="3708441"/>
            <a:ext cx="139702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Not started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9990643" y="2476470"/>
            <a:ext cx="190497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DELTAS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9990643" y="2692359"/>
            <a:ext cx="698510" cy="177759"/>
          </a:xfrm>
          <a:prstGeom prst="roundRect">
            <a:avLst>
              <a:gd name="adj" fmla="val 257202"/>
            </a:avLst>
          </a:prstGeom>
          <a:solidFill>
            <a:srgbClr val="E7F4E4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9990643" y="2692359"/>
            <a:ext cx="69851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90" kern="0" dirty="0">
                <a:solidFill>
                  <a:srgbClr val="128A08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▲ 12 PTS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9990643" y="2971800"/>
            <a:ext cx="634959" cy="177759"/>
          </a:xfrm>
          <a:prstGeom prst="roundRect">
            <a:avLst>
              <a:gd name="adj" fmla="val 257202"/>
            </a:avLst>
          </a:prstGeom>
          <a:solidFill>
            <a:srgbClr val="FDEAEA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9990643" y="2971800"/>
            <a:ext cx="634959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90" kern="0" dirty="0">
                <a:solidFill>
                  <a:srgbClr val="DE1C24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▼ 3 PTS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9990643" y="3251241"/>
            <a:ext cx="634959" cy="177759"/>
          </a:xfrm>
          <a:prstGeom prst="roundRect">
            <a:avLst>
              <a:gd name="adj" fmla="val 257202"/>
            </a:avLst>
          </a:prstGeom>
          <a:solidFill>
            <a:srgbClr val="E9EEF3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9990643" y="3251241"/>
            <a:ext cx="634959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90" kern="0" dirty="0">
                <a:solidFill>
                  <a:srgbClr val="001E60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■ 0 PTS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COMPONENTS · CARDS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One card anatomy, four treatments, each with a meaning</a:t>
            </a:r>
            <a:endParaRPr lang="en-US" sz="2800" dirty="0"/>
          </a:p>
        </p:txBody>
      </p:sp>
      <p:sp>
        <p:nvSpPr>
          <p:cNvPr id="5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Eyebrow → title → optional metric → body → optional footer. Padding is 24px everywhere; equal rows are equal height.</a:t>
            </a:r>
            <a:endParaRPr lang="en-US" sz="1400" dirty="0"/>
          </a:p>
        </p:txBody>
      </p:sp>
      <p:sp>
        <p:nvSpPr>
          <p:cNvPr id="6" name="Source"/>
          <p:cNvSpPr/>
          <p:nvPr>
            <p:ph idx="106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Rule = default peer module (deck-native). Surface = grouped content. Emphasis = the one pick among peers — never the last step of a sequence. Dark = a decision.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8041" y="2438430"/>
            <a:ext cx="2641610" cy="0"/>
          </a:xfrm>
          <a:prstGeom prst="line">
            <a:avLst/>
          </a:prstGeom>
          <a:noFill/>
          <a:ln w="19050">
            <a:solidFill>
              <a:srgbClr val="005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8041" y="2540020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RULE CARD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508041" y="2730490"/>
            <a:ext cx="264161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Default peer module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08041" y="2997220"/>
            <a:ext cx="2641610" cy="134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Top rule, no fill. Use for pillars, themes and any row of equals.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52830" y="2438430"/>
            <a:ext cx="2641610" cy="1904970"/>
          </a:xfrm>
          <a:prstGeom prst="roundRect">
            <a:avLst>
              <a:gd name="adj" fmla="val 1920"/>
            </a:avLst>
          </a:prstGeom>
          <a:solidFill>
            <a:srgbClr val="E9EEF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05170" y="2590770"/>
            <a:ext cx="2336841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SURFACE CARD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3505170" y="2781330"/>
            <a:ext cx="2336841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Grouped content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05170" y="3047970"/>
            <a:ext cx="2336841" cy="990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Quiet #E9EEF3 surface. Use for findings, risks, snapshots.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05170" y="4000500"/>
            <a:ext cx="2336841" cy="0"/>
          </a:xfrm>
          <a:prstGeom prst="line">
            <a:avLst/>
          </a:prstGeom>
          <a:noFill/>
          <a:ln w="9525">
            <a:solidFill>
              <a:srgbClr val="C3C6C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05170" y="4051341"/>
            <a:ext cx="2336841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Owner · Date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97620" y="2438430"/>
            <a:ext cx="2641610" cy="1904970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19050">
            <a:solidFill>
              <a:srgbClr val="4DBD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49959" y="2590770"/>
            <a:ext cx="2336841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EMPHASIS CARD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6349959" y="2781330"/>
            <a:ext cx="2336841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The recommended option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349959" y="3047970"/>
            <a:ext cx="233684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Everyday Blue border. One per row, only with a reason on the slide.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42410" y="2438430"/>
            <a:ext cx="2641610" cy="1904970"/>
          </a:xfrm>
          <a:prstGeom prst="roundRect">
            <a:avLst>
              <a:gd name="adj" fmla="val 1920"/>
            </a:avLst>
          </a:prstGeom>
          <a:solidFill>
            <a:srgbClr val="001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94841" y="2590770"/>
            <a:ext cx="2336841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4DBDF5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DECISION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9194841" y="2781330"/>
            <a:ext cx="2336841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Approve two engineers for two quarters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194841" y="3263859"/>
            <a:ext cx="2336841" cy="77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FE0FB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Navy is reserved for the decision the room must make.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94841" y="4000500"/>
            <a:ext cx="2336841" cy="0"/>
          </a:xfrm>
          <a:prstGeom prst="line">
            <a:avLst/>
          </a:prstGeom>
          <a:noFill/>
          <a:ln w="9525">
            <a:solidFill>
              <a:srgbClr val="4A5E8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94841" y="4051341"/>
            <a:ext cx="2336841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FE0FB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Needed by: end of month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08041" y="4597420"/>
            <a:ext cx="1117598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Compact state: drop the body and keep eyebrow + title. Dense state: 16px padding and Body small, used only on layout 26.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COMPONENTS · SEMANTIC CARDS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Semantic cards: the same job always wears the same card</a:t>
            </a:r>
            <a:endParaRPr lang="en-US" sz="2800" dirty="0"/>
          </a:p>
        </p:txBody>
      </p:sp>
      <p:sp>
        <p:nvSpPr>
          <p:cNvPr id="5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Metric, insight, recommendation, risk, initiative, evidence, pain point and quote.</a:t>
            </a:r>
            <a:endParaRPr lang="en-US" sz="1400" dirty="0"/>
          </a:p>
        </p:txBody>
      </p:sp>
      <p:sp>
        <p:nvSpPr>
          <p:cNvPr id="6" name="Source"/>
          <p:cNvSpPr/>
          <p:nvPr>
            <p:ph idx="106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Illustrative example content and data for layout demonstration. Replace with real content and cite the source.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8041" y="2438430"/>
            <a:ext cx="2641610" cy="0"/>
          </a:xfrm>
          <a:prstGeom prst="line">
            <a:avLst/>
          </a:prstGeom>
          <a:noFill/>
          <a:ln w="19050">
            <a:solidFill>
              <a:srgbClr val="005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8041" y="2540020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METRIC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508041" y="2730490"/>
            <a:ext cx="2641610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spc="-120" kern="0" dirty="0">
                <a:solidFill>
                  <a:srgbClr val="0053E2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58%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508041" y="3136941"/>
            <a:ext cx="264161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Setup completion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08041" y="3403580"/>
            <a:ext cx="2641610" cy="660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Trailing two quarters.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52830" y="2438430"/>
            <a:ext cx="2641610" cy="1625620"/>
          </a:xfrm>
          <a:prstGeom prst="roundRect">
            <a:avLst>
              <a:gd name="adj" fmla="val 2637"/>
            </a:avLst>
          </a:prstGeom>
          <a:solidFill>
            <a:srgbClr val="E9EEF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05170" y="2590770"/>
            <a:ext cx="2336841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INSIGHT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3505170" y="2781330"/>
            <a:ext cx="2336841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Abandonment clusters at decision steps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505170" y="3263859"/>
            <a:ext cx="2336841" cy="64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Targeting and budget, not creative upload.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97620" y="2438430"/>
            <a:ext cx="2641610" cy="1625620"/>
          </a:xfrm>
          <a:prstGeom prst="roundRect">
            <a:avLst>
              <a:gd name="adj" fmla="val 2637"/>
            </a:avLst>
          </a:prstGeom>
          <a:solidFill>
            <a:srgbClr val="E9EEF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49959" y="2590770"/>
            <a:ext cx="2336841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RECOMMENDATION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349959" y="2781330"/>
            <a:ext cx="908091" cy="177759"/>
          </a:xfrm>
          <a:prstGeom prst="roundRect">
            <a:avLst>
              <a:gd name="adj" fmla="val 257202"/>
            </a:avLst>
          </a:prstGeom>
          <a:solidFill>
            <a:srgbClr val="0053E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49959" y="2781330"/>
            <a:ext cx="908091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90" kern="0" dirty="0">
                <a:solidFill>
                  <a:srgbClr val="FFFFFF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RECOMMENDED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6349959" y="3035259"/>
            <a:ext cx="2336841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Lead setup with the goal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349959" y="3301990"/>
            <a:ext cx="2336841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Defer what can be defaulted.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42410" y="2438430"/>
            <a:ext cx="2641610" cy="1625620"/>
          </a:xfrm>
          <a:prstGeom prst="roundRect">
            <a:avLst>
              <a:gd name="adj" fmla="val 2637"/>
            </a:avLst>
          </a:prstGeom>
          <a:solidFill>
            <a:srgbClr val="E9EEF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94841" y="2590770"/>
            <a:ext cx="2336841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RISK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194841" y="2781330"/>
            <a:ext cx="1181130" cy="177759"/>
          </a:xfrm>
          <a:prstGeom prst="roundRect">
            <a:avLst>
              <a:gd name="adj" fmla="val 257202"/>
            </a:avLst>
          </a:prstGeom>
          <a:solidFill>
            <a:srgbClr val="FDEAE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94841" y="2781330"/>
            <a:ext cx="118113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90" kern="0" dirty="0">
                <a:solidFill>
                  <a:srgbClr val="DE1C24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HIGH · OWNER PM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9194841" y="3035259"/>
            <a:ext cx="2336841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Audience API not ready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194841" y="3301990"/>
            <a:ext cx="2336841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Ship with today’s picker.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8041" y="4216390"/>
            <a:ext cx="2641610" cy="1625620"/>
          </a:xfrm>
          <a:prstGeom prst="roundRect">
            <a:avLst>
              <a:gd name="adj" fmla="val 2637"/>
            </a:avLst>
          </a:prstGeom>
          <a:solidFill>
            <a:srgbClr val="E9EEF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0380" y="4368820"/>
            <a:ext cx="2336841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INITIATIVE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60380" y="4559290"/>
            <a:ext cx="355610" cy="177759"/>
          </a:xfrm>
          <a:prstGeom prst="roundRect">
            <a:avLst>
              <a:gd name="adj" fmla="val 257202"/>
            </a:avLst>
          </a:prstGeom>
          <a:solidFill>
            <a:srgbClr val="0053E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60380" y="4559290"/>
            <a:ext cx="35561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90" kern="0" dirty="0">
                <a:solidFill>
                  <a:srgbClr val="FFFFFF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NOW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660380" y="4813310"/>
            <a:ext cx="2336841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Goal-first setup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60380" y="5080041"/>
            <a:ext cx="2336841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Moves: completion.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52830" y="4216390"/>
            <a:ext cx="2641610" cy="1625620"/>
          </a:xfrm>
          <a:prstGeom prst="roundRect">
            <a:avLst>
              <a:gd name="adj" fmla="val 2637"/>
            </a:avLst>
          </a:prstGeom>
          <a:solidFill>
            <a:srgbClr val="E9EEF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505170" y="4368820"/>
            <a:ext cx="2336841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EVIDENCE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505170" y="4559290"/>
            <a:ext cx="977859" cy="177759"/>
          </a:xfrm>
          <a:prstGeom prst="roundRect">
            <a:avLst>
              <a:gd name="adj" fmla="val 257202"/>
            </a:avLst>
          </a:prstGeom>
          <a:solidFill>
            <a:srgbClr val="E7F4E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3505170" y="4559290"/>
            <a:ext cx="977859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90" kern="0" dirty="0">
                <a:solidFill>
                  <a:srgbClr val="128A08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TRIANGULATED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3505170" y="4813310"/>
            <a:ext cx="2336841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3 of 5 sources agree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3505170" y="5080041"/>
            <a:ext cx="2336841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UXR, Pendo, support tickets.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97620" y="4216390"/>
            <a:ext cx="2641610" cy="1625620"/>
          </a:xfrm>
          <a:prstGeom prst="roundRect">
            <a:avLst>
              <a:gd name="adj" fmla="val 2637"/>
            </a:avLst>
          </a:prstGeom>
          <a:solidFill>
            <a:srgbClr val="E9EEF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349959" y="4368820"/>
            <a:ext cx="2336841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PAIN POINT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349959" y="4559290"/>
            <a:ext cx="634959" cy="177759"/>
          </a:xfrm>
          <a:prstGeom prst="roundRect">
            <a:avLst>
              <a:gd name="adj" fmla="val 257202"/>
            </a:avLst>
          </a:prstGeom>
          <a:solidFill>
            <a:srgbClr val="D7EEF9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349959" y="4559290"/>
            <a:ext cx="634959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9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UNCLEAR</a:t>
            </a:r>
            <a:endParaRPr lang="en-US" sz="750" dirty="0"/>
          </a:p>
        </p:txBody>
      </p:sp>
      <p:sp>
        <p:nvSpPr>
          <p:cNvPr id="44" name="Text 42"/>
          <p:cNvSpPr txBox="1"/>
          <p:nvPr/>
        </p:nvSpPr>
        <p:spPr>
          <a:xfrm>
            <a:off x="6349959" y="4813310"/>
            <a:ext cx="2336841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Numbers don’t match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6349959" y="5080041"/>
            <a:ext cx="2336841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Same metric, two reports.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042410" y="4216390"/>
            <a:ext cx="2641610" cy="1625620"/>
          </a:xfrm>
          <a:prstGeom prst="roundRect">
            <a:avLst>
              <a:gd name="adj" fmla="val 2637"/>
            </a:avLst>
          </a:prstGeom>
          <a:solidFill>
            <a:srgbClr val="E9EEF3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194841" y="4368820"/>
            <a:ext cx="2336841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QUOTE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9194841" y="4559290"/>
            <a:ext cx="2336841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“Tell me what a good budget looks like.”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9194841" y="5041910"/>
            <a:ext cx="2336841" cy="64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Self-serve · returning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COMPONENTS · MARKERS, CONNECTORS, CALLOUTS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Annotation parts share one marker, one leader line and one spacing</a:t>
            </a:r>
            <a:endParaRPr lang="en-US" sz="2800" dirty="0"/>
          </a:p>
        </p:txBody>
      </p:sp>
      <p:sp>
        <p:nvSpPr>
          <p:cNvPr id="5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Numbers mark the order of reading. Connectors are 1pt True Blue with a small arrowhead. Callouts never cover the product UI.</a:t>
            </a:r>
            <a:endParaRPr lang="en-US" sz="1400" dirty="0"/>
          </a:p>
        </p:txBody>
      </p:sp>
      <p:sp>
        <p:nvSpPr>
          <p:cNvPr id="6" name="Source"/>
          <p:cNvSpPr/>
          <p:nvPr>
            <p:ph idx="106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Source block: 8pt, bottom of the slide, name · date range · sample size. Legends only when a direct label will not fit.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508041" y="2438430"/>
            <a:ext cx="254002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NUMBER MARKERS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8041" y="2641610"/>
            <a:ext cx="203180" cy="203180"/>
          </a:xfrm>
          <a:prstGeom prst="ellipse">
            <a:avLst/>
          </a:prstGeom>
          <a:solidFill>
            <a:srgbClr val="0053E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8041" y="2641610"/>
            <a:ext cx="20318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2810" y="2641610"/>
            <a:ext cx="203180" cy="203180"/>
          </a:xfrm>
          <a:prstGeom prst="ellipse">
            <a:avLst/>
          </a:prstGeom>
          <a:solidFill>
            <a:srgbClr val="0053E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12810" y="2641610"/>
            <a:ext cx="20318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17580" y="2641610"/>
            <a:ext cx="203180" cy="203180"/>
          </a:xfrm>
          <a:prstGeom prst="ellipse">
            <a:avLst/>
          </a:prstGeom>
          <a:solidFill>
            <a:srgbClr val="0053E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17580" y="2641610"/>
            <a:ext cx="20318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22441" y="2641610"/>
            <a:ext cx="203180" cy="2031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3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422441" y="2641610"/>
            <a:ext cx="20318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3E2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727210" y="2641610"/>
            <a:ext cx="203180" cy="2031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727210" y="2641610"/>
            <a:ext cx="20318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3E2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08041" y="3073390"/>
            <a:ext cx="254002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CONNECTORS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8041" y="3390870"/>
            <a:ext cx="2286000" cy="0"/>
          </a:xfrm>
          <a:prstGeom prst="line">
            <a:avLst/>
          </a:prstGeom>
          <a:noFill/>
          <a:ln w="12700">
            <a:solidFill>
              <a:srgbClr val="0053E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08041" y="3644890"/>
            <a:ext cx="2286000" cy="0"/>
          </a:xfrm>
          <a:prstGeom prst="line">
            <a:avLst/>
          </a:prstGeom>
          <a:noFill/>
          <a:ln w="12700">
            <a:solidFill>
              <a:srgbClr val="C3C6CD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2920959" y="3327410"/>
            <a:ext cx="254002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Flow / causation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920959" y="3581430"/>
            <a:ext cx="254002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Reference line only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08041" y="3962370"/>
            <a:ext cx="254002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TIMELINE MARKERS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08041" y="4279941"/>
            <a:ext cx="3556010" cy="0"/>
          </a:xfrm>
          <a:prstGeom prst="line">
            <a:avLst/>
          </a:prstGeom>
          <a:noFill/>
          <a:ln w="12700">
            <a:solidFill>
              <a:srgbClr val="C3C6C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8041" y="4229100"/>
            <a:ext cx="101590" cy="101590"/>
          </a:xfrm>
          <a:prstGeom prst="ellipse">
            <a:avLst/>
          </a:prstGeom>
          <a:solidFill>
            <a:srgbClr val="0053E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81030" y="4394241"/>
            <a:ext cx="76197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Done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651041" y="4229100"/>
            <a:ext cx="101590" cy="10159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3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524030" y="4394241"/>
            <a:ext cx="76197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Next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94041" y="4229100"/>
            <a:ext cx="101590" cy="10159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3C6C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667030" y="4394241"/>
            <a:ext cx="76197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Planned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937041" y="4229100"/>
            <a:ext cx="101590" cy="101590"/>
          </a:xfrm>
          <a:prstGeom prst="ellipse">
            <a:avLst/>
          </a:prstGeom>
          <a:solidFill>
            <a:srgbClr val="001E6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810030" y="4394241"/>
            <a:ext cx="76197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Gate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197620" y="2438430"/>
            <a:ext cx="317498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CALLOUT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197620" y="2641610"/>
            <a:ext cx="3047970" cy="1904970"/>
          </a:xfrm>
          <a:prstGeom prst="rect">
            <a:avLst/>
          </a:prstGeom>
          <a:solidFill>
            <a:srgbClr val="FFFFFF"/>
          </a:solidFill>
          <a:ln w="9525">
            <a:solidFill>
              <a:srgbClr val="DEE1E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10630" y="2920959"/>
            <a:ext cx="888980" cy="0"/>
          </a:xfrm>
          <a:prstGeom prst="line">
            <a:avLst/>
          </a:prstGeom>
          <a:noFill/>
          <a:ln w="12700">
            <a:solidFill>
              <a:srgbClr val="0053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499610" y="2819370"/>
            <a:ext cx="203180" cy="203180"/>
          </a:xfrm>
          <a:prstGeom prst="ellipse">
            <a:avLst/>
          </a:prstGeom>
          <a:solidFill>
            <a:srgbClr val="0053E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499610" y="2819370"/>
            <a:ext cx="20318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1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9778959" y="2832080"/>
            <a:ext cx="175263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Leader line to the element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9778959" y="3301990"/>
            <a:ext cx="17526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The marker sits beside the UI, never on it.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559790" y="2870210"/>
            <a:ext cx="101590" cy="101590"/>
          </a:xfrm>
          <a:prstGeom prst="ellipse">
            <a:avLst/>
          </a:prstGeom>
          <a:solidFill>
            <a:srgbClr val="0053E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197620" y="4724430"/>
            <a:ext cx="317498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SECTION LABEL · SOURCE BLOCK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6197620" y="4927610"/>
            <a:ext cx="5080041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SECTION 02 · WHAT IS DRIVING IT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6197620" y="5130790"/>
            <a:ext cx="5080041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Source: Setup funnel, Pendo, trailing two quarters, n = 18,400 setup starts.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CHARTS · RANKING &amp; COMPOSITION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CHARTS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Bars rank and compare; highlight the one that carries the point</a:t>
            </a:r>
            <a:endParaRPr lang="en-US" sz="2800" dirty="0"/>
          </a:p>
        </p:txBody>
      </p:sp>
      <p:sp>
        <p:nvSpPr>
          <p:cNvPr id="5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Direct labels, no gridlines, no legend for one series, one colour unless a series is the point.</a:t>
            </a:r>
            <a:endParaRPr lang="en-US" sz="1400" dirty="0"/>
          </a:p>
        </p:txBody>
      </p:sp>
      <p:sp>
        <p:nvSpPr>
          <p:cNvPr id="6" name="Source"/>
          <p:cNvSpPr/>
          <p:nvPr>
            <p:ph idx="106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Illustrative example content and data for layout demonstration. Replace with real content and cite the source.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508041" y="2438430"/>
            <a:ext cx="548640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HORIZONTAL BAR · HIGHLIGHT ONE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508041" y="2603480"/>
            <a:ext cx="54864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Abandonment by setup step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8041" y="2844790"/>
          <a:ext cx="5486400" cy="298451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197620" y="2438430"/>
            <a:ext cx="548640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100% STACKED BAR · COMPOSITION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6197620" y="2603480"/>
            <a:ext cx="54864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Where advertisers finish setup, by segment</a:t>
            </a:r>
            <a:endParaRPr lang="en-US" sz="14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6197620" y="2844790"/>
          <a:ext cx="5486400" cy="298451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CHARTS · CHANGE OVER TIME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CHARTS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Lines show trends; mute the context series and label the one that matters</a:t>
            </a:r>
            <a:endParaRPr lang="en-US" sz="2800" dirty="0"/>
          </a:p>
        </p:txBody>
      </p:sp>
      <p:sp>
        <p:nvSpPr>
          <p:cNvPr id="5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Consistent baselines when charts are compared. Annotate the event, not the axis.</a:t>
            </a:r>
            <a:endParaRPr lang="en-US" sz="1400" dirty="0"/>
          </a:p>
        </p:txBody>
      </p:sp>
      <p:sp>
        <p:nvSpPr>
          <p:cNvPr id="6" name="Source"/>
          <p:cNvSpPr/>
          <p:nvPr>
            <p:ph idx="106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Illustrative example content and data for layout demonstration. Replace with real content and cite the source.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508041" y="2438430"/>
            <a:ext cx="548640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MULTI-LINE · HIGHLIGHT ONE SERIES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508041" y="2603480"/>
            <a:ext cx="54864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Completion by segment, monthly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8041" y="2844790"/>
          <a:ext cx="5486400" cy="298451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197620" y="2438430"/>
            <a:ext cx="548640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WATERFALL · CONTRIBUTION TO CHANGE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6197620" y="2603480"/>
            <a:ext cx="54864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What moved completion from 50% to 58%</a:t>
            </a:r>
            <a:endParaRPr lang="en-US" sz="14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6197620" y="2844790"/>
          <a:ext cx="5486400" cy="298451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6197620" y="5867430"/>
            <a:ext cx="548640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+5 reorder · +2 defaults · +1 guidance. The base series takes the page colour; label the deltas directly.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CHARTS · FUNNELS, PROGRESS, PATTERNS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CHARTS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Funnels, progress bars and heatmaps cover the rest of the everyday charts</a:t>
            </a:r>
            <a:endParaRPr lang="en-US" sz="2800" dirty="0"/>
          </a:p>
        </p:txBody>
      </p:sp>
      <p:sp>
        <p:nvSpPr>
          <p:cNvPr id="5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Funnel = sorted bars. Progress = a track and a target. Heatmap = a table with a single-hue ramp.</a:t>
            </a:r>
            <a:endParaRPr lang="en-US" sz="1400" dirty="0"/>
          </a:p>
        </p:txBody>
      </p:sp>
      <p:sp>
        <p:nvSpPr>
          <p:cNvPr id="6" name="Source"/>
          <p:cNvSpPr/>
          <p:nvPr>
            <p:ph idx="106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Illustrative example content and data for layout demonstration. Replace with real content and cite the source.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508041" y="2438430"/>
            <a:ext cx="35560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FUNNEL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8041" y="2667030"/>
            <a:ext cx="3301990" cy="279441"/>
          </a:xfrm>
          <a:prstGeom prst="rect">
            <a:avLst/>
          </a:prstGeom>
          <a:solidFill>
            <a:srgbClr val="A9DD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09630" y="2736891"/>
            <a:ext cx="1651041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Setup started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886200" y="2736891"/>
            <a:ext cx="508041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100%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8041" y="3060680"/>
            <a:ext cx="3004810" cy="279441"/>
          </a:xfrm>
          <a:prstGeom prst="rect">
            <a:avLst/>
          </a:prstGeom>
          <a:solidFill>
            <a:srgbClr val="A9DD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09630" y="3130540"/>
            <a:ext cx="1651041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Objective set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589020" y="3130540"/>
            <a:ext cx="508041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91%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8041" y="3454420"/>
            <a:ext cx="2311420" cy="279441"/>
          </a:xfrm>
          <a:prstGeom prst="rect">
            <a:avLst/>
          </a:prstGeom>
          <a:solidFill>
            <a:srgbClr val="0053E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09630" y="3524280"/>
            <a:ext cx="1651041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Audience set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895630" y="3524280"/>
            <a:ext cx="508041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70%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8041" y="3848070"/>
            <a:ext cx="1915119" cy="279441"/>
          </a:xfrm>
          <a:prstGeom prst="rect">
            <a:avLst/>
          </a:prstGeom>
          <a:solidFill>
            <a:srgbClr val="A9DD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09630" y="3917930"/>
            <a:ext cx="1651041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Budget set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499330" y="3917930"/>
            <a:ext cx="508041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58%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8041" y="4241810"/>
            <a:ext cx="1915119" cy="279441"/>
          </a:xfrm>
          <a:prstGeom prst="rect">
            <a:avLst/>
          </a:prstGeom>
          <a:solidFill>
            <a:srgbClr val="A9DD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09630" y="4311670"/>
            <a:ext cx="1651041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Launched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499330" y="4311670"/>
            <a:ext cx="508041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58%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249296" y="2438430"/>
            <a:ext cx="254002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PROGRESS / BULLET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5249296" y="2692359"/>
            <a:ext cx="2794041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Completion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249296" y="2895630"/>
            <a:ext cx="2794041" cy="101590"/>
          </a:xfrm>
          <a:prstGeom prst="roundRect">
            <a:avLst>
              <a:gd name="adj" fmla="val 450044"/>
            </a:avLst>
          </a:prstGeom>
          <a:solidFill>
            <a:srgbClr val="E9EEF3"/>
          </a:solidFill>
          <a:ln/>
        </p:spPr>
      </p:sp>
      <p:sp>
        <p:nvSpPr>
          <p:cNvPr id="26" name="Shape 24"/>
          <p:cNvSpPr/>
          <p:nvPr/>
        </p:nvSpPr>
        <p:spPr>
          <a:xfrm>
            <a:off x="5249296" y="2895630"/>
            <a:ext cx="1620500" cy="101590"/>
          </a:xfrm>
          <a:prstGeom prst="roundRect">
            <a:avLst>
              <a:gd name="adj" fmla="val 450044"/>
            </a:avLst>
          </a:prstGeom>
          <a:solidFill>
            <a:srgbClr val="0053E2"/>
          </a:solidFill>
          <a:ln/>
        </p:spPr>
      </p:sp>
      <p:sp>
        <p:nvSpPr>
          <p:cNvPr id="27" name="Shape 25"/>
          <p:cNvSpPr/>
          <p:nvPr/>
        </p:nvSpPr>
        <p:spPr>
          <a:xfrm>
            <a:off x="7205106" y="2844790"/>
            <a:ext cx="0" cy="203180"/>
          </a:xfrm>
          <a:prstGeom prst="line">
            <a:avLst/>
          </a:prstGeom>
          <a:noFill/>
          <a:ln w="19050">
            <a:solidFill>
              <a:srgbClr val="001E6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249296" y="3047970"/>
            <a:ext cx="2794041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58% of plan · target 70%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5249296" y="3327410"/>
            <a:ext cx="2794041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Time to launch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249296" y="3530590"/>
            <a:ext cx="2794041" cy="101590"/>
          </a:xfrm>
          <a:prstGeom prst="roundRect">
            <a:avLst>
              <a:gd name="adj" fmla="val 450044"/>
            </a:avLst>
          </a:prstGeom>
          <a:solidFill>
            <a:srgbClr val="E9EEF3"/>
          </a:solidFill>
          <a:ln/>
        </p:spPr>
      </p:sp>
      <p:sp>
        <p:nvSpPr>
          <p:cNvPr id="31" name="Shape 29"/>
          <p:cNvSpPr/>
          <p:nvPr/>
        </p:nvSpPr>
        <p:spPr>
          <a:xfrm>
            <a:off x="5249296" y="3530590"/>
            <a:ext cx="1117580" cy="101590"/>
          </a:xfrm>
          <a:prstGeom prst="roundRect">
            <a:avLst>
              <a:gd name="adj" fmla="val 450044"/>
            </a:avLst>
          </a:prstGeom>
          <a:solidFill>
            <a:srgbClr val="0053E2"/>
          </a:solidFill>
          <a:ln/>
        </p:spPr>
      </p:sp>
      <p:sp>
        <p:nvSpPr>
          <p:cNvPr id="32" name="Shape 30"/>
          <p:cNvSpPr/>
          <p:nvPr/>
        </p:nvSpPr>
        <p:spPr>
          <a:xfrm>
            <a:off x="6925757" y="3479841"/>
            <a:ext cx="0" cy="203180"/>
          </a:xfrm>
          <a:prstGeom prst="line">
            <a:avLst/>
          </a:prstGeom>
          <a:noFill/>
          <a:ln w="19050">
            <a:solidFill>
              <a:srgbClr val="001E6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249296" y="3683020"/>
            <a:ext cx="2794041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40% of plan · target 60%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5249296" y="3962370"/>
            <a:ext cx="2794041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Reuse rate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249296" y="4165641"/>
            <a:ext cx="2794041" cy="101590"/>
          </a:xfrm>
          <a:prstGeom prst="roundRect">
            <a:avLst>
              <a:gd name="adj" fmla="val 450044"/>
            </a:avLst>
          </a:prstGeom>
          <a:solidFill>
            <a:srgbClr val="E9EEF3"/>
          </a:solidFill>
          <a:ln/>
        </p:spPr>
      </p:sp>
      <p:sp>
        <p:nvSpPr>
          <p:cNvPr id="36" name="Shape 34"/>
          <p:cNvSpPr/>
          <p:nvPr/>
        </p:nvSpPr>
        <p:spPr>
          <a:xfrm>
            <a:off x="5249296" y="4165641"/>
            <a:ext cx="614660" cy="101590"/>
          </a:xfrm>
          <a:prstGeom prst="roundRect">
            <a:avLst>
              <a:gd name="adj" fmla="val 450044"/>
            </a:avLst>
          </a:prstGeom>
          <a:solidFill>
            <a:srgbClr val="0053E2"/>
          </a:solidFill>
          <a:ln/>
        </p:spPr>
      </p:sp>
      <p:sp>
        <p:nvSpPr>
          <p:cNvPr id="37" name="Shape 35"/>
          <p:cNvSpPr/>
          <p:nvPr/>
        </p:nvSpPr>
        <p:spPr>
          <a:xfrm>
            <a:off x="6366967" y="4114800"/>
            <a:ext cx="0" cy="203180"/>
          </a:xfrm>
          <a:prstGeom prst="line">
            <a:avLst/>
          </a:prstGeom>
          <a:noFill/>
          <a:ln w="19050">
            <a:solidFill>
              <a:srgbClr val="001E6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249296" y="4317980"/>
            <a:ext cx="2794041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22% of plan · target 40%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9042410" y="2438430"/>
            <a:ext cx="254002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HEATMAP · COHORT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9613910" y="2641610"/>
            <a:ext cx="55879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M0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10172700" y="2641610"/>
            <a:ext cx="55879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M1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10731490" y="2641610"/>
            <a:ext cx="55879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M2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11290280" y="2641610"/>
            <a:ext cx="55879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M3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9042410" y="2895630"/>
            <a:ext cx="57150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Q1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9613910" y="2819370"/>
            <a:ext cx="533370" cy="419070"/>
          </a:xfrm>
          <a:prstGeom prst="rect">
            <a:avLst/>
          </a:prstGeom>
          <a:solidFill>
            <a:srgbClr val="001E60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9613910" y="2946380"/>
            <a:ext cx="53337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100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0172700" y="2819370"/>
            <a:ext cx="533370" cy="419070"/>
          </a:xfrm>
          <a:prstGeom prst="rect">
            <a:avLst/>
          </a:prstGeom>
          <a:solidFill>
            <a:srgbClr val="0053E2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10172700" y="2946380"/>
            <a:ext cx="53337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72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0731490" y="2819370"/>
            <a:ext cx="533370" cy="419070"/>
          </a:xfrm>
          <a:prstGeom prst="rect">
            <a:avLst/>
          </a:prstGeom>
          <a:solidFill>
            <a:srgbClr val="4DBDF5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10731490" y="2946380"/>
            <a:ext cx="53337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61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11290280" y="2819370"/>
            <a:ext cx="533370" cy="419070"/>
          </a:xfrm>
          <a:prstGeom prst="rect">
            <a:avLst/>
          </a:prstGeom>
          <a:solidFill>
            <a:srgbClr val="A9DDF7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11290280" y="2946380"/>
            <a:ext cx="53337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55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9042410" y="3352830"/>
            <a:ext cx="57150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Q2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9613910" y="3276570"/>
            <a:ext cx="533370" cy="419070"/>
          </a:xfrm>
          <a:prstGeom prst="rect">
            <a:avLst/>
          </a:prstGeom>
          <a:solidFill>
            <a:srgbClr val="001E60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9613910" y="3403580"/>
            <a:ext cx="53337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100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10172700" y="3276570"/>
            <a:ext cx="533370" cy="419070"/>
          </a:xfrm>
          <a:prstGeom prst="rect">
            <a:avLst/>
          </a:prstGeom>
          <a:solidFill>
            <a:srgbClr val="0053E2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10172700" y="3403580"/>
            <a:ext cx="53337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75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10731490" y="3276570"/>
            <a:ext cx="533370" cy="419070"/>
          </a:xfrm>
          <a:prstGeom prst="rect">
            <a:avLst/>
          </a:prstGeom>
          <a:solidFill>
            <a:srgbClr val="4DBDF5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10731490" y="3403580"/>
            <a:ext cx="53337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66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11290280" y="3276570"/>
            <a:ext cx="533370" cy="419070"/>
          </a:xfrm>
          <a:prstGeom prst="rect">
            <a:avLst/>
          </a:prstGeom>
          <a:solidFill>
            <a:srgbClr val="4DBDF5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11290280" y="3403580"/>
            <a:ext cx="53337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60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9042410" y="3810030"/>
            <a:ext cx="57150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Q3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9613910" y="3733770"/>
            <a:ext cx="533370" cy="419070"/>
          </a:xfrm>
          <a:prstGeom prst="rect">
            <a:avLst/>
          </a:prstGeom>
          <a:solidFill>
            <a:srgbClr val="001E60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9613910" y="3860780"/>
            <a:ext cx="53337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100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10172700" y="3733770"/>
            <a:ext cx="533370" cy="419070"/>
          </a:xfrm>
          <a:prstGeom prst="rect">
            <a:avLst/>
          </a:prstGeom>
          <a:solidFill>
            <a:srgbClr val="0053E2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10172700" y="3860780"/>
            <a:ext cx="53337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81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10731490" y="3733770"/>
            <a:ext cx="533370" cy="419070"/>
          </a:xfrm>
          <a:prstGeom prst="rect">
            <a:avLst/>
          </a:prstGeom>
          <a:solidFill>
            <a:srgbClr val="0053E2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10731490" y="3860780"/>
            <a:ext cx="53337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72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11290280" y="3733770"/>
            <a:ext cx="533370" cy="419070"/>
          </a:xfrm>
          <a:prstGeom prst="rect">
            <a:avLst/>
          </a:prstGeom>
          <a:solidFill>
            <a:srgbClr val="4DBDF5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11290280" y="3860780"/>
            <a:ext cx="53337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68</a:t>
            </a:r>
            <a:endParaRPr lang="en-US" sz="1050" dirty="0"/>
          </a:p>
        </p:txBody>
      </p:sp>
      <p:sp>
        <p:nvSpPr>
          <p:cNvPr id="71" name="Text 69"/>
          <p:cNvSpPr txBox="1"/>
          <p:nvPr/>
        </p:nvSpPr>
        <p:spPr>
          <a:xfrm>
            <a:off x="9042410" y="4279941"/>
            <a:ext cx="2794041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Retention by launch cohort. Darker = higher. Numbers stay on the cells.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CHARTS · RULES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CHARTS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Start with the insight, then choose the chart that shows it</a:t>
            </a:r>
            <a:endParaRPr lang="en-US" sz="2800" dirty="0"/>
          </a:p>
        </p:txBody>
      </p:sp>
      <p:sp>
        <p:nvSpPr>
          <p:cNvPr id="5" name="R1 label"/>
          <p:cNvSpPr/>
          <p:nvPr>
            <p:ph idx="107" type="body" hasCustomPrompt="1"/>
          </p:nvPr>
        </p:nvSpPr>
        <p:spPr>
          <a:xfrm>
            <a:off x="508041" y="2578059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CHOOSE</a:t>
            </a:r>
            <a:endParaRPr lang="en-US" sz="800" dirty="0"/>
          </a:p>
        </p:txBody>
      </p:sp>
      <p:sp>
        <p:nvSpPr>
          <p:cNvPr id="6" name="R1 text"/>
          <p:cNvSpPr/>
          <p:nvPr>
            <p:ph idx="108" type="body" hasCustomPrompt="1"/>
          </p:nvPr>
        </p:nvSpPr>
        <p:spPr>
          <a:xfrm>
            <a:off x="3352830" y="2540020"/>
            <a:ext cx="833119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Bars rank. Lines trend. Dot plots compare precisely. Heatmaps show patterns. Waterfalls show contribution. Never 3D.</a:t>
            </a:r>
            <a:endParaRPr lang="en-US" sz="1800" dirty="0"/>
          </a:p>
        </p:txBody>
      </p:sp>
      <p:sp>
        <p:nvSpPr>
          <p:cNvPr id="7" name="R2 label"/>
          <p:cNvSpPr/>
          <p:nvPr>
            <p:ph idx="110" type="body" hasCustomPrompt="1"/>
          </p:nvPr>
        </p:nvSpPr>
        <p:spPr>
          <a:xfrm>
            <a:off x="508041" y="3454420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HIGHLIGHT</a:t>
            </a:r>
            <a:endParaRPr lang="en-US" sz="800" dirty="0"/>
          </a:p>
        </p:txBody>
      </p:sp>
      <p:sp>
        <p:nvSpPr>
          <p:cNvPr id="8" name="R2 text"/>
          <p:cNvSpPr/>
          <p:nvPr>
            <p:ph idx="111" type="body" hasCustomPrompt="1"/>
          </p:nvPr>
        </p:nvSpPr>
        <p:spPr>
          <a:xfrm>
            <a:off x="3352830" y="3416290"/>
            <a:ext cx="833119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One series, segment or delta in True Blue; everything else in #C3C6CD. Direct labels beat legends.</a:t>
            </a:r>
            <a:endParaRPr lang="en-US" sz="1800" dirty="0"/>
          </a:p>
        </p:txBody>
      </p:sp>
      <p:sp>
        <p:nvSpPr>
          <p:cNvPr id="9" name="R3 label"/>
          <p:cNvSpPr/>
          <p:nvPr>
            <p:ph idx="113" type="body" hasCustomPrompt="1"/>
          </p:nvPr>
        </p:nvSpPr>
        <p:spPr>
          <a:xfrm>
            <a:off x="508041" y="4330690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REMOVE</a:t>
            </a:r>
            <a:endParaRPr lang="en-US" sz="800" dirty="0"/>
          </a:p>
        </p:txBody>
      </p:sp>
      <p:sp>
        <p:nvSpPr>
          <p:cNvPr id="10" name="R3 text"/>
          <p:cNvSpPr/>
          <p:nvPr>
            <p:ph idx="114" type="body" hasCustomPrompt="1"/>
          </p:nvPr>
        </p:nvSpPr>
        <p:spPr>
          <a:xfrm>
            <a:off x="3352830" y="4292559"/>
            <a:ext cx="833119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Gridlines, borders, tick marks, extra decimals and default styling. Keep baselines consistent across compared charts.</a:t>
            </a:r>
            <a:endParaRPr lang="en-US" sz="1800" dirty="0"/>
          </a:p>
        </p:txBody>
      </p:sp>
      <p:sp>
        <p:nvSpPr>
          <p:cNvPr id="11" name="R4 label"/>
          <p:cNvSpPr/>
          <p:nvPr>
            <p:ph idx="116" type="body" hasCustomPrompt="1"/>
          </p:nvPr>
        </p:nvSpPr>
        <p:spPr>
          <a:xfrm>
            <a:off x="508041" y="5206959"/>
            <a:ext cx="264161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VARIANTS</a:t>
            </a:r>
            <a:endParaRPr lang="en-US" sz="800" dirty="0"/>
          </a:p>
        </p:txBody>
      </p:sp>
      <p:sp>
        <p:nvSpPr>
          <p:cNvPr id="12" name="R4 text"/>
          <p:cNvSpPr/>
          <p:nvPr>
            <p:ph idx="117" type="body" hasCustomPrompt="1"/>
          </p:nvPr>
        </p:nvSpPr>
        <p:spPr>
          <a:xfrm>
            <a:off x="3352830" y="5168920"/>
            <a:ext cx="833119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Standard · annotated insight · comparison · highlight one series · dense appendix. Every chart has a source and a so-what zone.</a:t>
            </a:r>
            <a:endParaRPr lang="en-US" sz="1800" dirty="0"/>
          </a:p>
        </p:txBody>
      </p:sp>
      <p:sp>
        <p:nvSpPr>
          <p:cNvPr id="13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endParaRPr lang="en-US" sz="1400" dirty="0"/>
          </a:p>
        </p:txBody>
      </p:sp>
      <p:sp>
        <p:nvSpPr>
          <p:cNvPr id="14" name="Source"/>
          <p:cNvSpPr/>
          <p:nvPr>
            <p:ph idx="118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TABLES · KPI &amp; RISK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TABLES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Tables are structured by type and whitespace, not by gridlines</a:t>
            </a:r>
            <a:endParaRPr lang="en-US" sz="2800" dirty="0"/>
          </a:p>
        </p:txBody>
      </p:sp>
      <p:sp>
        <p:nvSpPr>
          <p:cNvPr id="5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Narrative columns get width; numbers are right-aligned; status carries a shape.</a:t>
            </a:r>
            <a:endParaRPr lang="en-US" sz="1400" dirty="0"/>
          </a:p>
        </p:txBody>
      </p:sp>
      <p:sp>
        <p:nvSpPr>
          <p:cNvPr id="6" name="Source"/>
          <p:cNvSpPr/>
          <p:nvPr>
            <p:ph idx="106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Illustrative example content and data for layout demonstration. Replace with real content and cite the source.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508041" y="2438430"/>
            <a:ext cx="5080041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KPI TABLE</a:t>
            </a:r>
            <a:endParaRPr lang="en-US" sz="8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41" y="2616190"/>
          <a:ext cx="5486400" cy="63459"/>
        </p:xfrm>
        <a:graphic>
          <a:graphicData uri="http://schemas.openxmlformats.org/drawingml/2006/table">
            <a:tbl>
              <a:tblPr/>
              <a:tblGrid>
                <a:gridCol w="2413010"/>
                <a:gridCol w="1015990"/>
                <a:gridCol w="1015990"/>
                <a:gridCol w="1041410"/>
              </a:tblGrid>
              <a:tr h="126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METRIC</a:t>
                      </a:r>
                      <a:endParaRPr lang="en-US" sz="8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50841" marT="44440" marB="4444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3C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ACTUAL</a:t>
                      </a:r>
                      <a:endParaRPr lang="en-US" sz="8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50841" marT="44440" marB="4444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3C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TARGET</a:t>
                      </a:r>
                      <a:endParaRPr lang="en-US" sz="8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50841" marT="44440" marB="4444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3C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Δ QOQ</a:t>
                      </a:r>
                      <a:endParaRPr lang="en-US" sz="8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50841" marT="44440" marB="4444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3C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92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Setup completion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58%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70%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+4 pts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92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Median time to launch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11 min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8 min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0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92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Help views per setup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3.2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2.0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−0.6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92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Report trust score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61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75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+3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197620" y="2438430"/>
            <a:ext cx="5080041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RISK TABLE</a:t>
            </a:r>
            <a:endParaRPr lang="en-US" sz="800" dirty="0"/>
          </a:p>
        </p:txBody>
      </p:sp>
      <p:graphicFrame>
        <p:nvGraphicFramePr>
          <p:cNvPr id="1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7620" y="2616190"/>
          <a:ext cx="5486400" cy="63459"/>
        </p:xfrm>
        <a:graphic>
          <a:graphicData uri="http://schemas.openxmlformats.org/drawingml/2006/table">
            <a:tbl>
              <a:tblPr/>
              <a:tblGrid>
                <a:gridCol w="1904970"/>
                <a:gridCol w="952530"/>
                <a:gridCol w="825520"/>
                <a:gridCol w="1803380"/>
              </a:tblGrid>
              <a:tr h="158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RISK</a:t>
                      </a:r>
                      <a:endParaRPr lang="en-US" sz="8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50841" marT="44440" marB="4444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3C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LIKELIHOOD</a:t>
                      </a:r>
                      <a:endParaRPr lang="en-US" sz="8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50841" marT="44440" marB="4444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3C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IMPACT</a:t>
                      </a:r>
                      <a:endParaRPr lang="en-US" sz="8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50841" marT="44440" marB="4444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3C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MITIGATION</a:t>
                      </a:r>
                      <a:endParaRPr lang="en-US" sz="8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50841" marT="44440" marB="4444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3C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65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Audience API slips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Medium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High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Ship with current picker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65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Power users resist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High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Medium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Keep expert mode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65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No performance lift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Medium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High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Guardrail metrics in test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50841" marT="44440" marB="44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4" type="title" hasCustomPrompt="1"/>
          </p:nvPr>
        </p:nvSpPr>
        <p:spPr>
          <a:xfrm>
            <a:off x="508041" y="558790"/>
            <a:ext cx="11175980" cy="4063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spc="-5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Dense appendix table: purpose-built for reference, still readable at 10.5pt</a:t>
            </a:r>
            <a:endParaRPr lang="en-US" sz="2200" dirty="0"/>
          </a:p>
        </p:txBody>
      </p:sp>
      <p:sp>
        <p:nvSpPr>
          <p:cNvPr id="3" name="Source"/>
          <p:cNvSpPr/>
          <p:nvPr>
            <p:ph idx="106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Illustrative example content and data for layout demonstration. Replace with real content and cite the source.</a:t>
            </a:r>
            <a:endParaRPr lang="en-US" sz="8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41" y="1168420"/>
          <a:ext cx="11175980" cy="63459"/>
        </p:xfrm>
        <a:graphic>
          <a:graphicData uri="http://schemas.openxmlformats.org/drawingml/2006/table">
            <a:tbl>
              <a:tblPr/>
              <a:tblGrid>
                <a:gridCol w="2158990"/>
                <a:gridCol w="1397020"/>
                <a:gridCol w="1143000"/>
                <a:gridCol w="1397020"/>
                <a:gridCol w="3556010"/>
                <a:gridCol w="1524030"/>
              </a:tblGrid>
              <a:tr h="63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SOURCE</a:t>
                      </a:r>
                      <a:endParaRPr lang="en-US" sz="8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38130" marT="19020" marB="190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3C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TYPE</a:t>
                      </a:r>
                      <a:endParaRPr lang="en-US" sz="8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38130" marT="19020" marB="190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3C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PERIOD</a:t>
                      </a:r>
                      <a:endParaRPr lang="en-US" sz="8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38130" marT="19020" marB="190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3C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SAMPLE</a:t>
                      </a:r>
                      <a:endParaRPr lang="en-US" sz="8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38130" marT="19020" marB="190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3C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WHAT IT CONTRIBUTES</a:t>
                      </a:r>
                      <a:endParaRPr lang="en-US" sz="8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38130" marT="19020" marB="190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3C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spc="110" kern="0" dirty="0">
                          <a:solidFill>
                            <a:srgbClr val="0053E2"/>
                          </a:solidFill>
                          <a:latin typeface="Everyday Sans Mono" pitchFamily="34" charset="0"/>
                          <a:ea typeface="Everyday Sans Mono" pitchFamily="34" charset="-122"/>
                          <a:cs typeface="Everyday Sans Mono" pitchFamily="34" charset="-120"/>
                        </a:rPr>
                        <a:t>STATUS</a:t>
                      </a:r>
                      <a:endParaRPr lang="en-US" sz="800" dirty="0">
                        <a:latin typeface="Everyday Sans Mono" charset="0"/>
                        <a:ea typeface="Everyday Sans Mono" charset="0"/>
                        <a:cs typeface="Everyday Sans Mono" charset="0"/>
                      </a:endParaRPr>
                    </a:p>
                  </a:txBody>
                  <a:tcPr marL="0" marR="38130" marT="19020" marB="190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3C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6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Setup usability study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Moderated UXR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Month 1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12 advertisers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Where and why advertisers stall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Linked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6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Setup funnel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Pendo behavior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2 quarters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18,400 starts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Step-level abandonment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Linked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6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Relationship survey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VOC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2 quarters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1,350 scored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Satisfaction and verbatims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Linked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6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Support tickets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Operational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2 quarters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2,900 tickets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Setup-related contact drivers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Needs link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6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Sales field notes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Qualitative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Month 2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14 sellers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Account-level escalations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Needs link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6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Competitive teardown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Desk research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Month 2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4 platforms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Setup step counts and defaults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Check figure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6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Expert-mode interviews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UXR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Month 3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8 managed accounts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What power users need to keep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Linked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6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Experiment design review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Analytics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Month 3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—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Power and guardrails for the test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Linked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6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1E60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Design critique notes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Internal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Month 3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3 sessions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Open questions for the beta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3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3D4A63"/>
                          </a:solidFill>
                          <a:latin typeface="Everyday Sans UI" pitchFamily="34" charset="0"/>
                          <a:ea typeface="Everyday Sans UI" pitchFamily="34" charset="-122"/>
                          <a:cs typeface="Everyday Sans UI" pitchFamily="34" charset="-120"/>
                        </a:rPr>
                        <a:t>Linked</a:t>
                      </a:r>
                      <a:endParaRPr lang="en-US" sz="1050" dirty="0">
                        <a:latin typeface="Everyday Sans UI" charset="0"/>
                        <a:ea typeface="Everyday Sans UI" charset="0"/>
                        <a:cs typeface="Everyday Sans UI" charset="0"/>
                      </a:endParaRPr>
                    </a:p>
                  </a:txBody>
                  <a:tcPr marL="0" marR="38130" marT="19020" marB="190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6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7" name="Body"/>
          <p:cNvSpPr/>
          <p:nvPr>
            <p:ph idx="105" type="body" hasCustomPrompt="1"/>
          </p:nvPr>
        </p:nvSpPr>
        <p:spPr>
          <a:xfrm>
            <a:off x="508041" y="1168420"/>
            <a:ext cx="11175980" cy="482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DIAGRAMS · FLOW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DIAGRAMS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Flow primitives: progression, loop, funnel, layers, many → one, signal → outcome</a:t>
            </a:r>
            <a:endParaRPr lang="en-US" sz="2800" dirty="0"/>
          </a:p>
        </p:txBody>
      </p:sp>
      <p:sp>
        <p:nvSpPr>
          <p:cNvPr id="5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Every primitive inherits the same type, connector and colour rules. Recolour through the ramp, never ad hoc.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8041" y="2438430"/>
            <a:ext cx="3522177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LINEAR PROGRESSION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8041" y="2882920"/>
            <a:ext cx="3522177" cy="0"/>
          </a:xfrm>
          <a:prstGeom prst="line">
            <a:avLst/>
          </a:prstGeom>
          <a:noFill/>
          <a:ln w="12700">
            <a:solidFill>
              <a:srgbClr val="0053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8041" y="2832080"/>
            <a:ext cx="101590" cy="101590"/>
          </a:xfrm>
          <a:prstGeom prst="ellipse">
            <a:avLst/>
          </a:prstGeom>
          <a:solidFill>
            <a:srgbClr val="F5F6F8"/>
          </a:solidFill>
          <a:ln w="19050">
            <a:solidFill>
              <a:srgbClr val="0053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8041" y="3035259"/>
            <a:ext cx="829727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Plan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88516" y="2832080"/>
            <a:ext cx="101590" cy="101590"/>
          </a:xfrm>
          <a:prstGeom prst="ellipse">
            <a:avLst/>
          </a:prstGeom>
          <a:solidFill>
            <a:srgbClr val="F5F6F8"/>
          </a:solidFill>
          <a:ln w="19050">
            <a:solidFill>
              <a:srgbClr val="0053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88516" y="3035259"/>
            <a:ext cx="829727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Build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69084" y="2832080"/>
            <a:ext cx="101590" cy="101590"/>
          </a:xfrm>
          <a:prstGeom prst="ellipse">
            <a:avLst/>
          </a:prstGeom>
          <a:solidFill>
            <a:srgbClr val="F5F6F8"/>
          </a:solidFill>
          <a:ln w="19050">
            <a:solidFill>
              <a:srgbClr val="0053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69084" y="3035259"/>
            <a:ext cx="829727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Launch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149559" y="2832080"/>
            <a:ext cx="101590" cy="101590"/>
          </a:xfrm>
          <a:prstGeom prst="ellipse">
            <a:avLst/>
          </a:prstGeom>
          <a:solidFill>
            <a:srgbClr val="F5F6F8"/>
          </a:solidFill>
          <a:ln w="19050">
            <a:solidFill>
              <a:srgbClr val="0053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49559" y="3035259"/>
            <a:ext cx="829727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Learn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334896" y="2438430"/>
            <a:ext cx="3522177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CIRCULAR LOOP / FLYWHEEL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524530" y="2819370"/>
            <a:ext cx="1143000" cy="1143000"/>
          </a:xfrm>
          <a:prstGeom prst="ellipse">
            <a:avLst/>
          </a:prstGeom>
          <a:ln w="12700">
            <a:solidFill>
              <a:srgbClr val="0053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45190" y="2768620"/>
            <a:ext cx="101590" cy="101590"/>
          </a:xfrm>
          <a:prstGeom prst="ellipse">
            <a:avLst/>
          </a:prstGeom>
          <a:solidFill>
            <a:srgbClr val="0053E2"/>
          </a:solidFill>
          <a:ln w="19050">
            <a:solidFill>
              <a:srgbClr val="0053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97620" y="2755910"/>
            <a:ext cx="76197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Listen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8709" y="3163458"/>
            <a:ext cx="101590" cy="101590"/>
          </a:xfrm>
          <a:prstGeom prst="ellipse">
            <a:avLst/>
          </a:prstGeom>
          <a:solidFill>
            <a:srgbClr val="F5F6F8"/>
          </a:solidFill>
          <a:ln w="19050">
            <a:solidFill>
              <a:srgbClr val="0053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41140" y="3150840"/>
            <a:ext cx="76197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Diagnose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81140" y="3802441"/>
            <a:ext cx="101590" cy="101590"/>
          </a:xfrm>
          <a:prstGeom prst="ellipse">
            <a:avLst/>
          </a:prstGeom>
          <a:solidFill>
            <a:srgbClr val="F5F6F8"/>
          </a:solidFill>
          <a:ln w="19050">
            <a:solidFill>
              <a:srgbClr val="0053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3479" y="3789731"/>
            <a:ext cx="76197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Simplify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709239" y="3802441"/>
            <a:ext cx="101590" cy="101590"/>
          </a:xfrm>
          <a:prstGeom prst="ellipse">
            <a:avLst/>
          </a:prstGeom>
          <a:solidFill>
            <a:srgbClr val="F5F6F8"/>
          </a:solidFill>
          <a:ln w="19050">
            <a:solidFill>
              <a:srgbClr val="0053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96521" y="3789731"/>
            <a:ext cx="76197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Measure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501670" y="3163458"/>
            <a:ext cx="101590" cy="101590"/>
          </a:xfrm>
          <a:prstGeom prst="ellipse">
            <a:avLst/>
          </a:prstGeom>
          <a:solidFill>
            <a:srgbClr val="F5F6F8"/>
          </a:solidFill>
          <a:ln w="19050">
            <a:solidFill>
              <a:srgbClr val="0053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88860" y="3150840"/>
            <a:ext cx="76197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Learn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161843" y="2438430"/>
            <a:ext cx="3522177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FUNNEL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161843" y="2692359"/>
            <a:ext cx="2817724" cy="279441"/>
          </a:xfrm>
          <a:prstGeom prst="rect">
            <a:avLst/>
          </a:prstGeom>
          <a:solidFill>
            <a:srgbClr val="001E6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1081156" y="2768620"/>
            <a:ext cx="76197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Reach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443661" y="3022641"/>
            <a:ext cx="2254179" cy="279441"/>
          </a:xfrm>
          <a:prstGeom prst="rect">
            <a:avLst/>
          </a:prstGeom>
          <a:solidFill>
            <a:srgbClr val="0053E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1081156" y="3098810"/>
            <a:ext cx="76197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Consider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725388" y="3352830"/>
            <a:ext cx="1690634" cy="279441"/>
          </a:xfrm>
          <a:prstGeom prst="rect">
            <a:avLst/>
          </a:prstGeom>
          <a:solidFill>
            <a:srgbClr val="4DBDF5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1081156" y="3429000"/>
            <a:ext cx="76197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Start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979042" y="3683020"/>
            <a:ext cx="1183416" cy="279441"/>
          </a:xfrm>
          <a:prstGeom prst="rect">
            <a:avLst/>
          </a:prstGeom>
          <a:solidFill>
            <a:srgbClr val="A9DD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1081156" y="3759190"/>
            <a:ext cx="76197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Launch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08041" y="4279941"/>
            <a:ext cx="3522177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NESTED LAYERS / STACK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08041" y="4533870"/>
            <a:ext cx="3522177" cy="381030"/>
          </a:xfrm>
          <a:prstGeom prst="roundRect">
            <a:avLst>
              <a:gd name="adj" fmla="val 47996"/>
            </a:avLst>
          </a:prstGeom>
          <a:solidFill>
            <a:srgbClr val="E9EEF3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60380" y="4648170"/>
            <a:ext cx="3217316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Experiences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08041" y="4978359"/>
            <a:ext cx="3522177" cy="381030"/>
          </a:xfrm>
          <a:prstGeom prst="roundRect">
            <a:avLst>
              <a:gd name="adj" fmla="val 47996"/>
            </a:avLst>
          </a:prstGeom>
          <a:solidFill>
            <a:srgbClr val="CFE0F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60380" y="5092659"/>
            <a:ext cx="3217316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Shared capabilities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08041" y="5422941"/>
            <a:ext cx="3522177" cy="381030"/>
          </a:xfrm>
          <a:prstGeom prst="roundRect">
            <a:avLst>
              <a:gd name="adj" fmla="val 47996"/>
            </a:avLst>
          </a:prstGeom>
          <a:solidFill>
            <a:srgbClr val="001E60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60380" y="5537241"/>
            <a:ext cx="3217316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Platform foundation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4334896" y="4279941"/>
            <a:ext cx="3522177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MANY → ONE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4334896" y="4559290"/>
            <a:ext cx="101599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Sponsored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14437" y="4635459"/>
            <a:ext cx="1270010" cy="469910"/>
          </a:xfrm>
          <a:prstGeom prst="line">
            <a:avLst/>
          </a:prstGeom>
          <a:noFill/>
          <a:ln w="12700">
            <a:solidFill>
              <a:srgbClr val="C3C6CD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334896" y="4876770"/>
            <a:ext cx="101599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Display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414437" y="4953030"/>
            <a:ext cx="1270010" cy="152430"/>
          </a:xfrm>
          <a:prstGeom prst="line">
            <a:avLst/>
          </a:prstGeom>
          <a:noFill/>
          <a:ln w="12700">
            <a:solidFill>
              <a:srgbClr val="C3C6CD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334896" y="5194341"/>
            <a:ext cx="101599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Offsite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 flipV="1">
            <a:off x="5414437" y="5105370"/>
            <a:ext cx="1270010" cy="165141"/>
          </a:xfrm>
          <a:prstGeom prst="line">
            <a:avLst/>
          </a:prstGeom>
          <a:noFill/>
          <a:ln w="12700">
            <a:solidFill>
              <a:srgbClr val="C3C6C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334896" y="5511820"/>
            <a:ext cx="101599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Seller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 flipV="1">
            <a:off x="5414437" y="5105370"/>
            <a:ext cx="1270010" cy="482620"/>
          </a:xfrm>
          <a:prstGeom prst="line">
            <a:avLst/>
          </a:prstGeom>
          <a:noFill/>
          <a:ln w="12700">
            <a:solidFill>
              <a:srgbClr val="C3C6C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684447" y="4914900"/>
            <a:ext cx="1172627" cy="381030"/>
          </a:xfrm>
          <a:prstGeom prst="roundRect">
            <a:avLst>
              <a:gd name="adj" fmla="val 47996"/>
            </a:avLst>
          </a:prstGeom>
          <a:solidFill>
            <a:srgbClr val="0053E2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684447" y="5029200"/>
            <a:ext cx="1172627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One job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8161843" y="4279941"/>
            <a:ext cx="3522177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SIGNAL → DIAGNOSIS → ACTION → OUTCOME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8161843" y="4787890"/>
            <a:ext cx="747156" cy="508041"/>
          </a:xfrm>
          <a:prstGeom prst="roundRect">
            <a:avLst>
              <a:gd name="adj" fmla="val 26998"/>
            </a:avLst>
          </a:prstGeom>
          <a:solidFill>
            <a:srgbClr val="E9EEF3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161843" y="4965741"/>
            <a:ext cx="747156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Signal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8909091" y="4940320"/>
            <a:ext cx="177759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053E2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→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9086850" y="4787890"/>
            <a:ext cx="747156" cy="508041"/>
          </a:xfrm>
          <a:prstGeom prst="roundRect">
            <a:avLst>
              <a:gd name="adj" fmla="val 26998"/>
            </a:avLst>
          </a:prstGeom>
          <a:solidFill>
            <a:srgbClr val="E9EEF3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9086850" y="4965741"/>
            <a:ext cx="747156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Diagnosis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9834006" y="4940320"/>
            <a:ext cx="177759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053E2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→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10011857" y="4787890"/>
            <a:ext cx="747156" cy="508041"/>
          </a:xfrm>
          <a:prstGeom prst="roundRect">
            <a:avLst>
              <a:gd name="adj" fmla="val 26998"/>
            </a:avLst>
          </a:prstGeom>
          <a:solidFill>
            <a:srgbClr val="E9EEF3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10011857" y="4965741"/>
            <a:ext cx="747156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Action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10759013" y="4940320"/>
            <a:ext cx="177759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053E2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→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10936773" y="4787890"/>
            <a:ext cx="747156" cy="508041"/>
          </a:xfrm>
          <a:prstGeom prst="roundRect">
            <a:avLst>
              <a:gd name="adj" fmla="val 26998"/>
            </a:avLst>
          </a:prstGeom>
          <a:solidFill>
            <a:srgbClr val="0053E2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10936773" y="4965741"/>
            <a:ext cx="747156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Outcome</a:t>
            </a:r>
            <a:endParaRPr lang="en-US" sz="1100" dirty="0"/>
          </a:p>
        </p:txBody>
      </p:sp>
      <p:sp>
        <p:nvSpPr>
          <p:cNvPr id="67" name="Source"/>
          <p:cNvSpPr/>
          <p:nvPr>
            <p:ph idx="106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DIAGRAMS · STRUCTURE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DIAGRAMS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Structure primitives: 2 × 2, hub and spoke, hierarchy, pyramid, value chain, before → future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08041" y="2438430"/>
            <a:ext cx="3522177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2 × 2 MATRIX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61970" y="2667030"/>
            <a:ext cx="1570573" cy="609630"/>
          </a:xfrm>
          <a:prstGeom prst="rect">
            <a:avLst/>
          </a:prstGeom>
          <a:solidFill>
            <a:srgbClr val="0053E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3559" y="2755910"/>
            <a:ext cx="1367394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Quick wins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83384" y="2667030"/>
            <a:ext cx="1570573" cy="609630"/>
          </a:xfrm>
          <a:prstGeom prst="rect">
            <a:avLst/>
          </a:prstGeom>
          <a:solidFill>
            <a:srgbClr val="CFE0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484973" y="2755910"/>
            <a:ext cx="1367394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Big bets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1970" y="3327410"/>
            <a:ext cx="1570573" cy="609630"/>
          </a:xfrm>
          <a:prstGeom prst="rect">
            <a:avLst/>
          </a:prstGeom>
          <a:solidFill>
            <a:srgbClr val="E9EEF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3559" y="3416290"/>
            <a:ext cx="1367394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Deprioritize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83384" y="3327410"/>
            <a:ext cx="1570573" cy="609630"/>
          </a:xfrm>
          <a:prstGeom prst="rect">
            <a:avLst/>
          </a:prstGeom>
          <a:solidFill>
            <a:srgbClr val="E9EEF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484973" y="3416290"/>
            <a:ext cx="1367394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Maybe later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08041" y="4025920"/>
            <a:ext cx="3522177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EFFORT →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4334896" y="2438430"/>
            <a:ext cx="3522177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HUB AND SPOKE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096030" y="3365541"/>
            <a:ext cx="952530" cy="0"/>
          </a:xfrm>
          <a:prstGeom prst="line">
            <a:avLst/>
          </a:prstGeom>
          <a:noFill/>
          <a:ln w="12700">
            <a:solidFill>
              <a:srgbClr val="C3C6C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34170" y="3251241"/>
            <a:ext cx="228600" cy="228600"/>
          </a:xfrm>
          <a:prstGeom prst="ellipse">
            <a:avLst/>
          </a:prstGeom>
          <a:solidFill>
            <a:srgbClr val="E9EEF3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6030" y="3365541"/>
            <a:ext cx="476220" cy="494965"/>
          </a:xfrm>
          <a:prstGeom prst="line">
            <a:avLst/>
          </a:prstGeom>
          <a:noFill/>
          <a:ln w="12700">
            <a:solidFill>
              <a:srgbClr val="C3C6C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57950" y="3746114"/>
            <a:ext cx="228600" cy="228600"/>
          </a:xfrm>
          <a:prstGeom prst="ellipse">
            <a:avLst/>
          </a:prstGeom>
          <a:solidFill>
            <a:srgbClr val="E9EEF3"/>
          </a:solidFill>
          <a:ln/>
        </p:spPr>
      </p:sp>
      <p:sp>
        <p:nvSpPr>
          <p:cNvPr id="20" name="Shape 18"/>
          <p:cNvSpPr/>
          <p:nvPr/>
        </p:nvSpPr>
        <p:spPr>
          <a:xfrm flipV="1">
            <a:off x="5619720" y="3365541"/>
            <a:ext cx="476220" cy="494965"/>
          </a:xfrm>
          <a:prstGeom prst="line">
            <a:avLst/>
          </a:prstGeom>
          <a:noFill/>
          <a:ln w="12700">
            <a:solidFill>
              <a:srgbClr val="C3C6C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05420" y="3746114"/>
            <a:ext cx="228600" cy="228600"/>
          </a:xfrm>
          <a:prstGeom prst="ellipse">
            <a:avLst/>
          </a:prstGeom>
          <a:solidFill>
            <a:srgbClr val="E9EEF3"/>
          </a:solidFill>
          <a:ln/>
        </p:spPr>
      </p:sp>
      <p:sp>
        <p:nvSpPr>
          <p:cNvPr id="22" name="Shape 20"/>
          <p:cNvSpPr/>
          <p:nvPr/>
        </p:nvSpPr>
        <p:spPr>
          <a:xfrm>
            <a:off x="5143500" y="3365541"/>
            <a:ext cx="952530" cy="0"/>
          </a:xfrm>
          <a:prstGeom prst="line">
            <a:avLst/>
          </a:prstGeom>
          <a:noFill/>
          <a:ln w="12700">
            <a:solidFill>
              <a:srgbClr val="C3C6C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0" y="3251241"/>
            <a:ext cx="228600" cy="228600"/>
          </a:xfrm>
          <a:prstGeom prst="ellipse">
            <a:avLst/>
          </a:prstGeom>
          <a:solidFill>
            <a:srgbClr val="E9EEF3"/>
          </a:solidFill>
          <a:ln/>
        </p:spPr>
      </p:sp>
      <p:sp>
        <p:nvSpPr>
          <p:cNvPr id="24" name="Shape 22"/>
          <p:cNvSpPr/>
          <p:nvPr/>
        </p:nvSpPr>
        <p:spPr>
          <a:xfrm>
            <a:off x="5619720" y="2870576"/>
            <a:ext cx="476220" cy="494965"/>
          </a:xfrm>
          <a:prstGeom prst="line">
            <a:avLst/>
          </a:prstGeom>
          <a:noFill/>
          <a:ln w="12700">
            <a:solidFill>
              <a:srgbClr val="C3C6C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05420" y="2756276"/>
            <a:ext cx="228600" cy="228600"/>
          </a:xfrm>
          <a:prstGeom prst="ellipse">
            <a:avLst/>
          </a:prstGeom>
          <a:solidFill>
            <a:srgbClr val="E9EEF3"/>
          </a:solidFill>
          <a:ln/>
        </p:spPr>
      </p:sp>
      <p:sp>
        <p:nvSpPr>
          <p:cNvPr id="26" name="Shape 24"/>
          <p:cNvSpPr/>
          <p:nvPr/>
        </p:nvSpPr>
        <p:spPr>
          <a:xfrm flipV="1">
            <a:off x="6096030" y="2870576"/>
            <a:ext cx="476220" cy="494965"/>
          </a:xfrm>
          <a:prstGeom prst="line">
            <a:avLst/>
          </a:prstGeom>
          <a:noFill/>
          <a:ln w="12700">
            <a:solidFill>
              <a:srgbClr val="C3C6C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57950" y="2756276"/>
            <a:ext cx="228600" cy="228600"/>
          </a:xfrm>
          <a:prstGeom prst="ellipse">
            <a:avLst/>
          </a:prstGeom>
          <a:solidFill>
            <a:srgbClr val="E9EEF3"/>
          </a:solidFill>
          <a:ln/>
        </p:spPr>
      </p:sp>
      <p:sp>
        <p:nvSpPr>
          <p:cNvPr id="28" name="Shape 26"/>
          <p:cNvSpPr/>
          <p:nvPr/>
        </p:nvSpPr>
        <p:spPr>
          <a:xfrm>
            <a:off x="5816590" y="3086100"/>
            <a:ext cx="558790" cy="558790"/>
          </a:xfrm>
          <a:prstGeom prst="ellipse">
            <a:avLst/>
          </a:prstGeom>
          <a:solidFill>
            <a:srgbClr val="0053E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816590" y="3289280"/>
            <a:ext cx="55879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Core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161843" y="2438430"/>
            <a:ext cx="3522177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HIERARCHY / TREE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9351477" y="2692359"/>
            <a:ext cx="1143000" cy="304770"/>
          </a:xfrm>
          <a:prstGeom prst="roundRect">
            <a:avLst>
              <a:gd name="adj" fmla="val 50005"/>
            </a:avLst>
          </a:prstGeom>
          <a:solidFill>
            <a:srgbClr val="001E6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351477" y="2781330"/>
            <a:ext cx="114300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North star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748888" y="3187690"/>
            <a:ext cx="2348088" cy="0"/>
          </a:xfrm>
          <a:prstGeom prst="line">
            <a:avLst/>
          </a:prstGeom>
          <a:noFill/>
          <a:ln w="12700">
            <a:solidFill>
              <a:srgbClr val="C3C6C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922977" y="2997220"/>
            <a:ext cx="0" cy="190470"/>
          </a:xfrm>
          <a:prstGeom prst="line">
            <a:avLst/>
          </a:prstGeom>
          <a:noFill/>
          <a:ln w="12700">
            <a:solidFill>
              <a:srgbClr val="C3C6C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48888" y="3187690"/>
            <a:ext cx="0" cy="152430"/>
          </a:xfrm>
          <a:prstGeom prst="line">
            <a:avLst/>
          </a:prstGeom>
          <a:noFill/>
          <a:ln w="12700">
            <a:solidFill>
              <a:srgbClr val="C3C6C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12684" y="3340120"/>
            <a:ext cx="1072408" cy="304770"/>
          </a:xfrm>
          <a:prstGeom prst="roundRect">
            <a:avLst>
              <a:gd name="adj" fmla="val 50005"/>
            </a:avLst>
          </a:prstGeom>
          <a:solidFill>
            <a:srgbClr val="E9EEF3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212684" y="3429000"/>
            <a:ext cx="1072408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Pillar 1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922977" y="3187690"/>
            <a:ext cx="0" cy="152430"/>
          </a:xfrm>
          <a:prstGeom prst="line">
            <a:avLst/>
          </a:prstGeom>
          <a:noFill/>
          <a:ln w="12700">
            <a:solidFill>
              <a:srgbClr val="C3C6C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386682" y="3340120"/>
            <a:ext cx="1072408" cy="304770"/>
          </a:xfrm>
          <a:prstGeom prst="roundRect">
            <a:avLst>
              <a:gd name="adj" fmla="val 50005"/>
            </a:avLst>
          </a:prstGeom>
          <a:solidFill>
            <a:srgbClr val="E9EEF3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386682" y="3429000"/>
            <a:ext cx="1072408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Pillar 2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1096976" y="3187690"/>
            <a:ext cx="0" cy="152430"/>
          </a:xfrm>
          <a:prstGeom prst="line">
            <a:avLst/>
          </a:prstGeom>
          <a:noFill/>
          <a:ln w="12700">
            <a:solidFill>
              <a:srgbClr val="C3C6C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60771" y="3340120"/>
            <a:ext cx="1072408" cy="304770"/>
          </a:xfrm>
          <a:prstGeom prst="roundRect">
            <a:avLst>
              <a:gd name="adj" fmla="val 50005"/>
            </a:avLst>
          </a:prstGeom>
          <a:solidFill>
            <a:srgbClr val="E9EEF3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0560771" y="3429000"/>
            <a:ext cx="1072408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Pillar 3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508041" y="4279941"/>
            <a:ext cx="3522177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PYRAMID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652687" y="4533870"/>
            <a:ext cx="1232703" cy="292059"/>
          </a:xfrm>
          <a:prstGeom prst="rect">
            <a:avLst/>
          </a:prstGeom>
          <a:solidFill>
            <a:srgbClr val="001E60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652687" y="4610130"/>
            <a:ext cx="1232703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Vision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300460" y="4864059"/>
            <a:ext cx="1937156" cy="292059"/>
          </a:xfrm>
          <a:prstGeom prst="rect">
            <a:avLst/>
          </a:prstGeom>
          <a:solidFill>
            <a:srgbClr val="0053E2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1300460" y="4940320"/>
            <a:ext cx="1937156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Strategy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48233" y="5194341"/>
            <a:ext cx="2641610" cy="292059"/>
          </a:xfrm>
          <a:prstGeom prst="rect">
            <a:avLst/>
          </a:prstGeom>
          <a:solidFill>
            <a:srgbClr val="4DBDF5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48233" y="5270510"/>
            <a:ext cx="264161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Initiatives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96097" y="5524530"/>
            <a:ext cx="3346064" cy="292059"/>
          </a:xfrm>
          <a:prstGeom prst="rect">
            <a:avLst/>
          </a:prstGeom>
          <a:solidFill>
            <a:srgbClr val="A9DDF7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596097" y="5600700"/>
            <a:ext cx="3346064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Delivery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4334896" y="4279941"/>
            <a:ext cx="3522177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VALUE CHAIN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334896" y="4851441"/>
            <a:ext cx="696773" cy="444490"/>
          </a:xfrm>
          <a:prstGeom prst="chevron">
            <a:avLst/>
          </a:prstGeom>
          <a:solidFill>
            <a:srgbClr val="E9EEF3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4423867" y="5003780"/>
            <a:ext cx="569763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Plan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069799" y="4851441"/>
            <a:ext cx="696773" cy="444490"/>
          </a:xfrm>
          <a:prstGeom prst="chevron">
            <a:avLst/>
          </a:prstGeom>
          <a:solidFill>
            <a:srgbClr val="E9EEF3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5158770" y="5003780"/>
            <a:ext cx="569763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Buy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804703" y="4851441"/>
            <a:ext cx="696773" cy="444490"/>
          </a:xfrm>
          <a:prstGeom prst="chevron">
            <a:avLst/>
          </a:prstGeom>
          <a:solidFill>
            <a:srgbClr val="E9EEF3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5893674" y="5003780"/>
            <a:ext cx="569763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Serve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539697" y="4851441"/>
            <a:ext cx="696773" cy="444490"/>
          </a:xfrm>
          <a:prstGeom prst="chevron">
            <a:avLst/>
          </a:prstGeom>
          <a:solidFill>
            <a:srgbClr val="0053E2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6628577" y="5003780"/>
            <a:ext cx="569763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Measure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7274601" y="4851441"/>
            <a:ext cx="696773" cy="444490"/>
          </a:xfrm>
          <a:prstGeom prst="chevron">
            <a:avLst/>
          </a:prstGeom>
          <a:solidFill>
            <a:srgbClr val="E9EEF3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7363480" y="5003780"/>
            <a:ext cx="569763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Optimize</a:t>
            </a:r>
            <a:endParaRPr lang="en-US" sz="1050" dirty="0"/>
          </a:p>
        </p:txBody>
      </p:sp>
      <p:sp>
        <p:nvSpPr>
          <p:cNvPr id="64" name="Text 62"/>
          <p:cNvSpPr txBox="1"/>
          <p:nvPr/>
        </p:nvSpPr>
        <p:spPr>
          <a:xfrm>
            <a:off x="8161843" y="4279941"/>
            <a:ext cx="3522177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BEFORE → TRANSITION → FUTURE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8161843" y="4660880"/>
            <a:ext cx="1089416" cy="952530"/>
          </a:xfrm>
          <a:prstGeom prst="roundRect">
            <a:avLst>
              <a:gd name="adj" fmla="val 7680"/>
            </a:avLst>
          </a:prstGeom>
          <a:solidFill>
            <a:srgbClr val="E9EEF3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8263433" y="4762470"/>
            <a:ext cx="886145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Before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378269" y="4660880"/>
            <a:ext cx="1089416" cy="952530"/>
          </a:xfrm>
          <a:prstGeom prst="roundRect">
            <a:avLst>
              <a:gd name="adj" fmla="val 7680"/>
            </a:avLst>
          </a:prstGeom>
          <a:solidFill>
            <a:srgbClr val="CFE0FF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9479859" y="4762470"/>
            <a:ext cx="886145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Transition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10594604" y="4660880"/>
            <a:ext cx="1089416" cy="952530"/>
          </a:xfrm>
          <a:prstGeom prst="roundRect">
            <a:avLst>
              <a:gd name="adj" fmla="val 7680"/>
            </a:avLst>
          </a:prstGeom>
          <a:solidFill>
            <a:srgbClr val="0053E2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10696194" y="4762470"/>
            <a:ext cx="886145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Future</a:t>
            </a:r>
            <a:endParaRPr lang="en-US" sz="1100" dirty="0"/>
          </a:p>
        </p:txBody>
      </p:sp>
      <p:sp>
        <p:nvSpPr>
          <p:cNvPr id="71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endParaRPr lang="en-US" sz="1400" dirty="0"/>
          </a:p>
        </p:txBody>
      </p:sp>
      <p:sp>
        <p:nvSpPr>
          <p:cNvPr id="72" name="Source"/>
          <p:cNvSpPr/>
          <p:nvPr>
            <p:ph idx="106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DIAGRAMS · TIME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DIAGRAMS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Time primitives: a milestone timeline and a swimlane roadmap</a:t>
            </a:r>
            <a:endParaRPr lang="en-US" sz="2800" dirty="0"/>
          </a:p>
        </p:txBody>
      </p:sp>
      <p:sp>
        <p:nvSpPr>
          <p:cNvPr id="5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Quarters, not dates, unless the dates are committed. Confidence is shown, not implied.</a:t>
            </a:r>
            <a:endParaRPr lang="en-US" sz="1400" dirty="0"/>
          </a:p>
        </p:txBody>
      </p:sp>
      <p:sp>
        <p:nvSpPr>
          <p:cNvPr id="6" name="Source"/>
          <p:cNvSpPr/>
          <p:nvPr>
            <p:ph idx="106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Illustrative example content and data for layout demonstration. Replace with real content and cite the source.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508041" y="2438430"/>
            <a:ext cx="5080041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MILESTONE TIMELINE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8041" y="2819370"/>
            <a:ext cx="11175980" cy="0"/>
          </a:xfrm>
          <a:prstGeom prst="line">
            <a:avLst/>
          </a:prstGeom>
          <a:noFill/>
          <a:ln w="12700">
            <a:solidFill>
              <a:srgbClr val="C3C6C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8041" y="2768620"/>
            <a:ext cx="101590" cy="101590"/>
          </a:xfrm>
          <a:prstGeom prst="ellipse">
            <a:avLst/>
          </a:prstGeom>
          <a:solidFill>
            <a:srgbClr val="0053E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8041" y="2946380"/>
            <a:ext cx="228600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Q1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08041" y="3098810"/>
            <a:ext cx="228600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Research readout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94041" y="2768620"/>
            <a:ext cx="101590" cy="101590"/>
          </a:xfrm>
          <a:prstGeom prst="ellipse">
            <a:avLst/>
          </a:prstGeom>
          <a:solidFill>
            <a:srgbClr val="0053E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794041" y="2946380"/>
            <a:ext cx="228600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Q2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2794041" y="3098810"/>
            <a:ext cx="228600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Beta to new advertisers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80041" y="2768620"/>
            <a:ext cx="101590" cy="101590"/>
          </a:xfrm>
          <a:prstGeom prst="ellipse">
            <a:avLst/>
          </a:prstGeom>
          <a:solidFill>
            <a:srgbClr val="F5F6F8"/>
          </a:solidFill>
          <a:ln w="19050">
            <a:solidFill>
              <a:srgbClr val="0053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80041" y="2946380"/>
            <a:ext cx="228600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Q3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5080041" y="3098810"/>
            <a:ext cx="228600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Expert mode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66041" y="2768620"/>
            <a:ext cx="101590" cy="101590"/>
          </a:xfrm>
          <a:prstGeom prst="ellipse">
            <a:avLst/>
          </a:prstGeom>
          <a:solidFill>
            <a:srgbClr val="001E6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66041" y="2946380"/>
            <a:ext cx="228600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Q4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7366041" y="3098810"/>
            <a:ext cx="228600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GA decision gate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52041" y="2768620"/>
            <a:ext cx="101590" cy="101590"/>
          </a:xfrm>
          <a:prstGeom prst="ellipse">
            <a:avLst/>
          </a:prstGeom>
          <a:solidFill>
            <a:srgbClr val="F5F6F8"/>
          </a:solidFill>
          <a:ln w="19050">
            <a:solidFill>
              <a:srgbClr val="C3C6C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52041" y="2946380"/>
            <a:ext cx="228600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Q1 +1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9652041" y="3098810"/>
            <a:ext cx="228600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Suggestions pilot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08041" y="3517880"/>
            <a:ext cx="5080041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SWIMLANE ROADMAP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1777959" y="3708441"/>
            <a:ext cx="247647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Q1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4254520" y="3708441"/>
            <a:ext cx="247647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Q2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6730990" y="3708441"/>
            <a:ext cx="247647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Q3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9207459" y="3708441"/>
            <a:ext cx="247647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Q4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08041" y="4267230"/>
            <a:ext cx="11175980" cy="0"/>
          </a:xfrm>
          <a:prstGeom prst="line">
            <a:avLst/>
          </a:prstGeom>
          <a:noFill/>
          <a:ln w="9525">
            <a:solidFill>
              <a:srgbClr val="DEE1E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08041" y="4013210"/>
            <a:ext cx="1206459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Setup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777959" y="3962370"/>
            <a:ext cx="4902190" cy="254020"/>
          </a:xfrm>
          <a:prstGeom prst="roundRect">
            <a:avLst>
              <a:gd name="adj" fmla="val 71994"/>
            </a:avLst>
          </a:prstGeom>
          <a:solidFill>
            <a:srgbClr val="CFE0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879641" y="3962370"/>
            <a:ext cx="469901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Goal-first setup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730990" y="3962370"/>
            <a:ext cx="3663909" cy="254020"/>
          </a:xfrm>
          <a:prstGeom prst="roundRect">
            <a:avLst>
              <a:gd name="adj" fmla="val 71994"/>
            </a:avLst>
          </a:prstGeom>
          <a:solidFill>
            <a:srgbClr val="0053E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832580" y="3962370"/>
            <a:ext cx="346073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Expert mode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8041" y="4673590"/>
            <a:ext cx="11175980" cy="0"/>
          </a:xfrm>
          <a:prstGeom prst="line">
            <a:avLst/>
          </a:prstGeom>
          <a:noFill/>
          <a:ln w="9525">
            <a:solidFill>
              <a:srgbClr val="DEE1E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08041" y="4419570"/>
            <a:ext cx="1206459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Audiences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54520" y="4368820"/>
            <a:ext cx="6140470" cy="254020"/>
          </a:xfrm>
          <a:prstGeom prst="roundRect">
            <a:avLst>
              <a:gd name="adj" fmla="val 71994"/>
            </a:avLst>
          </a:prstGeom>
          <a:solidFill>
            <a:srgbClr val="0053E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356110" y="4368820"/>
            <a:ext cx="5937291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Shared audience library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8041" y="5080041"/>
            <a:ext cx="11175980" cy="0"/>
          </a:xfrm>
          <a:prstGeom prst="line">
            <a:avLst/>
          </a:prstGeom>
          <a:noFill/>
          <a:ln w="9525">
            <a:solidFill>
              <a:srgbClr val="DEE1E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08041" y="4826020"/>
            <a:ext cx="1206459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1E60"/>
                </a:solidFill>
                <a:latin typeface="Everyday Sans UI Medium" pitchFamily="34" charset="0"/>
                <a:ea typeface="Everyday Sans UI Medium" pitchFamily="34" charset="-122"/>
                <a:cs typeface="Everyday Sans UI Medium" pitchFamily="34" charset="-120"/>
              </a:rPr>
              <a:t>Measurement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016240" y="4775180"/>
            <a:ext cx="3663909" cy="254020"/>
          </a:xfrm>
          <a:prstGeom prst="roundRect">
            <a:avLst>
              <a:gd name="adj" fmla="val 71994"/>
            </a:avLst>
          </a:prstGeom>
          <a:solidFill>
            <a:srgbClr val="CFE0F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3117830" y="4775180"/>
            <a:ext cx="346073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Instrumentation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969270" y="4775180"/>
            <a:ext cx="3663909" cy="254020"/>
          </a:xfrm>
          <a:prstGeom prst="roundRect">
            <a:avLst>
              <a:gd name="adj" fmla="val 71994"/>
            </a:avLst>
          </a:prstGeom>
          <a:solidFill>
            <a:srgbClr val="E9EEF3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070860" y="4775180"/>
            <a:ext cx="346073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1E60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Experiments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1777959" y="5181630"/>
            <a:ext cx="7619970" cy="13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E636E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Committed · Planned · Exploring — fill weight carries confidence.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508041" y="457200"/>
            <a:ext cx="698501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4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DO / DON’T</a:t>
            </a:r>
            <a:endParaRPr lang="en-US" sz="800" dirty="0"/>
          </a:p>
        </p:txBody>
      </p:sp>
      <p:sp>
        <p:nvSpPr>
          <p:cNvPr id="3" name="Section"/>
          <p:cNvSpPr/>
          <p:nvPr>
            <p:ph idx="101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cap="all" sz="800" spc="110" kern="0" dirty="0">
                <a:solidFill>
                  <a:srgbClr val="5E636E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USAGE</a:t>
            </a:r>
            <a:endParaRPr lang="en-US" sz="800" dirty="0"/>
          </a:p>
        </p:txBody>
      </p:sp>
      <p:sp>
        <p:nvSpPr>
          <p:cNvPr id="4" name="Title"/>
          <p:cNvSpPr/>
          <p:nvPr>
            <p:ph idx="104" type="title" hasCustomPrompt="1"/>
          </p:nvPr>
        </p:nvSpPr>
        <p:spPr>
          <a:xfrm>
            <a:off x="508041" y="711220"/>
            <a:ext cx="9905970" cy="9652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spc="-7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The system works when routine edits need no design work</a:t>
            </a:r>
            <a:endParaRPr lang="en-US" sz="2800" dirty="0"/>
          </a:p>
        </p:txBody>
      </p:sp>
      <p:sp>
        <p:nvSpPr>
          <p:cNvPr id="5" name="C1 label"/>
          <p:cNvSpPr/>
          <p:nvPr>
            <p:ph idx="107" type="body" hasCustomPrompt="1"/>
          </p:nvPr>
        </p:nvSpPr>
        <p:spPr>
          <a:xfrm>
            <a:off x="508041" y="2540020"/>
            <a:ext cx="548640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DO</a:t>
            </a:r>
            <a:endParaRPr lang="en-US" sz="800" dirty="0"/>
          </a:p>
        </p:txBody>
      </p:sp>
      <p:sp>
        <p:nvSpPr>
          <p:cNvPr id="6" name="C1 title"/>
          <p:cNvSpPr/>
          <p:nvPr>
            <p:ph idx="108" type="body" hasCustomPrompt="1"/>
          </p:nvPr>
        </p:nvSpPr>
        <p:spPr>
          <a:xfrm>
            <a:off x="508041" y="27177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Duplicate, replace, delete, present</a:t>
            </a:r>
            <a:endParaRPr lang="en-US" sz="1800" dirty="0"/>
          </a:p>
        </p:txBody>
      </p:sp>
      <p:sp>
        <p:nvSpPr>
          <p:cNvPr id="7" name="C1 body"/>
          <p:cNvSpPr/>
          <p:nvPr>
            <p:ph idx="109" type="body" hasCustomPrompt="1"/>
          </p:nvPr>
        </p:nvSpPr>
        <p:spPr>
          <a:xfrm>
            <a:off x="508041" y="3225820"/>
            <a:ext cx="5486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Pick the layout by job. Type into placeholders. Delete unused modules rather than moving the rest. Keep peers the same length. Cite every number in the source zone. Repeat a layout when the job repeats.</a:t>
            </a:r>
            <a:endParaRPr lang="en-US" sz="1200" dirty="0"/>
          </a:p>
        </p:txBody>
      </p:sp>
      <p:sp>
        <p:nvSpPr>
          <p:cNvPr id="8" name="C2 label"/>
          <p:cNvSpPr/>
          <p:nvPr>
            <p:ph idx="111" type="body" hasCustomPrompt="1"/>
          </p:nvPr>
        </p:nvSpPr>
        <p:spPr>
          <a:xfrm>
            <a:off x="6197620" y="2540020"/>
            <a:ext cx="5486400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0053E2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DON’T</a:t>
            </a:r>
            <a:endParaRPr lang="en-US" sz="800" dirty="0"/>
          </a:p>
        </p:txBody>
      </p:sp>
      <p:sp>
        <p:nvSpPr>
          <p:cNvPr id="9" name="C2 title"/>
          <p:cNvSpPr/>
          <p:nvPr>
            <p:ph idx="112" type="body" hasCustomPrompt="1"/>
          </p:nvPr>
        </p:nvSpPr>
        <p:spPr>
          <a:xfrm>
            <a:off x="6197620" y="27177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spc="-30" kern="0" dirty="0">
                <a:solidFill>
                  <a:srgbClr val="001E60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Nudge, shrink, recolour, decorate</a:t>
            </a:r>
            <a:endParaRPr lang="en-US" sz="1800" dirty="0"/>
          </a:p>
        </p:txBody>
      </p:sp>
      <p:sp>
        <p:nvSpPr>
          <p:cNvPr id="10" name="C2 body"/>
          <p:cNvSpPr/>
          <p:nvPr>
            <p:ph idx="113" type="body" hasCustomPrompt="1"/>
          </p:nvPr>
        </p:nvSpPr>
        <p:spPr>
          <a:xfrm>
            <a:off x="6197620" y="3225820"/>
            <a:ext cx="5486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63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Don’t drag placeholders off the grid, shrink text to make it fit, invent a colour, add gradients, shadows or accent stripes, or fill one card among peers without a stated reason.</a:t>
            </a:r>
            <a:endParaRPr lang="en-US" sz="1200" dirty="0"/>
          </a:p>
        </p:txBody>
      </p:sp>
      <p:sp>
        <p:nvSpPr>
          <p:cNvPr id="11" name="Subtitle"/>
          <p:cNvSpPr/>
          <p:nvPr>
            <p:ph idx="105" type="body" hasCustomPrompt="1"/>
          </p:nvPr>
        </p:nvSpPr>
        <p:spPr>
          <a:xfrm>
            <a:off x="508041" y="1727210"/>
            <a:ext cx="7873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endParaRPr lang="en-US" sz="1400" dirty="0"/>
          </a:p>
        </p:txBody>
      </p:sp>
      <p:sp>
        <p:nvSpPr>
          <p:cNvPr id="12" name="Source"/>
          <p:cNvSpPr/>
          <p:nvPr>
            <p:ph idx="114" type="body" hasCustomPrompt="1"/>
          </p:nvPr>
        </p:nvSpPr>
        <p:spPr>
          <a:xfrm>
            <a:off x="508041" y="6045190"/>
            <a:ext cx="1117598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E636E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3" type="title" hasCustomPrompt="1"/>
          </p:nvPr>
        </p:nvSpPr>
        <p:spPr>
          <a:xfrm>
            <a:off x="508041" y="1270010"/>
            <a:ext cx="9525030" cy="1460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400" spc="-120" kern="0" dirty="0">
                <a:solidFill>
                  <a:srgbClr val="FFFFFF"/>
                </a:solidFill>
                <a:latin typeface="Everyday Sans Headline Light" pitchFamily="34" charset="0"/>
                <a:ea typeface="Everyday Sans Headline Light" pitchFamily="34" charset="-122"/>
                <a:cs typeface="Everyday Sans Headline Light" pitchFamily="34" charset="-120"/>
              </a:rPr>
              <a:t>The thinking changes. The design system does not.</a:t>
            </a:r>
            <a:endParaRPr lang="en-US" sz="4400" dirty="0"/>
          </a:p>
        </p:txBody>
      </p:sp>
      <p:sp>
        <p:nvSpPr>
          <p:cNvPr id="3" name="Subtitle"/>
          <p:cNvSpPr/>
          <p:nvPr>
            <p:ph idx="104" type="body" hasCustomPrompt="1"/>
          </p:nvPr>
        </p:nvSpPr>
        <p:spPr>
          <a:xfrm>
            <a:off x="508041" y="2870210"/>
            <a:ext cx="69850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FE0FB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Make the correct design choice the easiest one.</a:t>
            </a:r>
            <a:endParaRPr lang="en-US" sz="1400" dirty="0"/>
          </a:p>
        </p:txBody>
      </p:sp>
      <p:sp>
        <p:nvSpPr>
          <p:cNvPr id="4" name="Ask1 label"/>
          <p:cNvSpPr/>
          <p:nvPr>
            <p:ph idx="106" type="body" hasCustomPrompt="1"/>
          </p:nvPr>
        </p:nvSpPr>
        <p:spPr>
          <a:xfrm>
            <a:off x="508041" y="4063959"/>
            <a:ext cx="358984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4DBDF5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START</a:t>
            </a:r>
            <a:endParaRPr lang="en-US" sz="800" dirty="0"/>
          </a:p>
        </p:txBody>
      </p:sp>
      <p:sp>
        <p:nvSpPr>
          <p:cNvPr id="5" name="Ask1"/>
          <p:cNvSpPr/>
          <p:nvPr>
            <p:ph idx="107" type="body" hasCustomPrompt="1"/>
          </p:nvPr>
        </p:nvSpPr>
        <p:spPr>
          <a:xfrm>
            <a:off x="508041" y="4267230"/>
            <a:ext cx="3589843" cy="1397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Pick the communication job on the layout picker.</a:t>
            </a:r>
            <a:endParaRPr lang="en-US" sz="1400" dirty="0"/>
          </a:p>
        </p:txBody>
      </p:sp>
      <p:sp>
        <p:nvSpPr>
          <p:cNvPr id="6" name="Ask2 label"/>
          <p:cNvSpPr/>
          <p:nvPr>
            <p:ph idx="109" type="body" hasCustomPrompt="1"/>
          </p:nvPr>
        </p:nvSpPr>
        <p:spPr>
          <a:xfrm>
            <a:off x="4301063" y="4063959"/>
            <a:ext cx="358984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4DBDF5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BUILD</a:t>
            </a:r>
            <a:endParaRPr lang="en-US" sz="800" dirty="0"/>
          </a:p>
        </p:txBody>
      </p:sp>
      <p:sp>
        <p:nvSpPr>
          <p:cNvPr id="7" name="Ask2"/>
          <p:cNvSpPr/>
          <p:nvPr>
            <p:ph idx="110" type="body" hasCustomPrompt="1"/>
          </p:nvPr>
        </p:nvSpPr>
        <p:spPr>
          <a:xfrm>
            <a:off x="4301063" y="4267230"/>
            <a:ext cx="3589843" cy="1397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Use the numbered layouts and the component slides.</a:t>
            </a:r>
            <a:endParaRPr lang="en-US" sz="1400" dirty="0"/>
          </a:p>
        </p:txBody>
      </p:sp>
      <p:sp>
        <p:nvSpPr>
          <p:cNvPr id="8" name="Ask3 label"/>
          <p:cNvSpPr/>
          <p:nvPr>
            <p:ph idx="112" type="body" hasCustomPrompt="1"/>
          </p:nvPr>
        </p:nvSpPr>
        <p:spPr>
          <a:xfrm>
            <a:off x="8094177" y="4063959"/>
            <a:ext cx="3589843" cy="12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cap="all" sz="800" spc="110" kern="0" dirty="0">
                <a:solidFill>
                  <a:srgbClr val="4DBDF5"/>
                </a:solidFill>
                <a:latin typeface="Everyday Sans Mono" pitchFamily="34" charset="0"/>
                <a:ea typeface="Everyday Sans Mono" pitchFamily="34" charset="-122"/>
                <a:cs typeface="Everyday Sans Mono" pitchFamily="34" charset="-120"/>
              </a:rPr>
              <a:t>CHECK</a:t>
            </a:r>
            <a:endParaRPr lang="en-US" sz="800" dirty="0"/>
          </a:p>
        </p:txBody>
      </p:sp>
      <p:sp>
        <p:nvSpPr>
          <p:cNvPr id="9" name="Ask3"/>
          <p:cNvSpPr/>
          <p:nvPr>
            <p:ph idx="113" type="body" hasCustomPrompt="1"/>
          </p:nvPr>
        </p:nvSpPr>
        <p:spPr>
          <a:xfrm>
            <a:off x="8094177" y="4267230"/>
            <a:ext cx="3589843" cy="1397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Everyday Sans UI" pitchFamily="34" charset="0"/>
                <a:ea typeface="Everyday Sans UI" pitchFamily="34" charset="-122"/>
                <a:cs typeface="Everyday Sans UI" pitchFamily="34" charset="-120"/>
              </a:rPr>
              <a:t>Three-second test, swap test, export test before it goes out.</a:t>
            </a:r>
            <a:endParaRPr lang="en-US" sz="1400" dirty="0"/>
          </a:p>
        </p:txBody>
      </p:sp>
      <p:sp>
        <p:nvSpPr>
          <p:cNvPr id="10" name="Section"/>
          <p:cNvSpPr/>
          <p:nvPr>
            <p:ph idx="100" type="body" hasCustomPrompt="1"/>
          </p:nvPr>
        </p:nvSpPr>
        <p:spPr>
          <a:xfrm>
            <a:off x="7873990" y="457200"/>
            <a:ext cx="381003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10" y="6438930"/>
            <a:ext cx="1270010" cy="1270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FE0FB"/>
                </a:solidFill>
                <a:latin typeface="Everyday Sans Mono"/>
                <a:ea typeface="Everyday Sans Mono"/>
                <a:cs typeface="Everyday Sans Mono"/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lmart Ads Product Leadership">
  <a:themeElements>
    <a:clrScheme name="Walmart Ads">
      <a:dk1>
        <a:srgbClr val="001E60"/>
      </a:dk1>
      <a:lt1>
        <a:srgbClr val="FFFFFF"/>
      </a:lt1>
      <a:dk2>
        <a:srgbClr val="3D4A63"/>
      </a:dk2>
      <a:lt2>
        <a:srgbClr val="F5F6F8"/>
      </a:lt2>
      <a:accent1>
        <a:srgbClr val="0053E2"/>
      </a:accent1>
      <a:accent2>
        <a:srgbClr val="001E60"/>
      </a:accent2>
      <a:accent3>
        <a:srgbClr val="4DBDF5"/>
      </a:accent3>
      <a:accent4>
        <a:srgbClr val="A9DDF7"/>
      </a:accent4>
      <a:accent5>
        <a:srgbClr val="5E636E"/>
      </a:accent5>
      <a:accent6>
        <a:srgbClr val="C3C6CD"/>
      </a:accent6>
      <a:hlink>
        <a:srgbClr val="0053E2"/>
      </a:hlink>
      <a:folHlink>
        <a:srgbClr val="001E60"/>
      </a:folHlink>
    </a:clrScheme>
    <a:fontScheme name="Office">
      <a:majorFont>
        <a:latin typeface="Everyday Sans Headline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Everyday Sans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Leadership Presentation System</dc:title>
  <dc:subject>PptxGenJS Presentation</dc:subject>
  <dc:creator>Walmart Ads</dc:creator>
  <cp:lastModifiedBy>Walmart Ads</cp:lastModifiedBy>
  <cp:revision>1</cp:revision>
  <dcterms:created xsi:type="dcterms:W3CDTF">2026-09-28T19:54:16Z</dcterms:created>
  <dcterms:modified xsi:type="dcterms:W3CDTF">2026-09-28T19:54:16Z</dcterms:modified>
</cp:coreProperties>
</file>